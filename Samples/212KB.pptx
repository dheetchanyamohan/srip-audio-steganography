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26" Type="http://schemas.openxmlformats.org/officeDocument/2006/relationships/customXml" Target="../customXml/item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5" Type="http://schemas.openxmlformats.org/officeDocument/2006/relationships/tableStyles" Target="tableStyles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6" Type="http://schemas.openxmlformats.org/officeDocument/2006/relationships/slide" Target="slides/slide4.xml"/><Relationship Id="rId24" Type="http://schemas.openxmlformats.org/officeDocument/2006/relationships/viewProps" Target="viewProps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23" Type="http://schemas.openxmlformats.org/officeDocument/2006/relationships/presProps" Target="presProps.xml"/><Relationship Id="rId15" Type="http://schemas.openxmlformats.org/officeDocument/2006/relationships/slide" Target="slides/slide13.xml"/><Relationship Id="rId28" Type="http://schemas.openxmlformats.org/officeDocument/2006/relationships/customXml" Target="../customXml/item3.xml"/><Relationship Id="rId19" Type="http://schemas.openxmlformats.org/officeDocument/2006/relationships/slide" Target="slides/slide17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22" Type="http://schemas.openxmlformats.org/officeDocument/2006/relationships/handoutMaster" Target="handoutMasters/handoutMaster1.xml"/><Relationship Id="rId14" Type="http://schemas.openxmlformats.org/officeDocument/2006/relationships/slide" Target="slides/slide12.xml"/><Relationship Id="rId27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Decoding in Transformers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Decoding Methods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/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Refers to how the model generates the next token during inference. Since you work deeply with LLMs (FDPs, certification prep, etc.)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Deterministic Decoding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Stochastic (Sampling-Based) Decoding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Deterministic Decoding Methods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/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Always produce the same output for the same input.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Greedy Decoding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At each step, choose the token with the highest probability.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828800" y="3303905"/>
          <a:ext cx="9024620" cy="23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310"/>
                <a:gridCol w="6036310"/>
              </a:tblGrid>
              <a:tr h="5784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Pros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Cons</a:t>
                      </a:r>
                      <a:endParaRPr lang="en-US" sz="2800"/>
                    </a:p>
                  </a:txBody>
                  <a:tcPr/>
                </a:tc>
              </a:tr>
              <a:tr h="5784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Fast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Can miss better global sequences</a:t>
                      </a:r>
                      <a:endParaRPr lang="en-US" sz="2800"/>
                    </a:p>
                  </a:txBody>
                  <a:tcPr/>
                </a:tc>
              </a:tr>
              <a:tr h="5784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Simple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Often repetitive</a:t>
                      </a:r>
                      <a:endParaRPr lang="en-US" sz="2800"/>
                    </a:p>
                  </a:txBody>
                  <a:tcPr/>
                </a:tc>
              </a:tr>
              <a:tr h="5784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Deterministic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Gets stuck in local optimum</a:t>
                      </a:r>
                      <a:endParaRPr lang="en-US"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Deterministic Decoding Methods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lnSpcReduction="20000"/>
          </a:bodyPr>
          <a:p>
            <a:pPr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Beam Search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Keep top-k sequences (beams) at every step.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Beam width = k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Expands each beam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Keeps best k cumulative probability sequences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14045" y="4152900"/>
          <a:ext cx="11475720" cy="293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7935"/>
                <a:gridCol w="3867785"/>
              </a:tblGrid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Pros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Cons</a:t>
                      </a:r>
                      <a:endParaRPr lang="en-US" sz="2800"/>
                    </a:p>
                  </a:txBody>
                  <a:tcPr/>
                </a:tc>
              </a:tr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Better global optimization than greedy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Computationally expensive</a:t>
                      </a:r>
                      <a:endParaRPr lang="en-US" sz="2800"/>
                    </a:p>
                  </a:txBody>
                  <a:tcPr/>
                </a:tc>
              </a:tr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Good for structured tasks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Can produce generic responses</a:t>
                      </a:r>
                      <a:endParaRPr lang="en-US" sz="2800"/>
                    </a:p>
                  </a:txBody>
                  <a:tcPr/>
                </a:tc>
              </a:tr>
              <a:tr h="528955">
                <a:tc>
                  <a:txBody>
                    <a:bodyPr/>
                    <a:p>
                      <a:pPr>
                        <a:buNone/>
                      </a:pP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Low diversity</a:t>
                      </a:r>
                      <a:endParaRPr lang="en-US"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Stochastic (Sampling-Based) Decoding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lnSpcReduction="20000"/>
          </a:bodyPr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  <a:sym typeface="+mn-ea"/>
              </a:rPr>
              <a:t>introduce randomness → more creative outputs.</a:t>
            </a:r>
            <a:endParaRPr lang="en-US" sz="3200">
              <a:solidFill>
                <a:srgbClr val="00206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Random Sampling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Instead of picking the max probability token, sample from the distribution.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Low-probability nonsense tokens may get sampled.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Stochastic (Sampling-Based) Decoding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Temperature Sampling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Controls randomness by scaling logits, temperature modifies distribution before softmax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Where: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 &lt; 1 → more deterministic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 = 1 → normal softmax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 &gt; 1 → more random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650" y="3094355"/>
            <a:ext cx="256222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Stochastic (Sampling-Based) Decoding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Top-K Sampling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Keep only top K most probable tokens, renormalize, then sample.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Example: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K = 50 → sample only from top 50 tokens.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Advantage - Reduces nonsense sampling.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Stochastic (Sampling-Based) Decoding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Top-P (Nucleus) Sampling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Instead of fixed K: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Choose smallest set of tokens whose cumulative probability ≥ p.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Then sample from that subset.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Example: p = 0.9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Merits</a:t>
            </a:r>
            <a:r>
              <a:rPr lang="en-US" sz="3200">
                <a:solidFill>
                  <a:srgbClr val="002060"/>
                </a:solidFill>
              </a:rPr>
              <a:t> - Dynamic vocabulary size, 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More adaptive than Top-K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Activation Functions in Recent Transformer Models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lnSpcReduction="20000"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ReLU (Original Transformer – 2017)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Demerits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Non-smooth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Dead neuron problem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Not ideal for very deep LLMs</a:t>
            </a: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055" y="934720"/>
            <a:ext cx="323850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Activation Functions in Recent Transformer Models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fontScale="80000"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GELU (Gaussian Error Linear Unit)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Used in: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BERT, GPT-2, GPT-3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Properties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Smooth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Non-monotonic, Probabilistic interpretation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Better gradient flow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GELU ≈ "soft probabilistic ReLU"</a:t>
            </a: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810" y="1149350"/>
            <a:ext cx="3238500" cy="75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15" y="1697355"/>
            <a:ext cx="5634355" cy="373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Activation Functions in Recent Transformer Models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fontScale="90000"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SiLU / Swish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Used in: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PaLM, LLaMA (base building block)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Properties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Smooth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Self-gating behavior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Strong empirical performance in large-scale models</a:t>
            </a: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620" y="867410"/>
            <a:ext cx="323850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Activation Functions in Recent Transformer Models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GLU (Gated Linear Unit)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One projection controls (gates) another.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GeGLU (GELU-based GLU)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Used in - </a:t>
            </a:r>
            <a:r>
              <a:rPr lang="en-US" sz="3200">
                <a:solidFill>
                  <a:srgbClr val="002060"/>
                </a:solidFill>
              </a:rPr>
              <a:t>T5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4775" y="1407795"/>
            <a:ext cx="407670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Activation Functions in Recent Transformer Models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fontScale="80000"/>
          </a:bodyPr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SwiGLU (Most Popular in Modern LLMs)</a:t>
            </a:r>
            <a:endParaRPr lang="en-US" sz="32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Used in 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PaLM, LLaMA 2, Mistral 7B, Gemini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  <a:sym typeface="+mn-ea"/>
              </a:rPr>
              <a:t>Properties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Better scaling behavior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More stable for very deep networks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Improved perplexity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Efficient parameter usage</a:t>
            </a: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9880" y="867410"/>
            <a:ext cx="506730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/>
          <a:p>
            <a:pPr algn="ctr"/>
            <a:r>
              <a:rPr lang="en-US" sz="3600">
                <a:solidFill>
                  <a:srgbClr val="C00000"/>
                </a:solidFill>
              </a:rPr>
              <a:t>Positional Encoding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Transformer has no recurrence (RNN) and no convolution (CNN) → it processes all tokens in parallel, so it does not inherently know which word comes first.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Self-attention only sees tokens as a set, not a sequence.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Input=Token Embedding+Positional Encoding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>
            <a:normAutofit fontScale="90000"/>
          </a:bodyPr>
          <a:p>
            <a:pPr algn="ctr"/>
            <a:r>
              <a:rPr lang="en-US" sz="3600">
                <a:solidFill>
                  <a:srgbClr val="C00000"/>
                </a:solidFill>
              </a:rPr>
              <a:t>Absolute Positional Encoding (Original Transformer)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Each position gets a unique pattern using sine &amp; cosine waves.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Advantages </a:t>
            </a:r>
            <a:r>
              <a:rPr lang="en-US" sz="3200">
                <a:solidFill>
                  <a:srgbClr val="002060"/>
                </a:solidFill>
              </a:rPr>
              <a:t>- No training needed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Generalizes to longer sequences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Encodes relative distance implicitly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Limitation </a:t>
            </a:r>
            <a:r>
              <a:rPr lang="en-US" sz="3200">
                <a:solidFill>
                  <a:srgbClr val="002060"/>
                </a:solidFill>
              </a:rPr>
              <a:t>- Fixed representation, Less flexible than learned methods</a:t>
            </a:r>
            <a:endParaRPr lang="en-US" sz="320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3505" y="1660525"/>
            <a:ext cx="531495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>
            <a:normAutofit/>
          </a:bodyPr>
          <a:p>
            <a:pPr algn="ctr"/>
            <a:r>
              <a:rPr lang="en-US" sz="3600">
                <a:solidFill>
                  <a:srgbClr val="C00000"/>
                </a:solidFill>
              </a:rPr>
              <a:t>Learned Positional Embeddings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Each position has a learnable vector like word embeddings.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Used in: BERT, GPT-2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PE(pos)=learned vector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Pros</a:t>
            </a:r>
            <a:r>
              <a:rPr lang="en-US" sz="3200">
                <a:solidFill>
                  <a:srgbClr val="002060"/>
                </a:solidFill>
              </a:rPr>
              <a:t> - Flexible, Learns task-specific patterns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Cons </a:t>
            </a:r>
            <a:r>
              <a:rPr lang="en-US" sz="3200">
                <a:solidFill>
                  <a:srgbClr val="002060"/>
                </a:solidFill>
              </a:rPr>
              <a:t>- Cannot generalize beyond training length, Fixed max sequence length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>
            <a:normAutofit/>
          </a:bodyPr>
          <a:p>
            <a:pPr algn="ctr"/>
            <a:r>
              <a:rPr lang="en-US" sz="3600">
                <a:solidFill>
                  <a:srgbClr val="C00000"/>
                </a:solidFill>
              </a:rPr>
              <a:t>Relative Positional Encoding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Absolute encoding tells: “This is position 10”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Relative encoding tells: “Token A is 3 positions away from token B”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This is more useful for language.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Used in: Transformer-XL, T5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Attention score modified using relative distance: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R</a:t>
            </a:r>
            <a:r>
              <a:rPr lang="en-US" sz="3200" baseline="-25000">
                <a:solidFill>
                  <a:srgbClr val="002060"/>
                </a:solidFill>
              </a:rPr>
              <a:t>i-j</a:t>
            </a:r>
            <a:r>
              <a:rPr lang="en-US" sz="3200">
                <a:solidFill>
                  <a:srgbClr val="002060"/>
                </a:solidFill>
              </a:rPr>
              <a:t> = relative position embedding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0" y="5213350"/>
            <a:ext cx="4371975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835" y="120015"/>
            <a:ext cx="10515600" cy="814705"/>
          </a:xfrm>
        </p:spPr>
        <p:txBody>
          <a:bodyPr>
            <a:normAutofit/>
          </a:bodyPr>
          <a:p>
            <a:pPr algn="ctr"/>
            <a:r>
              <a:rPr lang="en-US" sz="3600">
                <a:solidFill>
                  <a:srgbClr val="C00000"/>
                </a:solidFill>
              </a:rPr>
              <a:t>Relative Positional Encoding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35" y="867410"/>
            <a:ext cx="11826240" cy="5895975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Benefits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Better long context modeling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Captures distance relationships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F55B17E1F58342BC96E92B2CCC7F39" ma:contentTypeVersion="3" ma:contentTypeDescription="Create a new document." ma:contentTypeScope="" ma:versionID="1442951eaf5088059da9ec97b6c5426e">
  <xsd:schema xmlns:xsd="http://www.w3.org/2001/XMLSchema" xmlns:xs="http://www.w3.org/2001/XMLSchema" xmlns:p="http://schemas.microsoft.com/office/2006/metadata/properties" xmlns:ns2="7491b2a8-0edb-46b8-86e6-d9dd1cdcee5d" targetNamespace="http://schemas.microsoft.com/office/2006/metadata/properties" ma:root="true" ma:fieldsID="39be1b4529ac0196754235bc64f87289" ns2:_="">
    <xsd:import namespace="7491b2a8-0edb-46b8-86e6-d9dd1cdcee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1b2a8-0edb-46b8-86e6-d9dd1cdce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1731F9-1B56-4D2A-9004-2BD464E7A859}"/>
</file>

<file path=customXml/itemProps2.xml><?xml version="1.0" encoding="utf-8"?>
<ds:datastoreItem xmlns:ds="http://schemas.openxmlformats.org/officeDocument/2006/customXml" ds:itemID="{EBEF9697-9B12-4E01-9398-F2C965C86475}"/>
</file>

<file path=customXml/itemProps3.xml><?xml version="1.0" encoding="utf-8"?>
<ds:datastoreItem xmlns:ds="http://schemas.openxmlformats.org/officeDocument/2006/customXml" ds:itemID="{3B55B636-DFA3-43B5-8E41-579FDB2AEC9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3784</Words>
  <Application>WPS Presentation</Application>
  <PresentationFormat>宽屏</PresentationFormat>
  <Paragraphs>194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SimSun</vt:lpstr>
      <vt:lpstr>OpenSymbol</vt:lpstr>
      <vt:lpstr>文鼎ＰＬ简中楷</vt:lpstr>
      <vt:lpstr>FreeSerif</vt:lpstr>
      <vt:lpstr>Office Theme</vt:lpstr>
      <vt:lpstr>PowerPoint 演示文稿</vt:lpstr>
      <vt:lpstr>PowerPoint 演示文稿</vt:lpstr>
      <vt:lpstr>Decoding Methods</vt:lpstr>
      <vt:lpstr>Deterministic Decoding Methods</vt:lpstr>
      <vt:lpstr>Deterministic Decoding Methods</vt:lpstr>
      <vt:lpstr>Stochastic (Sampling-Based) Decoding</vt:lpstr>
      <vt:lpstr>Stochastic (Sampling-Based) Decoding</vt:lpstr>
      <vt:lpstr>Stochastic (Sampling-Based) Decoding</vt:lpstr>
      <vt:lpstr>Stochastic (Sampling-Based) Decoding</vt:lpstr>
      <vt:lpstr>Activation Functions in Recent Transformer Models</vt:lpstr>
      <vt:lpstr>Activation Functions in Recent Transformer Models</vt:lpstr>
      <vt:lpstr>Activation Functions in Recent Transformer Models</vt:lpstr>
      <vt:lpstr>Activation Functions in Recent Transformer Models</vt:lpstr>
      <vt:lpstr>Activation Functions in Recent Transformer Models</vt:lpstr>
      <vt:lpstr>Positional Encoding</vt:lpstr>
      <vt:lpstr>Absolute Positional Encoding (Original Transformer)</vt:lpstr>
      <vt:lpstr>Learned Positional Embeddings</vt:lpstr>
      <vt:lpstr>Relative Positional Encoding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janaki</cp:lastModifiedBy>
  <cp:revision>62</cp:revision>
  <dcterms:created xsi:type="dcterms:W3CDTF">2026-02-27T06:28:53Z</dcterms:created>
  <dcterms:modified xsi:type="dcterms:W3CDTF">2026-02-27T06:28:53Z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  <property fmtid="{D5CDD505-2E9C-101B-9397-08002B2CF9AE}" pid="4" name="ContentTypeId">
    <vt:lpwstr>0x010100EFF55B17E1F58342BC96E92B2CCC7F39</vt:lpwstr>
  </property>
</Properties>
</file>