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10"/>
  </p:notesMasterIdLst>
  <p:sldIdLst>
    <p:sldId id="256" r:id="rId5"/>
    <p:sldId id="557" r:id="rId6"/>
    <p:sldId id="558" r:id="rId7"/>
    <p:sldId id="559" r:id="rId8"/>
    <p:sldId id="560" r:id="rId9"/>
    <p:sldId id="561" r:id="rId10"/>
    <p:sldId id="562" r:id="rId11"/>
    <p:sldId id="563" r:id="rId12"/>
    <p:sldId id="564" r:id="rId13"/>
    <p:sldId id="565" r:id="rId14"/>
    <p:sldId id="566" r:id="rId15"/>
    <p:sldId id="567" r:id="rId16"/>
    <p:sldId id="568" r:id="rId17"/>
    <p:sldId id="569" r:id="rId18"/>
    <p:sldId id="570" r:id="rId19"/>
    <p:sldId id="571" r:id="rId20"/>
    <p:sldId id="572" r:id="rId21"/>
    <p:sldId id="573" r:id="rId22"/>
    <p:sldId id="574" r:id="rId23"/>
    <p:sldId id="575" r:id="rId24"/>
    <p:sldId id="576" r:id="rId25"/>
    <p:sldId id="577" r:id="rId26"/>
    <p:sldId id="578" r:id="rId27"/>
    <p:sldId id="579" r:id="rId28"/>
    <p:sldId id="580" r:id="rId29"/>
    <p:sldId id="581" r:id="rId30"/>
    <p:sldId id="582" r:id="rId31"/>
    <p:sldId id="583" r:id="rId32"/>
    <p:sldId id="584" r:id="rId33"/>
    <p:sldId id="585" r:id="rId34"/>
    <p:sldId id="586" r:id="rId35"/>
    <p:sldId id="587" r:id="rId36"/>
    <p:sldId id="588" r:id="rId37"/>
    <p:sldId id="589" r:id="rId38"/>
    <p:sldId id="590" r:id="rId39"/>
    <p:sldId id="591" r:id="rId40"/>
    <p:sldId id="592" r:id="rId41"/>
    <p:sldId id="593" r:id="rId42"/>
    <p:sldId id="594" r:id="rId43"/>
    <p:sldId id="595" r:id="rId44"/>
    <p:sldId id="596" r:id="rId45"/>
    <p:sldId id="597" r:id="rId46"/>
    <p:sldId id="598" r:id="rId47"/>
    <p:sldId id="600" r:id="rId48"/>
    <p:sldId id="599" r:id="rId49"/>
    <p:sldId id="601" r:id="rId50"/>
    <p:sldId id="602" r:id="rId51"/>
    <p:sldId id="603" r:id="rId52"/>
    <p:sldId id="604" r:id="rId53"/>
    <p:sldId id="605" r:id="rId54"/>
    <p:sldId id="606" r:id="rId55"/>
    <p:sldId id="607" r:id="rId56"/>
    <p:sldId id="608" r:id="rId57"/>
    <p:sldId id="609" r:id="rId58"/>
    <p:sldId id="610" r:id="rId59"/>
    <p:sldId id="611" r:id="rId60"/>
    <p:sldId id="612" r:id="rId61"/>
    <p:sldId id="619" r:id="rId62"/>
    <p:sldId id="628" r:id="rId63"/>
    <p:sldId id="629" r:id="rId64"/>
    <p:sldId id="630" r:id="rId65"/>
    <p:sldId id="631" r:id="rId66"/>
    <p:sldId id="632" r:id="rId67"/>
    <p:sldId id="633" r:id="rId68"/>
    <p:sldId id="634" r:id="rId69"/>
    <p:sldId id="635" r:id="rId70"/>
    <p:sldId id="613" r:id="rId71"/>
    <p:sldId id="614" r:id="rId72"/>
    <p:sldId id="615" r:id="rId73"/>
    <p:sldId id="616" r:id="rId74"/>
    <p:sldId id="618" r:id="rId75"/>
    <p:sldId id="617" r:id="rId76"/>
    <p:sldId id="620" r:id="rId77"/>
    <p:sldId id="621" r:id="rId78"/>
    <p:sldId id="622" r:id="rId79"/>
    <p:sldId id="623" r:id="rId80"/>
    <p:sldId id="624" r:id="rId81"/>
    <p:sldId id="625" r:id="rId82"/>
    <p:sldId id="626" r:id="rId83"/>
    <p:sldId id="627" r:id="rId84"/>
    <p:sldId id="636" r:id="rId85"/>
    <p:sldId id="637" r:id="rId86"/>
    <p:sldId id="638" r:id="rId87"/>
    <p:sldId id="639" r:id="rId88"/>
    <p:sldId id="640" r:id="rId89"/>
    <p:sldId id="641" r:id="rId90"/>
    <p:sldId id="642" r:id="rId91"/>
    <p:sldId id="643" r:id="rId92"/>
    <p:sldId id="644" r:id="rId93"/>
    <p:sldId id="645" r:id="rId94"/>
    <p:sldId id="646" r:id="rId95"/>
    <p:sldId id="755" r:id="rId96"/>
    <p:sldId id="647" r:id="rId97"/>
    <p:sldId id="648" r:id="rId98"/>
    <p:sldId id="649" r:id="rId99"/>
    <p:sldId id="650" r:id="rId100"/>
    <p:sldId id="652" r:id="rId101"/>
    <p:sldId id="651" r:id="rId102"/>
    <p:sldId id="653" r:id="rId103"/>
    <p:sldId id="654" r:id="rId104"/>
    <p:sldId id="655" r:id="rId105"/>
    <p:sldId id="656" r:id="rId106"/>
    <p:sldId id="657" r:id="rId107"/>
    <p:sldId id="658" r:id="rId108"/>
    <p:sldId id="659" r:id="rId109"/>
    <p:sldId id="660" r:id="rId110"/>
    <p:sldId id="661" r:id="rId111"/>
    <p:sldId id="662" r:id="rId112"/>
    <p:sldId id="663" r:id="rId113"/>
    <p:sldId id="664" r:id="rId114"/>
    <p:sldId id="665" r:id="rId115"/>
    <p:sldId id="666" r:id="rId116"/>
    <p:sldId id="667" r:id="rId117"/>
    <p:sldId id="668" r:id="rId118"/>
    <p:sldId id="669" r:id="rId119"/>
    <p:sldId id="670" r:id="rId120"/>
    <p:sldId id="756" r:id="rId121"/>
    <p:sldId id="757" r:id="rId122"/>
    <p:sldId id="673" r:id="rId123"/>
    <p:sldId id="674" r:id="rId124"/>
    <p:sldId id="675" r:id="rId125"/>
    <p:sldId id="676" r:id="rId126"/>
    <p:sldId id="677" r:id="rId127"/>
    <p:sldId id="678" r:id="rId128"/>
    <p:sldId id="679" r:id="rId129"/>
    <p:sldId id="680" r:id="rId130"/>
    <p:sldId id="684" r:id="rId131"/>
    <p:sldId id="685" r:id="rId132"/>
    <p:sldId id="681" r:id="rId133"/>
    <p:sldId id="682" r:id="rId134"/>
    <p:sldId id="683" r:id="rId135"/>
    <p:sldId id="686" r:id="rId136"/>
    <p:sldId id="687" r:id="rId137"/>
    <p:sldId id="688" r:id="rId138"/>
    <p:sldId id="689" r:id="rId139"/>
    <p:sldId id="690" r:id="rId140"/>
    <p:sldId id="691" r:id="rId141"/>
    <p:sldId id="692" r:id="rId142"/>
    <p:sldId id="693" r:id="rId143"/>
    <p:sldId id="694" r:id="rId144"/>
    <p:sldId id="695" r:id="rId145"/>
    <p:sldId id="708" r:id="rId146"/>
    <p:sldId id="704" r:id="rId147"/>
    <p:sldId id="705" r:id="rId148"/>
    <p:sldId id="706" r:id="rId149"/>
    <p:sldId id="707" r:id="rId150"/>
    <p:sldId id="696" r:id="rId151"/>
    <p:sldId id="697" r:id="rId152"/>
    <p:sldId id="698" r:id="rId153"/>
    <p:sldId id="699" r:id="rId154"/>
    <p:sldId id="700" r:id="rId155"/>
    <p:sldId id="701" r:id="rId156"/>
    <p:sldId id="702" r:id="rId157"/>
    <p:sldId id="724" r:id="rId158"/>
    <p:sldId id="725" r:id="rId159"/>
    <p:sldId id="745" r:id="rId160"/>
    <p:sldId id="746" r:id="rId161"/>
    <p:sldId id="726" r:id="rId162"/>
    <p:sldId id="727" r:id="rId163"/>
    <p:sldId id="728" r:id="rId164"/>
    <p:sldId id="729" r:id="rId165"/>
    <p:sldId id="730" r:id="rId166"/>
    <p:sldId id="731" r:id="rId167"/>
    <p:sldId id="732" r:id="rId168"/>
    <p:sldId id="733" r:id="rId169"/>
    <p:sldId id="734" r:id="rId170"/>
    <p:sldId id="735" r:id="rId171"/>
    <p:sldId id="736" r:id="rId172"/>
    <p:sldId id="737" r:id="rId173"/>
    <p:sldId id="738" r:id="rId174"/>
    <p:sldId id="739" r:id="rId175"/>
    <p:sldId id="740" r:id="rId176"/>
    <p:sldId id="741" r:id="rId177"/>
    <p:sldId id="742" r:id="rId178"/>
    <p:sldId id="743" r:id="rId179"/>
    <p:sldId id="703" r:id="rId180"/>
    <p:sldId id="709" r:id="rId181"/>
    <p:sldId id="710" r:id="rId182"/>
    <p:sldId id="711" r:id="rId183"/>
    <p:sldId id="712" r:id="rId184"/>
    <p:sldId id="721" r:id="rId185"/>
    <p:sldId id="722" r:id="rId186"/>
    <p:sldId id="713" r:id="rId187"/>
    <p:sldId id="723" r:id="rId188"/>
    <p:sldId id="714" r:id="rId189"/>
    <p:sldId id="715" r:id="rId190"/>
    <p:sldId id="716" r:id="rId191"/>
    <p:sldId id="717" r:id="rId192"/>
    <p:sldId id="718" r:id="rId193"/>
    <p:sldId id="719" r:id="rId194"/>
    <p:sldId id="720" r:id="rId195"/>
    <p:sldId id="762" r:id="rId196"/>
    <p:sldId id="763" r:id="rId197"/>
    <p:sldId id="758" r:id="rId198"/>
    <p:sldId id="747" r:id="rId199"/>
    <p:sldId id="759" r:id="rId200"/>
    <p:sldId id="760" r:id="rId201"/>
    <p:sldId id="748" r:id="rId202"/>
    <p:sldId id="761" r:id="rId203"/>
    <p:sldId id="749" r:id="rId204"/>
    <p:sldId id="750" r:id="rId205"/>
    <p:sldId id="751" r:id="rId206"/>
    <p:sldId id="752" r:id="rId207"/>
    <p:sldId id="753" r:id="rId208"/>
    <p:sldId id="754" r:id="rId20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A6A225-FED4-4349-B59F-F950937FEA7A}">
          <p14:sldIdLst>
            <p14:sldId id="256"/>
            <p14:sldId id="557"/>
            <p14:sldId id="558"/>
            <p14:sldId id="559"/>
            <p14:sldId id="560"/>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88"/>
            <p14:sldId id="589"/>
            <p14:sldId id="590"/>
            <p14:sldId id="591"/>
            <p14:sldId id="592"/>
            <p14:sldId id="593"/>
            <p14:sldId id="594"/>
            <p14:sldId id="595"/>
            <p14:sldId id="596"/>
            <p14:sldId id="597"/>
            <p14:sldId id="598"/>
            <p14:sldId id="600"/>
            <p14:sldId id="599"/>
            <p14:sldId id="601"/>
            <p14:sldId id="602"/>
            <p14:sldId id="603"/>
            <p14:sldId id="604"/>
            <p14:sldId id="605"/>
            <p14:sldId id="606"/>
            <p14:sldId id="607"/>
            <p14:sldId id="608"/>
            <p14:sldId id="609"/>
            <p14:sldId id="610"/>
            <p14:sldId id="611"/>
            <p14:sldId id="612"/>
            <p14:sldId id="619"/>
            <p14:sldId id="628"/>
            <p14:sldId id="629"/>
            <p14:sldId id="630"/>
            <p14:sldId id="631"/>
            <p14:sldId id="632"/>
            <p14:sldId id="633"/>
            <p14:sldId id="634"/>
            <p14:sldId id="635"/>
            <p14:sldId id="613"/>
            <p14:sldId id="614"/>
            <p14:sldId id="615"/>
            <p14:sldId id="616"/>
            <p14:sldId id="618"/>
            <p14:sldId id="617"/>
            <p14:sldId id="620"/>
            <p14:sldId id="621"/>
            <p14:sldId id="622"/>
            <p14:sldId id="623"/>
            <p14:sldId id="624"/>
            <p14:sldId id="625"/>
            <p14:sldId id="626"/>
            <p14:sldId id="627"/>
            <p14:sldId id="636"/>
            <p14:sldId id="637"/>
            <p14:sldId id="638"/>
            <p14:sldId id="639"/>
            <p14:sldId id="640"/>
            <p14:sldId id="641"/>
            <p14:sldId id="642"/>
            <p14:sldId id="643"/>
            <p14:sldId id="644"/>
            <p14:sldId id="645"/>
            <p14:sldId id="646"/>
            <p14:sldId id="755"/>
            <p14:sldId id="647"/>
            <p14:sldId id="648"/>
            <p14:sldId id="649"/>
            <p14:sldId id="650"/>
            <p14:sldId id="652"/>
            <p14:sldId id="651"/>
            <p14:sldId id="653"/>
            <p14:sldId id="654"/>
            <p14:sldId id="655"/>
            <p14:sldId id="656"/>
            <p14:sldId id="657"/>
            <p14:sldId id="658"/>
            <p14:sldId id="659"/>
            <p14:sldId id="660"/>
            <p14:sldId id="661"/>
            <p14:sldId id="662"/>
            <p14:sldId id="663"/>
            <p14:sldId id="664"/>
            <p14:sldId id="665"/>
            <p14:sldId id="666"/>
            <p14:sldId id="667"/>
            <p14:sldId id="668"/>
            <p14:sldId id="669"/>
            <p14:sldId id="670"/>
            <p14:sldId id="756"/>
            <p14:sldId id="757"/>
            <p14:sldId id="673"/>
            <p14:sldId id="674"/>
            <p14:sldId id="675"/>
            <p14:sldId id="676"/>
            <p14:sldId id="677"/>
            <p14:sldId id="678"/>
            <p14:sldId id="679"/>
            <p14:sldId id="680"/>
            <p14:sldId id="684"/>
            <p14:sldId id="685"/>
            <p14:sldId id="681"/>
            <p14:sldId id="682"/>
            <p14:sldId id="683"/>
            <p14:sldId id="686"/>
            <p14:sldId id="687"/>
            <p14:sldId id="688"/>
            <p14:sldId id="689"/>
            <p14:sldId id="690"/>
            <p14:sldId id="691"/>
            <p14:sldId id="692"/>
            <p14:sldId id="693"/>
            <p14:sldId id="694"/>
            <p14:sldId id="695"/>
            <p14:sldId id="708"/>
            <p14:sldId id="704"/>
            <p14:sldId id="705"/>
            <p14:sldId id="706"/>
            <p14:sldId id="707"/>
            <p14:sldId id="696"/>
            <p14:sldId id="697"/>
            <p14:sldId id="698"/>
            <p14:sldId id="699"/>
            <p14:sldId id="700"/>
            <p14:sldId id="701"/>
            <p14:sldId id="702"/>
            <p14:sldId id="724"/>
            <p14:sldId id="725"/>
            <p14:sldId id="745"/>
            <p14:sldId id="746"/>
            <p14:sldId id="726"/>
            <p14:sldId id="727"/>
            <p14:sldId id="728"/>
            <p14:sldId id="729"/>
            <p14:sldId id="730"/>
            <p14:sldId id="731"/>
            <p14:sldId id="732"/>
            <p14:sldId id="733"/>
            <p14:sldId id="734"/>
            <p14:sldId id="735"/>
            <p14:sldId id="736"/>
            <p14:sldId id="737"/>
            <p14:sldId id="738"/>
            <p14:sldId id="739"/>
            <p14:sldId id="740"/>
            <p14:sldId id="741"/>
            <p14:sldId id="742"/>
            <p14:sldId id="743"/>
            <p14:sldId id="703"/>
            <p14:sldId id="709"/>
            <p14:sldId id="710"/>
            <p14:sldId id="711"/>
            <p14:sldId id="712"/>
            <p14:sldId id="721"/>
            <p14:sldId id="722"/>
            <p14:sldId id="713"/>
            <p14:sldId id="723"/>
            <p14:sldId id="714"/>
            <p14:sldId id="715"/>
            <p14:sldId id="716"/>
            <p14:sldId id="717"/>
            <p14:sldId id="718"/>
            <p14:sldId id="719"/>
            <p14:sldId id="720"/>
            <p14:sldId id="762"/>
            <p14:sldId id="763"/>
            <p14:sldId id="758"/>
            <p14:sldId id="747"/>
            <p14:sldId id="759"/>
            <p14:sldId id="760"/>
            <p14:sldId id="748"/>
            <p14:sldId id="761"/>
            <p14:sldId id="749"/>
            <p14:sldId id="750"/>
            <p14:sldId id="751"/>
            <p14:sldId id="752"/>
            <p14:sldId id="753"/>
            <p14:sldId id="75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1FF5B2-18A9-4921-80B4-3CA84F14442F}" v="602" dt="2026-02-09T03:34:54.0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5368" autoAdjust="0"/>
    <p:restoredTop sz="94660"/>
  </p:normalViewPr>
  <p:slideViewPr>
    <p:cSldViewPr snapToGrid="0">
      <p:cViewPr varScale="1">
        <p:scale>
          <a:sx n="44" d="100"/>
          <a:sy n="44" d="100"/>
        </p:scale>
        <p:origin x="56"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tableStyles" Target="tableStyles.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209" Type="http://schemas.openxmlformats.org/officeDocument/2006/relationships/slide" Target="slides/slide205.xml"/><Relationship Id="rId190" Type="http://schemas.openxmlformats.org/officeDocument/2006/relationships/slide" Target="slides/slide186.xml"/><Relationship Id="rId204" Type="http://schemas.openxmlformats.org/officeDocument/2006/relationships/slide" Target="slides/slide200.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10" Type="http://schemas.openxmlformats.org/officeDocument/2006/relationships/notesMaster" Target="notesMasters/notesMaster1.xml"/><Relationship Id="rId215" Type="http://schemas.microsoft.com/office/2015/10/relationships/revisionInfo" Target="revisionInfo.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presProps" Target="pres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viewProps" Target="viewProps.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367880-2DA9-4115-9868-BB222F67D15D}" type="datetimeFigureOut">
              <a:rPr lang="en-IN" smtClean="0"/>
              <a:t>04-03-2026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EF322-DE0A-4F8B-AB01-B8CD358240E9}" type="slidenum">
              <a:rPr lang="en-IN" smtClean="0"/>
              <a:t>‹#›</a:t>
            </a:fld>
            <a:endParaRPr lang="en-IN"/>
          </a:p>
        </p:txBody>
      </p:sp>
    </p:spTree>
    <p:extLst>
      <p:ext uri="{BB962C8B-B14F-4D97-AF65-F5344CB8AC3E}">
        <p14:creationId xmlns:p14="http://schemas.microsoft.com/office/powerpoint/2010/main" val="1234944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1EF322-DE0A-4F8B-AB01-B8CD358240E9}" type="slidenum">
              <a:rPr lang="en-IN" smtClean="0"/>
              <a:t>1</a:t>
            </a:fld>
            <a:endParaRPr lang="en-IN"/>
          </a:p>
        </p:txBody>
      </p:sp>
    </p:spTree>
    <p:extLst>
      <p:ext uri="{BB962C8B-B14F-4D97-AF65-F5344CB8AC3E}">
        <p14:creationId xmlns:p14="http://schemas.microsoft.com/office/powerpoint/2010/main" val="1372255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1EF322-DE0A-4F8B-AB01-B8CD358240E9}" type="slidenum">
              <a:rPr lang="en-IN" smtClean="0"/>
              <a:t>59</a:t>
            </a:fld>
            <a:endParaRPr lang="en-IN"/>
          </a:p>
        </p:txBody>
      </p:sp>
    </p:spTree>
    <p:extLst>
      <p:ext uri="{BB962C8B-B14F-4D97-AF65-F5344CB8AC3E}">
        <p14:creationId xmlns:p14="http://schemas.microsoft.com/office/powerpoint/2010/main" val="646933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ctr">
              <a:lnSpc>
                <a:spcPct val="85000"/>
              </a:lnSpc>
              <a:defRPr sz="6600" b="1"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86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842" y="370001"/>
            <a:ext cx="10058400" cy="677258"/>
          </a:xfrm>
        </p:spPr>
        <p:txBody>
          <a:bodyPr/>
          <a:lstStyle>
            <a:lvl1pPr marL="0">
              <a:defRPr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1168717" y="1908666"/>
            <a:ext cx="10058400" cy="4217604"/>
          </a:xfrm>
        </p:spPr>
        <p:txBody>
          <a:bodyPr/>
          <a:lstStyle>
            <a:lvl1pPr marL="361950" indent="-361950">
              <a:buFont typeface="Arial" panose="020B0604020202020204" pitchFamily="34" charset="0"/>
              <a:buChar char="•"/>
              <a:defRPr sz="2400">
                <a:solidFill>
                  <a:schemeClr val="tx1"/>
                </a:solidFill>
              </a:defRPr>
            </a:lvl1pPr>
            <a:lvl2pPr marL="542925" indent="-342900">
              <a:buFont typeface="Arial" panose="020B0604020202020204" pitchFamily="34" charset="0"/>
              <a:buChar char="•"/>
              <a:defRPr sz="2400">
                <a:solidFill>
                  <a:schemeClr val="tx1"/>
                </a:solidFill>
              </a:defRPr>
            </a:lvl2pPr>
            <a:lvl3pPr marL="714375" indent="-330200">
              <a:buFont typeface="Arial" panose="020B0604020202020204" pitchFamily="34" charset="0"/>
              <a:buChar char="•"/>
              <a:tabLst>
                <a:tab pos="714375" algn="l"/>
              </a:tabLst>
              <a:defRPr sz="2400">
                <a:solidFill>
                  <a:schemeClr val="tx1"/>
                </a:solidFill>
              </a:defRPr>
            </a:lvl3pPr>
            <a:lvl4pPr marL="895350" indent="-266700">
              <a:buFont typeface="Arial" panose="020B0604020202020204" pitchFamily="34" charset="0"/>
              <a:buChar char="•"/>
              <a:defRPr sz="2400">
                <a:solidFill>
                  <a:schemeClr val="tx1"/>
                </a:solidFill>
              </a:defRPr>
            </a:lvl4pPr>
            <a:lvl5pPr marL="1162050" indent="-352425">
              <a:buFont typeface="Arial" panose="020B0604020202020204" pitchFamily="34" charset="0"/>
              <a:buChar char="•"/>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22B3854-2F0D-42E5-836C-999B4016D793}" type="datetimeFigureOut">
              <a:rPr lang="en-IN" smtClean="0"/>
              <a:t>04-03-2026</a:t>
            </a:fld>
            <a:endParaRPr lang="en-IN"/>
          </a:p>
        </p:txBody>
      </p:sp>
      <p:sp>
        <p:nvSpPr>
          <p:cNvPr id="5" name="Footer Placeholder 4"/>
          <p:cNvSpPr>
            <a:spLocks noGrp="1"/>
          </p:cNvSpPr>
          <p:nvPr>
            <p:ph type="ftr" sz="quarter" idx="11"/>
          </p:nvPr>
        </p:nvSpPr>
        <p:spPr/>
        <p:txBody>
          <a:bodyPr/>
          <a:lstStyle/>
          <a:p>
            <a:r>
              <a:rPr lang="en-US" dirty="0"/>
              <a:t>Dr </a:t>
            </a:r>
            <a:r>
              <a:rPr lang="en-US" dirty="0" err="1"/>
              <a:t>s.rajarajeswari</a:t>
            </a:r>
            <a:endParaRPr lang="en-IN" dirty="0"/>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dirty="0"/>
          </a:p>
        </p:txBody>
      </p:sp>
      <p:sp>
        <p:nvSpPr>
          <p:cNvPr id="8" name="Rectangle 7">
            <a:extLst>
              <a:ext uri="{FF2B5EF4-FFF2-40B4-BE49-F238E27FC236}">
                <a16:creationId xmlns:a16="http://schemas.microsoft.com/office/drawing/2014/main" id="{395C9C08-912F-9753-A37D-05162F3F7943}"/>
              </a:ext>
            </a:extLst>
          </p:cNvPr>
          <p:cNvSpPr/>
          <p:nvPr userDrawn="1"/>
        </p:nvSpPr>
        <p:spPr>
          <a:xfrm>
            <a:off x="1025842" y="1569483"/>
            <a:ext cx="10563225" cy="172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EB51CC6F-C1BB-D139-AAC2-815E43055820}"/>
              </a:ext>
            </a:extLst>
          </p:cNvPr>
          <p:cNvCxnSpPr/>
          <p:nvPr userDrawn="1"/>
        </p:nvCxnSpPr>
        <p:spPr>
          <a:xfrm>
            <a:off x="1025842" y="1295400"/>
            <a:ext cx="10201275"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9069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2B3854-2F0D-42E5-836C-999B4016D793}"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768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2B3854-2F0D-42E5-836C-999B4016D793}"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1637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2B3854-2F0D-42E5-836C-999B4016D793}" type="datetimeFigureOut">
              <a:rPr lang="en-IN" smtClean="0"/>
              <a:t>04-03-2026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274094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2B3854-2F0D-42E5-836C-999B4016D793}" type="datetimeFigureOut">
              <a:rPr lang="en-IN" smtClean="0"/>
              <a:t>04-03-2026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7415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22B3854-2F0D-42E5-836C-999B4016D793}" type="datetimeFigureOut">
              <a:rPr lang="en-IN" smtClean="0"/>
              <a:t>04-03-2026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1433324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2B3854-2F0D-42E5-836C-999B4016D793}" type="datetimeFigureOut">
              <a:rPr lang="en-IN" smtClean="0"/>
              <a:t>04-03-2026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8325E4-7E4B-49F6-9E1B-931F0BCB2F99}" type="slidenum">
              <a:rPr lang="en-IN" smtClean="0"/>
              <a:t>‹#›</a:t>
            </a:fld>
            <a:endParaRPr lang="en-IN"/>
          </a:p>
        </p:txBody>
      </p:sp>
    </p:spTree>
    <p:extLst>
      <p:ext uri="{BB962C8B-B14F-4D97-AF65-F5344CB8AC3E}">
        <p14:creationId xmlns:p14="http://schemas.microsoft.com/office/powerpoint/2010/main" val="376388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2B3854-2F0D-42E5-836C-999B4016D793}" type="datetimeFigureOut">
              <a:rPr lang="en-IN" smtClean="0"/>
              <a:t>04-03-2026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53057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2421800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04-03-2026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34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22B3854-2F0D-42E5-836C-999B4016D793}" type="datetimeFigureOut">
              <a:rPr lang="en-IN" smtClean="0"/>
              <a:t>04-03-2026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8325E4-7E4B-49F6-9E1B-931F0BCB2F9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5324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analyticsvidhya.com/blog/2021/05/convolutional-neural-networks-understand-the-basic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viso.ai/deep-learning/neuron-activation/" TargetMode="External"/><Relationship Id="rId2" Type="http://schemas.openxmlformats.org/officeDocument/2006/relationships/hyperlink" Target="https://viso.ai/deep-learning/feature-extraction-in-pytho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analyticsvidhya.com/blog/2018/12/guide-convolutional-neural-network-cnn/"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mariammohamedfawzy.wordpress.com/2018/04/23/overlapping-pooling-and-overfitting/" TargetMode="External"/><Relationship Id="rId2" Type="http://schemas.openxmlformats.org/officeDocument/2006/relationships/hyperlink" Target="https://d2l.ai/chapter_convolutional-neural-networks/pooling.html"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www.ultralytics.com/solutions/ai-in-automotive" TargetMode="External"/><Relationship Id="rId2" Type="http://schemas.openxmlformats.org/officeDocument/2006/relationships/hyperlink" Target="https://www.ultralytics.com/solutions" TargetMode="External"/><Relationship Id="rId1" Type="http://schemas.openxmlformats.org/officeDocument/2006/relationships/slideLayout" Target="../slideLayouts/slideLayout2.xml"/><Relationship Id="rId6" Type="http://schemas.openxmlformats.org/officeDocument/2006/relationships/hyperlink" Target="https://docs.ultralytics.com/datasets/detect/brain-tumor/" TargetMode="External"/><Relationship Id="rId5" Type="http://schemas.openxmlformats.org/officeDocument/2006/relationships/hyperlink" Target="https://www.ultralytics.com/solutions/ai-in-healthcare" TargetMode="External"/><Relationship Id="rId4" Type="http://schemas.openxmlformats.org/officeDocument/2006/relationships/hyperlink" Target="https://www.ultralytics.com/glossary/ai-safety"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www.ultralytics.com/glossary/convolution" TargetMode="External"/><Relationship Id="rId2" Type="http://schemas.openxmlformats.org/officeDocument/2006/relationships/hyperlink" Target="https://en.wikipedia.org/wiki/Kernel_(image_processing)" TargetMode="External"/><Relationship Id="rId1" Type="http://schemas.openxmlformats.org/officeDocument/2006/relationships/slideLayout" Target="../slideLayouts/slideLayout2.xml"/><Relationship Id="rId6" Type="http://schemas.openxmlformats.org/officeDocument/2006/relationships/hyperlink" Target="https://www.ultralytics.com/glossary/natural-language-processing-nlp" TargetMode="External"/><Relationship Id="rId5" Type="http://schemas.openxmlformats.org/officeDocument/2006/relationships/hyperlink" Target="https://www.ultralytics.com/glossary/context-window" TargetMode="External"/><Relationship Id="rId4" Type="http://schemas.openxmlformats.org/officeDocument/2006/relationships/hyperlink" Target="https://www.ultralytics.com/glossary/feature-maps" TargetMode="External"/></Relationships>
</file>

<file path=ppt/slides/_rels/slide86.xml.rels><?xml version="1.0" encoding="UTF-8" standalone="yes"?>
<Relationships xmlns="http://schemas.openxmlformats.org/package/2006/relationships"><Relationship Id="rId3" Type="http://schemas.openxmlformats.org/officeDocument/2006/relationships/hyperlink" Target="https://towardsdatascience.com/r-cnn-fast-r-cnn-faster-r-cnn-yolo-object-detection-algorithms-36d53571365e/" TargetMode="External"/><Relationship Id="rId2" Type="http://schemas.openxmlformats.org/officeDocument/2006/relationships/hyperlink" Target="https://medium.com/data-science/advanced-topics-in-deep-convolutional-neural-networks-71ef1190522d" TargetMode="External"/><Relationship Id="rId1" Type="http://schemas.openxmlformats.org/officeDocument/2006/relationships/slideLayout" Target="../slideLayouts/slideLayout2.xml"/><Relationship Id="rId5" Type="http://schemas.openxmlformats.org/officeDocument/2006/relationships/hyperlink" Target="https://d2l.ai/chapter_computer-vision/rcnn.html" TargetMode="External"/><Relationship Id="rId4" Type="http://schemas.openxmlformats.org/officeDocument/2006/relationships/hyperlink" Target="https://www.mathworks.com/help/vision/ug/getting-started-with-r-cnn-fast-r-cnn-and-faster-r-cnn.html"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hyperlink" Target="https://d2l.ai/chapter_convolutional-neural-networks/lenet.html"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hyperlink" Target="https://builtin.com/data-science/dot-product-matrix" TargetMode="Externa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hyperlink" Target="https://builtin.com/machine-learning/deep-learning" TargetMode="Externa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hyperlink" Target="https://www.geeksforgeeks.org/machine-learning/ml-getting-started-with-alexnet/" TargetMode="Externa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hyperlink" Target="https://www.geeksforgeeks.org/deep-learning/relu-activation-function-in-deep-learning/"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hyperlink" Target="https://www.analyticsvidhya.com/blog/2020/01/computer-vision-learning-path/" TargetMode="Externa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hyperlink" Target="https://viso.ai/deep-learning/neuron-activation/" TargetMode="Externa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hyperlink" Target="https://viso.ai/deep-learning/resnet-residual-neural-network/" TargetMode="Externa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hyperlink" Target="https://www.geeksforgeeks.org/machine-learning/dimensionality-reduction/" TargetMode="External"/><Relationship Id="rId2" Type="http://schemas.openxmlformats.org/officeDocument/2006/relationships/hyperlink" Target="https://www.geeksforgeeks.org/machine-learning/ml-getting-started-with-alexnet/" TargetMode="Externa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hyperlink" Target="https://www.geeksforgeeks.org/deep-learning/vanishing-and-exploding-gradients-problems-in-deep-learning/" TargetMode="Externa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hyperlink" Target="https://www.geeksforgeeks.org/computer-vision/vgg-16-cnn-model/" TargetMode="External"/><Relationship Id="rId2" Type="http://schemas.openxmlformats.org/officeDocument/2006/relationships/hyperlink" Target="https://www.geeksforgeeks.org/deep-learning/residual-networks-resnet-deep-learning/" TargetMode="External"/><Relationship Id="rId1" Type="http://schemas.openxmlformats.org/officeDocument/2006/relationships/slideLayout" Target="../slideLayouts/slideLayout2.xml"/><Relationship Id="rId5" Type="http://schemas.openxmlformats.org/officeDocument/2006/relationships/hyperlink" Target="https://www.geeksforgeeks.org/machine-learning/ml-getting-started-with-alexnet/" TargetMode="External"/><Relationship Id="rId4" Type="http://schemas.openxmlformats.org/officeDocument/2006/relationships/hyperlink" Target="https://www.geeksforgeeks.org/machine-learning/understanding-googlenet-model-cnn-architecture/" TargetMode="External"/></Relationships>
</file>

<file path=ppt/slides/_rels/slide18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www.geeksforgeeks.org/dbms/introduction-of-database-normalization/" TargetMode="Externa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hyperlink" Target="https://www.geeksforgeeks.org/machine-learning/regularization-in-machine-learning/" TargetMode="Externa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30AB0-E2A7-A94E-073C-A411BCE69B37}"/>
              </a:ext>
            </a:extLst>
          </p:cNvPr>
          <p:cNvSpPr>
            <a:spLocks noGrp="1"/>
          </p:cNvSpPr>
          <p:nvPr>
            <p:ph type="ctrTitle"/>
          </p:nvPr>
        </p:nvSpPr>
        <p:spPr>
          <a:xfrm>
            <a:off x="1097280" y="758952"/>
            <a:ext cx="10058400" cy="2797048"/>
          </a:xfrm>
        </p:spPr>
        <p:txBody>
          <a:bodyPr/>
          <a:lstStyle/>
          <a:p>
            <a:pPr algn="ctr"/>
            <a:r>
              <a:rPr lang="en-US" dirty="0"/>
              <a:t>Deep Learning</a:t>
            </a:r>
            <a:br>
              <a:rPr lang="en-US" dirty="0"/>
            </a:br>
            <a:r>
              <a:rPr lang="en-US" sz="6600" b="1" dirty="0"/>
              <a:t>Module 2</a:t>
            </a:r>
            <a:endParaRPr lang="en-IN" sz="6600" b="1" dirty="0"/>
          </a:p>
        </p:txBody>
      </p:sp>
      <p:sp>
        <p:nvSpPr>
          <p:cNvPr id="3" name="Subtitle 2">
            <a:extLst>
              <a:ext uri="{FF2B5EF4-FFF2-40B4-BE49-F238E27FC236}">
                <a16:creationId xmlns:a16="http://schemas.microsoft.com/office/drawing/2014/main" id="{EAF87500-0C3E-CFCE-5683-C0C03EBB0BEB}"/>
              </a:ext>
            </a:extLst>
          </p:cNvPr>
          <p:cNvSpPr>
            <a:spLocks noGrp="1"/>
          </p:cNvSpPr>
          <p:nvPr>
            <p:ph type="subTitle" idx="1"/>
          </p:nvPr>
        </p:nvSpPr>
        <p:spPr/>
        <p:txBody>
          <a:bodyPr/>
          <a:lstStyle/>
          <a:p>
            <a:r>
              <a:rPr lang="en-US" dirty="0"/>
              <a:t>Dr </a:t>
            </a:r>
            <a:r>
              <a:rPr lang="en-US" dirty="0" err="1"/>
              <a:t>S.Rajarajeswari</a:t>
            </a:r>
            <a:endParaRPr lang="en-IN" dirty="0"/>
          </a:p>
        </p:txBody>
      </p:sp>
    </p:spTree>
    <p:extLst>
      <p:ext uri="{BB962C8B-B14F-4D97-AF65-F5344CB8AC3E}">
        <p14:creationId xmlns:p14="http://schemas.microsoft.com/office/powerpoint/2010/main" val="1731249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13575-FE30-C8EE-F8EA-5DD2671489A2}"/>
              </a:ext>
            </a:extLst>
          </p:cNvPr>
          <p:cNvSpPr>
            <a:spLocks noGrp="1"/>
          </p:cNvSpPr>
          <p:nvPr>
            <p:ph type="title"/>
          </p:nvPr>
        </p:nvSpPr>
        <p:spPr/>
        <p:txBody>
          <a:bodyPr>
            <a:normAutofit/>
          </a:bodyPr>
          <a:lstStyle/>
          <a:p>
            <a:r>
              <a:rPr lang="en-US" sz="4000" dirty="0"/>
              <a:t>What is a Convolutional Neural Network (CNN)?</a:t>
            </a:r>
            <a:endParaRPr lang="en-IN" sz="4000" dirty="0"/>
          </a:p>
        </p:txBody>
      </p:sp>
      <p:sp>
        <p:nvSpPr>
          <p:cNvPr id="3" name="Content Placeholder 2">
            <a:extLst>
              <a:ext uri="{FF2B5EF4-FFF2-40B4-BE49-F238E27FC236}">
                <a16:creationId xmlns:a16="http://schemas.microsoft.com/office/drawing/2014/main" id="{D5B5312C-ED03-AE05-BD01-D39FE917CA60}"/>
              </a:ext>
            </a:extLst>
          </p:cNvPr>
          <p:cNvSpPr>
            <a:spLocks noGrp="1"/>
          </p:cNvSpPr>
          <p:nvPr>
            <p:ph idx="1"/>
          </p:nvPr>
        </p:nvSpPr>
        <p:spPr>
          <a:xfrm>
            <a:off x="772161" y="1544320"/>
            <a:ext cx="10312082" cy="4581950"/>
          </a:xfrm>
        </p:spPr>
        <p:txBody>
          <a:bodyPr>
            <a:normAutofit/>
          </a:bodyPr>
          <a:lstStyle/>
          <a:p>
            <a:r>
              <a:rPr lang="en-US" dirty="0"/>
              <a:t>In deep learning, a convolutional neural network (CNN/</a:t>
            </a:r>
            <a:r>
              <a:rPr lang="en-US" dirty="0" err="1"/>
              <a:t>ConvNet</a:t>
            </a:r>
            <a:r>
              <a:rPr lang="en-US" dirty="0"/>
              <a:t>) is a class of deep neural networks, most commonly applied to analyze visual imagery. </a:t>
            </a:r>
          </a:p>
          <a:p>
            <a:r>
              <a:rPr lang="en-US" dirty="0"/>
              <a:t>The CNN architecture uses a special technique called Convolution instead of relying solely on matrix multiplications like traditional neural networks. </a:t>
            </a:r>
          </a:p>
          <a:p>
            <a:r>
              <a:rPr lang="en-US" dirty="0"/>
              <a:t>Convolutional networks use a process called </a:t>
            </a:r>
            <a:r>
              <a:rPr lang="en-US" b="1" dirty="0"/>
              <a:t>convolution</a:t>
            </a:r>
            <a:r>
              <a:rPr lang="en-US" dirty="0"/>
              <a:t>, which combines </a:t>
            </a:r>
            <a:r>
              <a:rPr lang="en-US" b="1" dirty="0"/>
              <a:t>two functions to show how one changes the shape of the other</a:t>
            </a:r>
            <a:r>
              <a:rPr lang="en-US" dirty="0"/>
              <a:t>.</a:t>
            </a:r>
          </a:p>
          <a:p>
            <a:r>
              <a:rPr lang="en-US" dirty="0"/>
              <a:t>The bottom line is that the role of the convolutional networks is to </a:t>
            </a:r>
            <a:r>
              <a:rPr lang="en-US" b="1" dirty="0"/>
              <a:t>reduce the images into a form that is easier to process, </a:t>
            </a:r>
            <a:r>
              <a:rPr lang="en-US" dirty="0"/>
              <a:t>without losing features that are critical for getting a good prediction.</a:t>
            </a:r>
            <a:br>
              <a:rPr lang="en-US" dirty="0"/>
            </a:br>
            <a:endParaRPr lang="en-IN" dirty="0"/>
          </a:p>
        </p:txBody>
      </p:sp>
    </p:spTree>
    <p:extLst>
      <p:ext uri="{BB962C8B-B14F-4D97-AF65-F5344CB8AC3E}">
        <p14:creationId xmlns:p14="http://schemas.microsoft.com/office/powerpoint/2010/main" val="3536704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01CF5-4F09-041A-3E2C-9F17D57DB18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57E1E8E-BC95-443A-408F-A027AE4D60D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E1DA0A2-D4F9-8504-65DC-71E0C29B05E7}"/>
              </a:ext>
            </a:extLst>
          </p:cNvPr>
          <p:cNvPicPr>
            <a:picLocks noChangeAspect="1"/>
          </p:cNvPicPr>
          <p:nvPr/>
        </p:nvPicPr>
        <p:blipFill>
          <a:blip r:embed="rId2"/>
          <a:stretch>
            <a:fillRect/>
          </a:stretch>
        </p:blipFill>
        <p:spPr>
          <a:xfrm>
            <a:off x="1305334" y="2448560"/>
            <a:ext cx="9785165" cy="2519680"/>
          </a:xfrm>
          <a:prstGeom prst="rect">
            <a:avLst/>
          </a:prstGeom>
        </p:spPr>
      </p:pic>
    </p:spTree>
    <p:extLst>
      <p:ext uri="{BB962C8B-B14F-4D97-AF65-F5344CB8AC3E}">
        <p14:creationId xmlns:p14="http://schemas.microsoft.com/office/powerpoint/2010/main" val="156595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598A1-F064-A377-3C50-4E55ED1309B0}"/>
              </a:ext>
            </a:extLst>
          </p:cNvPr>
          <p:cNvSpPr>
            <a:spLocks noGrp="1"/>
          </p:cNvSpPr>
          <p:nvPr>
            <p:ph type="title"/>
          </p:nvPr>
        </p:nvSpPr>
        <p:spPr/>
        <p:txBody>
          <a:bodyPr>
            <a:normAutofit fontScale="90000"/>
          </a:bodyPr>
          <a:lstStyle/>
          <a:p>
            <a:r>
              <a:rPr lang="en-IN" b="0" dirty="0"/>
              <a:t>How Does CNN Work?</a:t>
            </a:r>
            <a:endParaRPr lang="en-IN" dirty="0"/>
          </a:p>
        </p:txBody>
      </p:sp>
      <p:sp>
        <p:nvSpPr>
          <p:cNvPr id="3" name="Content Placeholder 2">
            <a:extLst>
              <a:ext uri="{FF2B5EF4-FFF2-40B4-BE49-F238E27FC236}">
                <a16:creationId xmlns:a16="http://schemas.microsoft.com/office/drawing/2014/main" id="{E47355BD-4264-0A34-3240-23917F511C17}"/>
              </a:ext>
            </a:extLst>
          </p:cNvPr>
          <p:cNvSpPr>
            <a:spLocks noGrp="1"/>
          </p:cNvSpPr>
          <p:nvPr>
            <p:ph idx="1"/>
          </p:nvPr>
        </p:nvSpPr>
        <p:spPr>
          <a:xfrm>
            <a:off x="358140" y="1524000"/>
            <a:ext cx="4589781" cy="4663230"/>
          </a:xfrm>
        </p:spPr>
        <p:txBody>
          <a:bodyPr>
            <a:normAutofit/>
          </a:bodyPr>
          <a:lstStyle/>
          <a:p>
            <a:r>
              <a:rPr lang="en-US" dirty="0"/>
              <a:t>Before we go to the working of Convolutional neural networks (CNN), let’s cover the basics, such as what an image is and how it is represented. </a:t>
            </a:r>
          </a:p>
          <a:p>
            <a:r>
              <a:rPr lang="en-US" dirty="0"/>
              <a:t>An RGB image is nothing but a matrix of pixel values having three planes, whereas a grayscale image is the same, but it has a single plane. </a:t>
            </a:r>
          </a:p>
          <a:p>
            <a:r>
              <a:rPr lang="en-US" dirty="0"/>
              <a:t>Take a look at this image to understand more.</a:t>
            </a:r>
            <a:endParaRPr lang="en-IN" dirty="0"/>
          </a:p>
        </p:txBody>
      </p:sp>
      <p:pic>
        <p:nvPicPr>
          <p:cNvPr id="5" name="Picture 4">
            <a:extLst>
              <a:ext uri="{FF2B5EF4-FFF2-40B4-BE49-F238E27FC236}">
                <a16:creationId xmlns:a16="http://schemas.microsoft.com/office/drawing/2014/main" id="{B9554547-AED4-7475-E26D-7B90EF27DCD3}"/>
              </a:ext>
            </a:extLst>
          </p:cNvPr>
          <p:cNvPicPr>
            <a:picLocks noChangeAspect="1"/>
          </p:cNvPicPr>
          <p:nvPr/>
        </p:nvPicPr>
        <p:blipFill>
          <a:blip r:embed="rId2"/>
          <a:stretch>
            <a:fillRect/>
          </a:stretch>
        </p:blipFill>
        <p:spPr>
          <a:xfrm>
            <a:off x="5198734" y="1524000"/>
            <a:ext cx="6452246" cy="4663230"/>
          </a:xfrm>
          <a:prstGeom prst="rect">
            <a:avLst/>
          </a:prstGeom>
        </p:spPr>
      </p:pic>
    </p:spTree>
    <p:extLst>
      <p:ext uri="{BB962C8B-B14F-4D97-AF65-F5344CB8AC3E}">
        <p14:creationId xmlns:p14="http://schemas.microsoft.com/office/powerpoint/2010/main" val="2231871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129A8-FA44-5263-7AB8-CF845601EEF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EED1612-E7D0-D1ED-5221-FC26F352683C}"/>
              </a:ext>
            </a:extLst>
          </p:cNvPr>
          <p:cNvSpPr>
            <a:spLocks noGrp="1"/>
          </p:cNvSpPr>
          <p:nvPr>
            <p:ph idx="1"/>
          </p:nvPr>
        </p:nvSpPr>
        <p:spPr>
          <a:xfrm>
            <a:off x="1025842" y="1402080"/>
            <a:ext cx="10201275" cy="4724190"/>
          </a:xfrm>
        </p:spPr>
        <p:txBody>
          <a:bodyPr/>
          <a:lstStyle/>
          <a:p>
            <a:r>
              <a:rPr lang="en-US" dirty="0"/>
              <a:t>For simplicity, let’s stick with grayscale images as we try to understand how CNNs work.</a:t>
            </a:r>
            <a:endParaRPr lang="en-IN" dirty="0"/>
          </a:p>
        </p:txBody>
      </p:sp>
      <p:pic>
        <p:nvPicPr>
          <p:cNvPr id="5" name="Picture 4">
            <a:extLst>
              <a:ext uri="{FF2B5EF4-FFF2-40B4-BE49-F238E27FC236}">
                <a16:creationId xmlns:a16="http://schemas.microsoft.com/office/drawing/2014/main" id="{EBB466DD-1C69-9716-C3A5-EA8477CEE69C}"/>
              </a:ext>
            </a:extLst>
          </p:cNvPr>
          <p:cNvPicPr>
            <a:picLocks noChangeAspect="1"/>
          </p:cNvPicPr>
          <p:nvPr/>
        </p:nvPicPr>
        <p:blipFill>
          <a:blip r:embed="rId2"/>
          <a:stretch>
            <a:fillRect/>
          </a:stretch>
        </p:blipFill>
        <p:spPr>
          <a:xfrm>
            <a:off x="1473200" y="2140940"/>
            <a:ext cx="8829040" cy="3985330"/>
          </a:xfrm>
          <a:prstGeom prst="rect">
            <a:avLst/>
          </a:prstGeom>
        </p:spPr>
      </p:pic>
    </p:spTree>
    <p:extLst>
      <p:ext uri="{BB962C8B-B14F-4D97-AF65-F5344CB8AC3E}">
        <p14:creationId xmlns:p14="http://schemas.microsoft.com/office/powerpoint/2010/main" val="3661505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99C7C-B093-EF21-0AF0-9282808FDB6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5BB3744-B3C6-3818-08A7-050C8AE557B0}"/>
              </a:ext>
            </a:extLst>
          </p:cNvPr>
          <p:cNvSpPr>
            <a:spLocks noGrp="1"/>
          </p:cNvSpPr>
          <p:nvPr>
            <p:ph idx="1"/>
          </p:nvPr>
        </p:nvSpPr>
        <p:spPr>
          <a:xfrm>
            <a:off x="882967" y="1320800"/>
            <a:ext cx="10201275" cy="4805470"/>
          </a:xfrm>
        </p:spPr>
        <p:txBody>
          <a:bodyPr/>
          <a:lstStyle/>
          <a:p>
            <a:r>
              <a:rPr lang="en-US" dirty="0"/>
              <a:t>The above image shows what a convolution is. </a:t>
            </a:r>
          </a:p>
          <a:p>
            <a:r>
              <a:rPr lang="en-US" dirty="0"/>
              <a:t>We take a filter/kernel(3×3 matrix) and apply it to the input image to get the convolved feature. This convolved feature is passed on to the next layer.</a:t>
            </a:r>
            <a:endParaRPr lang="en-IN" dirty="0"/>
          </a:p>
        </p:txBody>
      </p:sp>
      <p:pic>
        <p:nvPicPr>
          <p:cNvPr id="4098" name="Picture 2" descr="Convolved Feature">
            <a:extLst>
              <a:ext uri="{FF2B5EF4-FFF2-40B4-BE49-F238E27FC236}">
                <a16:creationId xmlns:a16="http://schemas.microsoft.com/office/drawing/2014/main" id="{482903E6-21D2-5AC1-E3FB-D2092E6A6E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4770" y="2341880"/>
            <a:ext cx="501015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746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C9A8DC-52EB-5A75-2147-88ED19E2A19D}"/>
              </a:ext>
            </a:extLst>
          </p:cNvPr>
          <p:cNvSpPr>
            <a:spLocks noGrp="1"/>
          </p:cNvSpPr>
          <p:nvPr>
            <p:ph idx="1"/>
          </p:nvPr>
        </p:nvSpPr>
        <p:spPr>
          <a:xfrm>
            <a:off x="934720" y="370001"/>
            <a:ext cx="10292397" cy="5717678"/>
          </a:xfrm>
        </p:spPr>
        <p:txBody>
          <a:bodyPr/>
          <a:lstStyle/>
          <a:p>
            <a:r>
              <a:rPr lang="en-US" dirty="0"/>
              <a:t>In the case of the RGB color channel, take a look at this animation to understand its working</a:t>
            </a:r>
            <a:endParaRPr lang="en-IN" dirty="0"/>
          </a:p>
        </p:txBody>
      </p:sp>
      <p:pic>
        <p:nvPicPr>
          <p:cNvPr id="5122" name="Picture 2" descr="CovNet on RGB Images">
            <a:extLst>
              <a:ext uri="{FF2B5EF4-FFF2-40B4-BE49-F238E27FC236}">
                <a16:creationId xmlns:a16="http://schemas.microsoft.com/office/drawing/2014/main" id="{120A9AF2-7987-E29A-52A3-2A4C0C3D1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1613" y="1565419"/>
            <a:ext cx="8334375" cy="468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453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6CD37-7A15-599B-1CAE-37350410DD9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40ADB6E-33FB-C64A-795B-0F6E504471A7}"/>
              </a:ext>
            </a:extLst>
          </p:cNvPr>
          <p:cNvSpPr>
            <a:spLocks noGrp="1"/>
          </p:cNvSpPr>
          <p:nvPr>
            <p:ph idx="1"/>
          </p:nvPr>
        </p:nvSpPr>
        <p:spPr>
          <a:xfrm>
            <a:off x="944880" y="1280160"/>
            <a:ext cx="10282237" cy="4846110"/>
          </a:xfrm>
        </p:spPr>
        <p:txBody>
          <a:bodyPr>
            <a:normAutofit lnSpcReduction="10000"/>
          </a:bodyPr>
          <a:lstStyle/>
          <a:p>
            <a:pPr algn="just"/>
            <a:r>
              <a:rPr lang="en-US" dirty="0"/>
              <a:t>The number of parameters in a CNN layer depends on the size of the </a:t>
            </a:r>
            <a:r>
              <a:rPr lang="en-US" b="1" dirty="0"/>
              <a:t>receptive fields (filter kernels) and the number of filters. </a:t>
            </a:r>
          </a:p>
          <a:p>
            <a:pPr algn="just"/>
            <a:r>
              <a:rPr lang="en-US" dirty="0"/>
              <a:t>Each neuron in a CNN layer receives inputs from a local region of the previous layer, known as its </a:t>
            </a:r>
            <a:r>
              <a:rPr lang="en-US" b="1" dirty="0"/>
              <a:t>receptive field. </a:t>
            </a:r>
          </a:p>
          <a:p>
            <a:pPr algn="just"/>
            <a:r>
              <a:rPr lang="en-US" dirty="0"/>
              <a:t>The receptive fields move over the input, calculating dot products and creating a convolved feature map as the output. </a:t>
            </a:r>
          </a:p>
          <a:p>
            <a:pPr algn="just"/>
            <a:r>
              <a:rPr lang="en-US" dirty="0"/>
              <a:t>Usually, this map then goes through a </a:t>
            </a:r>
            <a:r>
              <a:rPr lang="en-US" b="1" dirty="0"/>
              <a:t>rectified linear unit (</a:t>
            </a:r>
            <a:r>
              <a:rPr lang="en-US" b="1" dirty="0" err="1"/>
              <a:t>ReLU</a:t>
            </a:r>
            <a:r>
              <a:rPr lang="en-US" b="1" dirty="0"/>
              <a:t>) activation function. </a:t>
            </a:r>
          </a:p>
          <a:p>
            <a:pPr algn="just"/>
            <a:r>
              <a:rPr lang="en-US" dirty="0"/>
              <a:t>Classic CNN architectures </a:t>
            </a:r>
            <a:r>
              <a:rPr lang="en-US" b="1" dirty="0"/>
              <a:t>like LeNet and more modern ones like </a:t>
            </a:r>
            <a:r>
              <a:rPr lang="en-US" b="1" dirty="0" err="1"/>
              <a:t>ResNet</a:t>
            </a:r>
            <a:r>
              <a:rPr lang="en-US" b="1" dirty="0"/>
              <a:t> </a:t>
            </a:r>
            <a:r>
              <a:rPr lang="en-US" dirty="0"/>
              <a:t>employ this fundamental principle.</a:t>
            </a:r>
          </a:p>
          <a:p>
            <a:pPr algn="just"/>
            <a:r>
              <a:rPr lang="en-US" dirty="0"/>
              <a:t>Convolutional neural networks are composed of multiple layers of artificial neurons.</a:t>
            </a:r>
          </a:p>
          <a:p>
            <a:pPr algn="just"/>
            <a:endParaRPr lang="en-IN" dirty="0"/>
          </a:p>
        </p:txBody>
      </p:sp>
    </p:spTree>
    <p:extLst>
      <p:ext uri="{BB962C8B-B14F-4D97-AF65-F5344CB8AC3E}">
        <p14:creationId xmlns:p14="http://schemas.microsoft.com/office/powerpoint/2010/main" val="2247495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3597-F220-FD16-AE0E-CC1C15BA920F}"/>
              </a:ext>
            </a:extLst>
          </p:cNvPr>
          <p:cNvSpPr>
            <a:spLocks noGrp="1"/>
          </p:cNvSpPr>
          <p:nvPr>
            <p:ph type="title"/>
          </p:nvPr>
        </p:nvSpPr>
        <p:spPr/>
        <p:txBody>
          <a:bodyPr>
            <a:normAutofit fontScale="90000"/>
          </a:bodyPr>
          <a:lstStyle/>
          <a:p>
            <a:r>
              <a:rPr lang="en-US" dirty="0"/>
              <a:t>Artificial Neurons’ Role in CNN</a:t>
            </a:r>
            <a:endParaRPr lang="en-IN" dirty="0"/>
          </a:p>
        </p:txBody>
      </p:sp>
      <p:sp>
        <p:nvSpPr>
          <p:cNvPr id="3" name="Content Placeholder 2">
            <a:extLst>
              <a:ext uri="{FF2B5EF4-FFF2-40B4-BE49-F238E27FC236}">
                <a16:creationId xmlns:a16="http://schemas.microsoft.com/office/drawing/2014/main" id="{23678B7C-B15E-AE4D-FDE2-5F4D4A27C248}"/>
              </a:ext>
            </a:extLst>
          </p:cNvPr>
          <p:cNvSpPr>
            <a:spLocks noGrp="1"/>
          </p:cNvSpPr>
          <p:nvPr>
            <p:ph idx="1"/>
          </p:nvPr>
        </p:nvSpPr>
        <p:spPr/>
        <p:txBody>
          <a:bodyPr/>
          <a:lstStyle/>
          <a:p>
            <a:r>
              <a:rPr lang="en-US" dirty="0"/>
              <a:t>Artificial neurons, a rough imitation of their biological counterparts, are mathematical functions that calculate </a:t>
            </a:r>
            <a:r>
              <a:rPr lang="en-US" b="1" dirty="0"/>
              <a:t>the weighted sum of multiple inputs and output an activation value. </a:t>
            </a:r>
          </a:p>
          <a:p>
            <a:r>
              <a:rPr lang="en-US" dirty="0"/>
              <a:t>When you input an image into a </a:t>
            </a:r>
            <a:r>
              <a:rPr lang="en-US" dirty="0" err="1"/>
              <a:t>ConvNet</a:t>
            </a:r>
            <a:r>
              <a:rPr lang="en-US" dirty="0"/>
              <a:t>, each layer generates several activation functions that are passed on to the next layer for feature extraction.</a:t>
            </a:r>
          </a:p>
          <a:p>
            <a:endParaRPr lang="en-IN" dirty="0"/>
          </a:p>
        </p:txBody>
      </p:sp>
    </p:spTree>
    <p:extLst>
      <p:ext uri="{BB962C8B-B14F-4D97-AF65-F5344CB8AC3E}">
        <p14:creationId xmlns:p14="http://schemas.microsoft.com/office/powerpoint/2010/main" val="3192421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A4768-80EA-47CE-7021-4BADABD0AF26}"/>
              </a:ext>
            </a:extLst>
          </p:cNvPr>
          <p:cNvSpPr>
            <a:spLocks noGrp="1"/>
          </p:cNvSpPr>
          <p:nvPr>
            <p:ph type="title"/>
          </p:nvPr>
        </p:nvSpPr>
        <p:spPr/>
        <p:txBody>
          <a:bodyPr>
            <a:normAutofit fontScale="90000"/>
          </a:bodyPr>
          <a:lstStyle/>
          <a:p>
            <a:r>
              <a:rPr lang="en-IN" dirty="0"/>
              <a:t>Feature Extraction in CNN</a:t>
            </a:r>
          </a:p>
        </p:txBody>
      </p:sp>
      <p:sp>
        <p:nvSpPr>
          <p:cNvPr id="3" name="Content Placeholder 2">
            <a:extLst>
              <a:ext uri="{FF2B5EF4-FFF2-40B4-BE49-F238E27FC236}">
                <a16:creationId xmlns:a16="http://schemas.microsoft.com/office/drawing/2014/main" id="{615DEC0A-5EBF-1BAF-DB32-88BAE619B575}"/>
              </a:ext>
            </a:extLst>
          </p:cNvPr>
          <p:cNvSpPr>
            <a:spLocks noGrp="1"/>
          </p:cNvSpPr>
          <p:nvPr>
            <p:ph idx="1"/>
          </p:nvPr>
        </p:nvSpPr>
        <p:spPr/>
        <p:txBody>
          <a:bodyPr/>
          <a:lstStyle/>
          <a:p>
            <a:r>
              <a:rPr lang="en-US" b="1" dirty="0"/>
              <a:t>The first layer </a:t>
            </a:r>
            <a:r>
              <a:rPr lang="en-US" dirty="0"/>
              <a:t>usually extracts </a:t>
            </a:r>
            <a:r>
              <a:rPr lang="en-US" b="1" dirty="0"/>
              <a:t>basic features </a:t>
            </a:r>
            <a:r>
              <a:rPr lang="en-US" dirty="0"/>
              <a:t>such as </a:t>
            </a:r>
            <a:r>
              <a:rPr lang="en-US" b="1" dirty="0"/>
              <a:t>horizontal or diagonal edges. </a:t>
            </a:r>
          </a:p>
          <a:p>
            <a:r>
              <a:rPr lang="en-US" dirty="0"/>
              <a:t>This output is passed on to the </a:t>
            </a:r>
            <a:r>
              <a:rPr lang="en-US" b="1" dirty="0"/>
              <a:t>next layer</a:t>
            </a:r>
            <a:r>
              <a:rPr lang="en-US" dirty="0"/>
              <a:t>, which detects more complex features such as </a:t>
            </a:r>
            <a:r>
              <a:rPr lang="en-US" b="1" dirty="0"/>
              <a:t>corners or combinational edges</a:t>
            </a:r>
            <a:r>
              <a:rPr lang="en-US" dirty="0"/>
              <a:t>. </a:t>
            </a:r>
          </a:p>
          <a:p>
            <a:r>
              <a:rPr lang="en-US" dirty="0"/>
              <a:t>As we move deeper into the network, it can identify even more complex features such as </a:t>
            </a:r>
            <a:r>
              <a:rPr lang="en-US" b="1" dirty="0"/>
              <a:t>objects, faces, etc. </a:t>
            </a:r>
          </a:p>
          <a:p>
            <a:r>
              <a:rPr lang="en-US" dirty="0"/>
              <a:t>Unlike recurrent neural networks, </a:t>
            </a:r>
            <a:r>
              <a:rPr lang="en-US" dirty="0" err="1"/>
              <a:t>ConvNets</a:t>
            </a:r>
            <a:r>
              <a:rPr lang="en-US" dirty="0"/>
              <a:t> are </a:t>
            </a:r>
            <a:r>
              <a:rPr lang="en-US" b="1" dirty="0"/>
              <a:t>feed-forward networks </a:t>
            </a:r>
            <a:r>
              <a:rPr lang="en-US" dirty="0"/>
              <a:t>that process the input data in a single pass.</a:t>
            </a:r>
            <a:endParaRPr lang="en-IN" dirty="0"/>
          </a:p>
        </p:txBody>
      </p:sp>
    </p:spTree>
    <p:extLst>
      <p:ext uri="{BB962C8B-B14F-4D97-AF65-F5344CB8AC3E}">
        <p14:creationId xmlns:p14="http://schemas.microsoft.com/office/powerpoint/2010/main" val="2306078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69C15-4E63-81F5-5656-60A5880270C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6E39C9F-3FA0-F52A-B88D-56FFF1A293E4}"/>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DBA7F023-F7CC-1DE2-7749-23AAC100BA88}"/>
              </a:ext>
            </a:extLst>
          </p:cNvPr>
          <p:cNvPicPr>
            <a:picLocks noChangeAspect="1"/>
          </p:cNvPicPr>
          <p:nvPr/>
        </p:nvPicPr>
        <p:blipFill>
          <a:blip r:embed="rId2"/>
          <a:stretch>
            <a:fillRect/>
          </a:stretch>
        </p:blipFill>
        <p:spPr>
          <a:xfrm>
            <a:off x="1025842" y="1176337"/>
            <a:ext cx="9223058" cy="5002874"/>
          </a:xfrm>
          <a:prstGeom prst="rect">
            <a:avLst/>
          </a:prstGeom>
        </p:spPr>
      </p:pic>
    </p:spTree>
    <p:extLst>
      <p:ext uri="{BB962C8B-B14F-4D97-AF65-F5344CB8AC3E}">
        <p14:creationId xmlns:p14="http://schemas.microsoft.com/office/powerpoint/2010/main" val="955694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4808D-78AB-20EF-3C05-ACB3F3906F1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1C7AB9A-3BFF-C062-F4E1-BCDD035CD5F1}"/>
              </a:ext>
            </a:extLst>
          </p:cNvPr>
          <p:cNvSpPr>
            <a:spLocks noGrp="1"/>
          </p:cNvSpPr>
          <p:nvPr>
            <p:ph idx="1"/>
          </p:nvPr>
        </p:nvSpPr>
        <p:spPr>
          <a:xfrm>
            <a:off x="1025842" y="1300480"/>
            <a:ext cx="10201275" cy="4825790"/>
          </a:xfrm>
        </p:spPr>
        <p:txBody>
          <a:bodyPr/>
          <a:lstStyle/>
          <a:p>
            <a:r>
              <a:rPr lang="en-US" dirty="0"/>
              <a:t>Based on the </a:t>
            </a:r>
            <a:r>
              <a:rPr lang="en-US" b="1" dirty="0"/>
              <a:t>activation map of the final convolution layer</a:t>
            </a:r>
            <a:r>
              <a:rPr lang="en-US" dirty="0"/>
              <a:t>, the classification layer outputs a set of confidence scores (values between 0 and 1) that specify how likely the image is to belong to a “class.”</a:t>
            </a:r>
          </a:p>
          <a:p>
            <a:r>
              <a:rPr lang="en-US" dirty="0"/>
              <a:t> For instance, if you have a </a:t>
            </a:r>
            <a:r>
              <a:rPr lang="en-US" dirty="0" err="1"/>
              <a:t>ConvNet</a:t>
            </a:r>
            <a:r>
              <a:rPr lang="en-US" dirty="0"/>
              <a:t> that detects cats, dogs, and horses, the output of the final layer is the possibility that the input data contains any of those animals. </a:t>
            </a:r>
          </a:p>
          <a:p>
            <a:r>
              <a:rPr lang="en-US" b="1" dirty="0"/>
              <a:t>Gradient descent is commonly used as the optimization algorithm </a:t>
            </a:r>
            <a:r>
              <a:rPr lang="en-US" dirty="0"/>
              <a:t>during training to adjust the weights of the input layer and subsequent layers.</a:t>
            </a:r>
          </a:p>
          <a:p>
            <a:endParaRPr lang="en-IN" dirty="0"/>
          </a:p>
        </p:txBody>
      </p:sp>
    </p:spTree>
    <p:extLst>
      <p:ext uri="{BB962C8B-B14F-4D97-AF65-F5344CB8AC3E}">
        <p14:creationId xmlns:p14="http://schemas.microsoft.com/office/powerpoint/2010/main" val="3566497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C2A24-C660-BBE2-03B2-2D8A4DCD02F0}"/>
              </a:ext>
            </a:extLst>
          </p:cNvPr>
          <p:cNvSpPr>
            <a:spLocks noGrp="1"/>
          </p:cNvSpPr>
          <p:nvPr>
            <p:ph type="title"/>
          </p:nvPr>
        </p:nvSpPr>
        <p:spPr/>
        <p:txBody>
          <a:bodyPr>
            <a:noAutofit/>
          </a:bodyPr>
          <a:lstStyle/>
          <a:p>
            <a:r>
              <a:rPr lang="en-US" sz="4000" dirty="0"/>
              <a:t>Convolutional neural networks (CNNs) in Deep Learning</a:t>
            </a:r>
            <a:endParaRPr lang="en-IN" sz="4000" dirty="0"/>
          </a:p>
        </p:txBody>
      </p:sp>
      <p:sp>
        <p:nvSpPr>
          <p:cNvPr id="3" name="Content Placeholder 2">
            <a:extLst>
              <a:ext uri="{FF2B5EF4-FFF2-40B4-BE49-F238E27FC236}">
                <a16:creationId xmlns:a16="http://schemas.microsoft.com/office/drawing/2014/main" id="{B006202D-EFF1-3A3F-3345-74A0EDF6DD81}"/>
              </a:ext>
            </a:extLst>
          </p:cNvPr>
          <p:cNvSpPr>
            <a:spLocks noGrp="1"/>
          </p:cNvSpPr>
          <p:nvPr>
            <p:ph idx="1"/>
          </p:nvPr>
        </p:nvSpPr>
        <p:spPr>
          <a:xfrm>
            <a:off x="1025842" y="1259840"/>
            <a:ext cx="10201275" cy="4866430"/>
          </a:xfrm>
        </p:spPr>
        <p:txBody>
          <a:bodyPr>
            <a:normAutofit lnSpcReduction="10000"/>
          </a:bodyPr>
          <a:lstStyle/>
          <a:p>
            <a:r>
              <a:rPr lang="en-US" dirty="0"/>
              <a:t>CNNs were first developed and used around the 1980s. </a:t>
            </a:r>
          </a:p>
          <a:p>
            <a:r>
              <a:rPr lang="en-US" dirty="0"/>
              <a:t>The most that a Convolutional Neural Network (CNN) could do at that time was recognize </a:t>
            </a:r>
            <a:r>
              <a:rPr lang="en-US" b="1" dirty="0"/>
              <a:t>handwritten digits. </a:t>
            </a:r>
          </a:p>
          <a:p>
            <a:r>
              <a:rPr lang="en-US" dirty="0"/>
              <a:t>It was mostly used in the postal sector to read </a:t>
            </a:r>
            <a:r>
              <a:rPr lang="en-US" b="1" dirty="0"/>
              <a:t>zip codes, PIN codes, etc</a:t>
            </a:r>
            <a:r>
              <a:rPr lang="en-US" dirty="0"/>
              <a:t>.</a:t>
            </a:r>
          </a:p>
          <a:p>
            <a:r>
              <a:rPr lang="en-US" dirty="0"/>
              <a:t>The important thing to remember about any deep learning model is that it requires a large amount of data to train and also requires a lot of computing resources. </a:t>
            </a:r>
          </a:p>
          <a:p>
            <a:r>
              <a:rPr lang="en-US" dirty="0"/>
              <a:t>This was a major drawback for CNNs at that period, and hence, CNNs were only limited to the postal sectors and it failed to enter the world of machine learning. </a:t>
            </a:r>
          </a:p>
          <a:p>
            <a:r>
              <a:rPr lang="en-US" dirty="0"/>
              <a:t>Backpropagation, the algorithm used to train neural networks, was also computationally expensive at the time.</a:t>
            </a:r>
            <a:endParaRPr lang="en-IN" dirty="0"/>
          </a:p>
        </p:txBody>
      </p:sp>
    </p:spTree>
    <p:extLst>
      <p:ext uri="{BB962C8B-B14F-4D97-AF65-F5344CB8AC3E}">
        <p14:creationId xmlns:p14="http://schemas.microsoft.com/office/powerpoint/2010/main" val="3741644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CBC20-381C-03E4-A037-6E75ED25980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42AE1C5-745F-F69A-FDBA-2A552907DCF9}"/>
              </a:ext>
            </a:extLst>
          </p:cNvPr>
          <p:cNvSpPr>
            <a:spLocks noGrp="1"/>
          </p:cNvSpPr>
          <p:nvPr>
            <p:ph idx="1"/>
          </p:nvPr>
        </p:nvSpPr>
        <p:spPr>
          <a:xfrm>
            <a:off x="1168717" y="1442720"/>
            <a:ext cx="10058400" cy="4683550"/>
          </a:xfrm>
        </p:spPr>
        <p:txBody>
          <a:bodyPr/>
          <a:lstStyle/>
          <a:p>
            <a:r>
              <a:rPr lang="en-US" dirty="0"/>
              <a:t>In 2012, Alex </a:t>
            </a:r>
            <a:r>
              <a:rPr lang="en-US" dirty="0" err="1"/>
              <a:t>Krizhevsky</a:t>
            </a:r>
            <a:r>
              <a:rPr lang="en-US" dirty="0"/>
              <a:t> recognized the potential to revive deep learning using multi-layered neural networks.</a:t>
            </a:r>
          </a:p>
          <a:p>
            <a:r>
              <a:rPr lang="en-US" dirty="0"/>
              <a:t>This revival was made possible due to three key factors:</a:t>
            </a:r>
          </a:p>
          <a:p>
            <a:pPr lvl="1"/>
            <a:r>
              <a:rPr lang="en-US" dirty="0"/>
              <a:t>The availability of large datasets.</a:t>
            </a:r>
          </a:p>
          <a:p>
            <a:pPr lvl="1"/>
            <a:r>
              <a:rPr lang="en-US" dirty="0"/>
              <a:t>The creation of specialized datasets like ImageNet, which contained millions of labeled images.</a:t>
            </a:r>
          </a:p>
          <a:p>
            <a:pPr lvl="1"/>
            <a:r>
              <a:rPr lang="en-US" dirty="0"/>
              <a:t>The increased availability of computing resources.</a:t>
            </a:r>
          </a:p>
          <a:p>
            <a:r>
              <a:rPr lang="en-US" dirty="0"/>
              <a:t>These advancements allowed researchers to bring back and improve upon earlier approaches to deep learning.</a:t>
            </a:r>
          </a:p>
          <a:p>
            <a:endParaRPr lang="en-IN" dirty="0"/>
          </a:p>
        </p:txBody>
      </p:sp>
    </p:spTree>
    <p:extLst>
      <p:ext uri="{BB962C8B-B14F-4D97-AF65-F5344CB8AC3E}">
        <p14:creationId xmlns:p14="http://schemas.microsoft.com/office/powerpoint/2010/main" val="866350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86D9-634E-7A92-8C32-718731224A82}"/>
              </a:ext>
            </a:extLst>
          </p:cNvPr>
          <p:cNvSpPr>
            <a:spLocks noGrp="1"/>
          </p:cNvSpPr>
          <p:nvPr>
            <p:ph type="title"/>
          </p:nvPr>
        </p:nvSpPr>
        <p:spPr/>
        <p:txBody>
          <a:bodyPr>
            <a:normAutofit fontScale="90000"/>
          </a:bodyPr>
          <a:lstStyle/>
          <a:p>
            <a:r>
              <a:rPr lang="en-US" dirty="0"/>
              <a:t>Computer Vision</a:t>
            </a:r>
            <a:endParaRPr lang="en-IN" dirty="0"/>
          </a:p>
        </p:txBody>
      </p:sp>
      <p:sp>
        <p:nvSpPr>
          <p:cNvPr id="3" name="Content Placeholder 2">
            <a:extLst>
              <a:ext uri="{FF2B5EF4-FFF2-40B4-BE49-F238E27FC236}">
                <a16:creationId xmlns:a16="http://schemas.microsoft.com/office/drawing/2014/main" id="{04D4164E-0D47-DCF3-6890-18E56B784A8F}"/>
              </a:ext>
            </a:extLst>
          </p:cNvPr>
          <p:cNvSpPr>
            <a:spLocks noGrp="1"/>
          </p:cNvSpPr>
          <p:nvPr>
            <p:ph idx="1"/>
          </p:nvPr>
        </p:nvSpPr>
        <p:spPr>
          <a:xfrm>
            <a:off x="741680" y="1493520"/>
            <a:ext cx="10485437" cy="4632750"/>
          </a:xfrm>
        </p:spPr>
        <p:txBody>
          <a:bodyPr>
            <a:normAutofit fontScale="85000" lnSpcReduction="10000"/>
          </a:bodyPr>
          <a:lstStyle/>
          <a:p>
            <a:r>
              <a:rPr lang="en-US" dirty="0"/>
              <a:t>Some of the computer vision problems</a:t>
            </a:r>
          </a:p>
          <a:p>
            <a:r>
              <a:rPr lang="en-US" b="1" dirty="0"/>
              <a:t>Image classification</a:t>
            </a:r>
          </a:p>
          <a:p>
            <a:r>
              <a:rPr lang="en-US" b="1" dirty="0"/>
              <a:t>Object detection</a:t>
            </a:r>
          </a:p>
          <a:p>
            <a:r>
              <a:rPr lang="en-US" b="1" dirty="0"/>
              <a:t>Neural style transfer</a:t>
            </a:r>
          </a:p>
          <a:p>
            <a:r>
              <a:rPr lang="en-US" dirty="0"/>
              <a:t>One major problem with computer vision problems is that the input data can get really big. </a:t>
            </a:r>
          </a:p>
          <a:p>
            <a:r>
              <a:rPr lang="en-US" dirty="0"/>
              <a:t>Suppose an image is of the size 68 X 68 X 3. </a:t>
            </a:r>
          </a:p>
          <a:p>
            <a:r>
              <a:rPr lang="en-US" dirty="0"/>
              <a:t>The input feature dimension then becomes 12,288.</a:t>
            </a:r>
          </a:p>
          <a:p>
            <a:r>
              <a:rPr lang="en-US" dirty="0"/>
              <a:t> This will be even bigger if we have larger images (say, of size 720 X 720 X 3). </a:t>
            </a:r>
          </a:p>
          <a:p>
            <a:r>
              <a:rPr lang="en-US" dirty="0"/>
              <a:t>Now, if we pass such a big input to a neural network, the number of parameters will swell up to a HUGE number (depending on the number of hidden layers and hidden units).</a:t>
            </a:r>
          </a:p>
          <a:p>
            <a:r>
              <a:rPr lang="en-US" dirty="0"/>
              <a:t> This will result in more computational and memory requirements – not something most of us can deal with.</a:t>
            </a:r>
            <a:endParaRPr lang="en-IN" dirty="0"/>
          </a:p>
        </p:txBody>
      </p:sp>
    </p:spTree>
    <p:extLst>
      <p:ext uri="{BB962C8B-B14F-4D97-AF65-F5344CB8AC3E}">
        <p14:creationId xmlns:p14="http://schemas.microsoft.com/office/powerpoint/2010/main" val="4051287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32BD9-D528-81A1-7547-A45396F3CBB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2E2E5D2-5E5D-1132-0D7B-8FBF475EACA4}"/>
              </a:ext>
            </a:extLst>
          </p:cNvPr>
          <p:cNvSpPr>
            <a:spLocks noGrp="1"/>
          </p:cNvSpPr>
          <p:nvPr>
            <p:ph idx="1"/>
          </p:nvPr>
        </p:nvSpPr>
        <p:spPr/>
        <p:txBody>
          <a:bodyPr/>
          <a:lstStyle/>
          <a:p>
            <a:endParaRPr lang="en-IN"/>
          </a:p>
        </p:txBody>
      </p:sp>
      <p:pic>
        <p:nvPicPr>
          <p:cNvPr id="7170" name="Picture 2" descr="Convolution Neural Network | Basics of CNN">
            <a:extLst>
              <a:ext uri="{FF2B5EF4-FFF2-40B4-BE49-F238E27FC236}">
                <a16:creationId xmlns:a16="http://schemas.microsoft.com/office/drawing/2014/main" id="{D72441A0-DBDD-0356-B3AD-9958C9846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623" y="1047259"/>
            <a:ext cx="10667494" cy="5014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627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B09B-C9B6-A264-8EC6-AAA13290F1E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04646C4-38F3-3A5B-C35F-F30DAD17915A}"/>
              </a:ext>
            </a:extLst>
          </p:cNvPr>
          <p:cNvSpPr>
            <a:spLocks noGrp="1"/>
          </p:cNvSpPr>
          <p:nvPr>
            <p:ph idx="1"/>
          </p:nvPr>
        </p:nvSpPr>
        <p:spPr/>
        <p:txBody>
          <a:bodyPr>
            <a:normAutofit/>
          </a:bodyPr>
          <a:lstStyle/>
          <a:p>
            <a:r>
              <a:rPr lang="en-US" dirty="0"/>
              <a:t>Convolutional Neural Networks (CNNs) have an input layer, an output layer, numerous hidden layers, and millions of parameters, allowing them to </a:t>
            </a:r>
            <a:r>
              <a:rPr lang="en-US" dirty="0">
                <a:hlinkClick r:id="rId2">
                  <a:extLst>
                    <a:ext uri="{A12FA001-AC4F-418D-AE19-62706E023703}">
                      <ahyp:hlinkClr xmlns:ahyp="http://schemas.microsoft.com/office/drawing/2018/hyperlinkcolor" val="tx"/>
                    </a:ext>
                  </a:extLst>
                </a:hlinkClick>
              </a:rPr>
              <a:t>learn complicated objects</a:t>
            </a:r>
            <a:r>
              <a:rPr lang="en-US" dirty="0"/>
              <a:t> and patterns. </a:t>
            </a:r>
          </a:p>
          <a:p>
            <a:r>
              <a:rPr lang="en-US" dirty="0"/>
              <a:t>It uses Convolution and pooling processes sub-sample the given input before applying an activation function.</a:t>
            </a:r>
          </a:p>
          <a:p>
            <a:r>
              <a:rPr lang="en-US" dirty="0"/>
              <a:t>All layers consist of hidden neurons that connect partially, with a </a:t>
            </a:r>
            <a:r>
              <a:rPr lang="en-US" b="1" dirty="0"/>
              <a:t>completely connected layer at the end </a:t>
            </a:r>
            <a:r>
              <a:rPr lang="en-US" dirty="0"/>
              <a:t>producing the output layer. </a:t>
            </a:r>
          </a:p>
          <a:p>
            <a:r>
              <a:rPr lang="en-US" dirty="0"/>
              <a:t>The output shape is similar to the size of the input image.</a:t>
            </a:r>
          </a:p>
          <a:p>
            <a:endParaRPr lang="en-IN" dirty="0"/>
          </a:p>
        </p:txBody>
      </p:sp>
    </p:spTree>
    <p:extLst>
      <p:ext uri="{BB962C8B-B14F-4D97-AF65-F5344CB8AC3E}">
        <p14:creationId xmlns:p14="http://schemas.microsoft.com/office/powerpoint/2010/main" val="3721257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2731-9D5E-D309-C059-60E9502B384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290993E-0E84-9B0D-653E-999160BD0A39}"/>
              </a:ext>
            </a:extLst>
          </p:cNvPr>
          <p:cNvSpPr>
            <a:spLocks noGrp="1"/>
          </p:cNvSpPr>
          <p:nvPr>
            <p:ph idx="1"/>
          </p:nvPr>
        </p:nvSpPr>
        <p:spPr>
          <a:xfrm>
            <a:off x="1168717" y="1402080"/>
            <a:ext cx="10058400" cy="4724190"/>
          </a:xfrm>
        </p:spPr>
        <p:txBody>
          <a:bodyPr>
            <a:normAutofit/>
          </a:bodyPr>
          <a:lstStyle/>
          <a:p>
            <a:r>
              <a:rPr lang="en-US" dirty="0"/>
              <a:t>Convolution is the process of combining two functions to produce the output of the other function. </a:t>
            </a:r>
          </a:p>
          <a:p>
            <a:r>
              <a:rPr lang="en-US" dirty="0"/>
              <a:t>The input image is </a:t>
            </a:r>
            <a:r>
              <a:rPr lang="en-US" b="1" dirty="0"/>
              <a:t>convoluted with the application of filters </a:t>
            </a:r>
            <a:r>
              <a:rPr lang="en-US" dirty="0"/>
              <a:t>in CNNs, resulting in a </a:t>
            </a:r>
            <a:r>
              <a:rPr lang="en-US" b="1" dirty="0"/>
              <a:t>Feature map.</a:t>
            </a:r>
          </a:p>
          <a:p>
            <a:r>
              <a:rPr lang="en-US" dirty="0"/>
              <a:t> </a:t>
            </a:r>
            <a:r>
              <a:rPr lang="en-US" b="1" dirty="0"/>
              <a:t>Filters are weights and biases </a:t>
            </a:r>
            <a:r>
              <a:rPr lang="en-US" dirty="0"/>
              <a:t>that are randomly generated vectors in the network. </a:t>
            </a:r>
          </a:p>
          <a:p>
            <a:r>
              <a:rPr lang="en-US" dirty="0"/>
              <a:t>Instead of having individual weights and biases for each neuron, CNN uses the </a:t>
            </a:r>
            <a:r>
              <a:rPr lang="en-US" b="1" dirty="0"/>
              <a:t>same weights and biases </a:t>
            </a:r>
            <a:r>
              <a:rPr lang="en-US" dirty="0"/>
              <a:t>for all neurons. </a:t>
            </a:r>
          </a:p>
          <a:p>
            <a:r>
              <a:rPr lang="en-US" dirty="0"/>
              <a:t>Many filters can be created, each of which catches a different aspect from the input. </a:t>
            </a:r>
          </a:p>
          <a:p>
            <a:r>
              <a:rPr lang="en-US" dirty="0"/>
              <a:t>Kernels are another name for filters.</a:t>
            </a:r>
          </a:p>
          <a:p>
            <a:endParaRPr lang="en-IN" dirty="0"/>
          </a:p>
        </p:txBody>
      </p:sp>
    </p:spTree>
    <p:extLst>
      <p:ext uri="{BB962C8B-B14F-4D97-AF65-F5344CB8AC3E}">
        <p14:creationId xmlns:p14="http://schemas.microsoft.com/office/powerpoint/2010/main" val="28396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865BA-15A3-6B41-86C4-CDC6A9C163B8}"/>
              </a:ext>
            </a:extLst>
          </p:cNvPr>
          <p:cNvSpPr>
            <a:spLocks noGrp="1"/>
          </p:cNvSpPr>
          <p:nvPr>
            <p:ph type="title"/>
          </p:nvPr>
        </p:nvSpPr>
        <p:spPr/>
        <p:txBody>
          <a:bodyPr>
            <a:normAutofit fontScale="90000"/>
          </a:bodyPr>
          <a:lstStyle/>
          <a:p>
            <a:r>
              <a:rPr lang="en-IN" dirty="0"/>
              <a:t>CNN operations</a:t>
            </a:r>
          </a:p>
        </p:txBody>
      </p:sp>
      <p:sp>
        <p:nvSpPr>
          <p:cNvPr id="3" name="Content Placeholder 2">
            <a:extLst>
              <a:ext uri="{FF2B5EF4-FFF2-40B4-BE49-F238E27FC236}">
                <a16:creationId xmlns:a16="http://schemas.microsoft.com/office/drawing/2014/main" id="{5DC83B66-1673-685A-EB62-629A11A94B7F}"/>
              </a:ext>
            </a:extLst>
          </p:cNvPr>
          <p:cNvSpPr>
            <a:spLocks noGrp="1"/>
          </p:cNvSpPr>
          <p:nvPr>
            <p:ph idx="1"/>
          </p:nvPr>
        </p:nvSpPr>
        <p:spPr/>
        <p:txBody>
          <a:bodyPr/>
          <a:lstStyle/>
          <a:p>
            <a:r>
              <a:rPr lang="en-US" dirty="0"/>
              <a:t>The name “Convolutional neural network” indicates that the network employs a mathematical operation called Convolution.</a:t>
            </a:r>
          </a:p>
          <a:p>
            <a:r>
              <a:rPr lang="en-US" dirty="0"/>
              <a:t>Convolution is a specialized kind of linear operation. </a:t>
            </a:r>
          </a:p>
          <a:p>
            <a:r>
              <a:rPr lang="en-US" dirty="0"/>
              <a:t>Convnets are simply neural networks that use convolution in place of general matrix multiplication in at least one of their layers.</a:t>
            </a:r>
          </a:p>
          <a:p>
            <a:r>
              <a:rPr lang="en-US" i="1" dirty="0"/>
              <a:t>Convolution between two functions in mathematics produces a third function expressing how the shape of one function is modified by other</a:t>
            </a:r>
            <a:endParaRPr lang="en-IN" dirty="0"/>
          </a:p>
        </p:txBody>
      </p:sp>
    </p:spTree>
    <p:extLst>
      <p:ext uri="{BB962C8B-B14F-4D97-AF65-F5344CB8AC3E}">
        <p14:creationId xmlns:p14="http://schemas.microsoft.com/office/powerpoint/2010/main" val="8610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7EAA9-8F59-1840-C2DF-A377958E442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3386BCD-8920-6B50-289D-5222F0D972F9}"/>
              </a:ext>
            </a:extLst>
          </p:cNvPr>
          <p:cNvSpPr>
            <a:spLocks noGrp="1"/>
          </p:cNvSpPr>
          <p:nvPr>
            <p:ph idx="1"/>
          </p:nvPr>
        </p:nvSpPr>
        <p:spPr>
          <a:xfrm>
            <a:off x="1168717" y="1422400"/>
            <a:ext cx="10058400" cy="4703870"/>
          </a:xfrm>
        </p:spPr>
        <p:txBody>
          <a:bodyPr>
            <a:normAutofit lnSpcReduction="10000"/>
          </a:bodyPr>
          <a:lstStyle/>
          <a:p>
            <a:r>
              <a:rPr lang="en-US" dirty="0"/>
              <a:t>Image processing utilizes convolution, a mathematical operation where a matrix (or kernel) traverses the image and performs a dot product with the overlapping region. </a:t>
            </a:r>
          </a:p>
          <a:p>
            <a:r>
              <a:rPr lang="en-US" dirty="0"/>
              <a:t>A convolution operation involves the following steps:</a:t>
            </a:r>
          </a:p>
          <a:p>
            <a:pPr lvl="1"/>
            <a:r>
              <a:rPr lang="en-US" dirty="0"/>
              <a:t>Define a small matrix (filter).</a:t>
            </a:r>
          </a:p>
          <a:p>
            <a:pPr lvl="1"/>
            <a:r>
              <a:rPr lang="en-US" dirty="0"/>
              <a:t>This kernel moves across the input image.</a:t>
            </a:r>
          </a:p>
          <a:p>
            <a:pPr lvl="1"/>
            <a:r>
              <a:rPr lang="en-US" dirty="0"/>
              <a:t>At each location, the convolution operation computes the dot product of the kernel and the portion of the image it overlaps.</a:t>
            </a:r>
          </a:p>
          <a:p>
            <a:pPr lvl="1"/>
            <a:r>
              <a:rPr lang="en-US" dirty="0"/>
              <a:t>The result of each dot product forms a new matrix that represents transformed features of the original image.</a:t>
            </a:r>
          </a:p>
          <a:p>
            <a:pPr lvl="1"/>
            <a:r>
              <a:rPr lang="en-US" dirty="0"/>
              <a:t>The primary goal of using convolution in image processing is to </a:t>
            </a:r>
            <a:r>
              <a:rPr lang="en-US" b="1" dirty="0"/>
              <a:t>extract important features from the image </a:t>
            </a:r>
            <a:r>
              <a:rPr lang="en-US" dirty="0"/>
              <a:t>and discard the rest.</a:t>
            </a:r>
          </a:p>
          <a:p>
            <a:pPr lvl="1"/>
            <a:r>
              <a:rPr lang="en-US" dirty="0"/>
              <a:t> This results in a </a:t>
            </a:r>
            <a:r>
              <a:rPr lang="en-US" b="1" dirty="0"/>
              <a:t>condensed representation of an image.</a:t>
            </a:r>
            <a:endParaRPr lang="en-IN" b="1" dirty="0"/>
          </a:p>
        </p:txBody>
      </p:sp>
    </p:spTree>
    <p:extLst>
      <p:ext uri="{BB962C8B-B14F-4D97-AF65-F5344CB8AC3E}">
        <p14:creationId xmlns:p14="http://schemas.microsoft.com/office/powerpoint/2010/main" val="793359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AE2F3-8E16-7605-7004-7B4CC8949960}"/>
              </a:ext>
            </a:extLst>
          </p:cNvPr>
          <p:cNvSpPr>
            <a:spLocks noGrp="1"/>
          </p:cNvSpPr>
          <p:nvPr>
            <p:ph type="title"/>
          </p:nvPr>
        </p:nvSpPr>
        <p:spPr/>
        <p:txBody>
          <a:bodyPr>
            <a:normAutofit fontScale="90000"/>
          </a:bodyPr>
          <a:lstStyle/>
          <a:p>
            <a:r>
              <a:rPr lang="en-US"/>
              <a:t>How Convolution Works in CNNs</a:t>
            </a:r>
          </a:p>
        </p:txBody>
      </p:sp>
      <p:sp>
        <p:nvSpPr>
          <p:cNvPr id="3" name="Content Placeholder 2">
            <a:extLst>
              <a:ext uri="{FF2B5EF4-FFF2-40B4-BE49-F238E27FC236}">
                <a16:creationId xmlns:a16="http://schemas.microsoft.com/office/drawing/2014/main" id="{FC280AF0-E0ED-4A38-5F4E-08C9EBEB8787}"/>
              </a:ext>
            </a:extLst>
          </p:cNvPr>
          <p:cNvSpPr>
            <a:spLocks noGrp="1"/>
          </p:cNvSpPr>
          <p:nvPr>
            <p:ph idx="1"/>
          </p:nvPr>
        </p:nvSpPr>
        <p:spPr/>
        <p:txBody>
          <a:bodyPr>
            <a:normAutofit/>
          </a:bodyPr>
          <a:lstStyle/>
          <a:p>
            <a:r>
              <a:rPr lang="en-US" dirty="0"/>
              <a:t>Convolution Neural Networks (CNNs) are a deep learning architectures that use multiple convolutional layers combined with multiple Neural Network Layers.</a:t>
            </a:r>
          </a:p>
          <a:p>
            <a:r>
              <a:rPr lang="en-US" dirty="0"/>
              <a:t>Each layer applies different filters (kernels) and captures various aspects of the image.</a:t>
            </a:r>
          </a:p>
          <a:p>
            <a:r>
              <a:rPr lang="en-US" dirty="0"/>
              <a:t> With increasing layers, the features extracted become dense.</a:t>
            </a:r>
          </a:p>
          <a:p>
            <a:r>
              <a:rPr lang="en-US" dirty="0"/>
              <a:t> The initial layers extract edges and texture, and the final layers extract parts of an image, for example, a head, eyes, or a tail.</a:t>
            </a:r>
          </a:p>
          <a:p>
            <a:endParaRPr lang="en-IN" dirty="0"/>
          </a:p>
        </p:txBody>
      </p:sp>
    </p:spTree>
    <p:extLst>
      <p:ext uri="{BB962C8B-B14F-4D97-AF65-F5344CB8AC3E}">
        <p14:creationId xmlns:p14="http://schemas.microsoft.com/office/powerpoint/2010/main" val="2778197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05385-F846-F847-110C-3BD1FFC252A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9CADE01-D03A-FAA4-03FC-A3DB95B86663}"/>
              </a:ext>
            </a:extLst>
          </p:cNvPr>
          <p:cNvSpPr>
            <a:spLocks noGrp="1"/>
          </p:cNvSpPr>
          <p:nvPr>
            <p:ph idx="1"/>
          </p:nvPr>
        </p:nvSpPr>
        <p:spPr>
          <a:xfrm>
            <a:off x="853440" y="1532746"/>
            <a:ext cx="10271760" cy="4542934"/>
          </a:xfrm>
        </p:spPr>
        <p:txBody>
          <a:bodyPr>
            <a:normAutofit fontScale="92500" lnSpcReduction="10000"/>
          </a:bodyPr>
          <a:lstStyle/>
          <a:p>
            <a:r>
              <a:rPr lang="en-US" dirty="0"/>
              <a:t>Here is how convolution works in CNNs:</a:t>
            </a:r>
          </a:p>
          <a:p>
            <a:r>
              <a:rPr lang="en-US" b="1" dirty="0"/>
              <a:t>Layers:</a:t>
            </a:r>
            <a:r>
              <a:rPr lang="en-US" dirty="0"/>
              <a:t> Lower layers capture basic features, while deeper layers identify more complex patterns like parts of objects or entire objects.</a:t>
            </a:r>
          </a:p>
          <a:p>
            <a:r>
              <a:rPr lang="en-US" b="1" dirty="0"/>
              <a:t>Learning Process:</a:t>
            </a:r>
            <a:r>
              <a:rPr lang="en-US" dirty="0"/>
              <a:t> CNNs learn the filters during training. The network adjusts the filters to minimize the loss between the predicted and actual outcomes, thus optimizing the </a:t>
            </a:r>
            <a:r>
              <a:rPr lang="en-US" dirty="0">
                <a:hlinkClick r:id="rId2">
                  <a:extLst>
                    <a:ext uri="{A12FA001-AC4F-418D-AE19-62706E023703}">
                      <ahyp:hlinkClr xmlns:ahyp="http://schemas.microsoft.com/office/drawing/2018/hyperlinkcolor" val="tx"/>
                    </a:ext>
                  </a:extLst>
                </a:hlinkClick>
              </a:rPr>
              <a:t>feature extraction</a:t>
            </a:r>
            <a:r>
              <a:rPr lang="en-US" dirty="0"/>
              <a:t> process.</a:t>
            </a:r>
          </a:p>
          <a:p>
            <a:r>
              <a:rPr lang="en-US" b="1" dirty="0"/>
              <a:t>Pooling Layers: </a:t>
            </a:r>
            <a:r>
              <a:rPr lang="en-US" dirty="0"/>
              <a:t>After the convolution operations, pooling takes place, which reduces the spatial size of the representation. </a:t>
            </a:r>
            <a:r>
              <a:rPr lang="en-US" b="1" dirty="0"/>
              <a:t>A pooling layer in CNN </a:t>
            </a:r>
            <a:r>
              <a:rPr lang="en-US" b="1" dirty="0" err="1"/>
              <a:t>downsamples</a:t>
            </a:r>
            <a:r>
              <a:rPr lang="en-US" b="1" dirty="0"/>
              <a:t> </a:t>
            </a:r>
            <a:r>
              <a:rPr lang="en-US" dirty="0"/>
              <a:t>the spatial dimensions of the input feature maps and reduces their size while preserving important information.</a:t>
            </a:r>
          </a:p>
          <a:p>
            <a:r>
              <a:rPr lang="en-US" b="1" dirty="0"/>
              <a:t>Activation Functions: </a:t>
            </a:r>
            <a:r>
              <a:rPr lang="en-US" dirty="0"/>
              <a:t>Neural networks use </a:t>
            </a:r>
            <a:r>
              <a:rPr lang="en-US" dirty="0">
                <a:hlinkClick r:id="rId3">
                  <a:extLst>
                    <a:ext uri="{A12FA001-AC4F-418D-AE19-62706E023703}">
                      <ahyp:hlinkClr xmlns:ahyp="http://schemas.microsoft.com/office/drawing/2018/hyperlinkcolor" val="tx"/>
                    </a:ext>
                  </a:extLst>
                </a:hlinkClick>
              </a:rPr>
              <a:t>activation functions</a:t>
            </a:r>
            <a:r>
              <a:rPr lang="en-US" dirty="0"/>
              <a:t>, like </a:t>
            </a:r>
            <a:r>
              <a:rPr lang="en-US" dirty="0" err="1"/>
              <a:t>ReLU</a:t>
            </a:r>
            <a:r>
              <a:rPr lang="en-US" dirty="0"/>
              <a:t> (Rectified Linear Unit), at the end to introduce non-linearities. This helps the model learn more complex patterns.</a:t>
            </a:r>
            <a:endParaRPr lang="en-IN" dirty="0"/>
          </a:p>
        </p:txBody>
      </p:sp>
    </p:spTree>
    <p:extLst>
      <p:ext uri="{BB962C8B-B14F-4D97-AF65-F5344CB8AC3E}">
        <p14:creationId xmlns:p14="http://schemas.microsoft.com/office/powerpoint/2010/main" val="3914113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1D3FD-FA61-2AEE-8748-9D97AD5F43B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9BFC3B1-1979-0E1B-E74B-C153E9DA6303}"/>
              </a:ext>
            </a:extLst>
          </p:cNvPr>
          <p:cNvSpPr>
            <a:spLocks noGrp="1"/>
          </p:cNvSpPr>
          <p:nvPr>
            <p:ph idx="1"/>
          </p:nvPr>
        </p:nvSpPr>
        <p:spPr/>
        <p:txBody>
          <a:bodyPr/>
          <a:lstStyle/>
          <a:p>
            <a:endParaRPr lang="en-IN"/>
          </a:p>
        </p:txBody>
      </p:sp>
      <p:pic>
        <p:nvPicPr>
          <p:cNvPr id="8194" name="Picture 2" descr="image of convolution-illustration">
            <a:extLst>
              <a:ext uri="{FF2B5EF4-FFF2-40B4-BE49-F238E27FC236}">
                <a16:creationId xmlns:a16="http://schemas.microsoft.com/office/drawing/2014/main" id="{7E0EB771-EF9B-C914-F331-9EAC663646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997" y="571800"/>
            <a:ext cx="9961245" cy="5456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897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69AD0-796D-E4FE-31E5-EF636110C53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BB8CE6B-1963-A5B6-C74A-8482B751BC6D}"/>
              </a:ext>
            </a:extLst>
          </p:cNvPr>
          <p:cNvSpPr>
            <a:spLocks noGrp="1"/>
          </p:cNvSpPr>
          <p:nvPr>
            <p:ph idx="1"/>
          </p:nvPr>
        </p:nvSpPr>
        <p:spPr/>
        <p:txBody>
          <a:bodyPr/>
          <a:lstStyle/>
          <a:p>
            <a:r>
              <a:rPr lang="en-US" dirty="0"/>
              <a:t>To apply the convolution:</a:t>
            </a:r>
          </a:p>
          <a:p>
            <a:r>
              <a:rPr lang="en-US" b="1" dirty="0"/>
              <a:t>Overlay the Kernel on the Image:</a:t>
            </a:r>
            <a:r>
              <a:rPr lang="en-US" dirty="0"/>
              <a:t> Start from the top-left corner of the image and place the kernel so that its center aligns with the current image pixel.</a:t>
            </a:r>
          </a:p>
          <a:p>
            <a:r>
              <a:rPr lang="en-US" b="1" dirty="0"/>
              <a:t>Element-wise Multiplication:</a:t>
            </a:r>
            <a:r>
              <a:rPr lang="en-US" dirty="0"/>
              <a:t> Multiply each element of the kernel with the corresponding element of the image it covers.</a:t>
            </a:r>
          </a:p>
          <a:p>
            <a:r>
              <a:rPr lang="en-US" b="1" dirty="0"/>
              <a:t>Summation: </a:t>
            </a:r>
            <a:r>
              <a:rPr lang="en-US" dirty="0"/>
              <a:t>Sum up all the products obtained from the element-wise multiplication. This sum forms a single pixel in the output feature map.</a:t>
            </a:r>
          </a:p>
          <a:p>
            <a:r>
              <a:rPr lang="en-US" b="1" dirty="0"/>
              <a:t>Continue the Process:</a:t>
            </a:r>
            <a:r>
              <a:rPr lang="en-US" dirty="0"/>
              <a:t> Slide the kernel over to the next pixel and repeat the process across the entire image.</a:t>
            </a:r>
          </a:p>
          <a:p>
            <a:endParaRPr lang="en-IN" dirty="0"/>
          </a:p>
        </p:txBody>
      </p:sp>
    </p:spTree>
    <p:extLst>
      <p:ext uri="{BB962C8B-B14F-4D97-AF65-F5344CB8AC3E}">
        <p14:creationId xmlns:p14="http://schemas.microsoft.com/office/powerpoint/2010/main" val="3158014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BB2D2-58A5-2466-E103-202BECD8811E}"/>
              </a:ext>
            </a:extLst>
          </p:cNvPr>
          <p:cNvSpPr>
            <a:spLocks noGrp="1"/>
          </p:cNvSpPr>
          <p:nvPr>
            <p:ph type="title"/>
          </p:nvPr>
        </p:nvSpPr>
        <p:spPr/>
        <p:txBody>
          <a:bodyPr>
            <a:normAutofit fontScale="90000"/>
          </a:bodyPr>
          <a:lstStyle/>
          <a:p>
            <a:r>
              <a:rPr lang="en-IN" dirty="0"/>
              <a:t>Example of Convolution Operation</a:t>
            </a:r>
          </a:p>
        </p:txBody>
      </p:sp>
      <p:sp>
        <p:nvSpPr>
          <p:cNvPr id="3" name="Content Placeholder 2">
            <a:extLst>
              <a:ext uri="{FF2B5EF4-FFF2-40B4-BE49-F238E27FC236}">
                <a16:creationId xmlns:a16="http://schemas.microsoft.com/office/drawing/2014/main" id="{FF8EEDA3-9246-6E08-5374-B7819CF0FC35}"/>
              </a:ext>
            </a:extLst>
          </p:cNvPr>
          <p:cNvSpPr>
            <a:spLocks noGrp="1"/>
          </p:cNvSpPr>
          <p:nvPr>
            <p:ph idx="1"/>
          </p:nvPr>
        </p:nvSpPr>
        <p:spPr/>
        <p:txBody>
          <a:bodyPr/>
          <a:lstStyle/>
          <a:p>
            <a:endParaRPr lang="en-IN" dirty="0"/>
          </a:p>
        </p:txBody>
      </p:sp>
      <p:pic>
        <p:nvPicPr>
          <p:cNvPr id="9218" name="Picture 2" descr="Futuristic digital cityscape hologram with augmented reality technology and smart infrastructure.">
            <a:extLst>
              <a:ext uri="{FF2B5EF4-FFF2-40B4-BE49-F238E27FC236}">
                <a16:creationId xmlns:a16="http://schemas.microsoft.com/office/drawing/2014/main" id="{7E4D7092-1210-2DE7-0993-D6DE20D5F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560" y="1047259"/>
            <a:ext cx="8300719" cy="5313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763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EEFA6-0F60-79F6-7A57-F768F1EF2526}"/>
              </a:ext>
            </a:extLst>
          </p:cNvPr>
          <p:cNvSpPr>
            <a:spLocks noGrp="1"/>
          </p:cNvSpPr>
          <p:nvPr>
            <p:ph type="title"/>
          </p:nvPr>
        </p:nvSpPr>
        <p:spPr/>
        <p:txBody>
          <a:bodyPr>
            <a:normAutofit fontScale="90000"/>
          </a:bodyPr>
          <a:lstStyle/>
          <a:p>
            <a:r>
              <a:rPr lang="en-US" dirty="0"/>
              <a:t>Key Terms in Convolution Operation</a:t>
            </a:r>
            <a:endParaRPr lang="en-IN" dirty="0"/>
          </a:p>
        </p:txBody>
      </p:sp>
      <p:sp>
        <p:nvSpPr>
          <p:cNvPr id="3" name="Content Placeholder 2">
            <a:extLst>
              <a:ext uri="{FF2B5EF4-FFF2-40B4-BE49-F238E27FC236}">
                <a16:creationId xmlns:a16="http://schemas.microsoft.com/office/drawing/2014/main" id="{3FDFE53A-CD06-7B36-7057-DF3CEE11B194}"/>
              </a:ext>
            </a:extLst>
          </p:cNvPr>
          <p:cNvSpPr>
            <a:spLocks noGrp="1"/>
          </p:cNvSpPr>
          <p:nvPr>
            <p:ph idx="1"/>
          </p:nvPr>
        </p:nvSpPr>
        <p:spPr>
          <a:xfrm>
            <a:off x="304800" y="1158240"/>
            <a:ext cx="11663680" cy="5039360"/>
          </a:xfrm>
        </p:spPr>
        <p:txBody>
          <a:bodyPr>
            <a:noAutofit/>
          </a:bodyPr>
          <a:lstStyle/>
          <a:p>
            <a:pPr>
              <a:lnSpc>
                <a:spcPct val="100000"/>
              </a:lnSpc>
              <a:spcBef>
                <a:spcPts val="0"/>
              </a:spcBef>
              <a:spcAft>
                <a:spcPts val="0"/>
              </a:spcAft>
            </a:pPr>
            <a:r>
              <a:rPr lang="en-US" sz="2200" b="1" dirty="0"/>
              <a:t>Kernel Size:</a:t>
            </a:r>
            <a:r>
              <a:rPr lang="en-US" sz="2200" dirty="0"/>
              <a:t>  The convolution operation uses a filter, also known as a kernel, which is typically a square matrix.</a:t>
            </a:r>
          </a:p>
          <a:p>
            <a:pPr marL="0" indent="0">
              <a:lnSpc>
                <a:spcPct val="100000"/>
              </a:lnSpc>
              <a:spcBef>
                <a:spcPts val="0"/>
              </a:spcBef>
              <a:spcAft>
                <a:spcPts val="0"/>
              </a:spcAft>
              <a:buNone/>
            </a:pPr>
            <a:r>
              <a:rPr lang="en-US" sz="2200" dirty="0"/>
              <a:t>      Common kernel sizes are 3×3, 5×5, or even larger. </a:t>
            </a:r>
          </a:p>
          <a:p>
            <a:pPr marL="0" indent="0">
              <a:lnSpc>
                <a:spcPct val="100000"/>
              </a:lnSpc>
              <a:spcBef>
                <a:spcPts val="0"/>
              </a:spcBef>
              <a:spcAft>
                <a:spcPts val="0"/>
              </a:spcAft>
              <a:buNone/>
            </a:pPr>
            <a:r>
              <a:rPr lang="en-US" sz="2200" dirty="0"/>
              <a:t>       Larger kernels analyze more context within an image but come at the cost of reduced spatial resolution and increased computational demands.</a:t>
            </a:r>
          </a:p>
          <a:p>
            <a:pPr>
              <a:lnSpc>
                <a:spcPct val="100000"/>
              </a:lnSpc>
              <a:spcBef>
                <a:spcPts val="0"/>
              </a:spcBef>
              <a:spcAft>
                <a:spcPts val="0"/>
              </a:spcAft>
            </a:pPr>
            <a:r>
              <a:rPr lang="en-US" sz="2200" b="1" dirty="0"/>
              <a:t>Stride:</a:t>
            </a:r>
            <a:r>
              <a:rPr lang="en-US" sz="2200" dirty="0"/>
              <a:t> Stride is the number of pixels by which the kernel moves as it slides over the image. </a:t>
            </a:r>
          </a:p>
          <a:p>
            <a:pPr>
              <a:lnSpc>
                <a:spcPct val="100000"/>
              </a:lnSpc>
              <a:spcBef>
                <a:spcPts val="0"/>
              </a:spcBef>
              <a:spcAft>
                <a:spcPts val="0"/>
              </a:spcAft>
            </a:pPr>
            <a:r>
              <a:rPr lang="en-US" sz="2200" dirty="0"/>
              <a:t>A stride of 1 means the kernel moves one pixel at a time, leading to a high-resolution output of the convolution.</a:t>
            </a:r>
          </a:p>
          <a:p>
            <a:pPr>
              <a:lnSpc>
                <a:spcPct val="100000"/>
              </a:lnSpc>
              <a:spcBef>
                <a:spcPts val="0"/>
              </a:spcBef>
              <a:spcAft>
                <a:spcPts val="0"/>
              </a:spcAft>
            </a:pPr>
            <a:r>
              <a:rPr lang="en-US" sz="2200" dirty="0"/>
              <a:t> Increasing the stride reduces the output dimensions, which can help decrease computational cost and control overfitting but at the loss of some image detail.</a:t>
            </a:r>
          </a:p>
          <a:p>
            <a:pPr>
              <a:lnSpc>
                <a:spcPct val="100000"/>
              </a:lnSpc>
              <a:spcBef>
                <a:spcPts val="0"/>
              </a:spcBef>
              <a:spcAft>
                <a:spcPts val="0"/>
              </a:spcAft>
            </a:pPr>
            <a:r>
              <a:rPr lang="en-US" sz="2200" b="1" dirty="0"/>
              <a:t>Padding:</a:t>
            </a:r>
            <a:r>
              <a:rPr lang="en-US" sz="2200" dirty="0"/>
              <a:t> Padding involves adding an appropriate number of rows and columns (typically of zeros) to the input image borders. </a:t>
            </a:r>
          </a:p>
          <a:p>
            <a:pPr>
              <a:lnSpc>
                <a:spcPct val="100000"/>
              </a:lnSpc>
              <a:spcBef>
                <a:spcPts val="0"/>
              </a:spcBef>
              <a:spcAft>
                <a:spcPts val="0"/>
              </a:spcAft>
            </a:pPr>
            <a:r>
              <a:rPr lang="en-US" sz="2200" dirty="0"/>
              <a:t>This ensures that the convolution kernel fits perfectly at the borders, allowing the output image to retain the same size as the input image, which is crucial for deep networks to allow the stacking of multiple layers.</a:t>
            </a:r>
            <a:endParaRPr lang="en-IN" sz="2200" dirty="0"/>
          </a:p>
        </p:txBody>
      </p:sp>
    </p:spTree>
    <p:extLst>
      <p:ext uri="{BB962C8B-B14F-4D97-AF65-F5344CB8AC3E}">
        <p14:creationId xmlns:p14="http://schemas.microsoft.com/office/powerpoint/2010/main" val="2919076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57C17-51B3-1993-0785-C5C210DF30B9}"/>
              </a:ext>
            </a:extLst>
          </p:cNvPr>
          <p:cNvSpPr>
            <a:spLocks noGrp="1"/>
          </p:cNvSpPr>
          <p:nvPr>
            <p:ph type="title"/>
          </p:nvPr>
        </p:nvSpPr>
        <p:spPr/>
        <p:txBody>
          <a:bodyPr>
            <a:normAutofit fontScale="90000"/>
          </a:bodyPr>
          <a:lstStyle/>
          <a:p>
            <a:r>
              <a:rPr lang="en-IN" dirty="0"/>
              <a:t>Types of Convolution Operations</a:t>
            </a:r>
          </a:p>
        </p:txBody>
      </p:sp>
      <p:sp>
        <p:nvSpPr>
          <p:cNvPr id="3" name="Content Placeholder 2">
            <a:extLst>
              <a:ext uri="{FF2B5EF4-FFF2-40B4-BE49-F238E27FC236}">
                <a16:creationId xmlns:a16="http://schemas.microsoft.com/office/drawing/2014/main" id="{75A67115-9330-9319-840F-9F419AC93982}"/>
              </a:ext>
            </a:extLst>
          </p:cNvPr>
          <p:cNvSpPr>
            <a:spLocks noGrp="1"/>
          </p:cNvSpPr>
          <p:nvPr>
            <p:ph idx="1"/>
          </p:nvPr>
        </p:nvSpPr>
        <p:spPr/>
        <p:txBody>
          <a:bodyPr/>
          <a:lstStyle/>
          <a:p>
            <a:r>
              <a:rPr lang="en-US" b="1" dirty="0"/>
              <a:t>1D Convolution</a:t>
            </a:r>
          </a:p>
          <a:p>
            <a:r>
              <a:rPr lang="en-US" dirty="0"/>
              <a:t>1D convolution is similar in principle to 2D convolution used in image processing.</a:t>
            </a:r>
          </a:p>
          <a:p>
            <a:r>
              <a:rPr lang="en-US" dirty="0"/>
              <a:t>In 1D convolution, a kernel or filter slides along the input data, performing element-wise multiplication followed by a sum, just as in 2D, but here the data and kernel are vectors instead of matrices.</a:t>
            </a:r>
          </a:p>
          <a:p>
            <a:endParaRPr lang="en-IN" dirty="0"/>
          </a:p>
        </p:txBody>
      </p:sp>
    </p:spTree>
    <p:extLst>
      <p:ext uri="{BB962C8B-B14F-4D97-AF65-F5344CB8AC3E}">
        <p14:creationId xmlns:p14="http://schemas.microsoft.com/office/powerpoint/2010/main" val="4270538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B01B-5121-542A-B954-60EEA402E0A3}"/>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CFDD2B4-DA16-B0EA-51AC-BC80EC7A6404}"/>
              </a:ext>
            </a:extLst>
          </p:cNvPr>
          <p:cNvSpPr>
            <a:spLocks noGrp="1"/>
          </p:cNvSpPr>
          <p:nvPr>
            <p:ph idx="1"/>
          </p:nvPr>
        </p:nvSpPr>
        <p:spPr/>
        <p:txBody>
          <a:bodyPr/>
          <a:lstStyle/>
          <a:p>
            <a:endParaRPr lang="en-IN"/>
          </a:p>
        </p:txBody>
      </p:sp>
      <p:pic>
        <p:nvPicPr>
          <p:cNvPr id="10242" name="Picture 2" descr="1D-convolution-operation-The-convolution-operation-can-be-explained-by-following-equation">
            <a:extLst>
              <a:ext uri="{FF2B5EF4-FFF2-40B4-BE49-F238E27FC236}">
                <a16:creationId xmlns:a16="http://schemas.microsoft.com/office/drawing/2014/main" id="{43B8B266-4FD4-9729-B47F-A433409511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2688" y="604838"/>
            <a:ext cx="7286625" cy="564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3162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47B0-9524-7368-F9F4-05E30C3D43C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D7EFB05-A247-52D9-0EA7-FDFD6B349046}"/>
              </a:ext>
            </a:extLst>
          </p:cNvPr>
          <p:cNvSpPr>
            <a:spLocks noGrp="1"/>
          </p:cNvSpPr>
          <p:nvPr>
            <p:ph idx="1"/>
          </p:nvPr>
        </p:nvSpPr>
        <p:spPr>
          <a:xfrm>
            <a:off x="1025843" y="1259840"/>
            <a:ext cx="3535997" cy="4236720"/>
          </a:xfrm>
        </p:spPr>
        <p:txBody>
          <a:bodyPr>
            <a:normAutofit fontScale="92500"/>
          </a:bodyPr>
          <a:lstStyle/>
          <a:p>
            <a:r>
              <a:rPr lang="en-US" b="1" dirty="0"/>
              <a:t>3D Convolution</a:t>
            </a:r>
          </a:p>
          <a:p>
            <a:r>
              <a:rPr lang="en-US" dirty="0"/>
              <a:t>3D convolution extends the concept of 2D convolution by adding a dimension, which is useful for analyzing volumetric data.</a:t>
            </a:r>
          </a:p>
          <a:p>
            <a:r>
              <a:rPr lang="en-US" dirty="0"/>
              <a:t>Like 2D convolution, a three-dimensional kernel moves across the data, but it now simultaneously processes three axes (height, width, and depth).</a:t>
            </a:r>
          </a:p>
          <a:p>
            <a:endParaRPr lang="en-IN" dirty="0"/>
          </a:p>
        </p:txBody>
      </p:sp>
      <p:pic>
        <p:nvPicPr>
          <p:cNvPr id="11266" name="Picture 2" descr="3d convolution operation">
            <a:extLst>
              <a:ext uri="{FF2B5EF4-FFF2-40B4-BE49-F238E27FC236}">
                <a16:creationId xmlns:a16="http://schemas.microsoft.com/office/drawing/2014/main" id="{EB6F4168-F0B6-C09B-3FC5-C57AE98134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9188" y="1751975"/>
            <a:ext cx="6917052" cy="335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5909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6F06B-78CC-D7AB-DA92-8D93D42B0C6A}"/>
              </a:ext>
            </a:extLst>
          </p:cNvPr>
          <p:cNvSpPr>
            <a:spLocks noGrp="1"/>
          </p:cNvSpPr>
          <p:nvPr>
            <p:ph type="title"/>
          </p:nvPr>
        </p:nvSpPr>
        <p:spPr/>
        <p:txBody>
          <a:bodyPr>
            <a:normAutofit fontScale="90000"/>
          </a:bodyPr>
          <a:lstStyle/>
          <a:p>
            <a:r>
              <a:rPr lang="en-IN" b="0" dirty="0"/>
              <a:t> Padding</a:t>
            </a:r>
          </a:p>
        </p:txBody>
      </p:sp>
      <p:sp>
        <p:nvSpPr>
          <p:cNvPr id="3" name="Content Placeholder 2">
            <a:extLst>
              <a:ext uri="{FF2B5EF4-FFF2-40B4-BE49-F238E27FC236}">
                <a16:creationId xmlns:a16="http://schemas.microsoft.com/office/drawing/2014/main" id="{D8085D4D-267C-5294-8B82-10EFD89B64B1}"/>
              </a:ext>
            </a:extLst>
          </p:cNvPr>
          <p:cNvSpPr>
            <a:spLocks noGrp="1"/>
          </p:cNvSpPr>
          <p:nvPr>
            <p:ph idx="1"/>
          </p:nvPr>
        </p:nvSpPr>
        <p:spPr/>
        <p:txBody>
          <a:bodyPr/>
          <a:lstStyle/>
          <a:p>
            <a:r>
              <a:rPr lang="en-US" dirty="0"/>
              <a:t>Padding refers to the process of adding extra pixels (usually zeros) around the border of the input image. </a:t>
            </a:r>
          </a:p>
          <a:p>
            <a:r>
              <a:rPr lang="en-US" dirty="0"/>
              <a:t>And strides refer to the number of pixels by which the filter (or kernel) moves or slides across the input image.</a:t>
            </a:r>
            <a:endParaRPr lang="en-IN" dirty="0"/>
          </a:p>
        </p:txBody>
      </p:sp>
    </p:spTree>
    <p:extLst>
      <p:ext uri="{BB962C8B-B14F-4D97-AF65-F5344CB8AC3E}">
        <p14:creationId xmlns:p14="http://schemas.microsoft.com/office/powerpoint/2010/main" val="16674044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B7A1-2657-0725-B08E-AA992E9C1B1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90E05DF-31D8-970A-BAB5-43CDFD58713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878B568-701E-659F-7A62-805A19101A15}"/>
              </a:ext>
            </a:extLst>
          </p:cNvPr>
          <p:cNvPicPr>
            <a:picLocks noChangeAspect="1"/>
          </p:cNvPicPr>
          <p:nvPr/>
        </p:nvPicPr>
        <p:blipFill>
          <a:blip r:embed="rId2"/>
          <a:stretch>
            <a:fillRect/>
          </a:stretch>
        </p:blipFill>
        <p:spPr>
          <a:xfrm>
            <a:off x="2152650" y="1209675"/>
            <a:ext cx="7886700" cy="4438650"/>
          </a:xfrm>
          <a:prstGeom prst="rect">
            <a:avLst/>
          </a:prstGeom>
        </p:spPr>
      </p:pic>
    </p:spTree>
    <p:extLst>
      <p:ext uri="{BB962C8B-B14F-4D97-AF65-F5344CB8AC3E}">
        <p14:creationId xmlns:p14="http://schemas.microsoft.com/office/powerpoint/2010/main" val="2250612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4652E-AD58-C111-0360-7D01C6FA3B0D}"/>
              </a:ext>
            </a:extLst>
          </p:cNvPr>
          <p:cNvSpPr>
            <a:spLocks noGrp="1"/>
          </p:cNvSpPr>
          <p:nvPr>
            <p:ph type="title"/>
          </p:nvPr>
        </p:nvSpPr>
        <p:spPr/>
        <p:txBody>
          <a:bodyPr>
            <a:normAutofit fontScale="90000"/>
          </a:bodyPr>
          <a:lstStyle/>
          <a:p>
            <a:endParaRPr lang="en-IN"/>
          </a:p>
        </p:txBody>
      </p:sp>
      <p:pic>
        <p:nvPicPr>
          <p:cNvPr id="5" name="Content Placeholder 4">
            <a:extLst>
              <a:ext uri="{FF2B5EF4-FFF2-40B4-BE49-F238E27FC236}">
                <a16:creationId xmlns:a16="http://schemas.microsoft.com/office/drawing/2014/main" id="{59C6FD6F-1F7D-D5FF-440E-9A64D62CD717}"/>
              </a:ext>
            </a:extLst>
          </p:cNvPr>
          <p:cNvPicPr>
            <a:picLocks noGrp="1" noChangeAspect="1"/>
          </p:cNvPicPr>
          <p:nvPr>
            <p:ph idx="1"/>
          </p:nvPr>
        </p:nvPicPr>
        <p:blipFill>
          <a:blip r:embed="rId2"/>
          <a:stretch>
            <a:fillRect/>
          </a:stretch>
        </p:blipFill>
        <p:spPr>
          <a:xfrm>
            <a:off x="2450289" y="1908175"/>
            <a:ext cx="7494622" cy="4217988"/>
          </a:xfrm>
          <a:prstGeom prst="rect">
            <a:avLst/>
          </a:prstGeom>
        </p:spPr>
      </p:pic>
    </p:spTree>
    <p:extLst>
      <p:ext uri="{BB962C8B-B14F-4D97-AF65-F5344CB8AC3E}">
        <p14:creationId xmlns:p14="http://schemas.microsoft.com/office/powerpoint/2010/main" val="1390406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567D9-EA36-8DC0-A0CE-E6CA179B644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76AB019-A02C-B138-07B0-9CC4B2FFD9F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8D9742D-FD8E-5F6F-D0A4-ED15A8D0E437}"/>
              </a:ext>
            </a:extLst>
          </p:cNvPr>
          <p:cNvPicPr>
            <a:picLocks noChangeAspect="1"/>
          </p:cNvPicPr>
          <p:nvPr/>
        </p:nvPicPr>
        <p:blipFill>
          <a:blip r:embed="rId2"/>
          <a:stretch>
            <a:fillRect/>
          </a:stretch>
        </p:blipFill>
        <p:spPr>
          <a:xfrm>
            <a:off x="2152650" y="1209675"/>
            <a:ext cx="7886700" cy="4438650"/>
          </a:xfrm>
          <a:prstGeom prst="rect">
            <a:avLst/>
          </a:prstGeom>
        </p:spPr>
      </p:pic>
    </p:spTree>
    <p:extLst>
      <p:ext uri="{BB962C8B-B14F-4D97-AF65-F5344CB8AC3E}">
        <p14:creationId xmlns:p14="http://schemas.microsoft.com/office/powerpoint/2010/main" val="2189674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DC3C0-CEC2-674A-942E-55FA11ED88DE}"/>
              </a:ext>
            </a:extLst>
          </p:cNvPr>
          <p:cNvSpPr>
            <a:spLocks noGrp="1"/>
          </p:cNvSpPr>
          <p:nvPr>
            <p:ph type="title"/>
          </p:nvPr>
        </p:nvSpPr>
        <p:spPr/>
        <p:txBody>
          <a:bodyPr>
            <a:normAutofit fontScale="90000"/>
          </a:bodyPr>
          <a:lstStyle/>
          <a:p>
            <a:r>
              <a:rPr lang="en-US" dirty="0"/>
              <a:t>Strides</a:t>
            </a:r>
            <a:endParaRPr lang="en-IN" dirty="0"/>
          </a:p>
        </p:txBody>
      </p:sp>
      <p:sp>
        <p:nvSpPr>
          <p:cNvPr id="3" name="Content Placeholder 2">
            <a:extLst>
              <a:ext uri="{FF2B5EF4-FFF2-40B4-BE49-F238E27FC236}">
                <a16:creationId xmlns:a16="http://schemas.microsoft.com/office/drawing/2014/main" id="{A45C5F24-B47C-ECDF-A39E-707586714670}"/>
              </a:ext>
            </a:extLst>
          </p:cNvPr>
          <p:cNvSpPr>
            <a:spLocks noGrp="1"/>
          </p:cNvSpPr>
          <p:nvPr>
            <p:ph idx="1"/>
          </p:nvPr>
        </p:nvSpPr>
        <p:spPr/>
        <p:txBody>
          <a:bodyPr/>
          <a:lstStyle/>
          <a:p>
            <a:r>
              <a:rPr lang="en-US" dirty="0"/>
              <a:t>Strides basically indicate the “jumping of kernels”. In convolution operation, the kernel moves into one box on the right side after an operation is complete. But we can specify how many boxes it will exclude in every jumping.</a:t>
            </a:r>
            <a:endParaRPr lang="en-IN" dirty="0"/>
          </a:p>
        </p:txBody>
      </p:sp>
    </p:spTree>
    <p:extLst>
      <p:ext uri="{BB962C8B-B14F-4D97-AF65-F5344CB8AC3E}">
        <p14:creationId xmlns:p14="http://schemas.microsoft.com/office/powerpoint/2010/main" val="1035759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79CFC-1299-DD55-338E-245F5477E18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AAC602D-0B0A-0F31-BE1E-2F839D619F6B}"/>
              </a:ext>
            </a:extLst>
          </p:cNvPr>
          <p:cNvSpPr>
            <a:spLocks noGrp="1"/>
          </p:cNvSpPr>
          <p:nvPr>
            <p:ph idx="1"/>
          </p:nvPr>
        </p:nvSpPr>
        <p:spPr/>
        <p:txBody>
          <a:bodyPr/>
          <a:lstStyle/>
          <a:p>
            <a:r>
              <a:rPr lang="en-US" dirty="0"/>
              <a:t>Strides 1</a:t>
            </a:r>
          </a:p>
          <a:p>
            <a:endParaRPr lang="en-IN" dirty="0"/>
          </a:p>
        </p:txBody>
      </p:sp>
      <p:pic>
        <p:nvPicPr>
          <p:cNvPr id="5" name="Picture 4">
            <a:extLst>
              <a:ext uri="{FF2B5EF4-FFF2-40B4-BE49-F238E27FC236}">
                <a16:creationId xmlns:a16="http://schemas.microsoft.com/office/drawing/2014/main" id="{11F826A4-2E29-3B4C-E4A5-88857F24F658}"/>
              </a:ext>
            </a:extLst>
          </p:cNvPr>
          <p:cNvPicPr>
            <a:picLocks noChangeAspect="1"/>
          </p:cNvPicPr>
          <p:nvPr/>
        </p:nvPicPr>
        <p:blipFill>
          <a:blip r:embed="rId2"/>
          <a:stretch>
            <a:fillRect/>
          </a:stretch>
        </p:blipFill>
        <p:spPr>
          <a:xfrm>
            <a:off x="4381260" y="1733313"/>
            <a:ext cx="3429479" cy="3391373"/>
          </a:xfrm>
          <a:prstGeom prst="rect">
            <a:avLst/>
          </a:prstGeom>
        </p:spPr>
      </p:pic>
    </p:spTree>
    <p:extLst>
      <p:ext uri="{BB962C8B-B14F-4D97-AF65-F5344CB8AC3E}">
        <p14:creationId xmlns:p14="http://schemas.microsoft.com/office/powerpoint/2010/main" val="31416178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BFE63-E02C-0C97-F21C-92920D8D9EB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BE66DDD-287B-A4D7-A0E9-B29325B2F427}"/>
              </a:ext>
            </a:extLst>
          </p:cNvPr>
          <p:cNvSpPr>
            <a:spLocks noGrp="1"/>
          </p:cNvSpPr>
          <p:nvPr>
            <p:ph idx="1"/>
          </p:nvPr>
        </p:nvSpPr>
        <p:spPr/>
        <p:txBody>
          <a:bodyPr/>
          <a:lstStyle/>
          <a:p>
            <a:r>
              <a:rPr lang="en-US" dirty="0"/>
              <a:t>Strides 2</a:t>
            </a:r>
            <a:endParaRPr lang="en-IN" dirty="0"/>
          </a:p>
        </p:txBody>
      </p:sp>
      <p:pic>
        <p:nvPicPr>
          <p:cNvPr id="5" name="Picture 4">
            <a:extLst>
              <a:ext uri="{FF2B5EF4-FFF2-40B4-BE49-F238E27FC236}">
                <a16:creationId xmlns:a16="http://schemas.microsoft.com/office/drawing/2014/main" id="{D24452A2-A4B5-3D02-6EDF-B4103C25BAD1}"/>
              </a:ext>
            </a:extLst>
          </p:cNvPr>
          <p:cNvPicPr>
            <a:picLocks noChangeAspect="1"/>
          </p:cNvPicPr>
          <p:nvPr/>
        </p:nvPicPr>
        <p:blipFill>
          <a:blip r:embed="rId2"/>
          <a:stretch>
            <a:fillRect/>
          </a:stretch>
        </p:blipFill>
        <p:spPr>
          <a:xfrm>
            <a:off x="3340417" y="1473835"/>
            <a:ext cx="7886700" cy="4438650"/>
          </a:xfrm>
          <a:prstGeom prst="rect">
            <a:avLst/>
          </a:prstGeom>
        </p:spPr>
      </p:pic>
    </p:spTree>
    <p:extLst>
      <p:ext uri="{BB962C8B-B14F-4D97-AF65-F5344CB8AC3E}">
        <p14:creationId xmlns:p14="http://schemas.microsoft.com/office/powerpoint/2010/main" val="563556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7DE57-5BB0-4460-29C9-0C648F5633A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6DCCE94-0794-FD80-9C5A-C333B5A89474}"/>
              </a:ext>
            </a:extLst>
          </p:cNvPr>
          <p:cNvSpPr>
            <a:spLocks noGrp="1"/>
          </p:cNvSpPr>
          <p:nvPr>
            <p:ph idx="1"/>
          </p:nvPr>
        </p:nvSpPr>
        <p:spPr/>
        <p:txBody>
          <a:bodyPr/>
          <a:lstStyle/>
          <a:p>
            <a:r>
              <a:rPr lang="en-US" dirty="0"/>
              <a:t>Stride 3 </a:t>
            </a:r>
          </a:p>
          <a:p>
            <a:endParaRPr lang="en-IN" dirty="0"/>
          </a:p>
        </p:txBody>
      </p:sp>
      <p:pic>
        <p:nvPicPr>
          <p:cNvPr id="5" name="Picture 4">
            <a:extLst>
              <a:ext uri="{FF2B5EF4-FFF2-40B4-BE49-F238E27FC236}">
                <a16:creationId xmlns:a16="http://schemas.microsoft.com/office/drawing/2014/main" id="{3F86FF19-D884-94EB-B3B3-E48D44701BD5}"/>
              </a:ext>
            </a:extLst>
          </p:cNvPr>
          <p:cNvPicPr>
            <a:picLocks noChangeAspect="1"/>
          </p:cNvPicPr>
          <p:nvPr/>
        </p:nvPicPr>
        <p:blipFill>
          <a:blip r:embed="rId2"/>
          <a:stretch>
            <a:fillRect/>
          </a:stretch>
        </p:blipFill>
        <p:spPr>
          <a:xfrm>
            <a:off x="3136583" y="1514475"/>
            <a:ext cx="7886700" cy="4438650"/>
          </a:xfrm>
          <a:prstGeom prst="rect">
            <a:avLst/>
          </a:prstGeom>
        </p:spPr>
      </p:pic>
    </p:spTree>
    <p:extLst>
      <p:ext uri="{BB962C8B-B14F-4D97-AF65-F5344CB8AC3E}">
        <p14:creationId xmlns:p14="http://schemas.microsoft.com/office/powerpoint/2010/main" val="334743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44F25-4168-DD73-BFD0-BD7A822837B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F1C801A-7E7E-14E7-F52D-E7733B402011}"/>
              </a:ext>
            </a:extLst>
          </p:cNvPr>
          <p:cNvSpPr>
            <a:spLocks noGrp="1"/>
          </p:cNvSpPr>
          <p:nvPr>
            <p:ph idx="1"/>
          </p:nvPr>
        </p:nvSpPr>
        <p:spPr>
          <a:xfrm>
            <a:off x="1097280" y="1402080"/>
            <a:ext cx="10129837" cy="4724190"/>
          </a:xfrm>
        </p:spPr>
        <p:txBody>
          <a:bodyPr/>
          <a:lstStyle/>
          <a:p>
            <a:r>
              <a:rPr lang="en-US" dirty="0"/>
              <a:t>Why do we use striding?</a:t>
            </a:r>
          </a:p>
          <a:p>
            <a:r>
              <a:rPr lang="en-US" dirty="0"/>
              <a:t>1. In some projects you don’t need to extract all features from input datasets. You just need to </a:t>
            </a:r>
            <a:r>
              <a:rPr lang="en-US" b="1" dirty="0"/>
              <a:t>extract high level features. </a:t>
            </a:r>
            <a:r>
              <a:rPr lang="en-US" dirty="0"/>
              <a:t>In those cases, we need to use striding, because it specify the jump of the kernel, the more striding will be applied, the </a:t>
            </a:r>
            <a:r>
              <a:rPr lang="en-US" b="1" dirty="0"/>
              <a:t>more low level feature will be ignored.</a:t>
            </a:r>
          </a:p>
          <a:p>
            <a:r>
              <a:rPr lang="en-US" dirty="0"/>
              <a:t>2. Sometimes we have limited computing resources with comparison of the size of the datasets. The more striding will be applied, the more high-level feature it will extract, the less computing resource will be needed. Also, the time will decrease.</a:t>
            </a:r>
          </a:p>
          <a:p>
            <a:endParaRPr lang="en-IN" dirty="0"/>
          </a:p>
        </p:txBody>
      </p:sp>
    </p:spTree>
    <p:extLst>
      <p:ext uri="{BB962C8B-B14F-4D97-AF65-F5344CB8AC3E}">
        <p14:creationId xmlns:p14="http://schemas.microsoft.com/office/powerpoint/2010/main" val="1002107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2074-C4E7-B634-54A0-02437EFD3BC8}"/>
              </a:ext>
            </a:extLst>
          </p:cNvPr>
          <p:cNvSpPr>
            <a:spLocks noGrp="1"/>
          </p:cNvSpPr>
          <p:nvPr>
            <p:ph type="title"/>
          </p:nvPr>
        </p:nvSpPr>
        <p:spPr/>
        <p:txBody>
          <a:bodyPr>
            <a:normAutofit fontScale="90000"/>
          </a:bodyPr>
          <a:lstStyle/>
          <a:p>
            <a:r>
              <a:rPr lang="en-US" dirty="0"/>
              <a:t>Convolution Kernels</a:t>
            </a:r>
            <a:endParaRPr lang="en-IN" dirty="0"/>
          </a:p>
        </p:txBody>
      </p:sp>
      <p:sp>
        <p:nvSpPr>
          <p:cNvPr id="3" name="Content Placeholder 2">
            <a:extLst>
              <a:ext uri="{FF2B5EF4-FFF2-40B4-BE49-F238E27FC236}">
                <a16:creationId xmlns:a16="http://schemas.microsoft.com/office/drawing/2014/main" id="{34D3508B-5236-B920-4B8F-FDAEB58BC694}"/>
              </a:ext>
            </a:extLst>
          </p:cNvPr>
          <p:cNvSpPr>
            <a:spLocks noGrp="1"/>
          </p:cNvSpPr>
          <p:nvPr>
            <p:ph idx="1"/>
          </p:nvPr>
        </p:nvSpPr>
        <p:spPr>
          <a:xfrm>
            <a:off x="1168717" y="1625600"/>
            <a:ext cx="10058400" cy="4500670"/>
          </a:xfrm>
        </p:spPr>
        <p:txBody>
          <a:bodyPr/>
          <a:lstStyle/>
          <a:p>
            <a:r>
              <a:rPr lang="en-US" dirty="0"/>
              <a:t>A kernel is a small 2D matrix whose contents are based upon the operations to be performed. </a:t>
            </a:r>
          </a:p>
          <a:p>
            <a:r>
              <a:rPr lang="en-US" dirty="0"/>
              <a:t>A kernel maps on the input image by simple matrix multiplication and addition, the output obtained is of lower dimensions and therefore easier to work with.</a:t>
            </a:r>
          </a:p>
          <a:p>
            <a:endParaRPr lang="en-IN" dirty="0"/>
          </a:p>
        </p:txBody>
      </p:sp>
      <p:pic>
        <p:nvPicPr>
          <p:cNvPr id="5" name="Picture 4">
            <a:extLst>
              <a:ext uri="{FF2B5EF4-FFF2-40B4-BE49-F238E27FC236}">
                <a16:creationId xmlns:a16="http://schemas.microsoft.com/office/drawing/2014/main" id="{E64CD55D-7081-A522-9454-9092F136A735}"/>
              </a:ext>
            </a:extLst>
          </p:cNvPr>
          <p:cNvPicPr>
            <a:picLocks noChangeAspect="1"/>
          </p:cNvPicPr>
          <p:nvPr/>
        </p:nvPicPr>
        <p:blipFill>
          <a:blip r:embed="rId2"/>
          <a:stretch>
            <a:fillRect/>
          </a:stretch>
        </p:blipFill>
        <p:spPr>
          <a:xfrm>
            <a:off x="3417569" y="3159550"/>
            <a:ext cx="5743575" cy="2438400"/>
          </a:xfrm>
          <a:prstGeom prst="rect">
            <a:avLst/>
          </a:prstGeom>
        </p:spPr>
      </p:pic>
    </p:spTree>
    <p:extLst>
      <p:ext uri="{BB962C8B-B14F-4D97-AF65-F5344CB8AC3E}">
        <p14:creationId xmlns:p14="http://schemas.microsoft.com/office/powerpoint/2010/main" val="2466097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11E36-62A8-81D4-ADA3-CE3A413BB596}"/>
              </a:ext>
            </a:extLst>
          </p:cNvPr>
          <p:cNvSpPr>
            <a:spLocks noGrp="1"/>
          </p:cNvSpPr>
          <p:nvPr>
            <p:ph type="title"/>
          </p:nvPr>
        </p:nvSpPr>
        <p:spPr/>
        <p:txBody>
          <a:bodyPr>
            <a:normAutofit fontScale="90000"/>
          </a:bodyPr>
          <a:lstStyle/>
          <a:p>
            <a:r>
              <a:rPr lang="en-US" dirty="0"/>
              <a:t>Output Size</a:t>
            </a:r>
            <a:endParaRPr lang="en-IN" dirty="0"/>
          </a:p>
        </p:txBody>
      </p:sp>
      <p:sp>
        <p:nvSpPr>
          <p:cNvPr id="3" name="Content Placeholder 2">
            <a:extLst>
              <a:ext uri="{FF2B5EF4-FFF2-40B4-BE49-F238E27FC236}">
                <a16:creationId xmlns:a16="http://schemas.microsoft.com/office/drawing/2014/main" id="{62504F1C-6863-CA1E-1AD7-F4D8A2365144}"/>
              </a:ext>
            </a:extLst>
          </p:cNvPr>
          <p:cNvSpPr>
            <a:spLocks noGrp="1"/>
          </p:cNvSpPr>
          <p:nvPr>
            <p:ph idx="1"/>
          </p:nvPr>
        </p:nvSpPr>
        <p:spPr>
          <a:xfrm>
            <a:off x="1168717" y="1463040"/>
            <a:ext cx="10058400" cy="4663230"/>
          </a:xfrm>
        </p:spPr>
        <p:txBody>
          <a:bodyPr/>
          <a:lstStyle/>
          <a:p>
            <a:r>
              <a:rPr lang="en-US" dirty="0"/>
              <a:t>if the input is n X n and the filter size is f X f, then the output size will be (n-f+1) X (n-f+1):</a:t>
            </a:r>
          </a:p>
          <a:p>
            <a:r>
              <a:rPr lang="en-US" b="1" dirty="0"/>
              <a:t>Input:</a:t>
            </a:r>
            <a:r>
              <a:rPr lang="en-US" dirty="0"/>
              <a:t> n X n</a:t>
            </a:r>
          </a:p>
          <a:p>
            <a:r>
              <a:rPr lang="en-US" b="1" dirty="0"/>
              <a:t>Filter size:</a:t>
            </a:r>
            <a:r>
              <a:rPr lang="en-US" dirty="0"/>
              <a:t> f X f</a:t>
            </a:r>
          </a:p>
          <a:p>
            <a:r>
              <a:rPr lang="en-US" b="1" dirty="0"/>
              <a:t>Output:</a:t>
            </a:r>
            <a:r>
              <a:rPr lang="en-US" dirty="0"/>
              <a:t> (n-f+1) X (n-f+1)</a:t>
            </a:r>
          </a:p>
          <a:p>
            <a:endParaRPr lang="en-IN" dirty="0"/>
          </a:p>
        </p:txBody>
      </p:sp>
    </p:spTree>
    <p:extLst>
      <p:ext uri="{BB962C8B-B14F-4D97-AF65-F5344CB8AC3E}">
        <p14:creationId xmlns:p14="http://schemas.microsoft.com/office/powerpoint/2010/main" val="3465735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11A07-F9FC-3BE1-35F4-656D85E85286}"/>
              </a:ext>
            </a:extLst>
          </p:cNvPr>
          <p:cNvSpPr>
            <a:spLocks noGrp="1"/>
          </p:cNvSpPr>
          <p:nvPr>
            <p:ph type="title"/>
          </p:nvPr>
        </p:nvSpPr>
        <p:spPr/>
        <p:txBody>
          <a:bodyPr>
            <a:normAutofit fontScale="90000"/>
          </a:bodyPr>
          <a:lstStyle/>
          <a:p>
            <a:r>
              <a:rPr lang="en-US" dirty="0"/>
              <a:t>With padding</a:t>
            </a:r>
            <a:endParaRPr lang="en-IN" dirty="0"/>
          </a:p>
        </p:txBody>
      </p:sp>
      <p:sp>
        <p:nvSpPr>
          <p:cNvPr id="3" name="Content Placeholder 2">
            <a:extLst>
              <a:ext uri="{FF2B5EF4-FFF2-40B4-BE49-F238E27FC236}">
                <a16:creationId xmlns:a16="http://schemas.microsoft.com/office/drawing/2014/main" id="{70F9A89B-08F9-4AE9-9F91-A5AC9334544B}"/>
              </a:ext>
            </a:extLst>
          </p:cNvPr>
          <p:cNvSpPr>
            <a:spLocks noGrp="1"/>
          </p:cNvSpPr>
          <p:nvPr>
            <p:ph idx="1"/>
          </p:nvPr>
        </p:nvSpPr>
        <p:spPr>
          <a:xfrm>
            <a:off x="1025842" y="1645920"/>
            <a:ext cx="10201275" cy="4480350"/>
          </a:xfrm>
        </p:spPr>
        <p:txBody>
          <a:bodyPr>
            <a:normAutofit fontScale="92500" lnSpcReduction="10000"/>
          </a:bodyPr>
          <a:lstStyle/>
          <a:p>
            <a:r>
              <a:rPr lang="en-US" b="1" dirty="0"/>
              <a:t>Input:</a:t>
            </a:r>
            <a:r>
              <a:rPr lang="en-US" dirty="0"/>
              <a:t> n X n</a:t>
            </a:r>
          </a:p>
          <a:p>
            <a:r>
              <a:rPr lang="en-US" b="1" dirty="0"/>
              <a:t>Padding:</a:t>
            </a:r>
            <a:r>
              <a:rPr lang="en-US" dirty="0"/>
              <a:t> p</a:t>
            </a:r>
          </a:p>
          <a:p>
            <a:r>
              <a:rPr lang="en-US" b="1" dirty="0"/>
              <a:t>Filter size:</a:t>
            </a:r>
            <a:r>
              <a:rPr lang="en-US" dirty="0"/>
              <a:t> f X f</a:t>
            </a:r>
          </a:p>
          <a:p>
            <a:r>
              <a:rPr lang="en-US" b="1" dirty="0"/>
              <a:t>Output:</a:t>
            </a:r>
            <a:r>
              <a:rPr lang="en-US" dirty="0"/>
              <a:t> (n+2p-f+1) X (n+2p-f+1)</a:t>
            </a:r>
          </a:p>
          <a:p>
            <a:r>
              <a:rPr lang="en-US" dirty="0"/>
              <a:t>There are two common choices for padding:</a:t>
            </a:r>
          </a:p>
          <a:p>
            <a:r>
              <a:rPr lang="en-US" b="1" dirty="0"/>
              <a:t>Valid:</a:t>
            </a:r>
            <a:r>
              <a:rPr lang="en-US" dirty="0"/>
              <a:t> It means no padding. If we are using valid padding, the output will be (n-f+1) X (n-f+1)</a:t>
            </a:r>
          </a:p>
          <a:p>
            <a:r>
              <a:rPr lang="en-US" b="1" dirty="0"/>
              <a:t>Same:</a:t>
            </a:r>
            <a:r>
              <a:rPr lang="en-US" dirty="0"/>
              <a:t> Here, we apply padding so that the output size is the same as the input size, i.e.,</a:t>
            </a:r>
            <a:br>
              <a:rPr lang="en-US" dirty="0"/>
            </a:br>
            <a:r>
              <a:rPr lang="en-US" dirty="0"/>
              <a:t>n+2p-f+1 = n</a:t>
            </a:r>
            <a:br>
              <a:rPr lang="en-US" dirty="0"/>
            </a:br>
            <a:r>
              <a:rPr lang="en-US" dirty="0"/>
              <a:t>So, p = (f-1)/2</a:t>
            </a:r>
          </a:p>
          <a:p>
            <a:endParaRPr lang="en-IN" dirty="0"/>
          </a:p>
        </p:txBody>
      </p:sp>
    </p:spTree>
    <p:extLst>
      <p:ext uri="{BB962C8B-B14F-4D97-AF65-F5344CB8AC3E}">
        <p14:creationId xmlns:p14="http://schemas.microsoft.com/office/powerpoint/2010/main" val="41203148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592E6-1B14-3DDD-F552-91AB0EA4578E}"/>
              </a:ext>
            </a:extLst>
          </p:cNvPr>
          <p:cNvSpPr>
            <a:spLocks noGrp="1"/>
          </p:cNvSpPr>
          <p:nvPr>
            <p:ph type="title"/>
          </p:nvPr>
        </p:nvSpPr>
        <p:spPr/>
        <p:txBody>
          <a:bodyPr>
            <a:normAutofit fontScale="90000"/>
          </a:bodyPr>
          <a:lstStyle/>
          <a:p>
            <a:r>
              <a:rPr lang="en-US" dirty="0"/>
              <a:t>With </a:t>
            </a:r>
            <a:r>
              <a:rPr lang="en-US" dirty="0" err="1"/>
              <a:t>strided</a:t>
            </a:r>
            <a:r>
              <a:rPr lang="en-US" dirty="0"/>
              <a:t> </a:t>
            </a:r>
            <a:endParaRPr lang="en-IN" dirty="0"/>
          </a:p>
        </p:txBody>
      </p:sp>
      <p:sp>
        <p:nvSpPr>
          <p:cNvPr id="3" name="Content Placeholder 2">
            <a:extLst>
              <a:ext uri="{FF2B5EF4-FFF2-40B4-BE49-F238E27FC236}">
                <a16:creationId xmlns:a16="http://schemas.microsoft.com/office/drawing/2014/main" id="{C461FADD-9F77-2743-570D-D33BC9F9EDAA}"/>
              </a:ext>
            </a:extLst>
          </p:cNvPr>
          <p:cNvSpPr>
            <a:spLocks noGrp="1"/>
          </p:cNvSpPr>
          <p:nvPr>
            <p:ph idx="1"/>
          </p:nvPr>
        </p:nvSpPr>
        <p:spPr/>
        <p:txBody>
          <a:bodyPr/>
          <a:lstStyle/>
          <a:p>
            <a:r>
              <a:rPr lang="en-US" b="1" dirty="0"/>
              <a:t>Input:</a:t>
            </a:r>
            <a:r>
              <a:rPr lang="en-US" dirty="0"/>
              <a:t> n X n</a:t>
            </a:r>
          </a:p>
          <a:p>
            <a:r>
              <a:rPr lang="en-US" b="1" dirty="0"/>
              <a:t>Padding:</a:t>
            </a:r>
            <a:r>
              <a:rPr lang="en-US" dirty="0"/>
              <a:t> p</a:t>
            </a:r>
          </a:p>
          <a:p>
            <a:r>
              <a:rPr lang="en-US" b="1" dirty="0"/>
              <a:t>Stride:</a:t>
            </a:r>
            <a:r>
              <a:rPr lang="en-US" dirty="0"/>
              <a:t> s</a:t>
            </a:r>
          </a:p>
          <a:p>
            <a:r>
              <a:rPr lang="en-US" b="1" dirty="0"/>
              <a:t>Filter size:</a:t>
            </a:r>
            <a:r>
              <a:rPr lang="en-US" dirty="0"/>
              <a:t> f X f</a:t>
            </a:r>
          </a:p>
          <a:p>
            <a:r>
              <a:rPr lang="en-US" b="1" dirty="0"/>
              <a:t>Output:</a:t>
            </a:r>
            <a:r>
              <a:rPr lang="en-US" dirty="0"/>
              <a:t> [(n+2p-f)/s+1] X [(n+2p-f)/s+1]</a:t>
            </a:r>
          </a:p>
          <a:p>
            <a:r>
              <a:rPr lang="en-US" dirty="0"/>
              <a:t>Stride helps to reduce the size of the image, a particularly useful feature.</a:t>
            </a:r>
          </a:p>
          <a:p>
            <a:endParaRPr lang="en-IN" dirty="0"/>
          </a:p>
        </p:txBody>
      </p:sp>
    </p:spTree>
    <p:extLst>
      <p:ext uri="{BB962C8B-B14F-4D97-AF65-F5344CB8AC3E}">
        <p14:creationId xmlns:p14="http://schemas.microsoft.com/office/powerpoint/2010/main" val="5598918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C5E3-33E3-FFE1-E712-0AE1E41E4E0D}"/>
              </a:ext>
            </a:extLst>
          </p:cNvPr>
          <p:cNvSpPr>
            <a:spLocks noGrp="1"/>
          </p:cNvSpPr>
          <p:nvPr>
            <p:ph type="title"/>
          </p:nvPr>
        </p:nvSpPr>
        <p:spPr/>
        <p:txBody>
          <a:bodyPr>
            <a:normAutofit fontScale="90000"/>
          </a:bodyPr>
          <a:lstStyle/>
          <a:p>
            <a:r>
              <a:rPr lang="en-US" dirty="0"/>
              <a:t> 3D</a:t>
            </a:r>
            <a:endParaRPr lang="en-IN" dirty="0"/>
          </a:p>
        </p:txBody>
      </p:sp>
      <p:sp>
        <p:nvSpPr>
          <p:cNvPr id="3" name="Content Placeholder 2">
            <a:extLst>
              <a:ext uri="{FF2B5EF4-FFF2-40B4-BE49-F238E27FC236}">
                <a16:creationId xmlns:a16="http://schemas.microsoft.com/office/drawing/2014/main" id="{3E76A999-F270-C725-6471-00085D6AFDF4}"/>
              </a:ext>
            </a:extLst>
          </p:cNvPr>
          <p:cNvSpPr>
            <a:spLocks noGrp="1"/>
          </p:cNvSpPr>
          <p:nvPr>
            <p:ph idx="1"/>
          </p:nvPr>
        </p:nvSpPr>
        <p:spPr>
          <a:xfrm>
            <a:off x="1025842" y="1524000"/>
            <a:ext cx="10201275" cy="4602270"/>
          </a:xfrm>
        </p:spPr>
        <p:txBody>
          <a:bodyPr>
            <a:normAutofit lnSpcReduction="10000"/>
          </a:bodyPr>
          <a:lstStyle/>
          <a:p>
            <a:r>
              <a:rPr lang="en-US" b="1" dirty="0"/>
              <a:t>Input:</a:t>
            </a:r>
            <a:r>
              <a:rPr lang="en-US" dirty="0"/>
              <a:t> n X n X </a:t>
            </a:r>
            <a:r>
              <a:rPr lang="en-US" dirty="0" err="1"/>
              <a:t>n</a:t>
            </a:r>
            <a:r>
              <a:rPr lang="en-US" baseline="-25000" dirty="0" err="1"/>
              <a:t>c</a:t>
            </a:r>
            <a:endParaRPr lang="en-US" dirty="0"/>
          </a:p>
          <a:p>
            <a:r>
              <a:rPr lang="en-US" b="1" dirty="0"/>
              <a:t>Filter:</a:t>
            </a:r>
            <a:r>
              <a:rPr lang="en-US" dirty="0"/>
              <a:t> f X f X </a:t>
            </a:r>
            <a:r>
              <a:rPr lang="en-US" dirty="0" err="1"/>
              <a:t>n</a:t>
            </a:r>
            <a:r>
              <a:rPr lang="en-US" baseline="-25000" dirty="0" err="1"/>
              <a:t>c</a:t>
            </a:r>
            <a:endParaRPr lang="en-US" dirty="0"/>
          </a:p>
          <a:p>
            <a:r>
              <a:rPr lang="en-US" b="1" dirty="0"/>
              <a:t>Padding:</a:t>
            </a:r>
            <a:r>
              <a:rPr lang="en-US" dirty="0"/>
              <a:t> p</a:t>
            </a:r>
          </a:p>
          <a:p>
            <a:r>
              <a:rPr lang="en-US" b="1" dirty="0"/>
              <a:t>Stride:</a:t>
            </a:r>
            <a:r>
              <a:rPr lang="en-US" dirty="0"/>
              <a:t> s</a:t>
            </a:r>
          </a:p>
          <a:p>
            <a:r>
              <a:rPr lang="en-US" b="1" dirty="0"/>
              <a:t>Output:</a:t>
            </a:r>
            <a:r>
              <a:rPr lang="en-US" dirty="0"/>
              <a:t> [(n+2p-f)/s+1] X [(n+2p-f)/s+1] X </a:t>
            </a:r>
            <a:r>
              <a:rPr lang="en-US" dirty="0" err="1"/>
              <a:t>n</a:t>
            </a:r>
            <a:r>
              <a:rPr lang="en-US" baseline="-25000" dirty="0" err="1"/>
              <a:t>c</a:t>
            </a:r>
            <a:r>
              <a:rPr lang="en-US" dirty="0"/>
              <a:t>’</a:t>
            </a:r>
          </a:p>
          <a:p>
            <a:r>
              <a:rPr lang="en-US" dirty="0"/>
              <a:t>Here, </a:t>
            </a:r>
            <a:r>
              <a:rPr lang="en-US" dirty="0" err="1"/>
              <a:t>n</a:t>
            </a:r>
            <a:r>
              <a:rPr lang="en-US" baseline="-25000" dirty="0" err="1"/>
              <a:t>c</a:t>
            </a:r>
            <a:r>
              <a:rPr lang="en-US" dirty="0"/>
              <a:t> is the number of channels in the input and filter, while </a:t>
            </a:r>
            <a:r>
              <a:rPr lang="en-US" dirty="0" err="1"/>
              <a:t>n</a:t>
            </a:r>
            <a:r>
              <a:rPr lang="en-US" baseline="-25000" dirty="0" err="1"/>
              <a:t>c</a:t>
            </a:r>
            <a:r>
              <a:rPr lang="en-US" dirty="0"/>
              <a:t>’ is the number of filters.</a:t>
            </a:r>
          </a:p>
          <a:p>
            <a:r>
              <a:rPr lang="en-US" b="1" dirty="0"/>
              <a:t>Reference:</a:t>
            </a:r>
          </a:p>
          <a:p>
            <a:r>
              <a:rPr lang="en-IN" dirty="0">
                <a:hlinkClick r:id="rId2"/>
              </a:rPr>
              <a:t>https://www.analyticsvidhya.com/blog/2018/12/guide-convolutional-neural-network-cnn/</a:t>
            </a:r>
            <a:endParaRPr lang="en-IN" dirty="0"/>
          </a:p>
          <a:p>
            <a:endParaRPr lang="en-IN" dirty="0"/>
          </a:p>
        </p:txBody>
      </p:sp>
    </p:spTree>
    <p:extLst>
      <p:ext uri="{BB962C8B-B14F-4D97-AF65-F5344CB8AC3E}">
        <p14:creationId xmlns:p14="http://schemas.microsoft.com/office/powerpoint/2010/main" val="9459104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62E20-3ACB-1D17-D8DC-2EDE14891E1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8C4649B-1DAC-136A-1954-F70C2DD67566}"/>
              </a:ext>
            </a:extLst>
          </p:cNvPr>
          <p:cNvSpPr>
            <a:spLocks noGrp="1"/>
          </p:cNvSpPr>
          <p:nvPr>
            <p:ph idx="1"/>
          </p:nvPr>
        </p:nvSpPr>
        <p:spPr>
          <a:xfrm>
            <a:off x="1025842" y="1554480"/>
            <a:ext cx="10201275" cy="4571790"/>
          </a:xfrm>
        </p:spPr>
        <p:txBody>
          <a:bodyPr>
            <a:normAutofit fontScale="85000" lnSpcReduction="20000"/>
          </a:bodyPr>
          <a:lstStyle/>
          <a:p>
            <a:r>
              <a:rPr lang="en-US" b="1" dirty="0"/>
              <a:t>Convolution Output Spatial Size</a:t>
            </a:r>
          </a:p>
          <a:p>
            <a:r>
              <a:rPr lang="en-US" dirty="0"/>
              <a:t>A 2D Convolution output feature size is determined by the formula,</a:t>
            </a:r>
          </a:p>
          <a:p>
            <a:endParaRPr lang="en-US" dirty="0"/>
          </a:p>
          <a:p>
            <a:r>
              <a:rPr lang="en-US" dirty="0"/>
              <a:t>where, </a:t>
            </a:r>
          </a:p>
          <a:p>
            <a:pPr fontAlgn="base"/>
            <a:r>
              <a:rPr lang="en-US" dirty="0"/>
              <a:t>O: Output size</a:t>
            </a:r>
          </a:p>
          <a:p>
            <a:pPr fontAlgn="base"/>
            <a:r>
              <a:rPr lang="en-US" dirty="0"/>
              <a:t>n: Input size (height or width)</a:t>
            </a:r>
          </a:p>
          <a:p>
            <a:pPr fontAlgn="base"/>
            <a:r>
              <a:rPr lang="en-US" dirty="0"/>
              <a:t>f:  kernel size</a:t>
            </a:r>
          </a:p>
          <a:p>
            <a:pPr fontAlgn="base"/>
            <a:r>
              <a:rPr lang="en-US" dirty="0"/>
              <a:t>p: Padding</a:t>
            </a:r>
          </a:p>
          <a:p>
            <a:pPr fontAlgn="base"/>
            <a:r>
              <a:rPr lang="en-US" dirty="0"/>
              <a:t>s: Stride</a:t>
            </a:r>
          </a:p>
          <a:p>
            <a:r>
              <a:rPr lang="en-US" dirty="0"/>
              <a:t>Suppose you have a 32×32 input with 3×3 kernel (f), same padding (p = 1 ) and No stride (i.e. s = 1)</a:t>
            </a:r>
          </a:p>
          <a:p>
            <a:r>
              <a:rPr lang="en-US" dirty="0"/>
              <a:t>The output feature map size is calculated as follows:</a:t>
            </a:r>
          </a:p>
          <a:p>
            <a:endParaRPr lang="en-US" dirty="0"/>
          </a:p>
          <a:p>
            <a:endParaRPr lang="en-IN" dirty="0"/>
          </a:p>
        </p:txBody>
      </p:sp>
      <p:pic>
        <p:nvPicPr>
          <p:cNvPr id="1029" name="Picture 5" descr="$O = \left\lfloor \frac{n - f + 2p}{s} \right\rfloor + 1$">
            <a:extLst>
              <a:ext uri="{FF2B5EF4-FFF2-40B4-BE49-F238E27FC236}">
                <a16:creationId xmlns:a16="http://schemas.microsoft.com/office/drawing/2014/main" id="{299EDF8E-D8A7-7A03-16B8-1D8BEE402B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8400" y="2336801"/>
            <a:ext cx="2685314" cy="603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7171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C3CB1-D9F1-0BFF-C752-D1F61DC524FF}"/>
              </a:ext>
            </a:extLst>
          </p:cNvPr>
          <p:cNvSpPr>
            <a:spLocks noGrp="1"/>
          </p:cNvSpPr>
          <p:nvPr>
            <p:ph type="title"/>
          </p:nvPr>
        </p:nvSpPr>
        <p:spPr/>
        <p:txBody>
          <a:bodyPr>
            <a:normAutofit fontScale="90000"/>
          </a:bodyPr>
          <a:lstStyle/>
          <a:p>
            <a:endParaRPr lang="en-IN"/>
          </a:p>
        </p:txBody>
      </p:sp>
      <p:pic>
        <p:nvPicPr>
          <p:cNvPr id="2050" name="Picture 2" descr="$O = \left\lfloor \frac{32 - 3 + 2 \cdot 1}{1} \right\rfloor + 1 = \left\lfloor 31 \right\rfloor + 1 = 32$">
            <a:extLst>
              <a:ext uri="{FF2B5EF4-FFF2-40B4-BE49-F238E27FC236}">
                <a16:creationId xmlns:a16="http://schemas.microsoft.com/office/drawing/2014/main" id="{2DB0FB27-54A3-95F5-36B5-2CBDFC4F17A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86560" y="2123440"/>
            <a:ext cx="478536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8755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057AE-530D-D614-8EAB-BD633A0D9A5A}"/>
              </a:ext>
            </a:extLst>
          </p:cNvPr>
          <p:cNvSpPr>
            <a:spLocks noGrp="1"/>
          </p:cNvSpPr>
          <p:nvPr>
            <p:ph type="title"/>
          </p:nvPr>
        </p:nvSpPr>
        <p:spPr/>
        <p:txBody>
          <a:bodyPr>
            <a:normAutofit/>
          </a:bodyPr>
          <a:lstStyle/>
          <a:p>
            <a:r>
              <a:rPr lang="en-US" sz="4000" dirty="0"/>
              <a:t>HOW TO CALCULATE NUMBER OF PARAMETERS</a:t>
            </a:r>
            <a:endParaRPr lang="en-IN" sz="4000" dirty="0"/>
          </a:p>
        </p:txBody>
      </p:sp>
      <p:sp>
        <p:nvSpPr>
          <p:cNvPr id="3" name="Content Placeholder 2">
            <a:extLst>
              <a:ext uri="{FF2B5EF4-FFF2-40B4-BE49-F238E27FC236}">
                <a16:creationId xmlns:a16="http://schemas.microsoft.com/office/drawing/2014/main" id="{EF910B07-C923-D484-1785-3E8FABE9F49F}"/>
              </a:ext>
            </a:extLst>
          </p:cNvPr>
          <p:cNvSpPr>
            <a:spLocks noGrp="1"/>
          </p:cNvSpPr>
          <p:nvPr>
            <p:ph idx="1"/>
          </p:nvPr>
        </p:nvSpPr>
        <p:spPr>
          <a:xfrm>
            <a:off x="1025842" y="1756266"/>
            <a:ext cx="10058400" cy="4217604"/>
          </a:xfrm>
        </p:spPr>
        <p:txBody>
          <a:bodyPr/>
          <a:lstStyle/>
          <a:p>
            <a:endParaRPr lang="en-US" dirty="0"/>
          </a:p>
          <a:p>
            <a:endParaRPr lang="en-IN" dirty="0"/>
          </a:p>
          <a:p>
            <a:endParaRPr lang="en-IN" dirty="0"/>
          </a:p>
          <a:p>
            <a:endParaRPr lang="en-IN" dirty="0"/>
          </a:p>
        </p:txBody>
      </p:sp>
      <p:pic>
        <p:nvPicPr>
          <p:cNvPr id="7" name="Picture 6">
            <a:extLst>
              <a:ext uri="{FF2B5EF4-FFF2-40B4-BE49-F238E27FC236}">
                <a16:creationId xmlns:a16="http://schemas.microsoft.com/office/drawing/2014/main" id="{D5C0F775-1C4D-9162-ABF2-91DBEC74A200}"/>
              </a:ext>
            </a:extLst>
          </p:cNvPr>
          <p:cNvPicPr>
            <a:picLocks noChangeAspect="1"/>
          </p:cNvPicPr>
          <p:nvPr/>
        </p:nvPicPr>
        <p:blipFill>
          <a:blip r:embed="rId2"/>
          <a:stretch>
            <a:fillRect/>
          </a:stretch>
        </p:blipFill>
        <p:spPr>
          <a:xfrm>
            <a:off x="2766389" y="1828440"/>
            <a:ext cx="4382112" cy="600159"/>
          </a:xfrm>
          <a:prstGeom prst="rect">
            <a:avLst/>
          </a:prstGeom>
        </p:spPr>
      </p:pic>
      <p:pic>
        <p:nvPicPr>
          <p:cNvPr id="10" name="Picture 9">
            <a:extLst>
              <a:ext uri="{FF2B5EF4-FFF2-40B4-BE49-F238E27FC236}">
                <a16:creationId xmlns:a16="http://schemas.microsoft.com/office/drawing/2014/main" id="{CADEE4BE-4710-9C3B-641B-679EE0F5D926}"/>
              </a:ext>
            </a:extLst>
          </p:cNvPr>
          <p:cNvPicPr>
            <a:picLocks noChangeAspect="1"/>
          </p:cNvPicPr>
          <p:nvPr/>
        </p:nvPicPr>
        <p:blipFill>
          <a:blip r:embed="rId3"/>
          <a:stretch>
            <a:fillRect/>
          </a:stretch>
        </p:blipFill>
        <p:spPr>
          <a:xfrm>
            <a:off x="2163633" y="2848495"/>
            <a:ext cx="6401693" cy="2705478"/>
          </a:xfrm>
          <a:prstGeom prst="rect">
            <a:avLst/>
          </a:prstGeom>
        </p:spPr>
      </p:pic>
    </p:spTree>
    <p:extLst>
      <p:ext uri="{BB962C8B-B14F-4D97-AF65-F5344CB8AC3E}">
        <p14:creationId xmlns:p14="http://schemas.microsoft.com/office/powerpoint/2010/main" val="1906500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FCA91-3AC1-8D38-6988-02D7831FE4E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6DA140-48D8-DFFC-86E4-0ECE0D2091C6}"/>
                  </a:ext>
                </a:extLst>
              </p:cNvPr>
              <p:cNvSpPr>
                <a:spLocks noGrp="1"/>
              </p:cNvSpPr>
              <p:nvPr>
                <p:ph idx="1"/>
              </p:nvPr>
            </p:nvSpPr>
            <p:spPr>
              <a:xfrm>
                <a:off x="1168717" y="1564640"/>
                <a:ext cx="10058400" cy="4561630"/>
              </a:xfrm>
            </p:spPr>
            <p:txBody>
              <a:bodyPr/>
              <a:lstStyle/>
              <a:p>
                <a:r>
                  <a:rPr lang="en-IN" b="1" dirty="0"/>
                  <a:t>Input:</a:t>
                </a:r>
                <a:r>
                  <a:rPr lang="en-IN" dirty="0"/>
                  <a:t> 32 × 32 × 3</a:t>
                </a:r>
                <a:br>
                  <a:rPr lang="en-IN" dirty="0"/>
                </a:br>
                <a:r>
                  <a:rPr lang="en-IN" b="1" dirty="0"/>
                  <a:t>Kernel:</a:t>
                </a:r>
                <a:r>
                  <a:rPr lang="en-IN" dirty="0"/>
                  <a:t> 3 × 3</a:t>
                </a:r>
                <a:br>
                  <a:rPr lang="en-IN" dirty="0"/>
                </a:br>
                <a:r>
                  <a:rPr lang="en-IN" b="1" dirty="0"/>
                  <a:t>Filters:</a:t>
                </a:r>
                <a:r>
                  <a:rPr lang="en-IN" dirty="0"/>
                  <a:t> 16</a:t>
                </a:r>
              </a:p>
              <a:p>
                <a14:m>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16</m:t>
                    </m:r>
                  </m:oMath>
                </a14:m>
                <a:endParaRPr lang="ar-AE" dirty="0"/>
              </a:p>
              <a:p>
                <a14:m>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27</m:t>
                        </m:r>
                        <m:r>
                          <a:rPr lang="ar-AE">
                            <a:latin typeface="Cambria Math" panose="02040503050406030204" pitchFamily="18" charset="0"/>
                          </a:rPr>
                          <m:t>+</m:t>
                        </m:r>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16</m:t>
                    </m:r>
                    <m:r>
                      <a:rPr lang="ar-AE">
                        <a:latin typeface="Cambria Math" panose="02040503050406030204" pitchFamily="18" charset="0"/>
                      </a:rPr>
                      <m:t>=</m:t>
                    </m:r>
                    <m:r>
                      <a:rPr lang="ar-AE">
                        <a:latin typeface="Cambria Math" panose="02040503050406030204" pitchFamily="18" charset="0"/>
                      </a:rPr>
                      <m:t>448</m:t>
                    </m:r>
                  </m:oMath>
                </a14:m>
                <a:endParaRPr lang="ar-AE" dirty="0"/>
              </a:p>
              <a:p>
                <a:r>
                  <a:rPr lang="en-IN" dirty="0"/>
                  <a:t> </a:t>
                </a:r>
                <a:r>
                  <a:rPr lang="en-IN" b="1" dirty="0"/>
                  <a:t>Total parameters = 448</a:t>
                </a:r>
                <a:endParaRPr lang="en-IN" dirty="0"/>
              </a:p>
            </p:txBody>
          </p:sp>
        </mc:Choice>
        <mc:Fallback xmlns="">
          <p:sp>
            <p:nvSpPr>
              <p:cNvPr id="3" name="Content Placeholder 2">
                <a:extLst>
                  <a:ext uri="{FF2B5EF4-FFF2-40B4-BE49-F238E27FC236}">
                    <a16:creationId xmlns:a16="http://schemas.microsoft.com/office/drawing/2014/main" id="{8C6DA140-48D8-DFFC-86E4-0ECE0D2091C6}"/>
                  </a:ext>
                </a:extLst>
              </p:cNvPr>
              <p:cNvSpPr>
                <a:spLocks noGrp="1" noRot="1" noChangeAspect="1" noMove="1" noResize="1" noEditPoints="1" noAdjustHandles="1" noChangeArrowheads="1" noChangeShapeType="1" noTextEdit="1"/>
              </p:cNvSpPr>
              <p:nvPr>
                <p:ph idx="1"/>
              </p:nvPr>
            </p:nvSpPr>
            <p:spPr>
              <a:xfrm>
                <a:off x="1168717" y="1564640"/>
                <a:ext cx="10058400" cy="4561630"/>
              </a:xfrm>
              <a:blipFill>
                <a:blip r:embed="rId2"/>
                <a:stretch>
                  <a:fillRect l="-1758" t="-1872"/>
                </a:stretch>
              </a:blipFill>
            </p:spPr>
            <p:txBody>
              <a:bodyPr/>
              <a:lstStyle/>
              <a:p>
                <a:r>
                  <a:rPr lang="en-IN">
                    <a:noFill/>
                  </a:rPr>
                  <a:t> </a:t>
                </a:r>
              </a:p>
            </p:txBody>
          </p:sp>
        </mc:Fallback>
      </mc:AlternateContent>
    </p:spTree>
    <p:extLst>
      <p:ext uri="{BB962C8B-B14F-4D97-AF65-F5344CB8AC3E}">
        <p14:creationId xmlns:p14="http://schemas.microsoft.com/office/powerpoint/2010/main" val="8866408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16065-BCB0-EFA8-7BC3-348597C3DF4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D274C7-AEEE-6C5F-BA62-F01A9E6BCACF}"/>
                  </a:ext>
                </a:extLst>
              </p:cNvPr>
              <p:cNvSpPr>
                <a:spLocks noGrp="1"/>
              </p:cNvSpPr>
              <p:nvPr>
                <p:ph idx="1"/>
              </p:nvPr>
            </p:nvSpPr>
            <p:spPr/>
            <p:txBody>
              <a:bodyPr/>
              <a:lstStyle/>
              <a:p>
                <a:r>
                  <a:rPr lang="en-IN" b="1" dirty="0"/>
                  <a:t>Input channels:</a:t>
                </a:r>
                <a:r>
                  <a:rPr lang="en-IN" dirty="0"/>
                  <a:t> 64</a:t>
                </a:r>
                <a:br>
                  <a:rPr lang="en-IN" dirty="0"/>
                </a:br>
                <a:r>
                  <a:rPr lang="en-IN" b="1" dirty="0"/>
                  <a:t>Kernel:</a:t>
                </a:r>
                <a:r>
                  <a:rPr lang="en-IN" dirty="0"/>
                  <a:t> 5 × 5</a:t>
                </a:r>
                <a:br>
                  <a:rPr lang="en-IN" dirty="0"/>
                </a:br>
                <a:r>
                  <a:rPr lang="en-IN" b="1" dirty="0"/>
                  <a:t>Filters:</a:t>
                </a:r>
                <a:r>
                  <a:rPr lang="en-IN" dirty="0"/>
                  <a:t> 128</a:t>
                </a:r>
              </a:p>
              <a:p>
                <a14:m>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64</m:t>
                        </m:r>
                        <m:r>
                          <a:rPr lang="ar-AE">
                            <a:latin typeface="Cambria Math" panose="02040503050406030204" pitchFamily="18" charset="0"/>
                          </a:rPr>
                          <m:t>+</m:t>
                        </m:r>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128</m:t>
                    </m:r>
                  </m:oMath>
                </a14:m>
                <a:endParaRPr lang="ar-AE" dirty="0"/>
              </a:p>
              <a:p>
                <a14:m>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1600</m:t>
                        </m:r>
                        <m:r>
                          <a:rPr lang="ar-AE">
                            <a:latin typeface="Cambria Math" panose="02040503050406030204" pitchFamily="18" charset="0"/>
                          </a:rPr>
                          <m:t>+</m:t>
                        </m:r>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128</m:t>
                    </m:r>
                    <m:r>
                      <a:rPr lang="ar-AE">
                        <a:latin typeface="Cambria Math" panose="02040503050406030204" pitchFamily="18" charset="0"/>
                      </a:rPr>
                      <m:t>=</m:t>
                    </m:r>
                    <m:r>
                      <a:rPr lang="ar-AE">
                        <a:latin typeface="Cambria Math" panose="02040503050406030204" pitchFamily="18" charset="0"/>
                      </a:rPr>
                      <m:t>204</m:t>
                    </m:r>
                    <m:r>
                      <a:rPr lang="ar-AE">
                        <a:latin typeface="Cambria Math" panose="02040503050406030204" pitchFamily="18" charset="0"/>
                      </a:rPr>
                      <m:t>,</m:t>
                    </m:r>
                    <m:r>
                      <a:rPr lang="ar-AE">
                        <a:latin typeface="Cambria Math" panose="02040503050406030204" pitchFamily="18" charset="0"/>
                      </a:rPr>
                      <m:t>928</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A0D274C7-AEEE-6C5F-BA62-F01A9E6BCACF}"/>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5890391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5AFE1-2857-8F45-878B-A85DB1E4C7F1}"/>
              </a:ext>
            </a:extLst>
          </p:cNvPr>
          <p:cNvSpPr>
            <a:spLocks noGrp="1"/>
          </p:cNvSpPr>
          <p:nvPr>
            <p:ph type="title"/>
          </p:nvPr>
        </p:nvSpPr>
        <p:spPr/>
        <p:txBody>
          <a:bodyPr>
            <a:normAutofit fontScale="90000"/>
          </a:bodyPr>
          <a:lstStyle/>
          <a:p>
            <a:r>
              <a:rPr lang="en-US" dirty="0"/>
              <a:t>Pooling Layer</a:t>
            </a:r>
            <a:endParaRPr lang="en-IN" dirty="0"/>
          </a:p>
        </p:txBody>
      </p:sp>
      <p:sp>
        <p:nvSpPr>
          <p:cNvPr id="3" name="Content Placeholder 2">
            <a:extLst>
              <a:ext uri="{FF2B5EF4-FFF2-40B4-BE49-F238E27FC236}">
                <a16:creationId xmlns:a16="http://schemas.microsoft.com/office/drawing/2014/main" id="{151EA92E-8357-3CC2-E443-F46713C36230}"/>
              </a:ext>
            </a:extLst>
          </p:cNvPr>
          <p:cNvSpPr>
            <a:spLocks noGrp="1"/>
          </p:cNvSpPr>
          <p:nvPr>
            <p:ph idx="1"/>
          </p:nvPr>
        </p:nvSpPr>
        <p:spPr>
          <a:xfrm>
            <a:off x="812800" y="1605280"/>
            <a:ext cx="10414317" cy="4520990"/>
          </a:xfrm>
        </p:spPr>
        <p:txBody>
          <a:bodyPr>
            <a:normAutofit/>
          </a:bodyPr>
          <a:lstStyle/>
          <a:p>
            <a:r>
              <a:rPr lang="en-US" sz="2800" dirty="0"/>
              <a:t>Pooling, also known as subsampling or </a:t>
            </a:r>
            <a:r>
              <a:rPr lang="en-US" sz="2800" dirty="0" err="1"/>
              <a:t>downsampling</a:t>
            </a:r>
            <a:r>
              <a:rPr lang="en-US" sz="2800" dirty="0"/>
              <a:t>, is a technique used in CNNs to reduce the spatial dimensions of feature maps while retaining essential information.</a:t>
            </a:r>
          </a:p>
          <a:p>
            <a:r>
              <a:rPr lang="en-US" sz="2800" dirty="0"/>
              <a:t> It helps in controlling the </a:t>
            </a:r>
            <a:r>
              <a:rPr lang="en-US" sz="2800" b="1" dirty="0"/>
              <a:t>model’s complexity, reducing overfitting, and improving computational efficiency </a:t>
            </a:r>
            <a:r>
              <a:rPr lang="en-US" sz="2800" dirty="0"/>
              <a:t>by reducing the number of parameters and computation required in subsequent layers.</a:t>
            </a:r>
          </a:p>
          <a:p>
            <a:r>
              <a:rPr lang="en-US" sz="2800" dirty="0"/>
              <a:t>The pooling operation involves sliding a two-dimensional filter over each channel of feature map and </a:t>
            </a:r>
            <a:r>
              <a:rPr lang="en-US" sz="2800" dirty="0" err="1"/>
              <a:t>summarising</a:t>
            </a:r>
            <a:r>
              <a:rPr lang="en-US" sz="2800" dirty="0"/>
              <a:t> the features lying within the region covered by the filter.</a:t>
            </a:r>
            <a:br>
              <a:rPr lang="en-US" sz="2800" dirty="0"/>
            </a:br>
            <a:endParaRPr lang="en-IN" sz="2800" dirty="0"/>
          </a:p>
        </p:txBody>
      </p:sp>
    </p:spTree>
    <p:extLst>
      <p:ext uri="{BB962C8B-B14F-4D97-AF65-F5344CB8AC3E}">
        <p14:creationId xmlns:p14="http://schemas.microsoft.com/office/powerpoint/2010/main" val="12236067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4D282-019B-4A6D-F6ED-834F325E9E9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B1447B-B96E-9D26-D93B-C662D01BCDA1}"/>
                  </a:ext>
                </a:extLst>
              </p:cNvPr>
              <p:cNvSpPr>
                <a:spLocks noGrp="1"/>
              </p:cNvSpPr>
              <p:nvPr>
                <p:ph idx="1"/>
              </p:nvPr>
            </p:nvSpPr>
            <p:spPr>
              <a:xfrm>
                <a:off x="894080" y="1442720"/>
                <a:ext cx="10333037" cy="4683550"/>
              </a:xfrm>
            </p:spPr>
            <p:txBody>
              <a:bodyPr>
                <a:normAutofit fontScale="92500" lnSpcReduction="10000"/>
              </a:bodyPr>
              <a:lstStyle/>
              <a:p>
                <a:r>
                  <a:rPr lang="en-IN" dirty="0"/>
                  <a:t>For a feature map with dimensions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h</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𝑤</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𝑐</m:t>
                        </m:r>
                      </m:sub>
                    </m:sSub>
                  </m:oMath>
                </a14:m>
                <a:r>
                  <a:rPr lang="ar-AE" dirty="0"/>
                  <a:t>, </a:t>
                </a:r>
                <a:r>
                  <a:rPr lang="en-IN" dirty="0"/>
                  <a:t>the dimensions of the output after a pooling layer are</a:t>
                </a:r>
              </a:p>
              <a:p>
                <a:endParaRPr lang="en-IN" dirty="0"/>
              </a:p>
              <a:p>
                <a:endParaRPr lang="en-IN" dirty="0"/>
              </a:p>
              <a:p>
                <a:endParaRPr lang="en-IN" dirty="0"/>
              </a:p>
              <a:p>
                <a:pPr fontAlgn="base"/>
                <a:r>
                  <a:rPr lang="en-IN" dirty="0"/>
                  <a:t>where:</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h</m:t>
                        </m:r>
                      </m:sub>
                    </m:sSub>
                  </m:oMath>
                </a14:m>
                <a:r>
                  <a:rPr lang="ar-AE" dirty="0"/>
                  <a:t> → </a:t>
                </a:r>
                <a:r>
                  <a:rPr lang="en-IN" dirty="0"/>
                  <a:t>height of the feature map</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𝑤</m:t>
                        </m:r>
                      </m:sub>
                    </m:sSub>
                  </m:oMath>
                </a14:m>
                <a:r>
                  <a:rPr lang="ar-AE" dirty="0"/>
                  <a:t> → </a:t>
                </a:r>
                <a:r>
                  <a:rPr lang="en-IN" dirty="0"/>
                  <a:t>width of the feature map</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𝑐</m:t>
                        </m:r>
                      </m:sub>
                    </m:sSub>
                  </m:oMath>
                </a14:m>
                <a:r>
                  <a:rPr lang="ar-AE" dirty="0"/>
                  <a:t> → </a:t>
                </a:r>
                <a:r>
                  <a:rPr lang="en-IN" dirty="0"/>
                  <a:t>number of channels in the feature map</a:t>
                </a:r>
              </a:p>
              <a:p>
                <a:pPr fontAlgn="base"/>
                <a14:m>
                  <m:oMath xmlns:m="http://schemas.openxmlformats.org/officeDocument/2006/math">
                    <m:r>
                      <a:rPr lang="en-IN" i="1">
                        <a:latin typeface="Cambria Math" panose="02040503050406030204" pitchFamily="18" charset="0"/>
                      </a:rPr>
                      <m:t>𝑓</m:t>
                    </m:r>
                  </m:oMath>
                </a14:m>
                <a:r>
                  <a:rPr lang="en-IN" dirty="0"/>
                  <a:t> → size of the pooling filter</a:t>
                </a:r>
              </a:p>
              <a:p>
                <a:pPr fontAlgn="base"/>
                <a14:m>
                  <m:oMath xmlns:m="http://schemas.openxmlformats.org/officeDocument/2006/math">
                    <m:r>
                      <a:rPr lang="en-IN" i="1">
                        <a:latin typeface="Cambria Math" panose="02040503050406030204" pitchFamily="18" charset="0"/>
                      </a:rPr>
                      <m:t>𝑠</m:t>
                    </m:r>
                  </m:oMath>
                </a14:m>
                <a:r>
                  <a:rPr lang="en-IN" dirty="0"/>
                  <a:t> → stride length</a:t>
                </a:r>
              </a:p>
              <a:p>
                <a:endParaRPr lang="en-IN" dirty="0"/>
              </a:p>
              <a:p>
                <a:endParaRPr lang="en-IN" dirty="0"/>
              </a:p>
            </p:txBody>
          </p:sp>
        </mc:Choice>
        <mc:Fallback xmlns="">
          <p:sp>
            <p:nvSpPr>
              <p:cNvPr id="3" name="Content Placeholder 2">
                <a:extLst>
                  <a:ext uri="{FF2B5EF4-FFF2-40B4-BE49-F238E27FC236}">
                    <a16:creationId xmlns:a16="http://schemas.microsoft.com/office/drawing/2014/main" id="{78B1447B-B96E-9D26-D93B-C662D01BCDA1}"/>
                  </a:ext>
                </a:extLst>
              </p:cNvPr>
              <p:cNvSpPr>
                <a:spLocks noGrp="1" noRot="1" noChangeAspect="1" noMove="1" noResize="1" noEditPoints="1" noAdjustHandles="1" noChangeArrowheads="1" noChangeShapeType="1" noTextEdit="1"/>
              </p:cNvSpPr>
              <p:nvPr>
                <p:ph idx="1"/>
              </p:nvPr>
            </p:nvSpPr>
            <p:spPr>
              <a:xfrm>
                <a:off x="894080" y="1442720"/>
                <a:ext cx="10333037" cy="4683550"/>
              </a:xfrm>
              <a:blipFill>
                <a:blip r:embed="rId2"/>
                <a:stretch>
                  <a:fillRect l="-1593" t="-2344" r="-1180" b="-1953"/>
                </a:stretch>
              </a:blipFill>
            </p:spPr>
            <p:txBody>
              <a:bodyPr/>
              <a:lstStyle/>
              <a:p>
                <a:r>
                  <a:rPr lang="en-IN">
                    <a:noFill/>
                  </a:rPr>
                  <a:t> </a:t>
                </a:r>
              </a:p>
            </p:txBody>
          </p:sp>
        </mc:Fallback>
      </mc:AlternateContent>
      <p:pic>
        <p:nvPicPr>
          <p:cNvPr id="1026" name="Picture 2" descr="Screenshot-2025-12-03-175641">
            <a:extLst>
              <a:ext uri="{FF2B5EF4-FFF2-40B4-BE49-F238E27FC236}">
                <a16:creationId xmlns:a16="http://schemas.microsoft.com/office/drawing/2014/main" id="{42AAB17B-BF36-7E3C-8E6B-346A49A81B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760" y="2284186"/>
            <a:ext cx="6612890" cy="1173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877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AF199-83C7-1478-700F-540B0B7AA348}"/>
              </a:ext>
            </a:extLst>
          </p:cNvPr>
          <p:cNvSpPr>
            <a:spLocks noGrp="1"/>
          </p:cNvSpPr>
          <p:nvPr>
            <p:ph type="title"/>
          </p:nvPr>
        </p:nvSpPr>
        <p:spPr/>
        <p:txBody>
          <a:bodyPr>
            <a:normAutofit fontScale="90000"/>
          </a:bodyPr>
          <a:lstStyle/>
          <a:p>
            <a:r>
              <a:rPr lang="en-US" dirty="0"/>
              <a:t>Why are Pooling Layers Important? </a:t>
            </a:r>
            <a:endParaRPr lang="en-IN" dirty="0"/>
          </a:p>
        </p:txBody>
      </p:sp>
      <p:sp>
        <p:nvSpPr>
          <p:cNvPr id="3" name="Content Placeholder 2">
            <a:extLst>
              <a:ext uri="{FF2B5EF4-FFF2-40B4-BE49-F238E27FC236}">
                <a16:creationId xmlns:a16="http://schemas.microsoft.com/office/drawing/2014/main" id="{5EC6873F-0ACF-60EE-F174-95CAE1D08FE2}"/>
              </a:ext>
            </a:extLst>
          </p:cNvPr>
          <p:cNvSpPr>
            <a:spLocks noGrp="1"/>
          </p:cNvSpPr>
          <p:nvPr>
            <p:ph idx="1"/>
          </p:nvPr>
        </p:nvSpPr>
        <p:spPr>
          <a:xfrm>
            <a:off x="1025842" y="1391920"/>
            <a:ext cx="10201275" cy="4642910"/>
          </a:xfrm>
        </p:spPr>
        <p:txBody>
          <a:bodyPr>
            <a:normAutofit/>
          </a:bodyPr>
          <a:lstStyle/>
          <a:p>
            <a:pPr fontAlgn="base"/>
            <a:r>
              <a:rPr lang="en-US" b="1" dirty="0"/>
              <a:t>Dimensionality Reduction</a:t>
            </a:r>
            <a:r>
              <a:rPr lang="en-US" dirty="0"/>
              <a:t>: Pooling layers reduce the spatial size of the feature maps, which </a:t>
            </a:r>
            <a:r>
              <a:rPr lang="en-US" b="1" dirty="0"/>
              <a:t>decreases the number of parameters and computations </a:t>
            </a:r>
            <a:r>
              <a:rPr lang="en-US" dirty="0"/>
              <a:t>in the network. This makes the </a:t>
            </a:r>
            <a:r>
              <a:rPr lang="en-US" b="1" dirty="0"/>
              <a:t>model faster and more efficient</a:t>
            </a:r>
            <a:r>
              <a:rPr lang="en-US" dirty="0"/>
              <a:t>.</a:t>
            </a:r>
          </a:p>
          <a:p>
            <a:pPr fontAlgn="base"/>
            <a:r>
              <a:rPr lang="en-US" b="1" dirty="0"/>
              <a:t>Translation Invariance</a:t>
            </a:r>
            <a:r>
              <a:rPr lang="en-US" dirty="0"/>
              <a:t>: Pooling helps the network become </a:t>
            </a:r>
            <a:r>
              <a:rPr lang="en-US" b="1" dirty="0"/>
              <a:t>invariant to small translations or distortions in the input image.</a:t>
            </a:r>
            <a:r>
              <a:rPr lang="en-US" dirty="0"/>
              <a:t> For example, even if an object in an image is slightly shifted, the pooled output will remain relatively unchanged.</a:t>
            </a:r>
          </a:p>
          <a:p>
            <a:pPr fontAlgn="base"/>
            <a:r>
              <a:rPr lang="en-US" b="1" dirty="0"/>
              <a:t>Overfitting Prevention</a:t>
            </a:r>
            <a:r>
              <a:rPr lang="en-US" dirty="0"/>
              <a:t>: By reducing the spatial dimensions, pooling layers help prevent overfitting by providing a form of regularization.</a:t>
            </a:r>
          </a:p>
          <a:p>
            <a:pPr fontAlgn="base"/>
            <a:r>
              <a:rPr lang="en-US" b="1" dirty="0"/>
              <a:t>Feature Hierarchy</a:t>
            </a:r>
            <a:r>
              <a:rPr lang="en-US" dirty="0"/>
              <a:t>: Pooling layers help build a hierarchical representation of features, where </a:t>
            </a:r>
            <a:r>
              <a:rPr lang="en-US" b="1" dirty="0"/>
              <a:t>lower layers capture fine details and higher layers capture more abstract and global features.</a:t>
            </a:r>
          </a:p>
          <a:p>
            <a:endParaRPr lang="en-IN" dirty="0"/>
          </a:p>
        </p:txBody>
      </p:sp>
    </p:spTree>
    <p:extLst>
      <p:ext uri="{BB962C8B-B14F-4D97-AF65-F5344CB8AC3E}">
        <p14:creationId xmlns:p14="http://schemas.microsoft.com/office/powerpoint/2010/main" val="3341800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41850-D7E2-5654-4EBD-5274ECE3543D}"/>
              </a:ext>
            </a:extLst>
          </p:cNvPr>
          <p:cNvSpPr>
            <a:spLocks noGrp="1"/>
          </p:cNvSpPr>
          <p:nvPr>
            <p:ph type="title"/>
          </p:nvPr>
        </p:nvSpPr>
        <p:spPr/>
        <p:txBody>
          <a:bodyPr>
            <a:normAutofit fontScale="90000"/>
          </a:bodyPr>
          <a:lstStyle/>
          <a:p>
            <a:r>
              <a:rPr lang="en-IN" dirty="0"/>
              <a:t>Types of Pooling Layers</a:t>
            </a:r>
          </a:p>
        </p:txBody>
      </p:sp>
      <p:sp>
        <p:nvSpPr>
          <p:cNvPr id="3" name="Content Placeholder 2">
            <a:extLst>
              <a:ext uri="{FF2B5EF4-FFF2-40B4-BE49-F238E27FC236}">
                <a16:creationId xmlns:a16="http://schemas.microsoft.com/office/drawing/2014/main" id="{6619DED5-2E31-0A5C-A762-84BACD8E562A}"/>
              </a:ext>
            </a:extLst>
          </p:cNvPr>
          <p:cNvSpPr>
            <a:spLocks noGrp="1"/>
          </p:cNvSpPr>
          <p:nvPr>
            <p:ph idx="1"/>
          </p:nvPr>
        </p:nvSpPr>
        <p:spPr>
          <a:xfrm>
            <a:off x="1025842" y="1574800"/>
            <a:ext cx="10201275" cy="4551470"/>
          </a:xfrm>
        </p:spPr>
        <p:txBody>
          <a:bodyPr/>
          <a:lstStyle/>
          <a:p>
            <a:pPr fontAlgn="base"/>
            <a:r>
              <a:rPr lang="en-US" b="1" dirty="0"/>
              <a:t>Max Pooling</a:t>
            </a:r>
          </a:p>
          <a:p>
            <a:pPr fontAlgn="base"/>
            <a:r>
              <a:rPr lang="en-US" dirty="0"/>
              <a:t>Max pooling selects the maximum element from the region of the feature map covered by the filter. </a:t>
            </a:r>
          </a:p>
          <a:p>
            <a:pPr fontAlgn="base"/>
            <a:r>
              <a:rPr lang="en-US" dirty="0"/>
              <a:t>Thus, the output after max-pooling layer would be a feature map containing the most prominent features of the previous feature map. </a:t>
            </a:r>
          </a:p>
          <a:p>
            <a:pPr fontAlgn="base"/>
            <a:r>
              <a:rPr lang="en-US" dirty="0"/>
              <a:t>Max pooling layer preserves the most important features (edges, textures, etc.) and provides better performance in most cases.</a:t>
            </a:r>
          </a:p>
          <a:p>
            <a:endParaRPr lang="en-IN" dirty="0"/>
          </a:p>
        </p:txBody>
      </p:sp>
    </p:spTree>
    <p:extLst>
      <p:ext uri="{BB962C8B-B14F-4D97-AF65-F5344CB8AC3E}">
        <p14:creationId xmlns:p14="http://schemas.microsoft.com/office/powerpoint/2010/main" val="5148567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A5E0F-0D40-DC69-5CDA-4F6331F8220A}"/>
              </a:ext>
            </a:extLst>
          </p:cNvPr>
          <p:cNvSpPr>
            <a:spLocks noGrp="1"/>
          </p:cNvSpPr>
          <p:nvPr>
            <p:ph type="title"/>
          </p:nvPr>
        </p:nvSpPr>
        <p:spPr/>
        <p:txBody>
          <a:bodyPr>
            <a:normAutofit fontScale="90000"/>
          </a:bodyPr>
          <a:lstStyle/>
          <a:p>
            <a:endParaRPr lang="en-IN"/>
          </a:p>
        </p:txBody>
      </p:sp>
      <p:pic>
        <p:nvPicPr>
          <p:cNvPr id="2050" name="Picture 2">
            <a:extLst>
              <a:ext uri="{FF2B5EF4-FFF2-40B4-BE49-F238E27FC236}">
                <a16:creationId xmlns:a16="http://schemas.microsoft.com/office/drawing/2014/main" id="{0EFE88F7-C700-FE13-771A-A7D79C4CAA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61336" y="1960880"/>
            <a:ext cx="9965403" cy="355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4473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29ED1-FBA0-A953-1A3C-1303F9CA9B0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B44B1AE-9ED3-9941-8594-A21B0775E393}"/>
              </a:ext>
            </a:extLst>
          </p:cNvPr>
          <p:cNvSpPr>
            <a:spLocks noGrp="1"/>
          </p:cNvSpPr>
          <p:nvPr>
            <p:ph idx="1"/>
          </p:nvPr>
        </p:nvSpPr>
        <p:spPr>
          <a:xfrm>
            <a:off x="974724" y="1400666"/>
            <a:ext cx="10058400" cy="4217604"/>
          </a:xfrm>
        </p:spPr>
        <p:txBody>
          <a:bodyPr/>
          <a:lstStyle/>
          <a:p>
            <a:pPr fontAlgn="base"/>
            <a:r>
              <a:rPr lang="en-US" b="1" dirty="0"/>
              <a:t>2. Average Pooling</a:t>
            </a:r>
          </a:p>
          <a:p>
            <a:pPr fontAlgn="base"/>
            <a:r>
              <a:rPr lang="en-US" dirty="0"/>
              <a:t>Average pooling computes the average of the elements present in the region of feature map covered by the filter. </a:t>
            </a:r>
          </a:p>
          <a:p>
            <a:pPr fontAlgn="base"/>
            <a:r>
              <a:rPr lang="en-US" dirty="0"/>
              <a:t>Thus, while max pooling gives the most prominent feature in a particular patch of the feature map, average pooling gives the average of features present in a patch. </a:t>
            </a:r>
          </a:p>
          <a:p>
            <a:pPr fontAlgn="base"/>
            <a:r>
              <a:rPr lang="en-US" dirty="0"/>
              <a:t>Average pooling provides a more generalized representation of the input.</a:t>
            </a:r>
          </a:p>
          <a:p>
            <a:pPr fontAlgn="base"/>
            <a:r>
              <a:rPr lang="en-US" dirty="0"/>
              <a:t> It is useful in the cases where preserving the overall context is important.</a:t>
            </a:r>
          </a:p>
          <a:p>
            <a:endParaRPr lang="en-IN" dirty="0"/>
          </a:p>
        </p:txBody>
      </p:sp>
    </p:spTree>
    <p:extLst>
      <p:ext uri="{BB962C8B-B14F-4D97-AF65-F5344CB8AC3E}">
        <p14:creationId xmlns:p14="http://schemas.microsoft.com/office/powerpoint/2010/main" val="42538652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00BC4-50F8-43A2-3E54-738F0BCAC973}"/>
              </a:ext>
            </a:extLst>
          </p:cNvPr>
          <p:cNvSpPr>
            <a:spLocks noGrp="1"/>
          </p:cNvSpPr>
          <p:nvPr>
            <p:ph type="title"/>
          </p:nvPr>
        </p:nvSpPr>
        <p:spPr/>
        <p:txBody>
          <a:bodyPr>
            <a:normAutofit fontScale="90000"/>
          </a:bodyPr>
          <a:lstStyle/>
          <a:p>
            <a:endParaRPr lang="en-IN"/>
          </a:p>
        </p:txBody>
      </p:sp>
      <p:pic>
        <p:nvPicPr>
          <p:cNvPr id="3074" name="Picture 2">
            <a:extLst>
              <a:ext uri="{FF2B5EF4-FFF2-40B4-BE49-F238E27FC236}">
                <a16:creationId xmlns:a16="http://schemas.microsoft.com/office/drawing/2014/main" id="{0C968F90-D9F3-8AA2-97D3-0902E95CC2F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03924" y="1960880"/>
            <a:ext cx="10280318" cy="3638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1007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0256E-A1D7-81AD-B61E-F4ACFEC81FF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9D9FAB-561C-234E-46BC-3498591D81CA}"/>
                  </a:ext>
                </a:extLst>
              </p:cNvPr>
              <p:cNvSpPr>
                <a:spLocks noGrp="1"/>
              </p:cNvSpPr>
              <p:nvPr>
                <p:ph idx="1"/>
              </p:nvPr>
            </p:nvSpPr>
            <p:spPr/>
            <p:txBody>
              <a:bodyPr/>
              <a:lstStyle/>
              <a:p>
                <a:pPr fontAlgn="base"/>
                <a:r>
                  <a:rPr lang="en-IN" b="1" dirty="0"/>
                  <a:t>3. Global Pooling</a:t>
                </a:r>
              </a:p>
              <a:p>
                <a:pPr fontAlgn="base"/>
                <a:r>
                  <a:rPr lang="en-IN" dirty="0"/>
                  <a:t>Global pooling reduces each channel in the feature map to a single value, producing a </a:t>
                </a:r>
                <a14:m>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1</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𝑐</m:t>
                        </m:r>
                      </m:sub>
                    </m:sSub>
                  </m:oMath>
                </a14:m>
                <a:r>
                  <a:rPr lang="ar-AE" dirty="0"/>
                  <a:t> </a:t>
                </a:r>
                <a:r>
                  <a:rPr lang="en-IN" dirty="0"/>
                  <a:t>output. This is equivalent to applying a filter of size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h</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𝑤</m:t>
                        </m:r>
                      </m:sub>
                    </m:sSub>
                  </m:oMath>
                </a14:m>
                <a:r>
                  <a:rPr lang="ar-AE" dirty="0"/>
                  <a:t>. </a:t>
                </a:r>
              </a:p>
              <a:p>
                <a:pPr fontAlgn="base"/>
                <a:r>
                  <a:rPr lang="en-IN" dirty="0"/>
                  <a:t>There are two types of global pooling:</a:t>
                </a:r>
              </a:p>
              <a:p>
                <a:pPr fontAlgn="base"/>
                <a:r>
                  <a:rPr lang="en-IN" b="1" dirty="0"/>
                  <a:t>Global Max Pooling</a:t>
                </a:r>
                <a:r>
                  <a:rPr lang="en-IN" dirty="0"/>
                  <a:t>: Takes the maximum value across the entire feature map.</a:t>
                </a:r>
              </a:p>
              <a:p>
                <a:pPr fontAlgn="base"/>
                <a:r>
                  <a:rPr lang="en-IN" b="1" dirty="0"/>
                  <a:t>Global Average Pooling</a:t>
                </a:r>
                <a:r>
                  <a:rPr lang="en-IN" dirty="0"/>
                  <a:t>: Computes the average of all values in the feature map.</a:t>
                </a:r>
              </a:p>
              <a:p>
                <a:endParaRPr lang="en-IN" dirty="0"/>
              </a:p>
            </p:txBody>
          </p:sp>
        </mc:Choice>
        <mc:Fallback xmlns="">
          <p:sp>
            <p:nvSpPr>
              <p:cNvPr id="3" name="Content Placeholder 2">
                <a:extLst>
                  <a:ext uri="{FF2B5EF4-FFF2-40B4-BE49-F238E27FC236}">
                    <a16:creationId xmlns:a16="http://schemas.microsoft.com/office/drawing/2014/main" id="{6C9D9FAB-561C-234E-46BC-3498591D81CA}"/>
                  </a:ext>
                </a:extLst>
              </p:cNvPr>
              <p:cNvSpPr>
                <a:spLocks noGrp="1" noRot="1" noChangeAspect="1" noMove="1" noResize="1" noEditPoints="1" noAdjustHandles="1" noChangeArrowheads="1" noChangeShapeType="1" noTextEdit="1"/>
              </p:cNvSpPr>
              <p:nvPr>
                <p:ph idx="1"/>
              </p:nvPr>
            </p:nvSpPr>
            <p:spPr>
              <a:blipFill>
                <a:blip r:embed="rId2"/>
                <a:stretch>
                  <a:fillRect l="-1758" t="-2023" r="-667"/>
                </a:stretch>
              </a:blipFill>
            </p:spPr>
            <p:txBody>
              <a:bodyPr/>
              <a:lstStyle/>
              <a:p>
                <a:r>
                  <a:rPr lang="en-IN">
                    <a:noFill/>
                  </a:rPr>
                  <a:t> </a:t>
                </a:r>
              </a:p>
            </p:txBody>
          </p:sp>
        </mc:Fallback>
      </mc:AlternateContent>
    </p:spTree>
    <p:extLst>
      <p:ext uri="{BB962C8B-B14F-4D97-AF65-F5344CB8AC3E}">
        <p14:creationId xmlns:p14="http://schemas.microsoft.com/office/powerpoint/2010/main" val="19531605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D71B2-BC43-156C-A9D5-7A6123C42BE1}"/>
              </a:ext>
            </a:extLst>
          </p:cNvPr>
          <p:cNvSpPr>
            <a:spLocks noGrp="1"/>
          </p:cNvSpPr>
          <p:nvPr>
            <p:ph type="title"/>
          </p:nvPr>
        </p:nvSpPr>
        <p:spPr/>
        <p:txBody>
          <a:bodyPr>
            <a:normAutofit fontScale="90000"/>
          </a:bodyPr>
          <a:lstStyle/>
          <a:p>
            <a:r>
              <a:rPr lang="en-US" dirty="0"/>
              <a:t>How Pooling Layers Work?</a:t>
            </a:r>
            <a:endParaRPr lang="en-IN" dirty="0"/>
          </a:p>
        </p:txBody>
      </p:sp>
      <p:sp>
        <p:nvSpPr>
          <p:cNvPr id="3" name="Content Placeholder 2">
            <a:extLst>
              <a:ext uri="{FF2B5EF4-FFF2-40B4-BE49-F238E27FC236}">
                <a16:creationId xmlns:a16="http://schemas.microsoft.com/office/drawing/2014/main" id="{B733D103-74B2-0550-09F2-22A16DC7E649}"/>
              </a:ext>
            </a:extLst>
          </p:cNvPr>
          <p:cNvSpPr>
            <a:spLocks noGrp="1"/>
          </p:cNvSpPr>
          <p:nvPr>
            <p:ph idx="1"/>
          </p:nvPr>
        </p:nvSpPr>
        <p:spPr/>
        <p:txBody>
          <a:bodyPr>
            <a:normAutofit/>
          </a:bodyPr>
          <a:lstStyle/>
          <a:p>
            <a:pPr fontAlgn="base"/>
            <a:r>
              <a:rPr lang="en-US" b="1" dirty="0"/>
              <a:t>Define a Pooling Window (Filter)</a:t>
            </a:r>
            <a:r>
              <a:rPr lang="en-US" dirty="0"/>
              <a:t>: The size of the pooling window (e.g., 2x2) is chosen, along with a stride (the step size by which the window moves). A common choice is </a:t>
            </a:r>
            <a:r>
              <a:rPr lang="en-US" b="1" dirty="0"/>
              <a:t>a 2x2 window with a stride of 2,</a:t>
            </a:r>
            <a:r>
              <a:rPr lang="en-US" dirty="0"/>
              <a:t> which reduces the feature map size by half.</a:t>
            </a:r>
          </a:p>
          <a:p>
            <a:pPr fontAlgn="base"/>
            <a:r>
              <a:rPr lang="en-US" b="1" dirty="0"/>
              <a:t>Slide the Window Over the Input</a:t>
            </a:r>
            <a:r>
              <a:rPr lang="en-US" dirty="0"/>
              <a:t>: The pooling operation is applied to each region of the input feature map covered by the window.</a:t>
            </a:r>
          </a:p>
          <a:p>
            <a:pPr fontAlgn="base"/>
            <a:r>
              <a:rPr lang="en-US" b="1" dirty="0"/>
              <a:t>Apply the Pooling Operation</a:t>
            </a:r>
            <a:r>
              <a:rPr lang="en-US" dirty="0"/>
              <a:t>: Depending on the type of pooling (max, average, etc.), the operation extracts the required value from each window.</a:t>
            </a:r>
          </a:p>
          <a:p>
            <a:pPr fontAlgn="base"/>
            <a:r>
              <a:rPr lang="en-US" b="1" dirty="0"/>
              <a:t>Output the </a:t>
            </a:r>
            <a:r>
              <a:rPr lang="en-US" b="1" dirty="0" err="1"/>
              <a:t>Downsampled</a:t>
            </a:r>
            <a:r>
              <a:rPr lang="en-US" b="1" dirty="0"/>
              <a:t> Feature Map</a:t>
            </a:r>
            <a:r>
              <a:rPr lang="en-US" dirty="0"/>
              <a:t>: The result is a smaller feature map that retains the most important information.</a:t>
            </a:r>
          </a:p>
          <a:p>
            <a:endParaRPr lang="en-IN" dirty="0"/>
          </a:p>
        </p:txBody>
      </p:sp>
    </p:spTree>
    <p:extLst>
      <p:ext uri="{BB962C8B-B14F-4D97-AF65-F5344CB8AC3E}">
        <p14:creationId xmlns:p14="http://schemas.microsoft.com/office/powerpoint/2010/main" val="27441300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FEA89-2EE7-52E3-8BD5-403C52AC45AE}"/>
              </a:ext>
            </a:extLst>
          </p:cNvPr>
          <p:cNvSpPr>
            <a:spLocks noGrp="1"/>
          </p:cNvSpPr>
          <p:nvPr>
            <p:ph type="title"/>
          </p:nvPr>
        </p:nvSpPr>
        <p:spPr/>
        <p:txBody>
          <a:bodyPr>
            <a:normAutofit fontScale="90000"/>
          </a:bodyPr>
          <a:lstStyle/>
          <a:p>
            <a:r>
              <a:rPr lang="en-US" dirty="0"/>
              <a:t>Flatten</a:t>
            </a:r>
            <a:endParaRPr lang="en-IN" dirty="0"/>
          </a:p>
        </p:txBody>
      </p:sp>
      <p:sp>
        <p:nvSpPr>
          <p:cNvPr id="3" name="Content Placeholder 2">
            <a:extLst>
              <a:ext uri="{FF2B5EF4-FFF2-40B4-BE49-F238E27FC236}">
                <a16:creationId xmlns:a16="http://schemas.microsoft.com/office/drawing/2014/main" id="{8851A336-4B98-DADA-7AAE-49FE23E1127D}"/>
              </a:ext>
            </a:extLst>
          </p:cNvPr>
          <p:cNvSpPr>
            <a:spLocks noGrp="1"/>
          </p:cNvSpPr>
          <p:nvPr>
            <p:ph idx="1"/>
          </p:nvPr>
        </p:nvSpPr>
        <p:spPr>
          <a:xfrm>
            <a:off x="1025842" y="1503123"/>
            <a:ext cx="10201275" cy="4623147"/>
          </a:xfrm>
        </p:spPr>
        <p:txBody>
          <a:bodyPr/>
          <a:lstStyle/>
          <a:p>
            <a:r>
              <a:rPr lang="en-US" dirty="0"/>
              <a:t>Flattening is used to convert all the resultant 2-Dimensional arrays from pooled feature maps into a single long continuous linear vector. </a:t>
            </a:r>
          </a:p>
          <a:p>
            <a:r>
              <a:rPr lang="en-US" dirty="0"/>
              <a:t>The flattened matrix is fed as input to the fully connected layer to classify the image.</a:t>
            </a:r>
          </a:p>
          <a:p>
            <a:endParaRPr lang="en-IN" dirty="0"/>
          </a:p>
        </p:txBody>
      </p:sp>
      <p:pic>
        <p:nvPicPr>
          <p:cNvPr id="5" name="Picture 4">
            <a:extLst>
              <a:ext uri="{FF2B5EF4-FFF2-40B4-BE49-F238E27FC236}">
                <a16:creationId xmlns:a16="http://schemas.microsoft.com/office/drawing/2014/main" id="{B881AC18-0418-C103-D95F-3F1C439B8609}"/>
              </a:ext>
            </a:extLst>
          </p:cNvPr>
          <p:cNvPicPr>
            <a:picLocks noChangeAspect="1"/>
          </p:cNvPicPr>
          <p:nvPr/>
        </p:nvPicPr>
        <p:blipFill>
          <a:blip r:embed="rId2"/>
          <a:stretch>
            <a:fillRect/>
          </a:stretch>
        </p:blipFill>
        <p:spPr>
          <a:xfrm>
            <a:off x="3095153" y="3021651"/>
            <a:ext cx="5059292" cy="2887557"/>
          </a:xfrm>
          <a:prstGeom prst="rect">
            <a:avLst/>
          </a:prstGeom>
        </p:spPr>
      </p:pic>
    </p:spTree>
    <p:extLst>
      <p:ext uri="{BB962C8B-B14F-4D97-AF65-F5344CB8AC3E}">
        <p14:creationId xmlns:p14="http://schemas.microsoft.com/office/powerpoint/2010/main" val="21325103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C52BB-A651-1D20-6452-110695C3BC6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1F9B3EF-E4D8-11FA-AC91-AA2168928D20}"/>
              </a:ext>
            </a:extLst>
          </p:cNvPr>
          <p:cNvSpPr>
            <a:spLocks noGrp="1"/>
          </p:cNvSpPr>
          <p:nvPr>
            <p:ph idx="1"/>
          </p:nvPr>
        </p:nvSpPr>
        <p:spPr>
          <a:xfrm>
            <a:off x="1168717" y="1515291"/>
            <a:ext cx="10058400" cy="4610979"/>
          </a:xfrm>
        </p:spPr>
        <p:txBody>
          <a:bodyPr>
            <a:normAutofit fontScale="92500" lnSpcReduction="20000"/>
          </a:bodyPr>
          <a:lstStyle/>
          <a:p>
            <a:pPr fontAlgn="base"/>
            <a:r>
              <a:rPr lang="en-US" dirty="0"/>
              <a:t>There are three variants of pooling operation depending on roots of regularization technique:</a:t>
            </a:r>
          </a:p>
          <a:p>
            <a:pPr fontAlgn="base"/>
            <a:r>
              <a:rPr lang="en-US" b="1" dirty="0"/>
              <a:t>Stochastic pooling</a:t>
            </a:r>
            <a:r>
              <a:rPr lang="en-US" dirty="0"/>
              <a:t>: Randomly picked activation within each pooling region is considered than deterministic pooling operations for regularization of the network. Stochastic pooling performs reduction of feature size but denies role for selecting features judiciously for the sake of regularization. Although clipping of negative output from </a:t>
            </a:r>
            <a:r>
              <a:rPr lang="en-US" dirty="0" err="1"/>
              <a:t>ReLU</a:t>
            </a:r>
            <a:r>
              <a:rPr lang="en-US" dirty="0"/>
              <a:t> activation helps to carry some of the selection responsibility.</a:t>
            </a:r>
          </a:p>
          <a:p>
            <a:pPr fontAlgn="base"/>
            <a:r>
              <a:rPr lang="en-US" b="1" dirty="0"/>
              <a:t>Overlapping pooling</a:t>
            </a:r>
            <a:r>
              <a:rPr lang="en-US" dirty="0"/>
              <a:t>: Overlapping pooling operation shares responsibility of local connection beyond the size of previous convolutional filter, which breaks orthogonal responsibility between pooling layer and convolutional layer. So, no information is gained if pooling windows overlap</a:t>
            </a:r>
          </a:p>
          <a:p>
            <a:pPr fontAlgn="base"/>
            <a:r>
              <a:rPr lang="en-US" b="1" dirty="0"/>
              <a:t>Fractional </a:t>
            </a:r>
            <a:r>
              <a:rPr lang="en-US" b="1" dirty="0" err="1"/>
              <a:t>pooling</a:t>
            </a:r>
            <a:r>
              <a:rPr lang="en-US" dirty="0" err="1"/>
              <a:t>:Reduction</a:t>
            </a:r>
            <a:r>
              <a:rPr lang="en-US" dirty="0"/>
              <a:t> ratio of filter size due to pooling can be controlled by a fractional pooling concept, which helps to increase the depth of the network. Unlike stochastic pooling, the randomness is related to the choice of pooling regions, not the way pooling is performed inside each of the pooling regions.</a:t>
            </a:r>
          </a:p>
          <a:p>
            <a:endParaRPr lang="en-IN" dirty="0"/>
          </a:p>
        </p:txBody>
      </p:sp>
    </p:spTree>
    <p:extLst>
      <p:ext uri="{BB962C8B-B14F-4D97-AF65-F5344CB8AC3E}">
        <p14:creationId xmlns:p14="http://schemas.microsoft.com/office/powerpoint/2010/main" val="34873343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F942B-3A3D-6F5E-0B00-A36D7F5802D2}"/>
              </a:ext>
            </a:extLst>
          </p:cNvPr>
          <p:cNvSpPr>
            <a:spLocks noGrp="1"/>
          </p:cNvSpPr>
          <p:nvPr>
            <p:ph type="title"/>
          </p:nvPr>
        </p:nvSpPr>
        <p:spPr/>
        <p:txBody>
          <a:bodyPr>
            <a:normAutofit fontScale="90000"/>
          </a:bodyPr>
          <a:lstStyle/>
          <a:p>
            <a:r>
              <a:rPr lang="en-US" dirty="0"/>
              <a:t>Overlapping pooling</a:t>
            </a:r>
            <a:endParaRPr lang="en-IN" dirty="0"/>
          </a:p>
        </p:txBody>
      </p:sp>
      <p:sp>
        <p:nvSpPr>
          <p:cNvPr id="3" name="Content Placeholder 2">
            <a:extLst>
              <a:ext uri="{FF2B5EF4-FFF2-40B4-BE49-F238E27FC236}">
                <a16:creationId xmlns:a16="http://schemas.microsoft.com/office/drawing/2014/main" id="{55FD5FF2-692C-67C0-F373-5B01C63BBFF5}"/>
              </a:ext>
            </a:extLst>
          </p:cNvPr>
          <p:cNvSpPr>
            <a:spLocks noGrp="1"/>
          </p:cNvSpPr>
          <p:nvPr>
            <p:ph idx="1"/>
          </p:nvPr>
        </p:nvSpPr>
        <p:spPr/>
        <p:txBody>
          <a:bodyPr/>
          <a:lstStyle/>
          <a:p>
            <a:r>
              <a:rPr lang="en-US" dirty="0"/>
              <a:t>Overlapping pooling occurs when the stride (S) is smaller than the pooling window size (F).</a:t>
            </a:r>
            <a:br>
              <a:rPr lang="en-US" dirty="0"/>
            </a:br>
            <a:endParaRPr lang="en-US" dirty="0"/>
          </a:p>
          <a:p>
            <a:r>
              <a:rPr lang="en-US" dirty="0"/>
              <a:t>This causes successive pooling windows to share common input elements, i.e., they overlap.</a:t>
            </a:r>
          </a:p>
          <a:p>
            <a:r>
              <a:rPr lang="en-IN" b="1" dirty="0"/>
              <a:t>                       S&lt;F ⇒ Overlapping Pooling​</a:t>
            </a:r>
          </a:p>
        </p:txBody>
      </p:sp>
    </p:spTree>
    <p:extLst>
      <p:ext uri="{BB962C8B-B14F-4D97-AF65-F5344CB8AC3E}">
        <p14:creationId xmlns:p14="http://schemas.microsoft.com/office/powerpoint/2010/main" val="27702160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80FBB-9728-99A4-7944-C9DA2354373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267146E-A9C0-9D08-D65B-5567A94F7718}"/>
              </a:ext>
            </a:extLst>
          </p:cNvPr>
          <p:cNvSpPr>
            <a:spLocks noGrp="1"/>
          </p:cNvSpPr>
          <p:nvPr>
            <p:ph idx="1"/>
          </p:nvPr>
        </p:nvSpPr>
        <p:spPr>
          <a:xfrm>
            <a:off x="1168717" y="1658983"/>
            <a:ext cx="10058400" cy="4467287"/>
          </a:xfrm>
        </p:spPr>
        <p:txBody>
          <a:bodyPr/>
          <a:lstStyle/>
          <a:p>
            <a:r>
              <a:rPr lang="en-US" b="1" dirty="0"/>
              <a:t>Why Overlapping Pooling is Used</a:t>
            </a:r>
          </a:p>
          <a:p>
            <a:r>
              <a:rPr lang="en-US" dirty="0"/>
              <a:t>Preserves </a:t>
            </a:r>
            <a:r>
              <a:rPr lang="en-US" b="1" dirty="0"/>
              <a:t>more spatial information</a:t>
            </a:r>
            <a:r>
              <a:rPr lang="en-US" dirty="0"/>
              <a:t> than non-overlapping pooling</a:t>
            </a:r>
          </a:p>
          <a:p>
            <a:r>
              <a:rPr lang="en-US" dirty="0"/>
              <a:t>Produces </a:t>
            </a:r>
            <a:r>
              <a:rPr lang="en-US" b="1" dirty="0"/>
              <a:t>smoother feature maps</a:t>
            </a:r>
            <a:endParaRPr lang="en-US" dirty="0"/>
          </a:p>
          <a:p>
            <a:r>
              <a:rPr lang="en-US" dirty="0"/>
              <a:t>Helps reduce </a:t>
            </a:r>
            <a:r>
              <a:rPr lang="en-US" b="1" dirty="0"/>
              <a:t>over-aggressive information loss</a:t>
            </a:r>
            <a:endParaRPr lang="en-US" dirty="0"/>
          </a:p>
          <a:p>
            <a:endParaRPr lang="en-IN" dirty="0"/>
          </a:p>
        </p:txBody>
      </p:sp>
      <p:graphicFrame>
        <p:nvGraphicFramePr>
          <p:cNvPr id="4" name="Table 3">
            <a:extLst>
              <a:ext uri="{FF2B5EF4-FFF2-40B4-BE49-F238E27FC236}">
                <a16:creationId xmlns:a16="http://schemas.microsoft.com/office/drawing/2014/main" id="{C95AC1DC-51A3-FED8-C55E-74378EA65959}"/>
              </a:ext>
            </a:extLst>
          </p:cNvPr>
          <p:cNvGraphicFramePr>
            <a:graphicFrameLocks noGrp="1"/>
          </p:cNvGraphicFramePr>
          <p:nvPr>
            <p:extLst>
              <p:ext uri="{D42A27DB-BD31-4B8C-83A1-F6EECF244321}">
                <p14:modId xmlns:p14="http://schemas.microsoft.com/office/powerpoint/2010/main" val="1966832798"/>
              </p:ext>
            </p:extLst>
          </p:nvPr>
        </p:nvGraphicFramePr>
        <p:xfrm>
          <a:off x="2840763" y="3892626"/>
          <a:ext cx="5950539" cy="1828800"/>
        </p:xfrm>
        <a:graphic>
          <a:graphicData uri="http://schemas.openxmlformats.org/drawingml/2006/table">
            <a:tbl>
              <a:tblPr/>
              <a:tblGrid>
                <a:gridCol w="1983513">
                  <a:extLst>
                    <a:ext uri="{9D8B030D-6E8A-4147-A177-3AD203B41FA5}">
                      <a16:colId xmlns:a16="http://schemas.microsoft.com/office/drawing/2014/main" val="1383734051"/>
                    </a:ext>
                  </a:extLst>
                </a:gridCol>
                <a:gridCol w="1983513">
                  <a:extLst>
                    <a:ext uri="{9D8B030D-6E8A-4147-A177-3AD203B41FA5}">
                      <a16:colId xmlns:a16="http://schemas.microsoft.com/office/drawing/2014/main" val="2664851680"/>
                    </a:ext>
                  </a:extLst>
                </a:gridCol>
                <a:gridCol w="1983513">
                  <a:extLst>
                    <a:ext uri="{9D8B030D-6E8A-4147-A177-3AD203B41FA5}">
                      <a16:colId xmlns:a16="http://schemas.microsoft.com/office/drawing/2014/main" val="1608014860"/>
                    </a:ext>
                  </a:extLst>
                </a:gridCol>
              </a:tblGrid>
              <a:tr h="252481">
                <a:tc>
                  <a:txBody>
                    <a:bodyPr/>
                    <a:lstStyle/>
                    <a:p>
                      <a:pPr>
                        <a:buNone/>
                      </a:pPr>
                      <a:r>
                        <a:rPr lang="en-IN" sz="2400"/>
                        <a:t>Pool size (F×F)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Stride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Overlap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4805359"/>
                  </a:ext>
                </a:extLst>
              </a:tr>
              <a:tr h="252481">
                <a:tc>
                  <a:txBody>
                    <a:bodyPr/>
                    <a:lstStyle/>
                    <a:p>
                      <a:pPr>
                        <a:buNone/>
                      </a:pPr>
                      <a:r>
                        <a:rPr lang="en-IN" sz="2400"/>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No overlap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9899309"/>
                  </a:ext>
                </a:extLst>
              </a:tr>
              <a:tr h="252481">
                <a:tc>
                  <a:txBody>
                    <a:bodyPr/>
                    <a:lstStyle/>
                    <a:p>
                      <a:pPr>
                        <a:buNone/>
                      </a:pPr>
                      <a:r>
                        <a:rPr lang="en-IN" sz="2400"/>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Partial overlap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4081262"/>
                  </a:ext>
                </a:extLst>
              </a:tr>
              <a:tr h="252481">
                <a:tc>
                  <a:txBody>
                    <a:bodyPr/>
                    <a:lstStyle/>
                    <a:p>
                      <a:pPr>
                        <a:buNone/>
                      </a:pPr>
                      <a:r>
                        <a:rPr lang="en-IN" sz="2400"/>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Heavy overlap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5614290"/>
                  </a:ext>
                </a:extLst>
              </a:tr>
            </a:tbl>
          </a:graphicData>
        </a:graphic>
      </p:graphicFrame>
    </p:spTree>
    <p:extLst>
      <p:ext uri="{BB962C8B-B14F-4D97-AF65-F5344CB8AC3E}">
        <p14:creationId xmlns:p14="http://schemas.microsoft.com/office/powerpoint/2010/main" val="34791998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D6D5F-039E-229F-9193-EBD38AE209F9}"/>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0592B7-2B05-7799-2672-A4B71F174C9F}"/>
                  </a:ext>
                </a:extLst>
              </p:cNvPr>
              <p:cNvSpPr>
                <a:spLocks noGrp="1"/>
              </p:cNvSpPr>
              <p:nvPr>
                <p:ph idx="1"/>
              </p:nvPr>
            </p:nvSpPr>
            <p:spPr/>
            <p:txBody>
              <a:bodyPr/>
              <a:lstStyle/>
              <a:p>
                <a:r>
                  <a:rPr lang="en-IN" b="1" dirty="0"/>
                  <a:t>Example : Max Pooling (Overlapping)</a:t>
                </a:r>
              </a:p>
              <a:p>
                <a:r>
                  <a:rPr lang="en-IN" b="1" dirty="0"/>
                  <a:t>Given</a:t>
                </a:r>
                <a:endParaRPr lang="en-IN" dirty="0"/>
              </a:p>
              <a:p>
                <a:r>
                  <a:rPr lang="en-IN" dirty="0"/>
                  <a:t>Input (1D for clarity):</a:t>
                </a:r>
              </a:p>
              <a:p>
                <a14:m>
                  <m:oMath xmlns:m="http://schemas.openxmlformats.org/officeDocument/2006/math">
                    <m:d>
                      <m:dPr>
                        <m:begChr m:val="["/>
                        <m:endChr m:val="]"/>
                        <m:ctrlPr>
                          <a:rPr lang="ar-AE" i="1">
                            <a:latin typeface="Cambria Math" panose="02040503050406030204" pitchFamily="18" charset="0"/>
                          </a:rPr>
                        </m:ctrlPr>
                      </m:dPr>
                      <m:e>
                        <m:r>
                          <a:rPr lang="ar-AE">
                            <a:latin typeface="Cambria Math" panose="02040503050406030204" pitchFamily="18" charset="0"/>
                          </a:rPr>
                          <m:t>1</m:t>
                        </m:r>
                        <m:r>
                          <m:rPr>
                            <m:nor/>
                          </m:rPr>
                          <a:rPr lang="ar-AE" i="1"/>
                          <m:t>  </m:t>
                        </m:r>
                        <m:r>
                          <a:rPr lang="ar-AE">
                            <a:latin typeface="Cambria Math" panose="02040503050406030204" pitchFamily="18" charset="0"/>
                          </a:rPr>
                          <m:t>3</m:t>
                        </m:r>
                        <m:r>
                          <m:rPr>
                            <m:nor/>
                          </m:rPr>
                          <a:rPr lang="ar-AE" i="1"/>
                          <m:t>  </m:t>
                        </m:r>
                        <m:r>
                          <a:rPr lang="ar-AE">
                            <a:latin typeface="Cambria Math" panose="02040503050406030204" pitchFamily="18" charset="0"/>
                          </a:rPr>
                          <m:t>2</m:t>
                        </m:r>
                        <m:r>
                          <m:rPr>
                            <m:nor/>
                          </m:rPr>
                          <a:rPr lang="ar-AE" i="1"/>
                          <m:t>  </m:t>
                        </m:r>
                        <m:r>
                          <a:rPr lang="ar-AE">
                            <a:latin typeface="Cambria Math" panose="02040503050406030204" pitchFamily="18" charset="0"/>
                          </a:rPr>
                          <m:t>4</m:t>
                        </m:r>
                        <m:r>
                          <m:rPr>
                            <m:nor/>
                          </m:rPr>
                          <a:rPr lang="ar-AE" i="1"/>
                          <m:t>  </m:t>
                        </m:r>
                        <m:r>
                          <a:rPr lang="ar-AE">
                            <a:latin typeface="Cambria Math" panose="02040503050406030204" pitchFamily="18" charset="0"/>
                          </a:rPr>
                          <m:t>6</m:t>
                        </m:r>
                      </m:e>
                    </m:d>
                  </m:oMath>
                </a14:m>
                <a:endParaRPr lang="ar-AE" b="0" dirty="0"/>
              </a:p>
              <a:p>
                <a:r>
                  <a:rPr lang="en-IN" dirty="0"/>
                  <a:t>Pool size </a:t>
                </a:r>
                <a14:m>
                  <m:oMath xmlns:m="http://schemas.openxmlformats.org/officeDocument/2006/math">
                    <m:r>
                      <a:rPr lang="en-IN" i="1">
                        <a:latin typeface="Cambria Math" panose="02040503050406030204" pitchFamily="18" charset="0"/>
                      </a:rPr>
                      <m:t>𝐹</m:t>
                    </m:r>
                    <m:r>
                      <a:rPr lang="en-IN">
                        <a:latin typeface="Cambria Math" panose="02040503050406030204" pitchFamily="18" charset="0"/>
                      </a:rPr>
                      <m:t>=</m:t>
                    </m:r>
                    <m:r>
                      <a:rPr lang="en-IN">
                        <a:latin typeface="Cambria Math" panose="02040503050406030204" pitchFamily="18" charset="0"/>
                      </a:rPr>
                      <m:t>3</m:t>
                    </m:r>
                  </m:oMath>
                </a14:m>
                <a:endParaRPr lang="en-IN" dirty="0"/>
              </a:p>
              <a:p>
                <a:r>
                  <a:rPr lang="en-IN" dirty="0"/>
                  <a:t>Stride </a:t>
                </a:r>
                <a14:m>
                  <m:oMath xmlns:m="http://schemas.openxmlformats.org/officeDocument/2006/math">
                    <m:r>
                      <a:rPr lang="en-IN" i="1">
                        <a:latin typeface="Cambria Math" panose="02040503050406030204" pitchFamily="18" charset="0"/>
                      </a:rPr>
                      <m:t>𝑆</m:t>
                    </m:r>
                    <m:r>
                      <a:rPr lang="en-IN">
                        <a:latin typeface="Cambria Math" panose="02040503050406030204" pitchFamily="18" charset="0"/>
                      </a:rPr>
                      <m:t>=</m:t>
                    </m:r>
                    <m:r>
                      <a:rPr lang="en-IN">
                        <a:latin typeface="Cambria Math" panose="02040503050406030204" pitchFamily="18" charset="0"/>
                      </a:rPr>
                      <m:t>1</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7D0592B7-2B05-7799-2672-A4B71F174C9F}"/>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graphicFrame>
        <p:nvGraphicFramePr>
          <p:cNvPr id="5" name="Table 4">
            <a:extLst>
              <a:ext uri="{FF2B5EF4-FFF2-40B4-BE49-F238E27FC236}">
                <a16:creationId xmlns:a16="http://schemas.microsoft.com/office/drawing/2014/main" id="{7CC08BCD-3CD3-63F8-2917-E58E3DB26058}"/>
              </a:ext>
            </a:extLst>
          </p:cNvPr>
          <p:cNvGraphicFramePr>
            <a:graphicFrameLocks noGrp="1"/>
          </p:cNvGraphicFramePr>
          <p:nvPr>
            <p:extLst>
              <p:ext uri="{D42A27DB-BD31-4B8C-83A1-F6EECF244321}">
                <p14:modId xmlns:p14="http://schemas.microsoft.com/office/powerpoint/2010/main" val="6301772"/>
              </p:ext>
            </p:extLst>
          </p:nvPr>
        </p:nvGraphicFramePr>
        <p:xfrm>
          <a:off x="6413863" y="2913017"/>
          <a:ext cx="4813254" cy="1828800"/>
        </p:xfrm>
        <a:graphic>
          <a:graphicData uri="http://schemas.openxmlformats.org/drawingml/2006/table">
            <a:tbl>
              <a:tblPr/>
              <a:tblGrid>
                <a:gridCol w="1604418">
                  <a:extLst>
                    <a:ext uri="{9D8B030D-6E8A-4147-A177-3AD203B41FA5}">
                      <a16:colId xmlns:a16="http://schemas.microsoft.com/office/drawing/2014/main" val="1020004404"/>
                    </a:ext>
                  </a:extLst>
                </a:gridCol>
                <a:gridCol w="1604418">
                  <a:extLst>
                    <a:ext uri="{9D8B030D-6E8A-4147-A177-3AD203B41FA5}">
                      <a16:colId xmlns:a16="http://schemas.microsoft.com/office/drawing/2014/main" val="2233374909"/>
                    </a:ext>
                  </a:extLst>
                </a:gridCol>
                <a:gridCol w="1604418">
                  <a:extLst>
                    <a:ext uri="{9D8B030D-6E8A-4147-A177-3AD203B41FA5}">
                      <a16:colId xmlns:a16="http://schemas.microsoft.com/office/drawing/2014/main" val="2548484446"/>
                    </a:ext>
                  </a:extLst>
                </a:gridCol>
              </a:tblGrid>
              <a:tr h="405969">
                <a:tc>
                  <a:txBody>
                    <a:bodyPr/>
                    <a:lstStyle/>
                    <a:p>
                      <a:pPr>
                        <a:buNone/>
                      </a:pPr>
                      <a:r>
                        <a:rPr lang="en-IN" sz="2400"/>
                        <a:t>Window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Elements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4620859"/>
                  </a:ext>
                </a:extLst>
              </a:tr>
              <a:tr h="405969">
                <a:tc>
                  <a:txBody>
                    <a:bodyPr/>
                    <a:lstStyle/>
                    <a:p>
                      <a:pPr>
                        <a:buNone/>
                      </a:pPr>
                      <a:r>
                        <a:rPr lang="en-IN" sz="24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228551"/>
                  </a:ext>
                </a:extLst>
              </a:tr>
              <a:tr h="405969">
                <a:tc>
                  <a:txBody>
                    <a:bodyPr/>
                    <a:lstStyle/>
                    <a:p>
                      <a:pPr>
                        <a:buNone/>
                      </a:pPr>
                      <a:r>
                        <a:rPr lang="en-IN" sz="2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{3,2,4}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0282775"/>
                  </a:ext>
                </a:extLst>
              </a:tr>
              <a:tr h="405969">
                <a:tc>
                  <a:txBody>
                    <a:bodyPr/>
                    <a:lstStyle/>
                    <a:p>
                      <a:pPr>
                        <a:buNone/>
                      </a:pPr>
                      <a:r>
                        <a:rPr lang="en-IN" sz="2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{2,4,6}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8681594"/>
                  </a:ext>
                </a:extLst>
              </a:tr>
            </a:tbl>
          </a:graphicData>
        </a:graphic>
      </p:graphicFrame>
    </p:spTree>
    <p:extLst>
      <p:ext uri="{BB962C8B-B14F-4D97-AF65-F5344CB8AC3E}">
        <p14:creationId xmlns:p14="http://schemas.microsoft.com/office/powerpoint/2010/main" val="29787039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85C4F-AB27-DC49-D688-53249DE87D0C}"/>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30274A-765A-C321-218E-E7A274369FF8}"/>
                  </a:ext>
                </a:extLst>
              </p:cNvPr>
              <p:cNvSpPr>
                <a:spLocks noGrp="1"/>
              </p:cNvSpPr>
              <p:nvPr>
                <p:ph idx="1"/>
              </p:nvPr>
            </p:nvSpPr>
            <p:spPr>
              <a:xfrm>
                <a:off x="1025842" y="1763486"/>
                <a:ext cx="10201275" cy="4362784"/>
              </a:xfrm>
            </p:spPr>
            <p:txBody>
              <a:bodyPr/>
              <a:lstStyle/>
              <a:p>
                <a:r>
                  <a:rPr lang="en-IN" b="1" dirty="0"/>
                  <a:t>Percentage of Overlap </a:t>
                </a:r>
              </a:p>
              <a:p>
                <a:r>
                  <a:rPr lang="en-IN" b="1" dirty="0"/>
                  <a:t>1D Overlap</a:t>
                </a:r>
              </a:p>
              <a:p>
                <a14:m>
                  <m:oMath xmlns:m="http://schemas.openxmlformats.org/officeDocument/2006/math">
                    <m:r>
                      <m:rPr>
                        <m:nor/>
                      </m:rPr>
                      <a:rPr lang="en-IN" b="0"/>
                      <m:t>Overlap</m:t>
                    </m:r>
                    <m:r>
                      <m:rPr>
                        <m:nor/>
                      </m:rPr>
                      <a:rPr lang="en-IN" b="0" i="1"/>
                      <m:t> </m:t>
                    </m:r>
                    <m:r>
                      <m:rPr>
                        <m:nor/>
                      </m:rPr>
                      <a:rPr lang="en-IN" b="0" i="1"/>
                      <m:t>%</m:t>
                    </m:r>
                    <m:r>
                      <a:rPr lang="en-IN">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𝐹</m:t>
                        </m:r>
                        <m:r>
                          <a:rPr lang="ar-AE">
                            <a:latin typeface="Cambria Math" panose="02040503050406030204" pitchFamily="18" charset="0"/>
                          </a:rPr>
                          <m:t>−</m:t>
                        </m:r>
                        <m:r>
                          <a:rPr lang="ar-AE" i="1">
                            <a:latin typeface="Cambria Math" panose="02040503050406030204" pitchFamily="18" charset="0"/>
                          </a:rPr>
                          <m:t>𝑆</m:t>
                        </m:r>
                      </m:num>
                      <m:den>
                        <m:r>
                          <a:rPr lang="ar-AE" i="1">
                            <a:latin typeface="Cambria Math" panose="02040503050406030204" pitchFamily="18" charset="0"/>
                          </a:rPr>
                          <m:t>𝐹</m:t>
                        </m:r>
                      </m:den>
                    </m:f>
                    <m:r>
                      <a:rPr lang="ar-AE">
                        <a:latin typeface="Cambria Math" panose="02040503050406030204" pitchFamily="18" charset="0"/>
                      </a:rPr>
                      <m:t>×</m:t>
                    </m:r>
                    <m:r>
                      <a:rPr lang="ar-AE">
                        <a:latin typeface="Cambria Math" panose="02040503050406030204" pitchFamily="18" charset="0"/>
                      </a:rPr>
                      <m:t>100</m:t>
                    </m:r>
                  </m:oMath>
                </a14:m>
                <a:endParaRPr lang="ar-AE" b="0" dirty="0"/>
              </a:p>
              <a:p>
                <a:r>
                  <a:rPr lang="ar-AE" b="1" dirty="0"/>
                  <a:t>2</a:t>
                </a:r>
                <a:r>
                  <a:rPr lang="en-IN" b="1" dirty="0"/>
                  <a:t>D Overlap</a:t>
                </a:r>
              </a:p>
              <a:p>
                <a:endParaRPr lang="en-IN" b="1" dirty="0"/>
              </a:p>
              <a:p>
                <a:r>
                  <a:rPr lang="en-IN" b="1" dirty="0"/>
                  <a:t> </a:t>
                </a:r>
                <a14:m>
                  <m:oMath xmlns:m="http://schemas.openxmlformats.org/officeDocument/2006/math">
                    <m:borderBox>
                      <m:borderBoxPr>
                        <m:ctrlPr>
                          <a:rPr lang="ar-AE" i="1">
                            <a:latin typeface="Cambria Math" panose="02040503050406030204" pitchFamily="18" charset="0"/>
                          </a:rPr>
                        </m:ctrlPr>
                      </m:borderBoxPr>
                      <m:e>
                        <m:r>
                          <m:rPr>
                            <m:nor/>
                          </m:rPr>
                          <a:rPr lang="en-IN" b="0"/>
                          <m:t>Overlap</m:t>
                        </m:r>
                        <m:r>
                          <m:rPr>
                            <m:nor/>
                          </m:rPr>
                          <a:rPr lang="en-IN" b="0" i="1"/>
                          <m:t> </m:t>
                        </m:r>
                        <m:r>
                          <m:rPr>
                            <m:nor/>
                          </m:rPr>
                          <a:rPr lang="en-IN" b="0" i="1"/>
                          <m:t>%</m:t>
                        </m:r>
                        <m:r>
                          <a:rPr lang="en-IN">
                            <a:latin typeface="Cambria Math" panose="02040503050406030204" pitchFamily="18" charset="0"/>
                          </a:rPr>
                          <m:t>=</m:t>
                        </m:r>
                        <m:sSup>
                          <m:sSupPr>
                            <m:ctrlPr>
                              <a:rPr lang="ar-AE" i="1">
                                <a:latin typeface="Cambria Math" panose="02040503050406030204" pitchFamily="18" charset="0"/>
                              </a:rPr>
                            </m:ctrlPr>
                          </m:sSupPr>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i="1">
                                        <a:latin typeface="Cambria Math" panose="02040503050406030204" pitchFamily="18" charset="0"/>
                                      </a:rPr>
                                      <m:t>𝐹</m:t>
                                    </m:r>
                                    <m:r>
                                      <a:rPr lang="ar-AE">
                                        <a:latin typeface="Cambria Math" panose="02040503050406030204" pitchFamily="18" charset="0"/>
                                      </a:rPr>
                                      <m:t>−</m:t>
                                    </m:r>
                                    <m:r>
                                      <a:rPr lang="ar-AE" i="1">
                                        <a:latin typeface="Cambria Math" panose="02040503050406030204" pitchFamily="18" charset="0"/>
                                      </a:rPr>
                                      <m:t>𝑆</m:t>
                                    </m:r>
                                  </m:num>
                                  <m:den>
                                    <m:r>
                                      <a:rPr lang="ar-AE" i="1">
                                        <a:latin typeface="Cambria Math" panose="02040503050406030204" pitchFamily="18" charset="0"/>
                                      </a:rPr>
                                      <m:t>𝐹</m:t>
                                    </m:r>
                                  </m:den>
                                </m:f>
                              </m:e>
                            </m:d>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100</m:t>
                        </m:r>
                      </m:e>
                    </m:borderBox>
                  </m:oMath>
                </a14:m>
                <a:endParaRPr lang="ar-AE" b="0" dirty="0"/>
              </a:p>
              <a:p>
                <a:endParaRPr lang="en-IN" dirty="0"/>
              </a:p>
            </p:txBody>
          </p:sp>
        </mc:Choice>
        <mc:Fallback xmlns="">
          <p:sp>
            <p:nvSpPr>
              <p:cNvPr id="3" name="Content Placeholder 2">
                <a:extLst>
                  <a:ext uri="{FF2B5EF4-FFF2-40B4-BE49-F238E27FC236}">
                    <a16:creationId xmlns:a16="http://schemas.microsoft.com/office/drawing/2014/main" id="{7C30274A-765A-C321-218E-E7A274369FF8}"/>
                  </a:ext>
                </a:extLst>
              </p:cNvPr>
              <p:cNvSpPr>
                <a:spLocks noGrp="1" noRot="1" noChangeAspect="1" noMove="1" noResize="1" noEditPoints="1" noAdjustHandles="1" noChangeArrowheads="1" noChangeShapeType="1" noTextEdit="1"/>
              </p:cNvSpPr>
              <p:nvPr>
                <p:ph idx="1"/>
              </p:nvPr>
            </p:nvSpPr>
            <p:spPr>
              <a:xfrm>
                <a:off x="1025842" y="1763486"/>
                <a:ext cx="10201275" cy="4362784"/>
              </a:xfrm>
              <a:blipFill>
                <a:blip r:embed="rId2"/>
                <a:stretch>
                  <a:fillRect l="-1673" t="-1955"/>
                </a:stretch>
              </a:blipFill>
            </p:spPr>
            <p:txBody>
              <a:bodyPr/>
              <a:lstStyle/>
              <a:p>
                <a:r>
                  <a:rPr lang="en-IN">
                    <a:noFill/>
                  </a:rPr>
                  <a:t> </a:t>
                </a:r>
              </a:p>
            </p:txBody>
          </p:sp>
        </mc:Fallback>
      </mc:AlternateContent>
    </p:spTree>
    <p:extLst>
      <p:ext uri="{BB962C8B-B14F-4D97-AF65-F5344CB8AC3E}">
        <p14:creationId xmlns:p14="http://schemas.microsoft.com/office/powerpoint/2010/main" val="39531717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67757-D79C-6509-B270-AA1A8528786C}"/>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AD693F-F536-0D8D-D86A-57E6E3EBFFBD}"/>
                  </a:ext>
                </a:extLst>
              </p:cNvPr>
              <p:cNvSpPr>
                <a:spLocks noGrp="1"/>
              </p:cNvSpPr>
              <p:nvPr>
                <p:ph idx="1"/>
              </p:nvPr>
            </p:nvSpPr>
            <p:spPr/>
            <p:txBody>
              <a:bodyPr/>
              <a:lstStyle/>
              <a:p>
                <a:r>
                  <a:rPr lang="en-IN" b="1" dirty="0"/>
                  <a:t>Total Pooling Regions in Overlapping Pooling</a:t>
                </a:r>
              </a:p>
              <a:p>
                <a14:m>
                  <m:oMath xmlns:m="http://schemas.openxmlformats.org/officeDocument/2006/math">
                    <m:r>
                      <m:rPr>
                        <m:nor/>
                      </m:rPr>
                      <a:rPr lang="en-IN" b="0"/>
                      <m:t>Total</m:t>
                    </m:r>
                    <m:r>
                      <m:rPr>
                        <m:nor/>
                      </m:rPr>
                      <a:rPr lang="en-IN" b="0" i="1"/>
                      <m:t> </m:t>
                    </m:r>
                    <m:r>
                      <m:rPr>
                        <m:nor/>
                      </m:rPr>
                      <a:rPr lang="en-IN" b="0" i="1"/>
                      <m:t>pooling</m:t>
                    </m:r>
                    <m:r>
                      <m:rPr>
                        <m:nor/>
                      </m:rPr>
                      <a:rPr lang="en-IN" b="0" i="1"/>
                      <m:t> </m:t>
                    </m:r>
                    <m:r>
                      <m:rPr>
                        <m:nor/>
                      </m:rPr>
                      <a:rPr lang="en-IN" b="0" i="1"/>
                      <m:t>regions</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1">
                            <a:latin typeface="Cambria Math" panose="02040503050406030204" pitchFamily="18" charset="0"/>
                          </a:rPr>
                          <m:t>𝑜𝑢𝑡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𝑜𝑢𝑡</m:t>
                        </m:r>
                      </m:sub>
                    </m:sSub>
                  </m:oMath>
                </a14:m>
                <a:endParaRPr lang="ar-AE" b="0" dirty="0"/>
              </a:p>
              <a:p>
                <a:r>
                  <a:rPr lang="en-IN" dirty="0"/>
                  <a:t>Overlapping pooling ⇒ </a:t>
                </a:r>
                <a:r>
                  <a:rPr lang="en-IN" b="1" dirty="0"/>
                  <a:t>More pooling regions</a:t>
                </a:r>
                <a:r>
                  <a:rPr lang="en-IN" dirty="0"/>
                  <a:t> ⇒ </a:t>
                </a:r>
                <a:r>
                  <a:rPr lang="en-IN" b="1" dirty="0"/>
                  <a:t>More retained information</a:t>
                </a:r>
                <a:endParaRPr lang="en-IN" dirty="0"/>
              </a:p>
              <a:p>
                <a:endParaRPr lang="en-IN" dirty="0"/>
              </a:p>
            </p:txBody>
          </p:sp>
        </mc:Choice>
        <mc:Fallback xmlns="">
          <p:sp>
            <p:nvSpPr>
              <p:cNvPr id="3" name="Content Placeholder 2">
                <a:extLst>
                  <a:ext uri="{FF2B5EF4-FFF2-40B4-BE49-F238E27FC236}">
                    <a16:creationId xmlns:a16="http://schemas.microsoft.com/office/drawing/2014/main" id="{18AD693F-F536-0D8D-D86A-57E6E3EBFFBD}"/>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30124190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B19C7-00B0-3DE7-184A-032F23C352D6}"/>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7DED77FB-A38B-BC86-A1BE-2DBD99307099}"/>
              </a:ext>
            </a:extLst>
          </p:cNvPr>
          <p:cNvGraphicFramePr>
            <a:graphicFrameLocks noGrp="1"/>
          </p:cNvGraphicFramePr>
          <p:nvPr>
            <p:ph idx="1"/>
            <p:extLst>
              <p:ext uri="{D42A27DB-BD31-4B8C-83A1-F6EECF244321}">
                <p14:modId xmlns:p14="http://schemas.microsoft.com/office/powerpoint/2010/main" val="4171394972"/>
              </p:ext>
            </p:extLst>
          </p:nvPr>
        </p:nvGraphicFramePr>
        <p:xfrm>
          <a:off x="914400" y="1515291"/>
          <a:ext cx="10312401" cy="4513560"/>
        </p:xfrm>
        <a:graphic>
          <a:graphicData uri="http://schemas.openxmlformats.org/drawingml/2006/table">
            <a:tbl>
              <a:tblPr/>
              <a:tblGrid>
                <a:gridCol w="3437467">
                  <a:extLst>
                    <a:ext uri="{9D8B030D-6E8A-4147-A177-3AD203B41FA5}">
                      <a16:colId xmlns:a16="http://schemas.microsoft.com/office/drawing/2014/main" val="2209583678"/>
                    </a:ext>
                  </a:extLst>
                </a:gridCol>
                <a:gridCol w="3437467">
                  <a:extLst>
                    <a:ext uri="{9D8B030D-6E8A-4147-A177-3AD203B41FA5}">
                      <a16:colId xmlns:a16="http://schemas.microsoft.com/office/drawing/2014/main" val="4237065178"/>
                    </a:ext>
                  </a:extLst>
                </a:gridCol>
                <a:gridCol w="3437467">
                  <a:extLst>
                    <a:ext uri="{9D8B030D-6E8A-4147-A177-3AD203B41FA5}">
                      <a16:colId xmlns:a16="http://schemas.microsoft.com/office/drawing/2014/main" val="2183196749"/>
                    </a:ext>
                  </a:extLst>
                </a:gridCol>
              </a:tblGrid>
              <a:tr h="752260">
                <a:tc>
                  <a:txBody>
                    <a:bodyPr/>
                    <a:lstStyle/>
                    <a:p>
                      <a:pPr>
                        <a:buNone/>
                      </a:pPr>
                      <a:r>
                        <a:rPr lang="en-IN" sz="2800" b="1"/>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b="1"/>
                        <a:t>Non-Overlapping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b="1" dirty="0"/>
                        <a:t>Overlapping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441220"/>
                  </a:ext>
                </a:extLst>
              </a:tr>
              <a:tr h="752260">
                <a:tc>
                  <a:txBody>
                    <a:bodyPr/>
                    <a:lstStyle/>
                    <a:p>
                      <a:pPr>
                        <a:buNone/>
                      </a:pPr>
                      <a:r>
                        <a:rPr lang="en-IN" sz="2800" dirty="0"/>
                        <a:t>Stride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S = 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S &lt; 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1092845"/>
                  </a:ext>
                </a:extLst>
              </a:tr>
              <a:tr h="752260">
                <a:tc>
                  <a:txBody>
                    <a:bodyPr/>
                    <a:lstStyle/>
                    <a:p>
                      <a:pPr>
                        <a:buNone/>
                      </a:pPr>
                      <a:r>
                        <a:rPr lang="en-IN" sz="2800" dirty="0"/>
                        <a:t>Information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Higher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Lower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6268393"/>
                  </a:ext>
                </a:extLst>
              </a:tr>
              <a:tr h="752260">
                <a:tc>
                  <a:txBody>
                    <a:bodyPr/>
                    <a:lstStyle/>
                    <a:p>
                      <a:pPr>
                        <a:buNone/>
                      </a:pPr>
                      <a:r>
                        <a:rPr lang="en-IN" sz="2800"/>
                        <a:t>Output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Smaller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Larger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3516915"/>
                  </a:ext>
                </a:extLst>
              </a:tr>
              <a:tr h="752260">
                <a:tc>
                  <a:txBody>
                    <a:bodyPr/>
                    <a:lstStyle/>
                    <a:p>
                      <a:pPr>
                        <a:buNone/>
                      </a:pPr>
                      <a:r>
                        <a:rPr lang="en-IN" sz="2800"/>
                        <a:t>Computation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Less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More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621696"/>
                  </a:ext>
                </a:extLst>
              </a:tr>
              <a:tr h="752260">
                <a:tc>
                  <a:txBody>
                    <a:bodyPr/>
                    <a:lstStyle/>
                    <a:p>
                      <a:pPr>
                        <a:buNone/>
                      </a:pPr>
                      <a:r>
                        <a:rPr lang="en-IN" sz="2800" dirty="0"/>
                        <a:t>Used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VGG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dirty="0" err="1"/>
                        <a:t>AlexNet</a:t>
                      </a: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4716390"/>
                  </a:ext>
                </a:extLst>
              </a:tr>
            </a:tbl>
          </a:graphicData>
        </a:graphic>
      </p:graphicFrame>
    </p:spTree>
    <p:extLst>
      <p:ext uri="{BB962C8B-B14F-4D97-AF65-F5344CB8AC3E}">
        <p14:creationId xmlns:p14="http://schemas.microsoft.com/office/powerpoint/2010/main" val="8283859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8CAB1-50E3-3C39-5281-21BF026FEAE0}"/>
              </a:ext>
            </a:extLst>
          </p:cNvPr>
          <p:cNvSpPr>
            <a:spLocks noGrp="1"/>
          </p:cNvSpPr>
          <p:nvPr>
            <p:ph type="title"/>
          </p:nvPr>
        </p:nvSpPr>
        <p:spPr/>
        <p:txBody>
          <a:bodyPr>
            <a:normAutofit fontScale="90000"/>
          </a:bodyPr>
          <a:lstStyle/>
          <a:p>
            <a:r>
              <a:rPr lang="en-US" dirty="0"/>
              <a:t>Advantages and Disadvantages</a:t>
            </a:r>
            <a:endParaRPr lang="en-IN" dirty="0"/>
          </a:p>
        </p:txBody>
      </p:sp>
      <p:sp>
        <p:nvSpPr>
          <p:cNvPr id="3" name="Content Placeholder 2">
            <a:extLst>
              <a:ext uri="{FF2B5EF4-FFF2-40B4-BE49-F238E27FC236}">
                <a16:creationId xmlns:a16="http://schemas.microsoft.com/office/drawing/2014/main" id="{FAB4E0BA-B571-0440-D103-A106E8D71923}"/>
              </a:ext>
            </a:extLst>
          </p:cNvPr>
          <p:cNvSpPr>
            <a:spLocks noGrp="1"/>
          </p:cNvSpPr>
          <p:nvPr>
            <p:ph idx="1"/>
          </p:nvPr>
        </p:nvSpPr>
        <p:spPr/>
        <p:txBody>
          <a:bodyPr>
            <a:normAutofit/>
          </a:bodyPr>
          <a:lstStyle/>
          <a:p>
            <a:r>
              <a:rPr lang="en-US" b="1" dirty="0"/>
              <a:t>Advantages</a:t>
            </a:r>
          </a:p>
          <a:p>
            <a:r>
              <a:rPr lang="en-US" dirty="0"/>
              <a:t>Better feature preservation</a:t>
            </a:r>
          </a:p>
          <a:p>
            <a:r>
              <a:rPr lang="en-US" dirty="0"/>
              <a:t>Reduced aliasing effects</a:t>
            </a:r>
          </a:p>
          <a:p>
            <a:r>
              <a:rPr lang="en-US" dirty="0"/>
              <a:t>Improved accuracy in early CNNs</a:t>
            </a:r>
          </a:p>
          <a:p>
            <a:r>
              <a:rPr lang="en-US" b="1" dirty="0"/>
              <a:t> Disadvantages</a:t>
            </a:r>
          </a:p>
          <a:p>
            <a:r>
              <a:rPr lang="en-US" dirty="0"/>
              <a:t>Higher computation cost</a:t>
            </a:r>
          </a:p>
          <a:p>
            <a:r>
              <a:rPr lang="en-US" dirty="0"/>
              <a:t>Less dimensionality reduction</a:t>
            </a:r>
          </a:p>
          <a:p>
            <a:r>
              <a:rPr lang="en-US" dirty="0"/>
              <a:t>Mostly replaced by </a:t>
            </a:r>
            <a:r>
              <a:rPr lang="en-US" dirty="0" err="1"/>
              <a:t>strided</a:t>
            </a:r>
            <a:r>
              <a:rPr lang="en-US" dirty="0"/>
              <a:t> convolutions</a:t>
            </a:r>
          </a:p>
          <a:p>
            <a:endParaRPr lang="en-IN" dirty="0"/>
          </a:p>
        </p:txBody>
      </p:sp>
    </p:spTree>
    <p:extLst>
      <p:ext uri="{BB962C8B-B14F-4D97-AF65-F5344CB8AC3E}">
        <p14:creationId xmlns:p14="http://schemas.microsoft.com/office/powerpoint/2010/main" val="21303603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4D402-2CC8-3F43-73AA-44FC84E8C373}"/>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A106479-F9DF-54BF-5671-819198EBF029}"/>
              </a:ext>
            </a:extLst>
          </p:cNvPr>
          <p:cNvSpPr>
            <a:spLocks noGrp="1"/>
          </p:cNvSpPr>
          <p:nvPr>
            <p:ph idx="1"/>
          </p:nvPr>
        </p:nvSpPr>
        <p:spPr/>
        <p:txBody>
          <a:bodyPr/>
          <a:lstStyle/>
          <a:p>
            <a:r>
              <a:rPr lang="en-IN" dirty="0">
                <a:hlinkClick r:id="rId2"/>
              </a:rPr>
              <a:t>https://d2l.ai/chapter_convolutional-neural-networks/pooling.html</a:t>
            </a:r>
            <a:endParaRPr lang="en-IN" dirty="0"/>
          </a:p>
          <a:p>
            <a:r>
              <a:rPr lang="en-IN" dirty="0">
                <a:hlinkClick r:id="rId3"/>
              </a:rPr>
              <a:t>https://mariammohamedfawzy.wordpress.com/2018/04/23/overlapping-pooling-and-overfitting/</a:t>
            </a:r>
            <a:endParaRPr lang="en-IN" dirty="0"/>
          </a:p>
          <a:p>
            <a:endParaRPr lang="en-IN" dirty="0"/>
          </a:p>
          <a:p>
            <a:endParaRPr lang="en-IN" dirty="0"/>
          </a:p>
        </p:txBody>
      </p:sp>
    </p:spTree>
    <p:extLst>
      <p:ext uri="{BB962C8B-B14F-4D97-AF65-F5344CB8AC3E}">
        <p14:creationId xmlns:p14="http://schemas.microsoft.com/office/powerpoint/2010/main" val="14279520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36C02-DBFA-6B07-3461-BEA4F896565B}"/>
              </a:ext>
            </a:extLst>
          </p:cNvPr>
          <p:cNvSpPr>
            <a:spLocks noGrp="1"/>
          </p:cNvSpPr>
          <p:nvPr>
            <p:ph type="title"/>
          </p:nvPr>
        </p:nvSpPr>
        <p:spPr/>
        <p:txBody>
          <a:bodyPr>
            <a:normAutofit fontScale="90000"/>
          </a:bodyPr>
          <a:lstStyle/>
          <a:p>
            <a:r>
              <a:rPr lang="en-US" dirty="0"/>
              <a:t>CNN Architecture</a:t>
            </a:r>
            <a:endParaRPr lang="en-IN" dirty="0"/>
          </a:p>
        </p:txBody>
      </p:sp>
      <p:sp>
        <p:nvSpPr>
          <p:cNvPr id="3" name="Content Placeholder 2">
            <a:extLst>
              <a:ext uri="{FF2B5EF4-FFF2-40B4-BE49-F238E27FC236}">
                <a16:creationId xmlns:a16="http://schemas.microsoft.com/office/drawing/2014/main" id="{E901CC4B-8B93-BFFC-FB14-7C03930099C3}"/>
              </a:ext>
            </a:extLst>
          </p:cNvPr>
          <p:cNvSpPr>
            <a:spLocks noGrp="1"/>
          </p:cNvSpPr>
          <p:nvPr>
            <p:ph idx="1"/>
          </p:nvPr>
        </p:nvSpPr>
        <p:spPr/>
        <p:txBody>
          <a:bodyPr/>
          <a:lstStyle/>
          <a:p>
            <a:r>
              <a:rPr lang="en-US" dirty="0"/>
              <a:t>Most CNN designs share a common set of parts:</a:t>
            </a:r>
          </a:p>
          <a:p>
            <a:r>
              <a:rPr lang="en-US" dirty="0"/>
              <a:t>Filters</a:t>
            </a:r>
          </a:p>
          <a:p>
            <a:r>
              <a:rPr lang="en-US" dirty="0"/>
              <a:t>Activation units</a:t>
            </a:r>
          </a:p>
          <a:p>
            <a:r>
              <a:rPr lang="en-US" dirty="0"/>
              <a:t>Down sampling layers</a:t>
            </a:r>
          </a:p>
          <a:p>
            <a:r>
              <a:rPr lang="en-US" dirty="0"/>
              <a:t>Dense layers</a:t>
            </a:r>
          </a:p>
          <a:p>
            <a:r>
              <a:rPr lang="en-US" dirty="0"/>
              <a:t>Output functions</a:t>
            </a:r>
          </a:p>
          <a:p>
            <a:endParaRPr lang="en-IN" dirty="0"/>
          </a:p>
        </p:txBody>
      </p:sp>
    </p:spTree>
    <p:extLst>
      <p:ext uri="{BB962C8B-B14F-4D97-AF65-F5344CB8AC3E}">
        <p14:creationId xmlns:p14="http://schemas.microsoft.com/office/powerpoint/2010/main" val="39445968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A5CC4-B0FF-CBA7-EFAE-3EA80454A65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C489904-AE0D-AC31-BC5A-2322515DCD78}"/>
              </a:ext>
            </a:extLst>
          </p:cNvPr>
          <p:cNvSpPr>
            <a:spLocks noGrp="1"/>
          </p:cNvSpPr>
          <p:nvPr>
            <p:ph idx="1"/>
          </p:nvPr>
        </p:nvSpPr>
        <p:spPr/>
        <p:txBody>
          <a:bodyPr/>
          <a:lstStyle/>
          <a:p>
            <a:r>
              <a:rPr lang="en-US" dirty="0"/>
              <a:t>Each of these layers in CNN plays a specific role, contributing to effective feature extraction and accurate predictions within the CNN architecture in deep learning. Below is a CNN architecture diagram in deep learning: </a:t>
            </a:r>
            <a:endParaRPr lang="en-IN" dirty="0"/>
          </a:p>
        </p:txBody>
      </p:sp>
    </p:spTree>
    <p:extLst>
      <p:ext uri="{BB962C8B-B14F-4D97-AF65-F5344CB8AC3E}">
        <p14:creationId xmlns:p14="http://schemas.microsoft.com/office/powerpoint/2010/main" val="10856405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3157F-9C50-4E31-EF12-1CF198F6135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003FC48-A55E-2718-048C-48BC34D2EBA5}"/>
              </a:ext>
            </a:extLst>
          </p:cNvPr>
          <p:cNvSpPr>
            <a:spLocks noGrp="1"/>
          </p:cNvSpPr>
          <p:nvPr>
            <p:ph idx="1"/>
          </p:nvPr>
        </p:nvSpPr>
        <p:spPr/>
        <p:txBody>
          <a:bodyPr/>
          <a:lstStyle/>
          <a:p>
            <a:endParaRPr lang="en-IN"/>
          </a:p>
        </p:txBody>
      </p:sp>
      <p:pic>
        <p:nvPicPr>
          <p:cNvPr id="1026" name="Picture 2" descr="The Architecture of Convolutional Neural Neural Networks">
            <a:extLst>
              <a:ext uri="{FF2B5EF4-FFF2-40B4-BE49-F238E27FC236}">
                <a16:creationId xmlns:a16="http://schemas.microsoft.com/office/drawing/2014/main" id="{83A82CA5-7DC7-B2C5-A3B2-A985F2563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717" y="888825"/>
            <a:ext cx="9311013" cy="5237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14736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7AC83-2E70-1345-0F07-6BE2F00F324C}"/>
              </a:ext>
            </a:extLst>
          </p:cNvPr>
          <p:cNvSpPr>
            <a:spLocks noGrp="1"/>
          </p:cNvSpPr>
          <p:nvPr>
            <p:ph type="title"/>
          </p:nvPr>
        </p:nvSpPr>
        <p:spPr/>
        <p:txBody>
          <a:bodyPr>
            <a:normAutofit fontScale="90000"/>
          </a:bodyPr>
          <a:lstStyle/>
          <a:p>
            <a:endParaRPr lang="en-IN"/>
          </a:p>
        </p:txBody>
      </p:sp>
      <p:pic>
        <p:nvPicPr>
          <p:cNvPr id="3074" name="Picture 2">
            <a:extLst>
              <a:ext uri="{FF2B5EF4-FFF2-40B4-BE49-F238E27FC236}">
                <a16:creationId xmlns:a16="http://schemas.microsoft.com/office/drawing/2014/main" id="{EBFF82B7-FDE1-41A8-9840-74D1B7107F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1381" y="1870597"/>
            <a:ext cx="7876242" cy="4217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7749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F28A9-CF1C-BDAB-2A33-A87496395165}"/>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8FFB0675-F75B-79E6-B4FE-F4EE40D71304}"/>
              </a:ext>
            </a:extLst>
          </p:cNvPr>
          <p:cNvGraphicFramePr>
            <a:graphicFrameLocks noGrp="1"/>
          </p:cNvGraphicFramePr>
          <p:nvPr>
            <p:ph idx="1"/>
            <p:extLst>
              <p:ext uri="{D42A27DB-BD31-4B8C-83A1-F6EECF244321}">
                <p14:modId xmlns:p14="http://schemas.microsoft.com/office/powerpoint/2010/main" val="302369029"/>
              </p:ext>
            </p:extLst>
          </p:nvPr>
        </p:nvGraphicFramePr>
        <p:xfrm>
          <a:off x="1628383" y="2278856"/>
          <a:ext cx="9081370" cy="2866875"/>
        </p:xfrm>
        <a:graphic>
          <a:graphicData uri="http://schemas.openxmlformats.org/drawingml/2006/table">
            <a:tbl>
              <a:tblPr/>
              <a:tblGrid>
                <a:gridCol w="3344450">
                  <a:extLst>
                    <a:ext uri="{9D8B030D-6E8A-4147-A177-3AD203B41FA5}">
                      <a16:colId xmlns:a16="http://schemas.microsoft.com/office/drawing/2014/main" val="2237662743"/>
                    </a:ext>
                  </a:extLst>
                </a:gridCol>
                <a:gridCol w="5736920">
                  <a:extLst>
                    <a:ext uri="{9D8B030D-6E8A-4147-A177-3AD203B41FA5}">
                      <a16:colId xmlns:a16="http://schemas.microsoft.com/office/drawing/2014/main" val="2938994545"/>
                    </a:ext>
                  </a:extLst>
                </a:gridCol>
              </a:tblGrid>
              <a:tr h="348688">
                <a:tc>
                  <a:txBody>
                    <a:bodyPr/>
                    <a:lstStyle/>
                    <a:p>
                      <a:pPr algn="ctr">
                        <a:lnSpc>
                          <a:spcPts val="1500"/>
                        </a:lnSpc>
                        <a:buNone/>
                      </a:pPr>
                      <a:r>
                        <a:rPr lang="en-IN" sz="2400" b="1">
                          <a:solidFill>
                            <a:srgbClr val="000000"/>
                          </a:solidFill>
                          <a:effectLst/>
                          <a:latin typeface="__CircularFontRegular_5bf51c"/>
                        </a:rPr>
                        <a:t>Component</a:t>
                      </a:r>
                      <a:endParaRPr lang="en-IN" sz="240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500"/>
                        </a:lnSpc>
                        <a:buNone/>
                      </a:pPr>
                      <a:r>
                        <a:rPr lang="en-IN" sz="2400" b="1">
                          <a:solidFill>
                            <a:srgbClr val="000000"/>
                          </a:solidFill>
                          <a:effectLst/>
                          <a:latin typeface="__CircularFontRegular_5bf51c"/>
                        </a:rPr>
                        <a:t>Purpose</a:t>
                      </a:r>
                      <a:endParaRPr lang="en-IN" sz="240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4226164"/>
                  </a:ext>
                </a:extLst>
              </a:tr>
              <a:tr h="479941">
                <a:tc>
                  <a:txBody>
                    <a:bodyPr/>
                    <a:lstStyle/>
                    <a:p>
                      <a:pPr>
                        <a:lnSpc>
                          <a:spcPts val="1350"/>
                        </a:lnSpc>
                        <a:buNone/>
                      </a:pPr>
                      <a:r>
                        <a:rPr lang="en-IN" sz="2400">
                          <a:solidFill>
                            <a:srgbClr val="000000"/>
                          </a:solidFill>
                          <a:effectLst/>
                          <a:latin typeface="__CircularFontRegular_5bf51c"/>
                        </a:rPr>
                        <a:t>Filters</a:t>
                      </a:r>
                      <a:endParaRPr lang="en-IN" sz="240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ts val="1350"/>
                        </a:lnSpc>
                        <a:buNone/>
                      </a:pPr>
                      <a:r>
                        <a:rPr lang="en-US" sz="2400" dirty="0">
                          <a:solidFill>
                            <a:srgbClr val="000000"/>
                          </a:solidFill>
                          <a:effectLst/>
                          <a:latin typeface="__CircularFontRegular_5bf51c"/>
                        </a:rPr>
                        <a:t>Extract edges, textures, and shapes</a:t>
                      </a:r>
                      <a:endParaRPr lang="en-US" sz="2400" dirty="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5754858"/>
                  </a:ext>
                </a:extLst>
              </a:tr>
              <a:tr h="479941">
                <a:tc>
                  <a:txBody>
                    <a:bodyPr/>
                    <a:lstStyle/>
                    <a:p>
                      <a:pPr>
                        <a:lnSpc>
                          <a:spcPts val="1350"/>
                        </a:lnSpc>
                        <a:buNone/>
                      </a:pPr>
                      <a:r>
                        <a:rPr lang="en-IN" sz="2400" dirty="0">
                          <a:solidFill>
                            <a:srgbClr val="000000"/>
                          </a:solidFill>
                          <a:effectLst/>
                          <a:latin typeface="__CircularFontRegular_5bf51c"/>
                        </a:rPr>
                        <a:t>Activation units</a:t>
                      </a:r>
                      <a:endParaRPr lang="en-IN" sz="2400" dirty="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ts val="1350"/>
                        </a:lnSpc>
                        <a:buNone/>
                      </a:pPr>
                      <a:r>
                        <a:rPr lang="en-US" sz="2400" dirty="0">
                          <a:solidFill>
                            <a:srgbClr val="000000"/>
                          </a:solidFill>
                          <a:effectLst/>
                          <a:latin typeface="__CircularFontRegular_5bf51c"/>
                        </a:rPr>
                        <a:t>Add nonlinearity to learn complex patterns</a:t>
                      </a:r>
                      <a:endParaRPr lang="en-US" sz="2400" dirty="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5914378"/>
                  </a:ext>
                </a:extLst>
              </a:tr>
              <a:tr h="479941">
                <a:tc>
                  <a:txBody>
                    <a:bodyPr/>
                    <a:lstStyle/>
                    <a:p>
                      <a:pPr>
                        <a:lnSpc>
                          <a:spcPts val="1350"/>
                        </a:lnSpc>
                        <a:buNone/>
                      </a:pPr>
                      <a:r>
                        <a:rPr lang="en-IN" sz="2400">
                          <a:solidFill>
                            <a:srgbClr val="000000"/>
                          </a:solidFill>
                          <a:effectLst/>
                          <a:latin typeface="__CircularFontRegular_5bf51c"/>
                        </a:rPr>
                        <a:t>Downsampling</a:t>
                      </a:r>
                      <a:endParaRPr lang="en-IN" sz="240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ts val="1350"/>
                        </a:lnSpc>
                        <a:buNone/>
                      </a:pPr>
                      <a:r>
                        <a:rPr lang="en-US" sz="2400">
                          <a:solidFill>
                            <a:srgbClr val="000000"/>
                          </a:solidFill>
                          <a:effectLst/>
                          <a:latin typeface="__CircularFontRegular_5bf51c"/>
                        </a:rPr>
                        <a:t>Reduce data size while keeping key details</a:t>
                      </a:r>
                      <a:endParaRPr lang="en-US" sz="240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269100"/>
                  </a:ext>
                </a:extLst>
              </a:tr>
              <a:tr h="479941">
                <a:tc>
                  <a:txBody>
                    <a:bodyPr/>
                    <a:lstStyle/>
                    <a:p>
                      <a:pPr>
                        <a:lnSpc>
                          <a:spcPts val="1350"/>
                        </a:lnSpc>
                        <a:buNone/>
                      </a:pPr>
                      <a:r>
                        <a:rPr lang="en-IN" sz="2400">
                          <a:solidFill>
                            <a:srgbClr val="000000"/>
                          </a:solidFill>
                          <a:effectLst/>
                          <a:latin typeface="__CircularFontRegular_5bf51c"/>
                        </a:rPr>
                        <a:t>Dense layers</a:t>
                      </a:r>
                      <a:endParaRPr lang="en-IN" sz="240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ts val="1350"/>
                        </a:lnSpc>
                        <a:buNone/>
                      </a:pPr>
                      <a:r>
                        <a:rPr lang="en-US" sz="2400">
                          <a:solidFill>
                            <a:srgbClr val="000000"/>
                          </a:solidFill>
                          <a:effectLst/>
                          <a:latin typeface="__CircularFontRegular_5bf51c"/>
                        </a:rPr>
                        <a:t>Combine features for final decisions</a:t>
                      </a:r>
                      <a:endParaRPr lang="en-US" sz="240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9346874"/>
                  </a:ext>
                </a:extLst>
              </a:tr>
              <a:tr h="479941">
                <a:tc>
                  <a:txBody>
                    <a:bodyPr/>
                    <a:lstStyle/>
                    <a:p>
                      <a:pPr>
                        <a:lnSpc>
                          <a:spcPts val="1350"/>
                        </a:lnSpc>
                        <a:buNone/>
                      </a:pPr>
                      <a:r>
                        <a:rPr lang="en-IN" sz="2400">
                          <a:solidFill>
                            <a:srgbClr val="000000"/>
                          </a:solidFill>
                          <a:effectLst/>
                          <a:latin typeface="__CircularFontRegular_5bf51c"/>
                        </a:rPr>
                        <a:t>Output functions</a:t>
                      </a:r>
                      <a:endParaRPr lang="en-IN" sz="240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ts val="1350"/>
                        </a:lnSpc>
                        <a:buNone/>
                      </a:pPr>
                      <a:r>
                        <a:rPr lang="en-IN" sz="2400" dirty="0">
                          <a:solidFill>
                            <a:srgbClr val="000000"/>
                          </a:solidFill>
                          <a:effectLst/>
                          <a:latin typeface="__CircularFontRegular_5bf51c"/>
                        </a:rPr>
                        <a:t>Convert scores into probabilities</a:t>
                      </a:r>
                      <a:endParaRPr lang="en-IN" sz="2400" dirty="0">
                        <a:solidFill>
                          <a:srgbClr val="333333"/>
                        </a:solidFill>
                        <a:effectLst/>
                        <a:latin typeface="__CircularFontRegular_5bf51c"/>
                      </a:endParaRPr>
                    </a:p>
                  </a:txBody>
                  <a:tcPr marL="121920" marR="121920"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514403"/>
                  </a:ext>
                </a:extLst>
              </a:tr>
            </a:tbl>
          </a:graphicData>
        </a:graphic>
      </p:graphicFrame>
      <p:sp>
        <p:nvSpPr>
          <p:cNvPr id="5" name="Rectangle 1">
            <a:extLst>
              <a:ext uri="{FF2B5EF4-FFF2-40B4-BE49-F238E27FC236}">
                <a16:creationId xmlns:a16="http://schemas.microsoft.com/office/drawing/2014/main" id="{152DCF71-9B74-50B4-3DDC-CED22AE3DD7F}"/>
              </a:ext>
            </a:extLst>
          </p:cNvPr>
          <p:cNvSpPr>
            <a:spLocks noChangeArrowheads="1"/>
          </p:cNvSpPr>
          <p:nvPr/>
        </p:nvSpPr>
        <p:spPr bwMode="auto">
          <a:xfrm>
            <a:off x="1822359" y="1447614"/>
            <a:ext cx="573550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__CircularFontRegular_5bf51c"/>
              </a:rPr>
              <a:t>The above CNN diagram shows:</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65258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BAD8A-CE01-E2B6-D2BC-E14898211CE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C4F43E0-7E25-070A-8B09-7BD5C414E2F9}"/>
              </a:ext>
            </a:extLst>
          </p:cNvPr>
          <p:cNvSpPr>
            <a:spLocks noGrp="1"/>
          </p:cNvSpPr>
          <p:nvPr>
            <p:ph idx="1"/>
          </p:nvPr>
        </p:nvSpPr>
        <p:spPr/>
        <p:txBody>
          <a:bodyPr/>
          <a:lstStyle/>
          <a:p>
            <a:r>
              <a:rPr lang="en-US" b="1" dirty="0"/>
              <a:t>Layers used to build CNN</a:t>
            </a:r>
          </a:p>
          <a:p>
            <a:r>
              <a:rPr lang="en-US" dirty="0"/>
              <a:t>Convolutional neural networks are distinguished from other neural networks by their superior performance with image, speech, or audio signal inputs. They have three main types of layers, which are:</a:t>
            </a:r>
          </a:p>
          <a:p>
            <a:r>
              <a:rPr lang="en-US" dirty="0"/>
              <a:t>Convolutional layer</a:t>
            </a:r>
          </a:p>
          <a:p>
            <a:r>
              <a:rPr lang="en-US" dirty="0"/>
              <a:t>Pooling layer</a:t>
            </a:r>
          </a:p>
          <a:p>
            <a:r>
              <a:rPr lang="en-US" dirty="0"/>
              <a:t>Fully-connected (FC) layer</a:t>
            </a:r>
          </a:p>
          <a:p>
            <a:endParaRPr lang="en-IN" dirty="0"/>
          </a:p>
        </p:txBody>
      </p:sp>
    </p:spTree>
    <p:extLst>
      <p:ext uri="{BB962C8B-B14F-4D97-AF65-F5344CB8AC3E}">
        <p14:creationId xmlns:p14="http://schemas.microsoft.com/office/powerpoint/2010/main" val="20513997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29F8-61FA-DD25-44C2-57E058A0F7EB}"/>
              </a:ext>
            </a:extLst>
          </p:cNvPr>
          <p:cNvSpPr>
            <a:spLocks noGrp="1"/>
          </p:cNvSpPr>
          <p:nvPr>
            <p:ph type="title"/>
          </p:nvPr>
        </p:nvSpPr>
        <p:spPr/>
        <p:txBody>
          <a:bodyPr>
            <a:normAutofit fontScale="90000"/>
          </a:bodyPr>
          <a:lstStyle/>
          <a:p>
            <a:r>
              <a:rPr lang="en-IN" dirty="0"/>
              <a:t>Convolutional layer</a:t>
            </a:r>
          </a:p>
        </p:txBody>
      </p:sp>
      <p:pic>
        <p:nvPicPr>
          <p:cNvPr id="5122" name="Picture 2">
            <a:extLst>
              <a:ext uri="{FF2B5EF4-FFF2-40B4-BE49-F238E27FC236}">
                <a16:creationId xmlns:a16="http://schemas.microsoft.com/office/drawing/2014/main" id="{D2730F69-4D64-D7A0-115F-A386EC913B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9209" y="3330497"/>
            <a:ext cx="1885950" cy="6762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F2C2318F-0A27-171E-E210-971FAB7C7B18}"/>
              </a:ext>
            </a:extLst>
          </p:cNvPr>
          <p:cNvSpPr>
            <a:spLocks noGrp="1" noChangeArrowheads="1"/>
          </p:cNvSpPr>
          <p:nvPr>
            <p:ph idx="1"/>
          </p:nvPr>
        </p:nvSpPr>
        <p:spPr bwMode="auto">
          <a:xfrm>
            <a:off x="588980" y="1989037"/>
            <a:ext cx="116592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42424"/>
                </a:solidFill>
                <a:effectLst/>
                <a:latin typeface="source-serif-pro"/>
              </a:rPr>
              <a:t>This layer is the first layer that is used to extract the various features from the input images.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42424"/>
                </a:solidFill>
                <a:effectLst/>
                <a:latin typeface="source-serif-pro"/>
              </a:rPr>
              <a:t>In this layer, We use a filter or Kernel method to extract features from the input image.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4908898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05B7-C010-44AD-487C-B98EE2625432}"/>
              </a:ext>
            </a:extLst>
          </p:cNvPr>
          <p:cNvSpPr>
            <a:spLocks noGrp="1"/>
          </p:cNvSpPr>
          <p:nvPr>
            <p:ph type="title"/>
          </p:nvPr>
        </p:nvSpPr>
        <p:spPr/>
        <p:txBody>
          <a:bodyPr>
            <a:normAutofit fontScale="90000"/>
          </a:bodyPr>
          <a:lstStyle/>
          <a:p>
            <a:r>
              <a:rPr lang="en-US" dirty="0"/>
              <a:t>Pooling layer</a:t>
            </a:r>
            <a:endParaRPr lang="en-IN" dirty="0"/>
          </a:p>
        </p:txBody>
      </p:sp>
      <p:sp>
        <p:nvSpPr>
          <p:cNvPr id="3" name="Content Placeholder 2">
            <a:extLst>
              <a:ext uri="{FF2B5EF4-FFF2-40B4-BE49-F238E27FC236}">
                <a16:creationId xmlns:a16="http://schemas.microsoft.com/office/drawing/2014/main" id="{BF1A02A1-A40A-D417-9466-E074E973DC91}"/>
              </a:ext>
            </a:extLst>
          </p:cNvPr>
          <p:cNvSpPr>
            <a:spLocks noGrp="1"/>
          </p:cNvSpPr>
          <p:nvPr>
            <p:ph idx="1"/>
          </p:nvPr>
        </p:nvSpPr>
        <p:spPr>
          <a:xfrm>
            <a:off x="1025842" y="1352811"/>
            <a:ext cx="10201275" cy="4773459"/>
          </a:xfrm>
        </p:spPr>
        <p:txBody>
          <a:bodyPr>
            <a:normAutofit/>
          </a:bodyPr>
          <a:lstStyle/>
          <a:p>
            <a:r>
              <a:rPr lang="en-US" sz="2800" dirty="0"/>
              <a:t>The primary aim of this layer is to decrease the size of the convolved feature map to reduce computational costs. </a:t>
            </a:r>
          </a:p>
          <a:p>
            <a:r>
              <a:rPr lang="en-US" sz="2800" dirty="0"/>
              <a:t>This is performed by decreasing the connections between layers and independently operating on each feature map</a:t>
            </a:r>
          </a:p>
          <a:p>
            <a:r>
              <a:rPr lang="en-US" sz="2800" dirty="0"/>
              <a:t>. Depending upon the method used, there are several types of Pooling operations. </a:t>
            </a:r>
          </a:p>
          <a:p>
            <a:r>
              <a:rPr lang="en-US" sz="2800" dirty="0"/>
              <a:t>We have Max pooling and average pooling.</a:t>
            </a:r>
          </a:p>
          <a:p>
            <a:endParaRPr lang="en-IN" sz="2800" dirty="0"/>
          </a:p>
        </p:txBody>
      </p:sp>
    </p:spTree>
    <p:extLst>
      <p:ext uri="{BB962C8B-B14F-4D97-AF65-F5344CB8AC3E}">
        <p14:creationId xmlns:p14="http://schemas.microsoft.com/office/powerpoint/2010/main" val="20862318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3FA44-A806-6008-F491-1B97EDD75FFD}"/>
              </a:ext>
            </a:extLst>
          </p:cNvPr>
          <p:cNvSpPr>
            <a:spLocks noGrp="1"/>
          </p:cNvSpPr>
          <p:nvPr>
            <p:ph type="title"/>
          </p:nvPr>
        </p:nvSpPr>
        <p:spPr/>
        <p:txBody>
          <a:bodyPr>
            <a:normAutofit fontScale="90000"/>
          </a:bodyPr>
          <a:lstStyle/>
          <a:p>
            <a:r>
              <a:rPr lang="en-US" dirty="0"/>
              <a:t>Fully-connected layer</a:t>
            </a:r>
            <a:endParaRPr lang="en-IN" dirty="0"/>
          </a:p>
        </p:txBody>
      </p:sp>
      <p:sp>
        <p:nvSpPr>
          <p:cNvPr id="3" name="Content Placeholder 2">
            <a:extLst>
              <a:ext uri="{FF2B5EF4-FFF2-40B4-BE49-F238E27FC236}">
                <a16:creationId xmlns:a16="http://schemas.microsoft.com/office/drawing/2014/main" id="{03E9AE3C-0462-41AC-29DC-CC7DC682CD03}"/>
              </a:ext>
            </a:extLst>
          </p:cNvPr>
          <p:cNvSpPr>
            <a:spLocks noGrp="1"/>
          </p:cNvSpPr>
          <p:nvPr>
            <p:ph idx="1"/>
          </p:nvPr>
        </p:nvSpPr>
        <p:spPr/>
        <p:txBody>
          <a:bodyPr/>
          <a:lstStyle/>
          <a:p>
            <a:r>
              <a:rPr lang="en-US" dirty="0"/>
              <a:t>The Fully Connected (FC) layer consists of the weights and biases along with the neurons and is used to connect the neurons between two different layers. </a:t>
            </a:r>
          </a:p>
          <a:p>
            <a:r>
              <a:rPr lang="en-US" dirty="0"/>
              <a:t>These layers are usually placed before the output layer and form the last few layers of a CNN Architecture.</a:t>
            </a:r>
          </a:p>
          <a:p>
            <a:r>
              <a:rPr lang="en-US" b="1" dirty="0"/>
              <a:t>Dropout</a:t>
            </a:r>
          </a:p>
          <a:p>
            <a:r>
              <a:rPr lang="en-US" dirty="0"/>
              <a:t>Another typical characteristic of CNNs is a Dropout layer. </a:t>
            </a:r>
          </a:p>
          <a:p>
            <a:r>
              <a:rPr lang="en-US" dirty="0"/>
              <a:t>The Dropout layer is a mask that nullifies the contribution of some neurons towards the next layer and leaves unmodified all others.</a:t>
            </a:r>
          </a:p>
          <a:p>
            <a:endParaRPr lang="en-IN" dirty="0"/>
          </a:p>
        </p:txBody>
      </p:sp>
    </p:spTree>
    <p:extLst>
      <p:ext uri="{BB962C8B-B14F-4D97-AF65-F5344CB8AC3E}">
        <p14:creationId xmlns:p14="http://schemas.microsoft.com/office/powerpoint/2010/main" val="8606811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9F1AD-1911-1602-A3CE-AB5A1B1AB0E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D02B7E2-AF43-D95A-7C51-BA320CD0637B}"/>
              </a:ext>
            </a:extLst>
          </p:cNvPr>
          <p:cNvSpPr>
            <a:spLocks noGrp="1"/>
          </p:cNvSpPr>
          <p:nvPr>
            <p:ph idx="1"/>
          </p:nvPr>
        </p:nvSpPr>
        <p:spPr/>
        <p:txBody>
          <a:bodyPr/>
          <a:lstStyle/>
          <a:p>
            <a:endParaRPr lang="en-IN"/>
          </a:p>
        </p:txBody>
      </p:sp>
      <p:pic>
        <p:nvPicPr>
          <p:cNvPr id="7170" name="Picture 2">
            <a:extLst>
              <a:ext uri="{FF2B5EF4-FFF2-40B4-BE49-F238E27FC236}">
                <a16:creationId xmlns:a16="http://schemas.microsoft.com/office/drawing/2014/main" id="{604E3BAD-2533-433E-6D33-EAE7F309DD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715" y="1908666"/>
            <a:ext cx="10058401" cy="4064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98448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4D1B3-8EA8-3690-1D7B-20EBEFA3A7D4}"/>
              </a:ext>
            </a:extLst>
          </p:cNvPr>
          <p:cNvSpPr>
            <a:spLocks noGrp="1"/>
          </p:cNvSpPr>
          <p:nvPr>
            <p:ph type="title"/>
          </p:nvPr>
        </p:nvSpPr>
        <p:spPr/>
        <p:txBody>
          <a:bodyPr>
            <a:normAutofit fontScale="90000"/>
          </a:bodyPr>
          <a:lstStyle/>
          <a:p>
            <a:r>
              <a:rPr lang="en-US" dirty="0"/>
              <a:t>Activation Function</a:t>
            </a:r>
            <a:endParaRPr lang="en-IN" dirty="0"/>
          </a:p>
        </p:txBody>
      </p:sp>
      <p:sp>
        <p:nvSpPr>
          <p:cNvPr id="3" name="Content Placeholder 2">
            <a:extLst>
              <a:ext uri="{FF2B5EF4-FFF2-40B4-BE49-F238E27FC236}">
                <a16:creationId xmlns:a16="http://schemas.microsoft.com/office/drawing/2014/main" id="{66A0E504-6FF0-592C-84DE-6958A0205D3C}"/>
              </a:ext>
            </a:extLst>
          </p:cNvPr>
          <p:cNvSpPr>
            <a:spLocks noGrp="1"/>
          </p:cNvSpPr>
          <p:nvPr>
            <p:ph idx="1"/>
          </p:nvPr>
        </p:nvSpPr>
        <p:spPr>
          <a:xfrm>
            <a:off x="1168717" y="1678488"/>
            <a:ext cx="10058400" cy="4447782"/>
          </a:xfrm>
        </p:spPr>
        <p:txBody>
          <a:bodyPr/>
          <a:lstStyle/>
          <a:p>
            <a:r>
              <a:rPr lang="en-US" dirty="0"/>
              <a:t>An Activation Function decides whether a neuron should be activated or not. </a:t>
            </a:r>
          </a:p>
          <a:p>
            <a:r>
              <a:rPr lang="en-US" dirty="0"/>
              <a:t>This means that it will decide whether the neuron’s input to the network is important or not in the process of prediction. </a:t>
            </a:r>
          </a:p>
          <a:p>
            <a:r>
              <a:rPr lang="en-US" dirty="0"/>
              <a:t>There are several commonly used activation functions such as the </a:t>
            </a:r>
            <a:r>
              <a:rPr lang="en-US" dirty="0" err="1"/>
              <a:t>ReLU</a:t>
            </a:r>
            <a:r>
              <a:rPr lang="en-US" dirty="0"/>
              <a:t>, </a:t>
            </a:r>
            <a:r>
              <a:rPr lang="en-US" dirty="0" err="1"/>
              <a:t>Softmax</a:t>
            </a:r>
            <a:r>
              <a:rPr lang="en-US" dirty="0"/>
              <a:t>, </a:t>
            </a:r>
            <a:r>
              <a:rPr lang="en-US" dirty="0" err="1"/>
              <a:t>tanH</a:t>
            </a:r>
            <a:r>
              <a:rPr lang="en-US" dirty="0"/>
              <a:t>, and the Sigmoid functions. </a:t>
            </a:r>
          </a:p>
          <a:p>
            <a:r>
              <a:rPr lang="en-US" dirty="0"/>
              <a:t>Each of these functions has a specific usage.</a:t>
            </a:r>
          </a:p>
          <a:p>
            <a:endParaRPr lang="en-IN" dirty="0"/>
          </a:p>
        </p:txBody>
      </p:sp>
    </p:spTree>
    <p:extLst>
      <p:ext uri="{BB962C8B-B14F-4D97-AF65-F5344CB8AC3E}">
        <p14:creationId xmlns:p14="http://schemas.microsoft.com/office/powerpoint/2010/main" val="42573236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15F74-3BE3-AA20-C316-3DAC5BDE7DC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067C712-7632-91C4-E75E-986A0FF5B52D}"/>
              </a:ext>
            </a:extLst>
          </p:cNvPr>
          <p:cNvSpPr>
            <a:spLocks noGrp="1"/>
          </p:cNvSpPr>
          <p:nvPr>
            <p:ph idx="1"/>
          </p:nvPr>
        </p:nvSpPr>
        <p:spPr>
          <a:xfrm>
            <a:off x="551146" y="1415441"/>
            <a:ext cx="11110586" cy="4710829"/>
          </a:xfrm>
        </p:spPr>
        <p:txBody>
          <a:bodyPr>
            <a:noAutofit/>
          </a:bodyPr>
          <a:lstStyle/>
          <a:p>
            <a:r>
              <a:rPr lang="en-US" sz="2800" b="1" dirty="0"/>
              <a:t>Sigmoid </a:t>
            </a:r>
            <a:r>
              <a:rPr lang="en-US" sz="2800" dirty="0"/>
              <a:t>— For a binary classification in the CNN model</a:t>
            </a:r>
          </a:p>
          <a:p>
            <a:r>
              <a:rPr lang="en-US" sz="2800" b="1" dirty="0" err="1"/>
              <a:t>tanH</a:t>
            </a:r>
            <a:r>
              <a:rPr lang="en-US" sz="2800" b="1" dirty="0"/>
              <a:t> -</a:t>
            </a:r>
            <a:r>
              <a:rPr lang="en-US" sz="2800" dirty="0"/>
              <a:t> The tanh function is very similar to the sigmoid function. The only difference is that it is symmetric around the origin. The range of values, in this case, is from -1 to 1.</a:t>
            </a:r>
          </a:p>
          <a:p>
            <a:r>
              <a:rPr lang="en-US" sz="2800" dirty="0" err="1"/>
              <a:t>S</a:t>
            </a:r>
            <a:r>
              <a:rPr lang="en-US" sz="2800" b="1" dirty="0" err="1"/>
              <a:t>oftmax</a:t>
            </a:r>
            <a:r>
              <a:rPr lang="en-US" sz="2800" dirty="0"/>
              <a:t>- It is used in multinomial logistic regression and is often used as the last activation function of a neural network to normalize the output of a network to a probability distribution over predicted output classes.</a:t>
            </a:r>
          </a:p>
          <a:p>
            <a:r>
              <a:rPr lang="en-US" sz="2800" b="1" dirty="0" err="1"/>
              <a:t>RelU</a:t>
            </a:r>
            <a:r>
              <a:rPr lang="en-US" sz="2800" dirty="0"/>
              <a:t>- the main advantage of using the </a:t>
            </a:r>
            <a:r>
              <a:rPr lang="en-US" sz="2800" dirty="0" err="1"/>
              <a:t>ReLU</a:t>
            </a:r>
            <a:r>
              <a:rPr lang="en-US" sz="2800" dirty="0"/>
              <a:t> function over other activation functions is that it does not activate all the neurons at the same time.</a:t>
            </a:r>
            <a:endParaRPr lang="en-IN" sz="2800" dirty="0"/>
          </a:p>
        </p:txBody>
      </p:sp>
    </p:spTree>
    <p:extLst>
      <p:ext uri="{BB962C8B-B14F-4D97-AF65-F5344CB8AC3E}">
        <p14:creationId xmlns:p14="http://schemas.microsoft.com/office/powerpoint/2010/main" val="40753598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CB732-64A3-7A87-5AE5-5771DA610DFE}"/>
              </a:ext>
            </a:extLst>
          </p:cNvPr>
          <p:cNvSpPr>
            <a:spLocks noGrp="1"/>
          </p:cNvSpPr>
          <p:nvPr>
            <p:ph type="title"/>
          </p:nvPr>
        </p:nvSpPr>
        <p:spPr/>
        <p:txBody>
          <a:bodyPr>
            <a:normAutofit fontScale="90000"/>
          </a:bodyPr>
          <a:lstStyle/>
          <a:p>
            <a:r>
              <a:rPr lang="en-US" dirty="0"/>
              <a:t>Receptive field in deep learning</a:t>
            </a:r>
            <a:endParaRPr lang="en-IN" dirty="0"/>
          </a:p>
        </p:txBody>
      </p:sp>
      <p:sp>
        <p:nvSpPr>
          <p:cNvPr id="3" name="Content Placeholder 2">
            <a:extLst>
              <a:ext uri="{FF2B5EF4-FFF2-40B4-BE49-F238E27FC236}">
                <a16:creationId xmlns:a16="http://schemas.microsoft.com/office/drawing/2014/main" id="{672FE762-27E5-8E19-4359-1A269661F661}"/>
              </a:ext>
            </a:extLst>
          </p:cNvPr>
          <p:cNvSpPr>
            <a:spLocks noGrp="1"/>
          </p:cNvSpPr>
          <p:nvPr>
            <p:ph idx="1"/>
          </p:nvPr>
        </p:nvSpPr>
        <p:spPr/>
        <p:txBody>
          <a:bodyPr/>
          <a:lstStyle/>
          <a:p>
            <a:r>
              <a:rPr lang="en-US" dirty="0"/>
              <a:t>The receptive field (RF) is a fundamental concept in deep learning—especially in Convolutional Neural Networks (CNNs)—that describes how much of the input data influences a particular neuron (activation) in a given layer.</a:t>
            </a:r>
          </a:p>
          <a:p>
            <a:r>
              <a:rPr lang="en-US" b="1" dirty="0"/>
              <a:t>Receptive Field = the region of the input that a neuron “sees.”</a:t>
            </a:r>
            <a:endParaRPr lang="en-US" dirty="0"/>
          </a:p>
          <a:p>
            <a:r>
              <a:rPr lang="en-US" dirty="0"/>
              <a:t>In early layers → </a:t>
            </a:r>
            <a:r>
              <a:rPr lang="en-US" b="1" dirty="0"/>
              <a:t>small, local regions</a:t>
            </a:r>
            <a:endParaRPr lang="en-US" dirty="0"/>
          </a:p>
          <a:p>
            <a:r>
              <a:rPr lang="en-US" dirty="0"/>
              <a:t>In deeper layers → </a:t>
            </a:r>
            <a:r>
              <a:rPr lang="en-US" b="1" dirty="0"/>
              <a:t>larger, more global regions</a:t>
            </a:r>
            <a:endParaRPr lang="en-US" dirty="0"/>
          </a:p>
          <a:p>
            <a:r>
              <a:rPr lang="en-US" dirty="0"/>
              <a:t>In very deep layers → neuron may depend on </a:t>
            </a:r>
            <a:r>
              <a:rPr lang="en-US" b="1" dirty="0"/>
              <a:t>almost the entire input</a:t>
            </a:r>
            <a:endParaRPr lang="en-US" dirty="0"/>
          </a:p>
          <a:p>
            <a:r>
              <a:rPr lang="en-US" dirty="0"/>
              <a:t>This mirrors the </a:t>
            </a:r>
            <a:r>
              <a:rPr lang="en-US" b="1" dirty="0"/>
              <a:t>human visual cortex</a:t>
            </a:r>
            <a:r>
              <a:rPr lang="en-US" dirty="0"/>
              <a:t>, where early neurons detect edges and later neurons recognize objects.</a:t>
            </a:r>
          </a:p>
          <a:p>
            <a:endParaRPr lang="en-IN" dirty="0"/>
          </a:p>
        </p:txBody>
      </p:sp>
    </p:spTree>
    <p:extLst>
      <p:ext uri="{BB962C8B-B14F-4D97-AF65-F5344CB8AC3E}">
        <p14:creationId xmlns:p14="http://schemas.microsoft.com/office/powerpoint/2010/main" val="15981190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15367-AE60-D02B-9A37-1F5A6C4F5A6F}"/>
              </a:ext>
            </a:extLst>
          </p:cNvPr>
          <p:cNvSpPr>
            <a:spLocks noGrp="1"/>
          </p:cNvSpPr>
          <p:nvPr>
            <p:ph type="title"/>
          </p:nvPr>
        </p:nvSpPr>
        <p:spPr/>
        <p:txBody>
          <a:bodyPr>
            <a:normAutofit fontScale="90000"/>
          </a:bodyPr>
          <a:lstStyle/>
          <a:p>
            <a:endParaRPr lang="en-IN"/>
          </a:p>
        </p:txBody>
      </p:sp>
      <p:pic>
        <p:nvPicPr>
          <p:cNvPr id="4" name="Content Placeholder 3">
            <a:extLst>
              <a:ext uri="{FF2B5EF4-FFF2-40B4-BE49-F238E27FC236}">
                <a16:creationId xmlns:a16="http://schemas.microsoft.com/office/drawing/2014/main" id="{E09599D8-E443-09E7-D705-1FC7105D6A5B}"/>
              </a:ext>
            </a:extLst>
          </p:cNvPr>
          <p:cNvPicPr>
            <a:picLocks noGrp="1" noChangeAspect="1"/>
          </p:cNvPicPr>
          <p:nvPr>
            <p:ph idx="1"/>
          </p:nvPr>
        </p:nvPicPr>
        <p:blipFill>
          <a:blip r:embed="rId2"/>
          <a:stretch>
            <a:fillRect/>
          </a:stretch>
        </p:blipFill>
        <p:spPr>
          <a:xfrm>
            <a:off x="1888121" y="1859280"/>
            <a:ext cx="8722094" cy="3844449"/>
          </a:xfrm>
          <a:prstGeom prst="rect">
            <a:avLst/>
          </a:prstGeom>
        </p:spPr>
      </p:pic>
    </p:spTree>
    <p:extLst>
      <p:ext uri="{BB962C8B-B14F-4D97-AF65-F5344CB8AC3E}">
        <p14:creationId xmlns:p14="http://schemas.microsoft.com/office/powerpoint/2010/main" val="3507529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EC0D9-B88C-5E9E-779E-28179726414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C9B5A37-14BD-FD69-6F1C-57A8B4BF6597}"/>
              </a:ext>
            </a:extLst>
          </p:cNvPr>
          <p:cNvSpPr>
            <a:spLocks noGrp="1"/>
          </p:cNvSpPr>
          <p:nvPr>
            <p:ph idx="1"/>
          </p:nvPr>
        </p:nvSpPr>
        <p:spPr/>
        <p:txBody>
          <a:bodyPr/>
          <a:lstStyle/>
          <a:p>
            <a:r>
              <a:rPr lang="en-US" dirty="0"/>
              <a:t>The receptive field is determined by </a:t>
            </a:r>
            <a:r>
              <a:rPr lang="en-US" b="1" dirty="0"/>
              <a:t>the size of the convolutional kernel (also known as the filter) and the stride </a:t>
            </a:r>
            <a:r>
              <a:rPr lang="en-US" dirty="0"/>
              <a:t>used during the convolution operation. </a:t>
            </a:r>
          </a:p>
          <a:p>
            <a:r>
              <a:rPr lang="en-US" dirty="0"/>
              <a:t>The receptive field of a neuron in a particular layer can be thought of as the area of the input image that directly influences the neuron’s output.</a:t>
            </a:r>
            <a:endParaRPr lang="en-IN" dirty="0"/>
          </a:p>
        </p:txBody>
      </p:sp>
    </p:spTree>
    <p:extLst>
      <p:ext uri="{BB962C8B-B14F-4D97-AF65-F5344CB8AC3E}">
        <p14:creationId xmlns:p14="http://schemas.microsoft.com/office/powerpoint/2010/main" val="26153590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756D6-1113-9087-ECCA-65A82A8E2A3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1DC26D9-B744-4AA6-2E97-A8483E0FE413}"/>
              </a:ext>
            </a:extLst>
          </p:cNvPr>
          <p:cNvSpPr>
            <a:spLocks noGrp="1"/>
          </p:cNvSpPr>
          <p:nvPr>
            <p:ph idx="1"/>
          </p:nvPr>
        </p:nvSpPr>
        <p:spPr>
          <a:xfrm>
            <a:off x="995044" y="1320198"/>
            <a:ext cx="10058400" cy="4217604"/>
          </a:xfrm>
        </p:spPr>
        <p:txBody>
          <a:bodyPr>
            <a:normAutofit fontScale="85000" lnSpcReduction="20000"/>
          </a:bodyPr>
          <a:lstStyle/>
          <a:p>
            <a:r>
              <a:rPr lang="en-US" b="1" dirty="0"/>
              <a:t>Local Receptive Field: </a:t>
            </a:r>
            <a:r>
              <a:rPr lang="en-US" dirty="0"/>
              <a:t>In the initial layers of a CNN, individual neurons have a small local receptive field, which means they only look at a small portion of the input image. As you move deeper into the network, the receptive field of neurons typically grows, allowing them to capture information from larger regions of the input.</a:t>
            </a:r>
          </a:p>
          <a:p>
            <a:r>
              <a:rPr lang="en-US" b="1" dirty="0"/>
              <a:t>Spatial Hierarchy: </a:t>
            </a:r>
            <a:r>
              <a:rPr lang="en-US" dirty="0"/>
              <a:t>CNNs are designed in a hierarchical manner, where each layer captures features from a larger portion of the input than the previous layer. This hierarchy helps in recognizing both low-level features (e.g., edges and textures) and high-level features (e.g., object parts and objects) as you progress through the layers.</a:t>
            </a:r>
          </a:p>
          <a:p>
            <a:r>
              <a:rPr lang="en-US" b="1" dirty="0"/>
              <a:t>Receptive Field Size Calculation: </a:t>
            </a:r>
            <a:r>
              <a:rPr lang="en-US" dirty="0"/>
              <a:t>The size of the receptive field for a neuron in a given layer depends on the size of the convolutional kernel and the strides used. If a layer uses larger kernels and strides, its neurons have larger receptive fields. Conversely, smaller kernels and strides result in smaller receptive fields.</a:t>
            </a:r>
          </a:p>
          <a:p>
            <a:r>
              <a:rPr lang="en-US" b="1" dirty="0"/>
              <a:t>Padding: </a:t>
            </a:r>
            <a:r>
              <a:rPr lang="en-US" dirty="0"/>
              <a:t>Padding is often used to control the size of the output feature maps. Zero-padding the input can be employed to ensure that the output feature maps have the same spatial dimensions as the input. This can be useful for maintaining the spatial hierarchy and avoiding a reduction in spatial resolution too quickly.</a:t>
            </a:r>
            <a:endParaRPr lang="en-IN" dirty="0"/>
          </a:p>
        </p:txBody>
      </p:sp>
    </p:spTree>
    <p:extLst>
      <p:ext uri="{BB962C8B-B14F-4D97-AF65-F5344CB8AC3E}">
        <p14:creationId xmlns:p14="http://schemas.microsoft.com/office/powerpoint/2010/main" val="38904338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537DC-8FBE-8E88-9CA7-66D605E7789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7E0B0AA-32AE-4744-1B61-69ABD8D6EC50}"/>
              </a:ext>
            </a:extLst>
          </p:cNvPr>
          <p:cNvSpPr>
            <a:spLocks noGrp="1"/>
          </p:cNvSpPr>
          <p:nvPr>
            <p:ph idx="1"/>
          </p:nvPr>
        </p:nvSpPr>
        <p:spPr/>
        <p:txBody>
          <a:bodyPr>
            <a:normAutofit fontScale="92500" lnSpcReduction="10000"/>
          </a:bodyPr>
          <a:lstStyle/>
          <a:p>
            <a:r>
              <a:rPr lang="en-US" b="1" dirty="0"/>
              <a:t>Real-World Applications</a:t>
            </a:r>
          </a:p>
          <a:p>
            <a:r>
              <a:rPr lang="en-US" dirty="0"/>
              <a:t>Optimizing the receptive field is critical for the success of various </a:t>
            </a:r>
            <a:r>
              <a:rPr lang="en-US" dirty="0">
                <a:hlinkClick r:id="rId2">
                  <a:extLst>
                    <a:ext uri="{A12FA001-AC4F-418D-AE19-62706E023703}">
                      <ahyp:hlinkClr xmlns:ahyp="http://schemas.microsoft.com/office/drawing/2018/hyperlinkcolor" val="tx"/>
                    </a:ext>
                  </a:extLst>
                </a:hlinkClick>
              </a:rPr>
              <a:t>AI solutions</a:t>
            </a:r>
            <a:r>
              <a:rPr lang="en-US" dirty="0"/>
              <a:t>.</a:t>
            </a:r>
          </a:p>
          <a:p>
            <a:r>
              <a:rPr lang="en-US" b="1" dirty="0"/>
              <a:t>Autonomous Driving:</a:t>
            </a:r>
            <a:r>
              <a:rPr lang="en-US" dirty="0"/>
              <a:t> In </a:t>
            </a:r>
            <a:r>
              <a:rPr lang="en-US" dirty="0">
                <a:hlinkClick r:id="rId3">
                  <a:extLst>
                    <a:ext uri="{A12FA001-AC4F-418D-AE19-62706E023703}">
                      <ahyp:hlinkClr xmlns:ahyp="http://schemas.microsoft.com/office/drawing/2018/hyperlinkcolor" val="tx"/>
                    </a:ext>
                  </a:extLst>
                </a:hlinkClick>
              </a:rPr>
              <a:t>AI for automotive</a:t>
            </a:r>
            <a:r>
              <a:rPr lang="en-US" dirty="0"/>
              <a:t>, perception systems must simultaneously track minute details and large obstacles. A vehicle needs a small receptive field to identify distant traffic lights, while simultaneously requiring a large receptive field to understand the trajectory of a nearby truck or the curvature of the road lane. This multi-scale perception ensures better </a:t>
            </a:r>
            <a:r>
              <a:rPr lang="en-US" dirty="0">
                <a:hlinkClick r:id="rId4">
                  <a:extLst>
                    <a:ext uri="{A12FA001-AC4F-418D-AE19-62706E023703}">
                      <ahyp:hlinkClr xmlns:ahyp="http://schemas.microsoft.com/office/drawing/2018/hyperlinkcolor" val="tx"/>
                    </a:ext>
                  </a:extLst>
                </a:hlinkClick>
              </a:rPr>
              <a:t>AI safety</a:t>
            </a:r>
            <a:r>
              <a:rPr lang="en-US" dirty="0"/>
              <a:t> and decision-making.</a:t>
            </a:r>
          </a:p>
          <a:p>
            <a:r>
              <a:rPr lang="en-US" b="1" dirty="0"/>
              <a:t>Medical Diagnostics: </a:t>
            </a:r>
            <a:r>
              <a:rPr lang="en-US" dirty="0"/>
              <a:t>When applying </a:t>
            </a:r>
            <a:r>
              <a:rPr lang="en-US" dirty="0">
                <a:hlinkClick r:id="rId5">
                  <a:extLst>
                    <a:ext uri="{A12FA001-AC4F-418D-AE19-62706E023703}">
                      <ahyp:hlinkClr xmlns:ahyp="http://schemas.microsoft.com/office/drawing/2018/hyperlinkcolor" val="tx"/>
                    </a:ext>
                  </a:extLst>
                </a:hlinkClick>
              </a:rPr>
              <a:t>AI in healthcare</a:t>
            </a:r>
            <a:r>
              <a:rPr lang="en-US" dirty="0"/>
              <a:t>, radiologists rely on models to spot anomalies in scans. For identifying </a:t>
            </a:r>
            <a:r>
              <a:rPr lang="en-US" dirty="0">
                <a:hlinkClick r:id="rId6">
                  <a:extLst>
                    <a:ext uri="{A12FA001-AC4F-418D-AE19-62706E023703}">
                      <ahyp:hlinkClr xmlns:ahyp="http://schemas.microsoft.com/office/drawing/2018/hyperlinkcolor" val="tx"/>
                    </a:ext>
                  </a:extLst>
                </a:hlinkClick>
              </a:rPr>
              <a:t>brain tumors</a:t>
            </a:r>
            <a:r>
              <a:rPr lang="en-US" dirty="0"/>
              <a:t>, the network requires a large receptive field to understand the brain's overall symmetry and structure. However, to detect micro-calcifications in mammography, the model relies on early layers with small receptive fields sensitive to subtle texture changes.</a:t>
            </a:r>
          </a:p>
          <a:p>
            <a:endParaRPr lang="en-IN" dirty="0"/>
          </a:p>
        </p:txBody>
      </p:sp>
    </p:spTree>
    <p:extLst>
      <p:ext uri="{BB962C8B-B14F-4D97-AF65-F5344CB8AC3E}">
        <p14:creationId xmlns:p14="http://schemas.microsoft.com/office/powerpoint/2010/main" val="42343154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F5262-075C-D9C4-8BDF-56CB12BC76C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2A13C01-50F6-E793-5410-F41B12568F6F}"/>
              </a:ext>
            </a:extLst>
          </p:cNvPr>
          <p:cNvSpPr>
            <a:spLocks noGrp="1"/>
          </p:cNvSpPr>
          <p:nvPr>
            <p:ph idx="1"/>
          </p:nvPr>
        </p:nvSpPr>
        <p:spPr/>
        <p:txBody>
          <a:bodyPr>
            <a:normAutofit fontScale="92500" lnSpcReduction="10000"/>
          </a:bodyPr>
          <a:lstStyle/>
          <a:p>
            <a:r>
              <a:rPr lang="en-US" dirty="0"/>
              <a:t>To fully understand network design, it is helpful to differentiate the receptive field from similar terms:</a:t>
            </a:r>
          </a:p>
          <a:p>
            <a:r>
              <a:rPr lang="en-US" b="1" dirty="0"/>
              <a:t>Receptive Field vs. </a:t>
            </a:r>
            <a:r>
              <a:rPr lang="en-US" b="1" dirty="0">
                <a:hlinkClick r:id="rId2">
                  <a:extLst>
                    <a:ext uri="{A12FA001-AC4F-418D-AE19-62706E023703}">
                      <ahyp:hlinkClr xmlns:ahyp="http://schemas.microsoft.com/office/drawing/2018/hyperlinkcolor" val="tx"/>
                    </a:ext>
                  </a:extLst>
                </a:hlinkClick>
              </a:rPr>
              <a:t>Kernel</a:t>
            </a:r>
            <a:r>
              <a:rPr lang="en-US" b="1" dirty="0"/>
              <a:t>:</a:t>
            </a:r>
            <a:r>
              <a:rPr lang="en-US" dirty="0"/>
              <a:t> The kernel (or filter) size defines the dimensions of the sliding window (e.g., 3x3) for a single </a:t>
            </a:r>
            <a:r>
              <a:rPr lang="en-US" b="1" dirty="0">
                <a:hlinkClick r:id="rId3">
                  <a:extLst>
                    <a:ext uri="{A12FA001-AC4F-418D-AE19-62706E023703}">
                      <ahyp:hlinkClr xmlns:ahyp="http://schemas.microsoft.com/office/drawing/2018/hyperlinkcolor" val="tx"/>
                    </a:ext>
                  </a:extLst>
                </a:hlinkClick>
              </a:rPr>
              <a:t>convolution</a:t>
            </a:r>
            <a:r>
              <a:rPr lang="en-US" dirty="0"/>
              <a:t> operation. The receptive field is an emergent property representing the total accumulated input area affecting a neuron. A stack of multiple 3x3 kernels will result in a receptive field much larger than 3x3.</a:t>
            </a:r>
          </a:p>
          <a:p>
            <a:r>
              <a:rPr lang="en-US" b="1" dirty="0"/>
              <a:t>Receptive Field vs. </a:t>
            </a:r>
            <a:r>
              <a:rPr lang="en-US" b="1" dirty="0">
                <a:hlinkClick r:id="rId4">
                  <a:extLst>
                    <a:ext uri="{A12FA001-AC4F-418D-AE19-62706E023703}">
                      <ahyp:hlinkClr xmlns:ahyp="http://schemas.microsoft.com/office/drawing/2018/hyperlinkcolor" val="tx"/>
                    </a:ext>
                  </a:extLst>
                </a:hlinkClick>
              </a:rPr>
              <a:t>Feature Map</a:t>
            </a:r>
            <a:r>
              <a:rPr lang="en-US" b="1" dirty="0"/>
              <a:t>:</a:t>
            </a:r>
            <a:r>
              <a:rPr lang="en-US" dirty="0"/>
              <a:t> A feature map is the output volume produced by a layer, containing the learned representations. The receptive field describes the relationship between a single point on that feature map and the original input image.</a:t>
            </a:r>
          </a:p>
          <a:p>
            <a:r>
              <a:rPr lang="en-US" b="1" dirty="0"/>
              <a:t>Receptive Field vs. </a:t>
            </a:r>
            <a:r>
              <a:rPr lang="en-US" b="1" dirty="0">
                <a:hlinkClick r:id="rId5">
                  <a:extLst>
                    <a:ext uri="{A12FA001-AC4F-418D-AE19-62706E023703}">
                      <ahyp:hlinkClr xmlns:ahyp="http://schemas.microsoft.com/office/drawing/2018/hyperlinkcolor" val="tx"/>
                    </a:ext>
                  </a:extLst>
                </a:hlinkClick>
              </a:rPr>
              <a:t>Context Window</a:t>
            </a:r>
            <a:r>
              <a:rPr lang="en-US" b="1" dirty="0"/>
              <a:t>:</a:t>
            </a:r>
            <a:r>
              <a:rPr lang="en-US" dirty="0"/>
              <a:t> While both terms refer to the scope of perceived data, "context window" is typically used in </a:t>
            </a:r>
            <a:r>
              <a:rPr lang="en-US" b="1" dirty="0">
                <a:hlinkClick r:id="rId6">
                  <a:extLst>
                    <a:ext uri="{A12FA001-AC4F-418D-AE19-62706E023703}">
                      <ahyp:hlinkClr xmlns:ahyp="http://schemas.microsoft.com/office/drawing/2018/hyperlinkcolor" val="tx"/>
                    </a:ext>
                  </a:extLst>
                </a:hlinkClick>
              </a:rPr>
              <a:t>Natural Language Processing (NLP)</a:t>
            </a:r>
            <a:r>
              <a:rPr lang="en-US" dirty="0"/>
              <a:t> or video analysis to denote a temporal or sequential span (e.g., token limit). Receptive field strictly refers to the spatial area in grid-like data (images).</a:t>
            </a:r>
          </a:p>
          <a:p>
            <a:endParaRPr lang="en-IN" dirty="0"/>
          </a:p>
        </p:txBody>
      </p:sp>
    </p:spTree>
    <p:extLst>
      <p:ext uri="{BB962C8B-B14F-4D97-AF65-F5344CB8AC3E}">
        <p14:creationId xmlns:p14="http://schemas.microsoft.com/office/powerpoint/2010/main" val="37516242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DF7C2-7A75-7CB1-C902-994E2AF472F3}"/>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962A4BE-F348-91EB-F603-E106809C5B3C}"/>
              </a:ext>
            </a:extLst>
          </p:cNvPr>
          <p:cNvSpPr>
            <a:spLocks noGrp="1"/>
          </p:cNvSpPr>
          <p:nvPr>
            <p:ph idx="1"/>
          </p:nvPr>
        </p:nvSpPr>
        <p:spPr/>
        <p:txBody>
          <a:bodyPr/>
          <a:lstStyle/>
          <a:p>
            <a:r>
              <a:rPr lang="en-IN" dirty="0">
                <a:hlinkClick r:id="rId2"/>
              </a:rPr>
              <a:t>https://medium.com/data-science/advanced-topics-in-deep-convolutional-neural-networks-71ef1190522d</a:t>
            </a:r>
            <a:endParaRPr lang="en-IN" dirty="0"/>
          </a:p>
          <a:p>
            <a:r>
              <a:rPr lang="en-IN" dirty="0">
                <a:hlinkClick r:id="rId3"/>
              </a:rPr>
              <a:t>https://towardsdatascience.com/r-cnn-fast-r-cnn-faster-r-cnn-yolo-object-detection-algorithms-36d53571365e/</a:t>
            </a:r>
            <a:endParaRPr lang="en-IN" dirty="0"/>
          </a:p>
          <a:p>
            <a:r>
              <a:rPr lang="en-IN" dirty="0">
                <a:hlinkClick r:id="rId4"/>
              </a:rPr>
              <a:t>https://www.mathworks.com/help/vision/ug/getting-started-with-r-cnn-fast-r-cnn-and-faster-r-cnn.html</a:t>
            </a:r>
            <a:endParaRPr lang="en-IN" dirty="0"/>
          </a:p>
          <a:p>
            <a:r>
              <a:rPr lang="en-IN" dirty="0">
                <a:hlinkClick r:id="rId5"/>
              </a:rPr>
              <a:t>https://d2l.ai/chapter_computer-vision/rcnn.html</a:t>
            </a:r>
            <a:endParaRPr lang="en-IN" dirty="0"/>
          </a:p>
          <a:p>
            <a:endParaRPr lang="en-IN" dirty="0"/>
          </a:p>
        </p:txBody>
      </p:sp>
    </p:spTree>
    <p:extLst>
      <p:ext uri="{BB962C8B-B14F-4D97-AF65-F5344CB8AC3E}">
        <p14:creationId xmlns:p14="http://schemas.microsoft.com/office/powerpoint/2010/main" val="5188252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338C3-D26C-791B-6676-E09155EC263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AA7F813-F772-8036-2331-2A2953FBA7A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538852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15429-3613-012A-EADB-13832ECAE902}"/>
              </a:ext>
            </a:extLst>
          </p:cNvPr>
          <p:cNvSpPr>
            <a:spLocks noGrp="1"/>
          </p:cNvSpPr>
          <p:nvPr>
            <p:ph type="title"/>
          </p:nvPr>
        </p:nvSpPr>
        <p:spPr/>
        <p:txBody>
          <a:bodyPr>
            <a:normAutofit fontScale="90000"/>
          </a:bodyPr>
          <a:lstStyle/>
          <a:p>
            <a:r>
              <a:rPr lang="en-US" dirty="0"/>
              <a:t>Convolution Neural Networks</a:t>
            </a:r>
            <a:endParaRPr lang="en-IN" dirty="0"/>
          </a:p>
        </p:txBody>
      </p:sp>
      <p:sp>
        <p:nvSpPr>
          <p:cNvPr id="3" name="Content Placeholder 2">
            <a:extLst>
              <a:ext uri="{FF2B5EF4-FFF2-40B4-BE49-F238E27FC236}">
                <a16:creationId xmlns:a16="http://schemas.microsoft.com/office/drawing/2014/main" id="{EC01601D-CB7A-4E13-4E50-85739C05455F}"/>
              </a:ext>
            </a:extLst>
          </p:cNvPr>
          <p:cNvSpPr>
            <a:spLocks noGrp="1"/>
          </p:cNvSpPr>
          <p:nvPr>
            <p:ph idx="1"/>
          </p:nvPr>
        </p:nvSpPr>
        <p:spPr>
          <a:xfrm>
            <a:off x="867380" y="1320198"/>
            <a:ext cx="10058400" cy="4217604"/>
          </a:xfrm>
        </p:spPr>
        <p:txBody>
          <a:bodyPr/>
          <a:lstStyle/>
          <a:p>
            <a:r>
              <a:rPr lang="en-IN" b="1" dirty="0">
                <a:highlight>
                  <a:srgbClr val="FFFF00"/>
                </a:highlight>
              </a:rPr>
              <a:t>LeNet</a:t>
            </a:r>
          </a:p>
          <a:p>
            <a:r>
              <a:rPr lang="en-US" dirty="0"/>
              <a:t>At a high level, LeNet (LeNet-5) consists of two parts:</a:t>
            </a:r>
          </a:p>
          <a:p>
            <a:r>
              <a:rPr lang="en-US" dirty="0"/>
              <a:t> (</a:t>
            </a:r>
            <a:r>
              <a:rPr lang="en-US" dirty="0" err="1"/>
              <a:t>i</a:t>
            </a:r>
            <a:r>
              <a:rPr lang="en-US" dirty="0"/>
              <a:t>) a convolutional encoder consisting of two convolutional layers; and </a:t>
            </a:r>
          </a:p>
          <a:p>
            <a:r>
              <a:rPr lang="en-US" dirty="0"/>
              <a:t>(ii) a dense block consisting of three fully connected layers.</a:t>
            </a:r>
          </a:p>
          <a:p>
            <a:r>
              <a:rPr lang="en-US" dirty="0"/>
              <a:t> The architecture is summarized</a:t>
            </a:r>
            <a:endParaRPr lang="en-IN" dirty="0"/>
          </a:p>
        </p:txBody>
      </p:sp>
    </p:spTree>
    <p:extLst>
      <p:ext uri="{BB962C8B-B14F-4D97-AF65-F5344CB8AC3E}">
        <p14:creationId xmlns:p14="http://schemas.microsoft.com/office/powerpoint/2010/main" val="42816046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07A-75B4-DC61-AC23-2DFF210A57B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D7BEC19-13AD-1B20-7514-6BCAD74BC78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1AE0E52-2EAB-D4A0-85E7-B6712DBBDA99}"/>
              </a:ext>
            </a:extLst>
          </p:cNvPr>
          <p:cNvPicPr>
            <a:picLocks noChangeAspect="1"/>
          </p:cNvPicPr>
          <p:nvPr/>
        </p:nvPicPr>
        <p:blipFill>
          <a:blip r:embed="rId2"/>
          <a:stretch>
            <a:fillRect/>
          </a:stretch>
        </p:blipFill>
        <p:spPr>
          <a:xfrm>
            <a:off x="1168717" y="1292034"/>
            <a:ext cx="10633818" cy="4017721"/>
          </a:xfrm>
          <a:prstGeom prst="rect">
            <a:avLst/>
          </a:prstGeom>
        </p:spPr>
      </p:pic>
    </p:spTree>
    <p:extLst>
      <p:ext uri="{BB962C8B-B14F-4D97-AF65-F5344CB8AC3E}">
        <p14:creationId xmlns:p14="http://schemas.microsoft.com/office/powerpoint/2010/main" val="42721583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CC34-83C2-B784-B935-C6D8FDE520B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EF430AA-207B-5AA2-839C-DC25912B9604}"/>
              </a:ext>
            </a:extLst>
          </p:cNvPr>
          <p:cNvSpPr>
            <a:spLocks noGrp="1"/>
          </p:cNvSpPr>
          <p:nvPr>
            <p:ph idx="1"/>
          </p:nvPr>
        </p:nvSpPr>
        <p:spPr>
          <a:xfrm>
            <a:off x="904009" y="1381991"/>
            <a:ext cx="10323108" cy="4744279"/>
          </a:xfrm>
        </p:spPr>
        <p:txBody>
          <a:bodyPr>
            <a:normAutofit lnSpcReduction="10000"/>
          </a:bodyPr>
          <a:lstStyle/>
          <a:p>
            <a:r>
              <a:rPr lang="en-US" dirty="0"/>
              <a:t>The basic units in each convolutional block are a </a:t>
            </a:r>
            <a:r>
              <a:rPr lang="en-US" b="1" dirty="0"/>
              <a:t>convolutional layer, a sigmoid activation function, and a subsequent average pooling operation. </a:t>
            </a:r>
          </a:p>
          <a:p>
            <a:r>
              <a:rPr lang="en-US" dirty="0"/>
              <a:t>Note that </a:t>
            </a:r>
            <a:r>
              <a:rPr lang="en-US" b="1" dirty="0"/>
              <a:t>while </a:t>
            </a:r>
            <a:r>
              <a:rPr lang="en-US" b="1" dirty="0" err="1"/>
              <a:t>ReLUs</a:t>
            </a:r>
            <a:r>
              <a:rPr lang="en-US" b="1" dirty="0"/>
              <a:t> and max-pooling </a:t>
            </a:r>
            <a:r>
              <a:rPr lang="en-US" dirty="0"/>
              <a:t>work better, they had not yet been discovered. </a:t>
            </a:r>
          </a:p>
          <a:p>
            <a:r>
              <a:rPr lang="en-US" dirty="0"/>
              <a:t>Each convolutional layer uses a  </a:t>
            </a:r>
            <a:r>
              <a:rPr lang="en-US" b="1" dirty="0"/>
              <a:t>kernel and a sigmoid activation </a:t>
            </a:r>
            <a:r>
              <a:rPr lang="en-US" dirty="0"/>
              <a:t>function. </a:t>
            </a:r>
          </a:p>
          <a:p>
            <a:r>
              <a:rPr lang="en-US" dirty="0"/>
              <a:t>These layers map spatially arranged inputs to a </a:t>
            </a:r>
            <a:r>
              <a:rPr lang="en-US" b="1" dirty="0"/>
              <a:t>number of two-dimensional feature maps</a:t>
            </a:r>
            <a:r>
              <a:rPr lang="en-US" dirty="0"/>
              <a:t>, typically increasing the number of channels.</a:t>
            </a:r>
          </a:p>
          <a:p>
            <a:r>
              <a:rPr lang="en-US" dirty="0"/>
              <a:t> The first convolutional layer has 6 output channels, while the second has 16. </a:t>
            </a:r>
          </a:p>
          <a:p>
            <a:r>
              <a:rPr lang="en-US" dirty="0"/>
              <a:t>Each  pooling operation (</a:t>
            </a:r>
            <a:r>
              <a:rPr lang="en-US" b="1" dirty="0"/>
              <a:t>stride 2</a:t>
            </a:r>
            <a:r>
              <a:rPr lang="en-US" dirty="0"/>
              <a:t>) reduces dimensionality by a factor of  via spatial </a:t>
            </a:r>
            <a:r>
              <a:rPr lang="en-US" dirty="0" err="1"/>
              <a:t>downsampling</a:t>
            </a:r>
            <a:r>
              <a:rPr lang="en-US" dirty="0"/>
              <a:t>. </a:t>
            </a:r>
          </a:p>
          <a:p>
            <a:r>
              <a:rPr lang="en-US" dirty="0"/>
              <a:t>The convolutional block emits an output with shape given by </a:t>
            </a:r>
            <a:r>
              <a:rPr lang="en-US" b="1" dirty="0"/>
              <a:t>(batch size, number of channel, height, width).</a:t>
            </a:r>
            <a:endParaRPr lang="en-IN" b="1" dirty="0"/>
          </a:p>
        </p:txBody>
      </p:sp>
    </p:spTree>
    <p:extLst>
      <p:ext uri="{BB962C8B-B14F-4D97-AF65-F5344CB8AC3E}">
        <p14:creationId xmlns:p14="http://schemas.microsoft.com/office/powerpoint/2010/main" val="41322853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18E89-72CE-DB67-D03F-B92133DE5F3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14E7522-B98D-1047-A372-0798FF576765}"/>
              </a:ext>
            </a:extLst>
          </p:cNvPr>
          <p:cNvSpPr>
            <a:spLocks noGrp="1"/>
          </p:cNvSpPr>
          <p:nvPr>
            <p:ph idx="1"/>
          </p:nvPr>
        </p:nvSpPr>
        <p:spPr>
          <a:xfrm>
            <a:off x="193040" y="1361209"/>
            <a:ext cx="11034077" cy="4765061"/>
          </a:xfrm>
        </p:spPr>
        <p:txBody>
          <a:bodyPr>
            <a:normAutofit lnSpcReduction="10000"/>
          </a:bodyPr>
          <a:lstStyle/>
          <a:p>
            <a:r>
              <a:rPr lang="en-US" dirty="0"/>
              <a:t>In order to pass output from the </a:t>
            </a:r>
            <a:r>
              <a:rPr lang="en-US" b="1" dirty="0"/>
              <a:t>convolutional block to the dense block</a:t>
            </a:r>
            <a:r>
              <a:rPr lang="en-US" dirty="0"/>
              <a:t>, we must </a:t>
            </a:r>
            <a:r>
              <a:rPr lang="en-US" b="1" dirty="0"/>
              <a:t>flatten each example in the minibatch</a:t>
            </a:r>
            <a:r>
              <a:rPr lang="en-US" dirty="0"/>
              <a:t>. </a:t>
            </a:r>
          </a:p>
          <a:p>
            <a:r>
              <a:rPr lang="en-US" dirty="0"/>
              <a:t>In other words, we take this </a:t>
            </a:r>
            <a:r>
              <a:rPr lang="en-US" b="1" dirty="0"/>
              <a:t>four-dimensional input</a:t>
            </a:r>
            <a:r>
              <a:rPr lang="en-US" dirty="0"/>
              <a:t> and transform it into </a:t>
            </a:r>
            <a:r>
              <a:rPr lang="en-US" b="1" dirty="0"/>
              <a:t>the two-dimensional i</a:t>
            </a:r>
            <a:r>
              <a:rPr lang="en-US" dirty="0"/>
              <a:t>nput expected by fully connected layers: as a reminder,</a:t>
            </a:r>
          </a:p>
          <a:p>
            <a:r>
              <a:rPr lang="en-US" dirty="0"/>
              <a:t> the two-dimensional representation that we desire uses the </a:t>
            </a:r>
          </a:p>
          <a:p>
            <a:r>
              <a:rPr lang="en-US" dirty="0"/>
              <a:t>first dimension to index examples in the minibatch and </a:t>
            </a:r>
          </a:p>
          <a:p>
            <a:r>
              <a:rPr lang="en-US" dirty="0"/>
              <a:t>the second to give the flat vector representation of each example.</a:t>
            </a:r>
          </a:p>
          <a:p>
            <a:r>
              <a:rPr lang="en-US" dirty="0"/>
              <a:t> LeNet’s dense block has three fully connected layers, with 120, 84, and 10 outputs, respectively. Because we are still performing classification, the 10-dimensional output layer corresponds to the number of possible output classes.</a:t>
            </a:r>
          </a:p>
          <a:p>
            <a:r>
              <a:rPr lang="en-IN" dirty="0">
                <a:hlinkClick r:id="rId2"/>
              </a:rPr>
              <a:t>https://d2l.ai/chapter_convolutional-neural-networks/lenet.html</a:t>
            </a:r>
            <a:endParaRPr lang="en-IN" dirty="0"/>
          </a:p>
          <a:p>
            <a:endParaRPr lang="en-IN" dirty="0"/>
          </a:p>
        </p:txBody>
      </p:sp>
    </p:spTree>
    <p:extLst>
      <p:ext uri="{BB962C8B-B14F-4D97-AF65-F5344CB8AC3E}">
        <p14:creationId xmlns:p14="http://schemas.microsoft.com/office/powerpoint/2010/main" val="38008095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BC33-B0DA-DCDC-8708-8FD3CB14FF8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8818300-DE58-BC8E-2B16-4318F90811CE}"/>
              </a:ext>
            </a:extLst>
          </p:cNvPr>
          <p:cNvSpPr>
            <a:spLocks noGrp="1"/>
          </p:cNvSpPr>
          <p:nvPr>
            <p:ph idx="1"/>
          </p:nvPr>
        </p:nvSpPr>
        <p:spPr>
          <a:xfrm>
            <a:off x="274321" y="1422400"/>
            <a:ext cx="3555999" cy="4856480"/>
          </a:xfrm>
        </p:spPr>
        <p:txBody>
          <a:bodyPr>
            <a:normAutofit fontScale="62500" lnSpcReduction="20000"/>
          </a:bodyPr>
          <a:lstStyle/>
          <a:p>
            <a:pPr>
              <a:lnSpc>
                <a:spcPct val="120000"/>
              </a:lnSpc>
              <a:spcBef>
                <a:spcPts val="0"/>
              </a:spcBef>
              <a:spcAft>
                <a:spcPts val="0"/>
              </a:spcAft>
            </a:pPr>
            <a:r>
              <a:rPr lang="en-IN" dirty="0"/>
              <a:t>Input → C1 → S2 → C3 → S4 → C5 → F6 → Output</a:t>
            </a:r>
          </a:p>
          <a:p>
            <a:pPr marL="0" indent="0">
              <a:lnSpc>
                <a:spcPct val="120000"/>
              </a:lnSpc>
              <a:spcBef>
                <a:spcPts val="0"/>
              </a:spcBef>
              <a:spcAft>
                <a:spcPts val="0"/>
              </a:spcAft>
              <a:buNone/>
            </a:pPr>
            <a:r>
              <a:rPr lang="en-IN" b="1" dirty="0"/>
              <a:t>1.  Input Layer</a:t>
            </a:r>
          </a:p>
          <a:p>
            <a:pPr>
              <a:lnSpc>
                <a:spcPct val="120000"/>
              </a:lnSpc>
              <a:spcBef>
                <a:spcPts val="0"/>
              </a:spcBef>
              <a:spcAft>
                <a:spcPts val="0"/>
              </a:spcAft>
            </a:pPr>
            <a:r>
              <a:rPr lang="en-IN" dirty="0"/>
              <a:t>Size: 32 × 32 × 1</a:t>
            </a:r>
          </a:p>
          <a:p>
            <a:pPr>
              <a:lnSpc>
                <a:spcPct val="120000"/>
              </a:lnSpc>
              <a:spcBef>
                <a:spcPts val="0"/>
              </a:spcBef>
              <a:spcAft>
                <a:spcPts val="0"/>
              </a:spcAft>
            </a:pPr>
            <a:r>
              <a:rPr lang="en-IN" dirty="0"/>
              <a:t>MNIST (28×28) is padded to 32×32</a:t>
            </a:r>
          </a:p>
          <a:p>
            <a:pPr>
              <a:lnSpc>
                <a:spcPct val="120000"/>
              </a:lnSpc>
              <a:spcBef>
                <a:spcPts val="0"/>
              </a:spcBef>
              <a:spcAft>
                <a:spcPts val="0"/>
              </a:spcAft>
            </a:pPr>
            <a:endParaRPr lang="en-IN" dirty="0"/>
          </a:p>
          <a:p>
            <a:pPr marL="0" indent="0">
              <a:lnSpc>
                <a:spcPct val="120000"/>
              </a:lnSpc>
              <a:spcBef>
                <a:spcPts val="0"/>
              </a:spcBef>
              <a:spcAft>
                <a:spcPts val="0"/>
              </a:spcAft>
              <a:buNone/>
            </a:pPr>
            <a:r>
              <a:rPr lang="en-IN" b="1" dirty="0"/>
              <a:t>2. C1: Convolution Layer</a:t>
            </a:r>
          </a:p>
          <a:p>
            <a:pPr>
              <a:lnSpc>
                <a:spcPct val="120000"/>
              </a:lnSpc>
              <a:spcBef>
                <a:spcPts val="0"/>
              </a:spcBef>
              <a:spcAft>
                <a:spcPts val="0"/>
              </a:spcAft>
            </a:pPr>
            <a:r>
              <a:rPr lang="en-IN" dirty="0"/>
              <a:t>Filters: 6</a:t>
            </a:r>
          </a:p>
          <a:p>
            <a:pPr>
              <a:lnSpc>
                <a:spcPct val="120000"/>
              </a:lnSpc>
              <a:spcBef>
                <a:spcPts val="0"/>
              </a:spcBef>
              <a:spcAft>
                <a:spcPts val="0"/>
              </a:spcAft>
            </a:pPr>
            <a:r>
              <a:rPr lang="en-IN" dirty="0"/>
              <a:t>Kernel size: 5 × 5</a:t>
            </a:r>
          </a:p>
          <a:p>
            <a:pPr>
              <a:lnSpc>
                <a:spcPct val="120000"/>
              </a:lnSpc>
              <a:spcBef>
                <a:spcPts val="0"/>
              </a:spcBef>
              <a:spcAft>
                <a:spcPts val="0"/>
              </a:spcAft>
            </a:pPr>
            <a:r>
              <a:rPr lang="en-IN" dirty="0"/>
              <a:t>Output size: 28 × 28 × 6</a:t>
            </a:r>
          </a:p>
          <a:p>
            <a:pPr>
              <a:lnSpc>
                <a:spcPct val="120000"/>
              </a:lnSpc>
              <a:spcBef>
                <a:spcPts val="0"/>
              </a:spcBef>
              <a:spcAft>
                <a:spcPts val="0"/>
              </a:spcAft>
            </a:pPr>
            <a:r>
              <a:rPr lang="en-IN" dirty="0"/>
              <a:t>Activation: tanh</a:t>
            </a:r>
          </a:p>
          <a:p>
            <a:pPr>
              <a:lnSpc>
                <a:spcPct val="120000"/>
              </a:lnSpc>
              <a:spcBef>
                <a:spcPts val="0"/>
              </a:spcBef>
              <a:spcAft>
                <a:spcPts val="0"/>
              </a:spcAft>
            </a:pPr>
            <a:endParaRPr lang="en-IN" dirty="0"/>
          </a:p>
          <a:p>
            <a:pPr>
              <a:lnSpc>
                <a:spcPct val="120000"/>
              </a:lnSpc>
              <a:spcBef>
                <a:spcPts val="0"/>
              </a:spcBef>
              <a:spcAft>
                <a:spcPts val="0"/>
              </a:spcAft>
            </a:pPr>
            <a:r>
              <a:rPr lang="en-IN" b="1" dirty="0"/>
              <a:t>Learns basic features like edges</a:t>
            </a:r>
          </a:p>
          <a:p>
            <a:pPr>
              <a:lnSpc>
                <a:spcPct val="120000"/>
              </a:lnSpc>
              <a:spcBef>
                <a:spcPts val="0"/>
              </a:spcBef>
              <a:spcAft>
                <a:spcPts val="0"/>
              </a:spcAft>
            </a:pPr>
            <a:endParaRPr lang="en-IN" dirty="0"/>
          </a:p>
          <a:p>
            <a:pPr marL="0" indent="0">
              <a:lnSpc>
                <a:spcPct val="120000"/>
              </a:lnSpc>
              <a:spcBef>
                <a:spcPts val="0"/>
              </a:spcBef>
              <a:spcAft>
                <a:spcPts val="0"/>
              </a:spcAft>
              <a:buNone/>
            </a:pPr>
            <a:r>
              <a:rPr lang="en-IN" b="1" dirty="0"/>
              <a:t>3. S2: Subsampling (Pooling) Layer</a:t>
            </a:r>
          </a:p>
          <a:p>
            <a:pPr>
              <a:lnSpc>
                <a:spcPct val="120000"/>
              </a:lnSpc>
              <a:spcBef>
                <a:spcPts val="0"/>
              </a:spcBef>
              <a:spcAft>
                <a:spcPts val="0"/>
              </a:spcAft>
            </a:pPr>
            <a:r>
              <a:rPr lang="en-IN" dirty="0"/>
              <a:t>Type: Average pooling</a:t>
            </a:r>
          </a:p>
          <a:p>
            <a:pPr>
              <a:lnSpc>
                <a:spcPct val="120000"/>
              </a:lnSpc>
              <a:spcBef>
                <a:spcPts val="0"/>
              </a:spcBef>
              <a:spcAft>
                <a:spcPts val="0"/>
              </a:spcAft>
            </a:pPr>
            <a:r>
              <a:rPr lang="en-IN" dirty="0"/>
              <a:t>Kernel: 2 × 2</a:t>
            </a:r>
          </a:p>
          <a:p>
            <a:pPr>
              <a:lnSpc>
                <a:spcPct val="120000"/>
              </a:lnSpc>
              <a:spcBef>
                <a:spcPts val="0"/>
              </a:spcBef>
              <a:spcAft>
                <a:spcPts val="0"/>
              </a:spcAft>
            </a:pPr>
            <a:r>
              <a:rPr lang="en-IN" dirty="0"/>
              <a:t>Output size: 14 × 14 × 6</a:t>
            </a:r>
          </a:p>
          <a:p>
            <a:pPr>
              <a:lnSpc>
                <a:spcPct val="120000"/>
              </a:lnSpc>
              <a:spcBef>
                <a:spcPts val="0"/>
              </a:spcBef>
              <a:spcAft>
                <a:spcPts val="0"/>
              </a:spcAft>
            </a:pPr>
            <a:r>
              <a:rPr lang="en-IN" b="1" dirty="0"/>
              <a:t>Reduces spatial size and computation</a:t>
            </a:r>
          </a:p>
        </p:txBody>
      </p:sp>
      <p:sp>
        <p:nvSpPr>
          <p:cNvPr id="4" name="Content Placeholder 2">
            <a:extLst>
              <a:ext uri="{FF2B5EF4-FFF2-40B4-BE49-F238E27FC236}">
                <a16:creationId xmlns:a16="http://schemas.microsoft.com/office/drawing/2014/main" id="{27B445CA-F6DC-6F96-0CF6-261B16EED210}"/>
              </a:ext>
            </a:extLst>
          </p:cNvPr>
          <p:cNvSpPr txBox="1">
            <a:spLocks/>
          </p:cNvSpPr>
          <p:nvPr/>
        </p:nvSpPr>
        <p:spPr>
          <a:xfrm>
            <a:off x="8361680" y="1422400"/>
            <a:ext cx="3555999" cy="4602270"/>
          </a:xfrm>
          <a:prstGeom prst="rect">
            <a:avLst/>
          </a:prstGeom>
        </p:spPr>
        <p:txBody>
          <a:bodyPr vert="horz" lIns="0" tIns="45720" rIns="0" bIns="45720" rtlCol="0">
            <a:normAutofit fontScale="85000" lnSpcReduction="2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endParaRPr lang="en-IN" dirty="0"/>
          </a:p>
          <a:p>
            <a:pPr marL="0" indent="0">
              <a:lnSpc>
                <a:spcPct val="120000"/>
              </a:lnSpc>
              <a:spcBef>
                <a:spcPts val="0"/>
              </a:spcBef>
              <a:spcAft>
                <a:spcPts val="0"/>
              </a:spcAft>
              <a:buNone/>
            </a:pPr>
            <a:endParaRPr lang="en-IN" dirty="0"/>
          </a:p>
          <a:p>
            <a:pPr marL="0" indent="0">
              <a:lnSpc>
                <a:spcPct val="120000"/>
              </a:lnSpc>
              <a:spcBef>
                <a:spcPts val="0"/>
              </a:spcBef>
              <a:spcAft>
                <a:spcPts val="0"/>
              </a:spcAft>
              <a:buNone/>
            </a:pPr>
            <a:r>
              <a:rPr lang="en-IN" b="1" dirty="0"/>
              <a:t>7.  F6: Fully Connected Layer</a:t>
            </a:r>
          </a:p>
          <a:p>
            <a:pPr>
              <a:lnSpc>
                <a:spcPct val="120000"/>
              </a:lnSpc>
              <a:spcBef>
                <a:spcPts val="0"/>
              </a:spcBef>
              <a:spcAft>
                <a:spcPts val="0"/>
              </a:spcAft>
            </a:pPr>
            <a:r>
              <a:rPr lang="en-IN" dirty="0"/>
              <a:t>Neurons: 84</a:t>
            </a:r>
          </a:p>
          <a:p>
            <a:pPr>
              <a:lnSpc>
                <a:spcPct val="120000"/>
              </a:lnSpc>
              <a:spcBef>
                <a:spcPts val="0"/>
              </a:spcBef>
              <a:spcAft>
                <a:spcPts val="0"/>
              </a:spcAft>
            </a:pPr>
            <a:endParaRPr lang="en-IN" dirty="0"/>
          </a:p>
          <a:p>
            <a:pPr>
              <a:lnSpc>
                <a:spcPct val="120000"/>
              </a:lnSpc>
              <a:spcBef>
                <a:spcPts val="0"/>
              </a:spcBef>
              <a:spcAft>
                <a:spcPts val="0"/>
              </a:spcAft>
            </a:pPr>
            <a:r>
              <a:rPr lang="en-IN" dirty="0"/>
              <a:t>Activation: tanh</a:t>
            </a:r>
          </a:p>
          <a:p>
            <a:pPr>
              <a:lnSpc>
                <a:spcPct val="120000"/>
              </a:lnSpc>
              <a:spcBef>
                <a:spcPts val="0"/>
              </a:spcBef>
              <a:spcAft>
                <a:spcPts val="0"/>
              </a:spcAft>
            </a:pPr>
            <a:endParaRPr lang="en-IN" dirty="0"/>
          </a:p>
          <a:p>
            <a:pPr marL="0" indent="0">
              <a:lnSpc>
                <a:spcPct val="120000"/>
              </a:lnSpc>
              <a:spcBef>
                <a:spcPts val="0"/>
              </a:spcBef>
              <a:spcAft>
                <a:spcPts val="0"/>
              </a:spcAft>
              <a:buNone/>
            </a:pPr>
            <a:r>
              <a:rPr lang="en-IN" b="1" dirty="0"/>
              <a:t>8.  Output Layer</a:t>
            </a:r>
          </a:p>
          <a:p>
            <a:pPr>
              <a:lnSpc>
                <a:spcPct val="120000"/>
              </a:lnSpc>
              <a:spcBef>
                <a:spcPts val="0"/>
              </a:spcBef>
              <a:spcAft>
                <a:spcPts val="0"/>
              </a:spcAft>
            </a:pPr>
            <a:r>
              <a:rPr lang="en-IN" dirty="0"/>
              <a:t>Neurons: 10</a:t>
            </a:r>
          </a:p>
          <a:p>
            <a:pPr>
              <a:lnSpc>
                <a:spcPct val="120000"/>
              </a:lnSpc>
              <a:spcBef>
                <a:spcPts val="0"/>
              </a:spcBef>
              <a:spcAft>
                <a:spcPts val="0"/>
              </a:spcAft>
            </a:pPr>
            <a:endParaRPr lang="en-IN" dirty="0"/>
          </a:p>
          <a:p>
            <a:pPr>
              <a:lnSpc>
                <a:spcPct val="120000"/>
              </a:lnSpc>
              <a:spcBef>
                <a:spcPts val="0"/>
              </a:spcBef>
              <a:spcAft>
                <a:spcPts val="0"/>
              </a:spcAft>
            </a:pPr>
            <a:r>
              <a:rPr lang="en-IN" dirty="0"/>
              <a:t>Represents digits 0–9</a:t>
            </a:r>
          </a:p>
          <a:p>
            <a:pPr>
              <a:lnSpc>
                <a:spcPct val="120000"/>
              </a:lnSpc>
              <a:spcBef>
                <a:spcPts val="0"/>
              </a:spcBef>
              <a:spcAft>
                <a:spcPts val="0"/>
              </a:spcAft>
            </a:pPr>
            <a:endParaRPr lang="en-IN" dirty="0"/>
          </a:p>
          <a:p>
            <a:pPr>
              <a:lnSpc>
                <a:spcPct val="120000"/>
              </a:lnSpc>
              <a:spcBef>
                <a:spcPts val="0"/>
              </a:spcBef>
              <a:spcAft>
                <a:spcPts val="0"/>
              </a:spcAft>
            </a:pPr>
            <a:r>
              <a:rPr lang="en-IN" dirty="0"/>
              <a:t>Originally used </a:t>
            </a:r>
            <a:r>
              <a:rPr lang="en-IN" dirty="0" err="1"/>
              <a:t>Softmax</a:t>
            </a:r>
            <a:r>
              <a:rPr lang="en-IN" dirty="0"/>
              <a:t>-like classifier</a:t>
            </a:r>
          </a:p>
        </p:txBody>
      </p:sp>
      <p:sp>
        <p:nvSpPr>
          <p:cNvPr id="5" name="Content Placeholder 2">
            <a:extLst>
              <a:ext uri="{FF2B5EF4-FFF2-40B4-BE49-F238E27FC236}">
                <a16:creationId xmlns:a16="http://schemas.microsoft.com/office/drawing/2014/main" id="{99DC221A-0D2B-0F08-021F-652549966BA1}"/>
              </a:ext>
            </a:extLst>
          </p:cNvPr>
          <p:cNvSpPr txBox="1">
            <a:spLocks/>
          </p:cNvSpPr>
          <p:nvPr/>
        </p:nvSpPr>
        <p:spPr>
          <a:xfrm>
            <a:off x="4058602" y="1422400"/>
            <a:ext cx="3992879" cy="4602270"/>
          </a:xfrm>
          <a:prstGeom prst="rect">
            <a:avLst/>
          </a:prstGeom>
        </p:spPr>
        <p:txBody>
          <a:bodyPr vert="horz" lIns="0" tIns="45720" rIns="0" bIns="45720" rtlCol="0">
            <a:normAutofit fontScale="70000" lnSpcReduction="2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20000"/>
              </a:lnSpc>
              <a:spcBef>
                <a:spcPts val="0"/>
              </a:spcBef>
              <a:spcAft>
                <a:spcPts val="0"/>
              </a:spcAft>
              <a:buNone/>
            </a:pPr>
            <a:r>
              <a:rPr lang="en-IN" b="1" dirty="0"/>
              <a:t>4. C3: Convolution Layer</a:t>
            </a:r>
          </a:p>
          <a:p>
            <a:pPr>
              <a:lnSpc>
                <a:spcPct val="120000"/>
              </a:lnSpc>
              <a:spcBef>
                <a:spcPts val="0"/>
              </a:spcBef>
              <a:spcAft>
                <a:spcPts val="0"/>
              </a:spcAft>
            </a:pPr>
            <a:r>
              <a:rPr lang="en-IN" dirty="0"/>
              <a:t>Filters: 16</a:t>
            </a:r>
          </a:p>
          <a:p>
            <a:pPr>
              <a:lnSpc>
                <a:spcPct val="120000"/>
              </a:lnSpc>
              <a:spcBef>
                <a:spcPts val="0"/>
              </a:spcBef>
              <a:spcAft>
                <a:spcPts val="0"/>
              </a:spcAft>
            </a:pPr>
            <a:r>
              <a:rPr lang="en-IN" dirty="0"/>
              <a:t>Kernel: 5 × 5</a:t>
            </a:r>
          </a:p>
          <a:p>
            <a:pPr>
              <a:lnSpc>
                <a:spcPct val="120000"/>
              </a:lnSpc>
              <a:spcBef>
                <a:spcPts val="0"/>
              </a:spcBef>
              <a:spcAft>
                <a:spcPts val="0"/>
              </a:spcAft>
            </a:pPr>
            <a:r>
              <a:rPr lang="en-IN" dirty="0"/>
              <a:t>Output size: 10 × 10 × 16 </a:t>
            </a:r>
          </a:p>
          <a:p>
            <a:pPr marL="0" indent="0">
              <a:lnSpc>
                <a:spcPct val="120000"/>
              </a:lnSpc>
              <a:spcBef>
                <a:spcPts val="0"/>
              </a:spcBef>
              <a:spcAft>
                <a:spcPts val="0"/>
              </a:spcAft>
              <a:buNone/>
            </a:pPr>
            <a:r>
              <a:rPr lang="en-IN" dirty="0"/>
              <a:t> </a:t>
            </a:r>
            <a:r>
              <a:rPr lang="en-IN" b="1" dirty="0"/>
              <a:t>Learns complex features (curves, patterns)</a:t>
            </a:r>
          </a:p>
          <a:p>
            <a:pPr marL="0" indent="0">
              <a:lnSpc>
                <a:spcPct val="120000"/>
              </a:lnSpc>
              <a:spcBef>
                <a:spcPts val="0"/>
              </a:spcBef>
              <a:spcAft>
                <a:spcPts val="0"/>
              </a:spcAft>
              <a:buNone/>
            </a:pPr>
            <a:endParaRPr lang="en-IN" dirty="0"/>
          </a:p>
          <a:p>
            <a:pPr marL="0" indent="0">
              <a:lnSpc>
                <a:spcPct val="120000"/>
              </a:lnSpc>
              <a:spcBef>
                <a:spcPts val="0"/>
              </a:spcBef>
              <a:spcAft>
                <a:spcPts val="0"/>
              </a:spcAft>
              <a:buNone/>
            </a:pPr>
            <a:r>
              <a:rPr lang="en-IN" b="1" dirty="0"/>
              <a:t>5. S4: Subsampling Layer</a:t>
            </a:r>
          </a:p>
          <a:p>
            <a:pPr>
              <a:lnSpc>
                <a:spcPct val="120000"/>
              </a:lnSpc>
              <a:spcBef>
                <a:spcPts val="0"/>
              </a:spcBef>
              <a:spcAft>
                <a:spcPts val="0"/>
              </a:spcAft>
            </a:pPr>
            <a:r>
              <a:rPr lang="en-IN" dirty="0"/>
              <a:t>Average pooling</a:t>
            </a:r>
          </a:p>
          <a:p>
            <a:pPr>
              <a:lnSpc>
                <a:spcPct val="120000"/>
              </a:lnSpc>
              <a:spcBef>
                <a:spcPts val="0"/>
              </a:spcBef>
              <a:spcAft>
                <a:spcPts val="0"/>
              </a:spcAft>
            </a:pPr>
            <a:endParaRPr lang="en-IN" dirty="0"/>
          </a:p>
          <a:p>
            <a:pPr>
              <a:lnSpc>
                <a:spcPct val="120000"/>
              </a:lnSpc>
              <a:spcBef>
                <a:spcPts val="0"/>
              </a:spcBef>
              <a:spcAft>
                <a:spcPts val="0"/>
              </a:spcAft>
            </a:pPr>
            <a:r>
              <a:rPr lang="en-IN" dirty="0"/>
              <a:t>Output size: 5 × 5 × 16</a:t>
            </a:r>
          </a:p>
          <a:p>
            <a:pPr>
              <a:lnSpc>
                <a:spcPct val="120000"/>
              </a:lnSpc>
              <a:spcBef>
                <a:spcPts val="0"/>
              </a:spcBef>
              <a:spcAft>
                <a:spcPts val="0"/>
              </a:spcAft>
            </a:pPr>
            <a:endParaRPr lang="en-IN" dirty="0"/>
          </a:p>
          <a:p>
            <a:pPr marL="0" indent="0">
              <a:lnSpc>
                <a:spcPct val="120000"/>
              </a:lnSpc>
              <a:spcBef>
                <a:spcPts val="0"/>
              </a:spcBef>
              <a:spcAft>
                <a:spcPts val="0"/>
              </a:spcAft>
              <a:buNone/>
            </a:pPr>
            <a:r>
              <a:rPr lang="en-IN" b="1" dirty="0"/>
              <a:t>6.  C5: Convolution Layer (acts like FC)</a:t>
            </a:r>
          </a:p>
          <a:p>
            <a:pPr>
              <a:lnSpc>
                <a:spcPct val="120000"/>
              </a:lnSpc>
              <a:spcBef>
                <a:spcPts val="0"/>
              </a:spcBef>
              <a:spcAft>
                <a:spcPts val="0"/>
              </a:spcAft>
            </a:pPr>
            <a:r>
              <a:rPr lang="en-IN" dirty="0"/>
              <a:t>Filters: 120</a:t>
            </a:r>
          </a:p>
          <a:p>
            <a:pPr>
              <a:lnSpc>
                <a:spcPct val="120000"/>
              </a:lnSpc>
              <a:spcBef>
                <a:spcPts val="0"/>
              </a:spcBef>
              <a:spcAft>
                <a:spcPts val="0"/>
              </a:spcAft>
            </a:pPr>
            <a:r>
              <a:rPr lang="en-IN" dirty="0"/>
              <a:t>Kernel: 5 × 5</a:t>
            </a:r>
          </a:p>
          <a:p>
            <a:pPr>
              <a:lnSpc>
                <a:spcPct val="120000"/>
              </a:lnSpc>
              <a:spcBef>
                <a:spcPts val="0"/>
              </a:spcBef>
              <a:spcAft>
                <a:spcPts val="0"/>
              </a:spcAft>
            </a:pPr>
            <a:r>
              <a:rPr lang="en-IN" dirty="0"/>
              <a:t>Output: 1 × 1 × 120</a:t>
            </a:r>
          </a:p>
          <a:p>
            <a:pPr>
              <a:lnSpc>
                <a:spcPct val="120000"/>
              </a:lnSpc>
              <a:spcBef>
                <a:spcPts val="0"/>
              </a:spcBef>
              <a:spcAft>
                <a:spcPts val="0"/>
              </a:spcAft>
            </a:pPr>
            <a:endParaRPr lang="en-IN" dirty="0"/>
          </a:p>
          <a:p>
            <a:pPr marL="0" indent="0">
              <a:lnSpc>
                <a:spcPct val="120000"/>
              </a:lnSpc>
              <a:spcBef>
                <a:spcPts val="0"/>
              </a:spcBef>
              <a:spcAft>
                <a:spcPts val="0"/>
              </a:spcAft>
              <a:buNone/>
            </a:pPr>
            <a:r>
              <a:rPr lang="en-IN" b="1" dirty="0"/>
              <a:t> Fully connected to previous layer</a:t>
            </a:r>
          </a:p>
          <a:p>
            <a:pPr>
              <a:lnSpc>
                <a:spcPct val="120000"/>
              </a:lnSpc>
              <a:spcBef>
                <a:spcPts val="0"/>
              </a:spcBef>
              <a:spcAft>
                <a:spcPts val="0"/>
              </a:spcAft>
            </a:pPr>
            <a:endParaRPr lang="en-IN" dirty="0"/>
          </a:p>
        </p:txBody>
      </p:sp>
    </p:spTree>
    <p:extLst>
      <p:ext uri="{BB962C8B-B14F-4D97-AF65-F5344CB8AC3E}">
        <p14:creationId xmlns:p14="http://schemas.microsoft.com/office/powerpoint/2010/main" val="5306492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A95D9-684A-A2AC-21A6-85A21E11189E}"/>
              </a:ext>
            </a:extLst>
          </p:cNvPr>
          <p:cNvSpPr>
            <a:spLocks noGrp="1"/>
          </p:cNvSpPr>
          <p:nvPr>
            <p:ph type="title"/>
          </p:nvPr>
        </p:nvSpPr>
        <p:spPr/>
        <p:txBody>
          <a:bodyPr>
            <a:normAutofit fontScale="90000"/>
          </a:bodyPr>
          <a:lstStyle/>
          <a:p>
            <a:r>
              <a:rPr lang="en-US" dirty="0"/>
              <a:t>Deep Convolutional Models</a:t>
            </a:r>
            <a:endParaRPr lang="en-IN" dirty="0"/>
          </a:p>
        </p:txBody>
      </p:sp>
      <p:sp>
        <p:nvSpPr>
          <p:cNvPr id="3" name="Content Placeholder 2">
            <a:extLst>
              <a:ext uri="{FF2B5EF4-FFF2-40B4-BE49-F238E27FC236}">
                <a16:creationId xmlns:a16="http://schemas.microsoft.com/office/drawing/2014/main" id="{F439690C-828B-62C9-1D7B-2DEFFDB42C1F}"/>
              </a:ext>
            </a:extLst>
          </p:cNvPr>
          <p:cNvSpPr>
            <a:spLocks noGrp="1"/>
          </p:cNvSpPr>
          <p:nvPr>
            <p:ph idx="1"/>
          </p:nvPr>
        </p:nvSpPr>
        <p:spPr>
          <a:xfrm>
            <a:off x="1025842" y="1432560"/>
            <a:ext cx="10201275" cy="4693710"/>
          </a:xfrm>
        </p:spPr>
        <p:txBody>
          <a:bodyPr>
            <a:normAutofit fontScale="92500" lnSpcReduction="20000"/>
          </a:bodyPr>
          <a:lstStyle/>
          <a:p>
            <a:r>
              <a:rPr lang="en-US" b="1" dirty="0"/>
              <a:t>Deep Convolutional Models(DCMs)</a:t>
            </a:r>
            <a:r>
              <a:rPr lang="en-US" dirty="0"/>
              <a:t> are neural networks with </a:t>
            </a:r>
            <a:r>
              <a:rPr lang="en-US" b="1" dirty="0"/>
              <a:t>many stacked convolutional layers</a:t>
            </a:r>
            <a:r>
              <a:rPr lang="en-US" dirty="0"/>
              <a:t> designed to </a:t>
            </a:r>
            <a:r>
              <a:rPr lang="en-US" b="1" dirty="0"/>
              <a:t>automatically learn hierarchical features</a:t>
            </a:r>
            <a:r>
              <a:rPr lang="en-US" dirty="0"/>
              <a:t> from data—especially images, videos, and spatial signals.</a:t>
            </a:r>
          </a:p>
          <a:p>
            <a:r>
              <a:rPr lang="en-US" dirty="0"/>
              <a:t>“Deep” = multiple convolution + non-linear + pooling layers</a:t>
            </a:r>
            <a:br>
              <a:rPr lang="en-US" dirty="0"/>
            </a:br>
            <a:r>
              <a:rPr lang="en-US" dirty="0"/>
              <a:t>“Convolutional” = local receptive fields + shared weights</a:t>
            </a:r>
          </a:p>
          <a:p>
            <a:r>
              <a:rPr lang="en-US" dirty="0"/>
              <a:t>They are the backbone of </a:t>
            </a:r>
            <a:r>
              <a:rPr lang="en-US" b="1" dirty="0"/>
              <a:t>CNNs</a:t>
            </a:r>
            <a:r>
              <a:rPr lang="en-US" dirty="0"/>
              <a:t> used in:</a:t>
            </a:r>
          </a:p>
          <a:p>
            <a:r>
              <a:rPr lang="en-US" dirty="0"/>
              <a:t>Image classification</a:t>
            </a:r>
          </a:p>
          <a:p>
            <a:r>
              <a:rPr lang="en-US" dirty="0"/>
              <a:t>Object detection</a:t>
            </a:r>
          </a:p>
          <a:p>
            <a:r>
              <a:rPr lang="en-US" dirty="0"/>
              <a:t>Medical imaging</a:t>
            </a:r>
          </a:p>
          <a:p>
            <a:r>
              <a:rPr lang="en-US" dirty="0"/>
              <a:t>Satellite imagery</a:t>
            </a:r>
          </a:p>
          <a:p>
            <a:r>
              <a:rPr lang="en-US" dirty="0"/>
              <a:t>Autonomous driving</a:t>
            </a:r>
          </a:p>
          <a:p>
            <a:r>
              <a:rPr lang="en-US" dirty="0"/>
              <a:t>Video analytics</a:t>
            </a:r>
          </a:p>
          <a:p>
            <a:endParaRPr lang="en-IN" dirty="0"/>
          </a:p>
        </p:txBody>
      </p:sp>
    </p:spTree>
    <p:extLst>
      <p:ext uri="{BB962C8B-B14F-4D97-AF65-F5344CB8AC3E}">
        <p14:creationId xmlns:p14="http://schemas.microsoft.com/office/powerpoint/2010/main" val="41473055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7971F-A6EA-22FE-9652-40A2072B5033}"/>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A1B9B627-1E95-D02C-7AEE-8604113ECC06}"/>
              </a:ext>
            </a:extLst>
          </p:cNvPr>
          <p:cNvGraphicFramePr>
            <a:graphicFrameLocks noGrp="1"/>
          </p:cNvGraphicFramePr>
          <p:nvPr>
            <p:ph idx="1"/>
            <p:extLst>
              <p:ext uri="{D42A27DB-BD31-4B8C-83A1-F6EECF244321}">
                <p14:modId xmlns:p14="http://schemas.microsoft.com/office/powerpoint/2010/main" val="3160441312"/>
              </p:ext>
            </p:extLst>
          </p:nvPr>
        </p:nvGraphicFramePr>
        <p:xfrm>
          <a:off x="2062018" y="2499867"/>
          <a:ext cx="5699991" cy="1463040"/>
        </p:xfrm>
        <a:graphic>
          <a:graphicData uri="http://schemas.openxmlformats.org/drawingml/2006/table">
            <a:tbl>
              <a:tblPr/>
              <a:tblGrid>
                <a:gridCol w="2417523">
                  <a:extLst>
                    <a:ext uri="{9D8B030D-6E8A-4147-A177-3AD203B41FA5}">
                      <a16:colId xmlns:a16="http://schemas.microsoft.com/office/drawing/2014/main" val="572362237"/>
                    </a:ext>
                  </a:extLst>
                </a:gridCol>
                <a:gridCol w="3282468">
                  <a:extLst>
                    <a:ext uri="{9D8B030D-6E8A-4147-A177-3AD203B41FA5}">
                      <a16:colId xmlns:a16="http://schemas.microsoft.com/office/drawing/2014/main" val="615804897"/>
                    </a:ext>
                  </a:extLst>
                </a:gridCol>
              </a:tblGrid>
              <a:tr h="344967">
                <a:tc>
                  <a:txBody>
                    <a:bodyPr/>
                    <a:lstStyle/>
                    <a:p>
                      <a:pPr>
                        <a:buNone/>
                      </a:pPr>
                      <a:r>
                        <a:rPr lang="en-IN" b="1"/>
                        <a:t>Layer Depth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What the Network Learns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2875577"/>
                  </a:ext>
                </a:extLst>
              </a:tr>
              <a:tr h="344967">
                <a:tc>
                  <a:txBody>
                    <a:bodyPr/>
                    <a:lstStyle/>
                    <a:p>
                      <a:pPr>
                        <a:buNone/>
                      </a:pPr>
                      <a:r>
                        <a:rPr lang="en-IN"/>
                        <a:t>Shallow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Edges, corners, textures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3166174"/>
                  </a:ext>
                </a:extLst>
              </a:tr>
              <a:tr h="344967">
                <a:tc>
                  <a:txBody>
                    <a:bodyPr/>
                    <a:lstStyle/>
                    <a:p>
                      <a:pPr>
                        <a:buNone/>
                      </a:pPr>
                      <a:r>
                        <a:rPr lang="en-IN"/>
                        <a:t>Middle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Shapes, motifs, parts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927102"/>
                  </a:ext>
                </a:extLst>
              </a:tr>
              <a:tr h="344967">
                <a:tc>
                  <a:txBody>
                    <a:bodyPr/>
                    <a:lstStyle/>
                    <a:p>
                      <a:pPr>
                        <a:buNone/>
                      </a:pPr>
                      <a:r>
                        <a:rPr lang="en-IN"/>
                        <a:t>Deep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Objects, semantics,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370870"/>
                  </a:ext>
                </a:extLst>
              </a:tr>
            </a:tbl>
          </a:graphicData>
        </a:graphic>
      </p:graphicFrame>
    </p:spTree>
    <p:extLst>
      <p:ext uri="{BB962C8B-B14F-4D97-AF65-F5344CB8AC3E}">
        <p14:creationId xmlns:p14="http://schemas.microsoft.com/office/powerpoint/2010/main" val="27066649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E968-B4DE-EB10-EDE7-049A0E031CC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E7B8A6D-7BDB-2004-5C10-3CF53D31FAB7}"/>
              </a:ext>
            </a:extLst>
          </p:cNvPr>
          <p:cNvSpPr>
            <a:spLocks noGrp="1"/>
          </p:cNvSpPr>
          <p:nvPr>
            <p:ph idx="1"/>
          </p:nvPr>
        </p:nvSpPr>
        <p:spPr/>
        <p:txBody>
          <a:bodyPr/>
          <a:lstStyle/>
          <a:p>
            <a:r>
              <a:rPr lang="en-US" b="1" dirty="0"/>
              <a:t>What are the layers in a DCNN model?</a:t>
            </a:r>
          </a:p>
          <a:p>
            <a:r>
              <a:rPr lang="en-US" dirty="0"/>
              <a:t>A deep convolutional neural network architecture includes five components: </a:t>
            </a:r>
          </a:p>
          <a:p>
            <a:r>
              <a:rPr lang="en-US" dirty="0"/>
              <a:t>1. Convolutional layer and rectified linear unit (</a:t>
            </a:r>
            <a:r>
              <a:rPr lang="en-US" dirty="0" err="1"/>
              <a:t>ReLu</a:t>
            </a:r>
            <a:r>
              <a:rPr lang="en-US" dirty="0"/>
              <a:t>)</a:t>
            </a:r>
            <a:br>
              <a:rPr lang="en-US" dirty="0"/>
            </a:br>
            <a:r>
              <a:rPr lang="en-US" dirty="0"/>
              <a:t>2. Pooling layer</a:t>
            </a:r>
            <a:br>
              <a:rPr lang="en-US" dirty="0"/>
            </a:br>
            <a:r>
              <a:rPr lang="en-US" dirty="0"/>
              <a:t>3. Fully connected layer</a:t>
            </a:r>
            <a:br>
              <a:rPr lang="en-US" dirty="0"/>
            </a:br>
            <a:r>
              <a:rPr lang="en-US" dirty="0"/>
              <a:t>4. Dropout</a:t>
            </a:r>
            <a:br>
              <a:rPr lang="en-US" dirty="0"/>
            </a:br>
            <a:r>
              <a:rPr lang="en-US" dirty="0"/>
              <a:t>5. Activation functions</a:t>
            </a:r>
          </a:p>
          <a:p>
            <a:endParaRPr lang="en-IN" dirty="0"/>
          </a:p>
        </p:txBody>
      </p:sp>
    </p:spTree>
    <p:extLst>
      <p:ext uri="{BB962C8B-B14F-4D97-AF65-F5344CB8AC3E}">
        <p14:creationId xmlns:p14="http://schemas.microsoft.com/office/powerpoint/2010/main" val="25894669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C3F4-18E2-098F-3D77-A8AB1D68DE1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83F9917-2AAE-3FEB-82C6-24BD7BF9D5A5}"/>
              </a:ext>
            </a:extLst>
          </p:cNvPr>
          <p:cNvSpPr>
            <a:spLocks noGrp="1"/>
          </p:cNvSpPr>
          <p:nvPr>
            <p:ph idx="1"/>
          </p:nvPr>
        </p:nvSpPr>
        <p:spPr/>
        <p:txBody>
          <a:bodyPr/>
          <a:lstStyle/>
          <a:p>
            <a:r>
              <a:rPr lang="en-US" dirty="0"/>
              <a:t>A deep convolutional neural network is composed of five layers. </a:t>
            </a:r>
          </a:p>
          <a:p>
            <a:r>
              <a:rPr lang="en-US" dirty="0"/>
              <a:t>The </a:t>
            </a:r>
            <a:r>
              <a:rPr lang="en-US" b="1" dirty="0"/>
              <a:t>convolutional and </a:t>
            </a:r>
            <a:r>
              <a:rPr lang="en-US" b="1" dirty="0" err="1"/>
              <a:t>ReLU</a:t>
            </a:r>
            <a:r>
              <a:rPr lang="en-US" b="1" dirty="0"/>
              <a:t> layer </a:t>
            </a:r>
            <a:r>
              <a:rPr lang="en-US" dirty="0"/>
              <a:t>is used to extract features from the input images. </a:t>
            </a:r>
          </a:p>
          <a:p>
            <a:r>
              <a:rPr lang="en-US" dirty="0"/>
              <a:t>The </a:t>
            </a:r>
            <a:r>
              <a:rPr lang="en-US" b="1" dirty="0"/>
              <a:t>pooling layer reduces </a:t>
            </a:r>
            <a:r>
              <a:rPr lang="en-US" dirty="0"/>
              <a:t>the computational cost. </a:t>
            </a:r>
          </a:p>
          <a:p>
            <a:r>
              <a:rPr lang="en-US" dirty="0"/>
              <a:t>The </a:t>
            </a:r>
            <a:r>
              <a:rPr lang="en-US" b="1" dirty="0"/>
              <a:t>fully connected layer </a:t>
            </a:r>
            <a:r>
              <a:rPr lang="en-US" dirty="0"/>
              <a:t>initiates the </a:t>
            </a:r>
            <a:r>
              <a:rPr lang="en-US" b="1" dirty="0"/>
              <a:t>classification stage.</a:t>
            </a:r>
          </a:p>
          <a:p>
            <a:r>
              <a:rPr lang="en-US" dirty="0"/>
              <a:t> The </a:t>
            </a:r>
            <a:r>
              <a:rPr lang="en-US" b="1" dirty="0"/>
              <a:t>dropout layer </a:t>
            </a:r>
            <a:r>
              <a:rPr lang="en-US" dirty="0"/>
              <a:t>tackles </a:t>
            </a:r>
            <a:r>
              <a:rPr lang="en-US" b="1" dirty="0"/>
              <a:t>overfitting </a:t>
            </a:r>
            <a:r>
              <a:rPr lang="en-US" dirty="0"/>
              <a:t>by randomly dropping a few neurons from the model. </a:t>
            </a:r>
          </a:p>
          <a:p>
            <a:r>
              <a:rPr lang="en-US" dirty="0"/>
              <a:t>And finally, the activation functions layer is where the model collects the dots among the data points and learns.</a:t>
            </a:r>
            <a:endParaRPr lang="en-IN" dirty="0"/>
          </a:p>
        </p:txBody>
      </p:sp>
    </p:spTree>
    <p:extLst>
      <p:ext uri="{BB962C8B-B14F-4D97-AF65-F5344CB8AC3E}">
        <p14:creationId xmlns:p14="http://schemas.microsoft.com/office/powerpoint/2010/main" val="25863654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0050C-940D-78E3-E115-C65546A55A4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0B28DDF-D5AC-3C13-CD0B-5F6CABB2E784}"/>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EEC036B0-8B3A-91F3-212F-DD67FBA231A3}"/>
              </a:ext>
            </a:extLst>
          </p:cNvPr>
          <p:cNvPicPr>
            <a:picLocks noChangeAspect="1"/>
          </p:cNvPicPr>
          <p:nvPr/>
        </p:nvPicPr>
        <p:blipFill>
          <a:blip r:embed="rId2"/>
          <a:stretch>
            <a:fillRect/>
          </a:stretch>
        </p:blipFill>
        <p:spPr>
          <a:xfrm>
            <a:off x="3149282" y="370001"/>
            <a:ext cx="5232718" cy="5902036"/>
          </a:xfrm>
          <a:prstGeom prst="rect">
            <a:avLst/>
          </a:prstGeom>
        </p:spPr>
      </p:pic>
    </p:spTree>
    <p:extLst>
      <p:ext uri="{BB962C8B-B14F-4D97-AF65-F5344CB8AC3E}">
        <p14:creationId xmlns:p14="http://schemas.microsoft.com/office/powerpoint/2010/main" val="22452241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4DB2-5714-E8BF-033C-A000CC9CE34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BFBDEE8-7C73-18BB-65F0-FF37DDA5A9C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F6DE294-8F9F-254C-6BAC-714CFFBDE24D}"/>
              </a:ext>
            </a:extLst>
          </p:cNvPr>
          <p:cNvPicPr>
            <a:picLocks noChangeAspect="1"/>
          </p:cNvPicPr>
          <p:nvPr/>
        </p:nvPicPr>
        <p:blipFill>
          <a:blip r:embed="rId2"/>
          <a:stretch>
            <a:fillRect/>
          </a:stretch>
        </p:blipFill>
        <p:spPr>
          <a:xfrm>
            <a:off x="1638300" y="526725"/>
            <a:ext cx="8399318" cy="5599545"/>
          </a:xfrm>
          <a:prstGeom prst="rect">
            <a:avLst/>
          </a:prstGeom>
        </p:spPr>
      </p:pic>
    </p:spTree>
    <p:extLst>
      <p:ext uri="{BB962C8B-B14F-4D97-AF65-F5344CB8AC3E}">
        <p14:creationId xmlns:p14="http://schemas.microsoft.com/office/powerpoint/2010/main" val="14303737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603E1-DE0B-DED6-6251-3D66B548CDAB}"/>
              </a:ext>
            </a:extLst>
          </p:cNvPr>
          <p:cNvSpPr>
            <a:spLocks noGrp="1"/>
          </p:cNvSpPr>
          <p:nvPr>
            <p:ph type="title"/>
          </p:nvPr>
        </p:nvSpPr>
        <p:spPr/>
        <p:txBody>
          <a:bodyPr>
            <a:normAutofit fontScale="90000"/>
          </a:bodyPr>
          <a:lstStyle/>
          <a:p>
            <a:r>
              <a:rPr lang="en-US" dirty="0"/>
              <a:t>1. Convolutional Layer and </a:t>
            </a:r>
            <a:r>
              <a:rPr lang="en-US" dirty="0" err="1"/>
              <a:t>ReLu</a:t>
            </a:r>
            <a:endParaRPr lang="en-IN" dirty="0"/>
          </a:p>
        </p:txBody>
      </p:sp>
      <p:sp>
        <p:nvSpPr>
          <p:cNvPr id="3" name="Content Placeholder 2">
            <a:extLst>
              <a:ext uri="{FF2B5EF4-FFF2-40B4-BE49-F238E27FC236}">
                <a16:creationId xmlns:a16="http://schemas.microsoft.com/office/drawing/2014/main" id="{7B8BCA08-A749-0F5E-CB3E-828233DDF6BB}"/>
              </a:ext>
            </a:extLst>
          </p:cNvPr>
          <p:cNvSpPr>
            <a:spLocks noGrp="1"/>
          </p:cNvSpPr>
          <p:nvPr>
            <p:ph idx="1"/>
          </p:nvPr>
        </p:nvSpPr>
        <p:spPr>
          <a:xfrm>
            <a:off x="748145" y="1496291"/>
            <a:ext cx="10478972" cy="4629979"/>
          </a:xfrm>
        </p:spPr>
        <p:txBody>
          <a:bodyPr/>
          <a:lstStyle/>
          <a:p>
            <a:r>
              <a:rPr lang="en-US" dirty="0"/>
              <a:t>This layer is the first layer that is used to extract the various features from the input images. </a:t>
            </a:r>
          </a:p>
          <a:p>
            <a:r>
              <a:rPr lang="en-US" dirty="0"/>
              <a:t>In this layer, the mathematical operation of convolution is performed between the input image and a filter of a particular size </a:t>
            </a:r>
            <a:r>
              <a:rPr lang="en-US" dirty="0" err="1"/>
              <a:t>MxM</a:t>
            </a:r>
            <a:r>
              <a:rPr lang="en-US" dirty="0"/>
              <a:t>. </a:t>
            </a:r>
          </a:p>
          <a:p>
            <a:r>
              <a:rPr lang="en-US" dirty="0"/>
              <a:t>By sliding the filter over the input image, the </a:t>
            </a:r>
            <a:r>
              <a:rPr lang="en-US" dirty="0">
                <a:hlinkClick r:id="rId2">
                  <a:extLst>
                    <a:ext uri="{A12FA001-AC4F-418D-AE19-62706E023703}">
                      <ahyp:hlinkClr xmlns:ahyp="http://schemas.microsoft.com/office/drawing/2018/hyperlinkcolor" val="tx"/>
                    </a:ext>
                  </a:extLst>
                </a:hlinkClick>
              </a:rPr>
              <a:t>dot product</a:t>
            </a:r>
            <a:r>
              <a:rPr lang="en-US" dirty="0"/>
              <a:t> is taken between the filter and the parts of the input image with respect to the size of the filter (</a:t>
            </a:r>
            <a:r>
              <a:rPr lang="en-US" dirty="0" err="1"/>
              <a:t>MxM</a:t>
            </a:r>
            <a:r>
              <a:rPr lang="en-US" dirty="0"/>
              <a:t>).</a:t>
            </a:r>
          </a:p>
          <a:p>
            <a:r>
              <a:rPr lang="en-US" dirty="0"/>
              <a:t>The output is termed as the feature map which gives us information about the image such as the </a:t>
            </a:r>
            <a:r>
              <a:rPr lang="en-US" b="1" dirty="0"/>
              <a:t>corners and edges</a:t>
            </a:r>
            <a:r>
              <a:rPr lang="en-US" dirty="0"/>
              <a:t>. </a:t>
            </a:r>
          </a:p>
          <a:p>
            <a:r>
              <a:rPr lang="en-US" dirty="0"/>
              <a:t>Later, this </a:t>
            </a:r>
            <a:r>
              <a:rPr lang="en-US" b="1" dirty="0"/>
              <a:t>feature map </a:t>
            </a:r>
            <a:r>
              <a:rPr lang="en-US" dirty="0"/>
              <a:t>is fed to other layers to learn several other features of the input image.</a:t>
            </a:r>
          </a:p>
          <a:p>
            <a:endParaRPr lang="en-IN" dirty="0"/>
          </a:p>
        </p:txBody>
      </p:sp>
    </p:spTree>
    <p:extLst>
      <p:ext uri="{BB962C8B-B14F-4D97-AF65-F5344CB8AC3E}">
        <p14:creationId xmlns:p14="http://schemas.microsoft.com/office/powerpoint/2010/main" val="9979900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05E-2852-5754-C846-0B29317CFD76}"/>
              </a:ext>
            </a:extLst>
          </p:cNvPr>
          <p:cNvSpPr>
            <a:spLocks noGrp="1"/>
          </p:cNvSpPr>
          <p:nvPr>
            <p:ph type="title"/>
          </p:nvPr>
        </p:nvSpPr>
        <p:spPr/>
        <p:txBody>
          <a:bodyPr>
            <a:normAutofit fontScale="90000"/>
          </a:bodyPr>
          <a:lstStyle/>
          <a:p>
            <a:r>
              <a:rPr lang="en-US" dirty="0"/>
              <a:t>2. Pooling Layer</a:t>
            </a:r>
            <a:endParaRPr lang="en-IN" dirty="0"/>
          </a:p>
        </p:txBody>
      </p:sp>
      <p:sp>
        <p:nvSpPr>
          <p:cNvPr id="3" name="Content Placeholder 2">
            <a:extLst>
              <a:ext uri="{FF2B5EF4-FFF2-40B4-BE49-F238E27FC236}">
                <a16:creationId xmlns:a16="http://schemas.microsoft.com/office/drawing/2014/main" id="{0DA7D837-8FEC-C200-3EF1-A6ED4936A452}"/>
              </a:ext>
            </a:extLst>
          </p:cNvPr>
          <p:cNvSpPr>
            <a:spLocks noGrp="1"/>
          </p:cNvSpPr>
          <p:nvPr>
            <p:ph idx="1"/>
          </p:nvPr>
        </p:nvSpPr>
        <p:spPr>
          <a:xfrm>
            <a:off x="561109" y="1340427"/>
            <a:ext cx="11263745" cy="4696691"/>
          </a:xfrm>
        </p:spPr>
        <p:txBody>
          <a:bodyPr>
            <a:normAutofit fontScale="92500"/>
          </a:bodyPr>
          <a:lstStyle/>
          <a:p>
            <a:r>
              <a:rPr lang="en-US" dirty="0"/>
              <a:t>In most cases, a convolutional layer is followed by a pooling layer. </a:t>
            </a:r>
          </a:p>
          <a:p>
            <a:r>
              <a:rPr lang="en-US" dirty="0"/>
              <a:t>The primary aim of this layer is to </a:t>
            </a:r>
            <a:r>
              <a:rPr lang="en-US" b="1" dirty="0"/>
              <a:t>decrease the size of the convolved feature map </a:t>
            </a:r>
            <a:r>
              <a:rPr lang="en-US" dirty="0"/>
              <a:t>to reduce computational costs. </a:t>
            </a:r>
          </a:p>
          <a:p>
            <a:r>
              <a:rPr lang="en-US" dirty="0"/>
              <a:t>This is performed by decreasing the connections between layers and independently operating on each feature map. </a:t>
            </a:r>
          </a:p>
          <a:p>
            <a:r>
              <a:rPr lang="en-US" dirty="0"/>
              <a:t>Depending upon the method used, there are several types of pooling operations.</a:t>
            </a:r>
          </a:p>
          <a:p>
            <a:r>
              <a:rPr lang="en-US" dirty="0"/>
              <a:t>In </a:t>
            </a:r>
            <a:r>
              <a:rPr lang="en-US" b="1" dirty="0"/>
              <a:t>max pooling</a:t>
            </a:r>
            <a:r>
              <a:rPr lang="en-US" dirty="0"/>
              <a:t>, the largest element is taken from the feature map. </a:t>
            </a:r>
          </a:p>
          <a:p>
            <a:r>
              <a:rPr lang="en-US" b="1" dirty="0"/>
              <a:t>Average pooling </a:t>
            </a:r>
            <a:r>
              <a:rPr lang="en-US" dirty="0"/>
              <a:t>calculates the average of the elements in a predefined size image section. </a:t>
            </a:r>
          </a:p>
          <a:p>
            <a:r>
              <a:rPr lang="en-US" dirty="0"/>
              <a:t>The total sum of the elements in the predefined section is computed in sum pooling</a:t>
            </a:r>
          </a:p>
          <a:p>
            <a:r>
              <a:rPr lang="en-US" dirty="0"/>
              <a:t> The pooling layer usually serves as a bridge between the convolutional layer and the fully connected layer</a:t>
            </a:r>
          </a:p>
          <a:p>
            <a:endParaRPr lang="en-IN" dirty="0"/>
          </a:p>
        </p:txBody>
      </p:sp>
    </p:spTree>
    <p:extLst>
      <p:ext uri="{BB962C8B-B14F-4D97-AF65-F5344CB8AC3E}">
        <p14:creationId xmlns:p14="http://schemas.microsoft.com/office/powerpoint/2010/main" val="27734233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9F0B5-9466-0104-6AEB-BF670DBFAE2E}"/>
              </a:ext>
            </a:extLst>
          </p:cNvPr>
          <p:cNvSpPr>
            <a:spLocks noGrp="1"/>
          </p:cNvSpPr>
          <p:nvPr>
            <p:ph type="title"/>
          </p:nvPr>
        </p:nvSpPr>
        <p:spPr/>
        <p:txBody>
          <a:bodyPr>
            <a:normAutofit fontScale="90000"/>
          </a:bodyPr>
          <a:lstStyle/>
          <a:p>
            <a:r>
              <a:rPr lang="en-US" dirty="0"/>
              <a:t>3. Fully Connected Layer</a:t>
            </a:r>
            <a:endParaRPr lang="en-IN" dirty="0"/>
          </a:p>
        </p:txBody>
      </p:sp>
      <p:sp>
        <p:nvSpPr>
          <p:cNvPr id="3" name="Content Placeholder 2">
            <a:extLst>
              <a:ext uri="{FF2B5EF4-FFF2-40B4-BE49-F238E27FC236}">
                <a16:creationId xmlns:a16="http://schemas.microsoft.com/office/drawing/2014/main" id="{D9F4EF1E-061E-39B8-CC44-92687A55B427}"/>
              </a:ext>
            </a:extLst>
          </p:cNvPr>
          <p:cNvSpPr>
            <a:spLocks noGrp="1"/>
          </p:cNvSpPr>
          <p:nvPr>
            <p:ph idx="1"/>
          </p:nvPr>
        </p:nvSpPr>
        <p:spPr>
          <a:xfrm>
            <a:off x="843280" y="1412240"/>
            <a:ext cx="10383837" cy="4714030"/>
          </a:xfrm>
        </p:spPr>
        <p:txBody>
          <a:bodyPr/>
          <a:lstStyle/>
          <a:p>
            <a:r>
              <a:rPr lang="en-US" dirty="0"/>
              <a:t>The fully connected (FC) layer consists of the </a:t>
            </a:r>
            <a:r>
              <a:rPr lang="en-US" b="1" dirty="0"/>
              <a:t>weights and biases along with the neurons </a:t>
            </a:r>
            <a:r>
              <a:rPr lang="en-US" dirty="0"/>
              <a:t>and is used to </a:t>
            </a:r>
            <a:r>
              <a:rPr lang="en-US" b="1" dirty="0"/>
              <a:t>connect the neurons between two different layers</a:t>
            </a:r>
            <a:r>
              <a:rPr lang="en-US" dirty="0"/>
              <a:t>. </a:t>
            </a:r>
          </a:p>
          <a:p>
            <a:r>
              <a:rPr lang="en-US" dirty="0"/>
              <a:t>These layers are usually placed before the output layer and form the last few layers of a CNN architecture.</a:t>
            </a:r>
          </a:p>
          <a:p>
            <a:r>
              <a:rPr lang="en-US" dirty="0"/>
              <a:t>In this, the input image from the previous layers is </a:t>
            </a:r>
            <a:r>
              <a:rPr lang="en-US" b="1" dirty="0"/>
              <a:t>flattened and fed to the FC </a:t>
            </a:r>
            <a:r>
              <a:rPr lang="en-US" dirty="0"/>
              <a:t>layer. </a:t>
            </a:r>
          </a:p>
          <a:p>
            <a:r>
              <a:rPr lang="en-US" dirty="0"/>
              <a:t>The flattened vector then undergoes a few more FC layers where mathematical operations usually take place. </a:t>
            </a:r>
          </a:p>
          <a:p>
            <a:r>
              <a:rPr lang="en-US" dirty="0"/>
              <a:t>In this stage, the classification process begins to take place.</a:t>
            </a:r>
          </a:p>
          <a:p>
            <a:endParaRPr lang="en-IN" dirty="0"/>
          </a:p>
        </p:txBody>
      </p:sp>
    </p:spTree>
    <p:extLst>
      <p:ext uri="{BB962C8B-B14F-4D97-AF65-F5344CB8AC3E}">
        <p14:creationId xmlns:p14="http://schemas.microsoft.com/office/powerpoint/2010/main" val="38083238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99960-6BDB-95F0-ABD4-6754655B7239}"/>
              </a:ext>
            </a:extLst>
          </p:cNvPr>
          <p:cNvSpPr>
            <a:spLocks noGrp="1"/>
          </p:cNvSpPr>
          <p:nvPr>
            <p:ph type="title"/>
          </p:nvPr>
        </p:nvSpPr>
        <p:spPr/>
        <p:txBody>
          <a:bodyPr>
            <a:normAutofit fontScale="90000"/>
          </a:bodyPr>
          <a:lstStyle/>
          <a:p>
            <a:r>
              <a:rPr lang="en-US" dirty="0"/>
              <a:t>4. Dropout Layer</a:t>
            </a:r>
            <a:endParaRPr lang="en-IN" dirty="0"/>
          </a:p>
        </p:txBody>
      </p:sp>
      <p:sp>
        <p:nvSpPr>
          <p:cNvPr id="3" name="Content Placeholder 2">
            <a:extLst>
              <a:ext uri="{FF2B5EF4-FFF2-40B4-BE49-F238E27FC236}">
                <a16:creationId xmlns:a16="http://schemas.microsoft.com/office/drawing/2014/main" id="{D6BFAE43-0E7A-571B-EF59-C7E00B64A605}"/>
              </a:ext>
            </a:extLst>
          </p:cNvPr>
          <p:cNvSpPr>
            <a:spLocks noGrp="1"/>
          </p:cNvSpPr>
          <p:nvPr>
            <p:ph idx="1"/>
          </p:nvPr>
        </p:nvSpPr>
        <p:spPr>
          <a:xfrm>
            <a:off x="690880" y="1475509"/>
            <a:ext cx="10536237" cy="4650761"/>
          </a:xfrm>
        </p:spPr>
        <p:txBody>
          <a:bodyPr/>
          <a:lstStyle/>
          <a:p>
            <a:r>
              <a:rPr lang="en-US" dirty="0"/>
              <a:t>Usually, when all the features are connected to the FC layer, it can cause </a:t>
            </a:r>
            <a:r>
              <a:rPr lang="en-US" b="1" dirty="0"/>
              <a:t>overfitting</a:t>
            </a:r>
            <a:r>
              <a:rPr lang="en-US" dirty="0"/>
              <a:t> in the training data set. </a:t>
            </a:r>
          </a:p>
          <a:p>
            <a:r>
              <a:rPr lang="en-US" dirty="0"/>
              <a:t>Overfitting occurs when a particular model works so well on the training data causing a </a:t>
            </a:r>
            <a:r>
              <a:rPr lang="en-US" b="1" dirty="0"/>
              <a:t>negative impact on the model’s performance when used on new data.</a:t>
            </a:r>
          </a:p>
          <a:p>
            <a:r>
              <a:rPr lang="en-US" dirty="0"/>
              <a:t>To overcome this problem, a dropout layer is utilized, wherein a few neurons are dropped from the neural network during the training process resulting in reduced size of the model.</a:t>
            </a:r>
          </a:p>
          <a:p>
            <a:r>
              <a:rPr lang="en-US" dirty="0"/>
              <a:t> On passing a dropout of 0.3, 30 percent of the nodes are dropped out randomly from the neural network.</a:t>
            </a:r>
          </a:p>
          <a:p>
            <a:endParaRPr lang="en-IN" dirty="0"/>
          </a:p>
        </p:txBody>
      </p:sp>
    </p:spTree>
    <p:extLst>
      <p:ext uri="{BB962C8B-B14F-4D97-AF65-F5344CB8AC3E}">
        <p14:creationId xmlns:p14="http://schemas.microsoft.com/office/powerpoint/2010/main" val="8571908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F81C3-6C47-A4B3-AAAA-1D18DCFBE201}"/>
              </a:ext>
            </a:extLst>
          </p:cNvPr>
          <p:cNvSpPr>
            <a:spLocks noGrp="1"/>
          </p:cNvSpPr>
          <p:nvPr>
            <p:ph type="title"/>
          </p:nvPr>
        </p:nvSpPr>
        <p:spPr/>
        <p:txBody>
          <a:bodyPr>
            <a:normAutofit fontScale="90000"/>
          </a:bodyPr>
          <a:lstStyle/>
          <a:p>
            <a:r>
              <a:rPr lang="en-US" dirty="0"/>
              <a:t>5. Activation Functions Layer</a:t>
            </a:r>
            <a:endParaRPr lang="en-IN" dirty="0"/>
          </a:p>
        </p:txBody>
      </p:sp>
      <p:sp>
        <p:nvSpPr>
          <p:cNvPr id="3" name="Content Placeholder 2">
            <a:extLst>
              <a:ext uri="{FF2B5EF4-FFF2-40B4-BE49-F238E27FC236}">
                <a16:creationId xmlns:a16="http://schemas.microsoft.com/office/drawing/2014/main" id="{15168C89-828E-CA08-24AE-ED517DA831DC}"/>
              </a:ext>
            </a:extLst>
          </p:cNvPr>
          <p:cNvSpPr>
            <a:spLocks noGrp="1"/>
          </p:cNvSpPr>
          <p:nvPr>
            <p:ph idx="1"/>
          </p:nvPr>
        </p:nvSpPr>
        <p:spPr>
          <a:xfrm>
            <a:off x="394856" y="1589809"/>
            <a:ext cx="11523518" cy="4536461"/>
          </a:xfrm>
        </p:spPr>
        <p:txBody>
          <a:bodyPr>
            <a:normAutofit fontScale="92500"/>
          </a:bodyPr>
          <a:lstStyle/>
          <a:p>
            <a:r>
              <a:rPr lang="en-US" dirty="0"/>
              <a:t>Finally, one of the most important parameters of the CNN model is the activation function. </a:t>
            </a:r>
          </a:p>
          <a:p>
            <a:r>
              <a:rPr lang="en-US" dirty="0"/>
              <a:t>They are used to </a:t>
            </a:r>
            <a:r>
              <a:rPr lang="en-US" b="1" dirty="0"/>
              <a:t>learn and approximate any kind of continuous and complex relationship </a:t>
            </a:r>
            <a:r>
              <a:rPr lang="en-US" dirty="0"/>
              <a:t>between variables of the network. </a:t>
            </a:r>
          </a:p>
          <a:p>
            <a:r>
              <a:rPr lang="en-US" dirty="0"/>
              <a:t>In simple words, it decides </a:t>
            </a:r>
            <a:r>
              <a:rPr lang="en-US" b="1" dirty="0"/>
              <a:t>which information of the model should fire in the forward direction and which ones should not at the end of the network.</a:t>
            </a:r>
          </a:p>
          <a:p>
            <a:r>
              <a:rPr lang="en-US" dirty="0"/>
              <a:t>It adds non-linearity to the network. </a:t>
            </a:r>
          </a:p>
          <a:p>
            <a:r>
              <a:rPr lang="en-US" dirty="0"/>
              <a:t>There are several commonly used activation functions such as the </a:t>
            </a:r>
            <a:r>
              <a:rPr lang="en-US" dirty="0" err="1"/>
              <a:t>ReLU</a:t>
            </a:r>
            <a:r>
              <a:rPr lang="en-US" dirty="0"/>
              <a:t>, </a:t>
            </a:r>
            <a:r>
              <a:rPr lang="en-US" dirty="0" err="1"/>
              <a:t>Softmax</a:t>
            </a:r>
            <a:r>
              <a:rPr lang="en-US" dirty="0"/>
              <a:t>, </a:t>
            </a:r>
            <a:r>
              <a:rPr lang="en-US" dirty="0" err="1"/>
              <a:t>tanH</a:t>
            </a:r>
            <a:r>
              <a:rPr lang="en-US" dirty="0"/>
              <a:t>, and the Sigmoid functions. </a:t>
            </a:r>
          </a:p>
          <a:p>
            <a:r>
              <a:rPr lang="en-US" dirty="0"/>
              <a:t>Each of these functions has a specific usage. </a:t>
            </a:r>
          </a:p>
          <a:p>
            <a:r>
              <a:rPr lang="en-US" dirty="0"/>
              <a:t>For a binary classification CNN model, Sigmoid and </a:t>
            </a:r>
            <a:r>
              <a:rPr lang="en-US" dirty="0" err="1"/>
              <a:t>softmax</a:t>
            </a:r>
            <a:r>
              <a:rPr lang="en-US" dirty="0"/>
              <a:t> functions are preferred and for multiclass classification, </a:t>
            </a:r>
            <a:r>
              <a:rPr lang="en-US" dirty="0" err="1"/>
              <a:t>softmax</a:t>
            </a:r>
            <a:r>
              <a:rPr lang="en-US" dirty="0"/>
              <a:t> is used.</a:t>
            </a:r>
            <a:endParaRPr lang="en-IN" dirty="0"/>
          </a:p>
        </p:txBody>
      </p:sp>
    </p:spTree>
    <p:extLst>
      <p:ext uri="{BB962C8B-B14F-4D97-AF65-F5344CB8AC3E}">
        <p14:creationId xmlns:p14="http://schemas.microsoft.com/office/powerpoint/2010/main" val="1478470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A3AD2-A78B-BB2D-BEA3-5FD2A8E6E538}"/>
              </a:ext>
            </a:extLst>
          </p:cNvPr>
          <p:cNvSpPr>
            <a:spLocks noGrp="1"/>
          </p:cNvSpPr>
          <p:nvPr>
            <p:ph type="title"/>
          </p:nvPr>
        </p:nvSpPr>
        <p:spPr/>
        <p:txBody>
          <a:bodyPr>
            <a:normAutofit fontScale="90000"/>
          </a:bodyPr>
          <a:lstStyle/>
          <a:p>
            <a:r>
              <a:rPr lang="en-US" dirty="0"/>
              <a:t>How Does a DCNN Work?</a:t>
            </a:r>
            <a:endParaRPr lang="en-IN" dirty="0"/>
          </a:p>
        </p:txBody>
      </p:sp>
      <p:sp>
        <p:nvSpPr>
          <p:cNvPr id="3" name="Content Placeholder 2">
            <a:extLst>
              <a:ext uri="{FF2B5EF4-FFF2-40B4-BE49-F238E27FC236}">
                <a16:creationId xmlns:a16="http://schemas.microsoft.com/office/drawing/2014/main" id="{D89753D4-39C7-3682-6BF9-FE403528FA89}"/>
              </a:ext>
            </a:extLst>
          </p:cNvPr>
          <p:cNvSpPr>
            <a:spLocks noGrp="1"/>
          </p:cNvSpPr>
          <p:nvPr>
            <p:ph idx="1"/>
          </p:nvPr>
        </p:nvSpPr>
        <p:spPr>
          <a:xfrm>
            <a:off x="914400" y="1662545"/>
            <a:ext cx="10312717" cy="4463725"/>
          </a:xfrm>
        </p:spPr>
        <p:txBody>
          <a:bodyPr/>
          <a:lstStyle/>
          <a:p>
            <a:r>
              <a:rPr lang="en-US" dirty="0"/>
              <a:t>However, When presented with a new image, the CNN doesn’t know exactly where these features will match, so it tries them everywhere, in every possible position. </a:t>
            </a:r>
          </a:p>
          <a:p>
            <a:r>
              <a:rPr lang="en-US" dirty="0"/>
              <a:t>It matches feature matrices in steps by shifting the defined steps at a time. In calculating the match to a feature across the whole image, we make it a filter. </a:t>
            </a:r>
          </a:p>
          <a:p>
            <a:r>
              <a:rPr lang="en-US" dirty="0"/>
              <a:t>The math we use to do this is called </a:t>
            </a:r>
            <a:r>
              <a:rPr lang="en-US" b="1" dirty="0"/>
              <a:t>convolution</a:t>
            </a:r>
            <a:r>
              <a:rPr lang="en-US" dirty="0"/>
              <a:t>, from which convolutional neural networks take their name.</a:t>
            </a:r>
            <a:endParaRPr lang="en-IN" dirty="0"/>
          </a:p>
        </p:txBody>
      </p:sp>
    </p:spTree>
    <p:extLst>
      <p:ext uri="{BB962C8B-B14F-4D97-AF65-F5344CB8AC3E}">
        <p14:creationId xmlns:p14="http://schemas.microsoft.com/office/powerpoint/2010/main" val="4259157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B73B-3378-59F3-12C9-FFD0A72DC06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36A8D5C-471F-1B5B-1BAC-AB8C42B474E9}"/>
              </a:ext>
            </a:extLst>
          </p:cNvPr>
          <p:cNvSpPr>
            <a:spLocks noGrp="1"/>
          </p:cNvSpPr>
          <p:nvPr>
            <p:ph idx="1"/>
          </p:nvPr>
        </p:nvSpPr>
        <p:spPr/>
        <p:txBody>
          <a:bodyPr/>
          <a:lstStyle/>
          <a:p>
            <a:r>
              <a:rPr lang="en-US" b="1" dirty="0"/>
              <a:t>The next step </a:t>
            </a:r>
            <a:r>
              <a:rPr lang="en-US" dirty="0"/>
              <a:t>is to repeat the convolution process in its entirety for each of the other features. </a:t>
            </a:r>
          </a:p>
          <a:p>
            <a:r>
              <a:rPr lang="en-US" dirty="0"/>
              <a:t>The result is a set of filtered images, one for each of our filters.</a:t>
            </a:r>
          </a:p>
          <a:p>
            <a:r>
              <a:rPr lang="en-US" dirty="0"/>
              <a:t> It’s convenient to think of this whole collection of convolution operations as a single processing step.</a:t>
            </a:r>
            <a:endParaRPr lang="en-IN" dirty="0"/>
          </a:p>
        </p:txBody>
      </p:sp>
    </p:spTree>
    <p:extLst>
      <p:ext uri="{BB962C8B-B14F-4D97-AF65-F5344CB8AC3E}">
        <p14:creationId xmlns:p14="http://schemas.microsoft.com/office/powerpoint/2010/main" val="40518608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4E115-3EF8-70FE-7F51-DCC9A0B66E3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7A0A313-D486-0E29-B378-8F1A8C55B5D1}"/>
              </a:ext>
            </a:extLst>
          </p:cNvPr>
          <p:cNvSpPr>
            <a:spLocks noGrp="1"/>
          </p:cNvSpPr>
          <p:nvPr>
            <p:ph idx="1"/>
          </p:nvPr>
        </p:nvSpPr>
        <p:spPr>
          <a:xfrm>
            <a:off x="1025842" y="1517073"/>
            <a:ext cx="10201275" cy="4609197"/>
          </a:xfrm>
        </p:spPr>
        <p:txBody>
          <a:bodyPr/>
          <a:lstStyle/>
          <a:p>
            <a:r>
              <a:rPr lang="en-US" dirty="0"/>
              <a:t>Now comes the step where we introduce so-called </a:t>
            </a:r>
            <a:r>
              <a:rPr lang="en-US" b="1" dirty="0"/>
              <a:t>“non-linearity</a:t>
            </a:r>
            <a:r>
              <a:rPr lang="en-US" dirty="0"/>
              <a:t>” in our model, so that our model can predict and learn non-linear boundaries. </a:t>
            </a:r>
          </a:p>
          <a:p>
            <a:r>
              <a:rPr lang="en-US" dirty="0"/>
              <a:t>A very common way to do this is using a nonlinear function (like </a:t>
            </a:r>
            <a:r>
              <a:rPr lang="en-US" dirty="0" err="1"/>
              <a:t>ReLU</a:t>
            </a:r>
            <a:r>
              <a:rPr lang="en-US" dirty="0"/>
              <a:t> or </a:t>
            </a:r>
            <a:r>
              <a:rPr lang="en-US" dirty="0" err="1"/>
              <a:t>GeLU</a:t>
            </a:r>
            <a:r>
              <a:rPr lang="en-US" dirty="0"/>
              <a:t>). </a:t>
            </a:r>
          </a:p>
          <a:p>
            <a:r>
              <a:rPr lang="en-US" dirty="0"/>
              <a:t>The most popular non-linear function is </a:t>
            </a:r>
            <a:r>
              <a:rPr lang="en-US" dirty="0" err="1"/>
              <a:t>ReLU</a:t>
            </a:r>
            <a:r>
              <a:rPr lang="en-US" dirty="0"/>
              <a:t> which performs a simple math operation: wherever a negative number occurs, swap it out for a 0. </a:t>
            </a:r>
          </a:p>
          <a:p>
            <a:r>
              <a:rPr lang="en-US" dirty="0"/>
              <a:t>This helps the CNN stay mathematically healthy by keeping learned values from getting stuck near zero or blowing up toward infinity. </a:t>
            </a:r>
          </a:p>
          <a:p>
            <a:r>
              <a:rPr lang="en-US" dirty="0"/>
              <a:t>Note that this convolution and </a:t>
            </a:r>
            <a:r>
              <a:rPr lang="en-US" dirty="0" err="1"/>
              <a:t>ReLU</a:t>
            </a:r>
            <a:r>
              <a:rPr lang="en-US" dirty="0"/>
              <a:t> operation may create </a:t>
            </a:r>
            <a:r>
              <a:rPr lang="en-US" b="1" dirty="0"/>
              <a:t>massive feature maps</a:t>
            </a:r>
            <a:r>
              <a:rPr lang="en-US" dirty="0"/>
              <a:t>, and it’s crucial to </a:t>
            </a:r>
            <a:r>
              <a:rPr lang="en-US" b="1" dirty="0"/>
              <a:t>reduce the feature map size </a:t>
            </a:r>
            <a:r>
              <a:rPr lang="en-US" dirty="0"/>
              <a:t>while keeping the identified feature intact.</a:t>
            </a:r>
            <a:endParaRPr lang="en-IN" dirty="0"/>
          </a:p>
        </p:txBody>
      </p:sp>
    </p:spTree>
    <p:extLst>
      <p:ext uri="{BB962C8B-B14F-4D97-AF65-F5344CB8AC3E}">
        <p14:creationId xmlns:p14="http://schemas.microsoft.com/office/powerpoint/2010/main" val="26991797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E451D-170B-5F7A-36A6-8E511F90AC6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DF2DD51-568B-5EBC-ECE6-0C951DCC44E2}"/>
              </a:ext>
            </a:extLst>
          </p:cNvPr>
          <p:cNvSpPr>
            <a:spLocks noGrp="1"/>
          </p:cNvSpPr>
          <p:nvPr>
            <p:ph idx="1"/>
          </p:nvPr>
        </p:nvSpPr>
        <p:spPr>
          <a:xfrm>
            <a:off x="1025842" y="1513812"/>
            <a:ext cx="10058400" cy="4217604"/>
          </a:xfrm>
        </p:spPr>
        <p:txBody>
          <a:bodyPr/>
          <a:lstStyle/>
          <a:p>
            <a:r>
              <a:rPr lang="en-US" b="1" dirty="0"/>
              <a:t>Pooling i</a:t>
            </a:r>
            <a:r>
              <a:rPr lang="en-US" dirty="0"/>
              <a:t>s a way to take large images and shrink them down while preserving the most important information in them.</a:t>
            </a:r>
          </a:p>
          <a:p>
            <a:r>
              <a:rPr lang="en-US" dirty="0"/>
              <a:t> It consists of stepping a small window across an image and taking the maximum value from the window at each step. In practice, a window of two or three pixels on a side and steps of two pixels work well.</a:t>
            </a:r>
          </a:p>
          <a:p>
            <a:r>
              <a:rPr lang="en-US" dirty="0"/>
              <a:t> A pooling layer is just the operation of performing pooling on an image or a collection of images. </a:t>
            </a:r>
          </a:p>
          <a:p>
            <a:r>
              <a:rPr lang="en-US" dirty="0"/>
              <a:t>The output will have the same number of images, but they will each have fewer pixels. </a:t>
            </a:r>
          </a:p>
          <a:p>
            <a:r>
              <a:rPr lang="en-US" dirty="0"/>
              <a:t>This is also helpful in managing the computational load.</a:t>
            </a:r>
            <a:endParaRPr lang="en-IN" dirty="0"/>
          </a:p>
        </p:txBody>
      </p:sp>
    </p:spTree>
    <p:extLst>
      <p:ext uri="{BB962C8B-B14F-4D97-AF65-F5344CB8AC3E}">
        <p14:creationId xmlns:p14="http://schemas.microsoft.com/office/powerpoint/2010/main" val="22620848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F7F4D-D8A6-BB8D-4626-7C1BE0F29CC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AD92B83-C1D9-8BB5-E3C6-6F640A6DFAB9}"/>
              </a:ext>
            </a:extLst>
          </p:cNvPr>
          <p:cNvSpPr>
            <a:spLocks noGrp="1"/>
          </p:cNvSpPr>
          <p:nvPr>
            <p:ph idx="1"/>
          </p:nvPr>
        </p:nvSpPr>
        <p:spPr>
          <a:xfrm>
            <a:off x="1025842" y="1361209"/>
            <a:ext cx="10201275" cy="4765061"/>
          </a:xfrm>
        </p:spPr>
        <p:txBody>
          <a:bodyPr/>
          <a:lstStyle/>
          <a:p>
            <a:r>
              <a:rPr lang="en-US" dirty="0"/>
              <a:t>Once the desired amount of convolution operations are </a:t>
            </a:r>
            <a:r>
              <a:rPr lang="en-US" dirty="0" err="1"/>
              <a:t>performed,depending</a:t>
            </a:r>
            <a:r>
              <a:rPr lang="en-US" dirty="0"/>
              <a:t> upon the designed model, it is now time to make use of the power of </a:t>
            </a:r>
            <a:r>
              <a:rPr lang="en-US" dirty="0">
                <a:hlinkClick r:id="rId2"/>
              </a:rPr>
              <a:t>deep learning</a:t>
            </a:r>
            <a:r>
              <a:rPr lang="en-US" dirty="0"/>
              <a:t> neural networks to harness the full potential of the operations performed in earlier stages. </a:t>
            </a:r>
          </a:p>
          <a:p>
            <a:r>
              <a:rPr lang="en-US" dirty="0"/>
              <a:t>But before we pass the pooled feature maps to the neural network for learning, we need to </a:t>
            </a:r>
            <a:r>
              <a:rPr lang="en-US" b="1" dirty="0"/>
              <a:t>flatten the matrices. </a:t>
            </a:r>
          </a:p>
          <a:p>
            <a:r>
              <a:rPr lang="en-US" dirty="0"/>
              <a:t>The reason is very obvious: a neural network only accepts a single dimension input. So, we stack them like Lego bricks. </a:t>
            </a:r>
          </a:p>
          <a:p>
            <a:r>
              <a:rPr lang="en-US" dirty="0"/>
              <a:t>In the end, raw images get filtered, rectified, and pooled to create a set of shrunken, feature-filtered images, and now it is ready to go into the world of neurons, a neural network.</a:t>
            </a:r>
            <a:endParaRPr lang="en-IN" dirty="0"/>
          </a:p>
        </p:txBody>
      </p:sp>
    </p:spTree>
    <p:extLst>
      <p:ext uri="{BB962C8B-B14F-4D97-AF65-F5344CB8AC3E}">
        <p14:creationId xmlns:p14="http://schemas.microsoft.com/office/powerpoint/2010/main" val="298166032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B414D-9E9E-9E42-B5CD-37F40026082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186A241-AEBB-53DC-F832-48AECF297E40}"/>
              </a:ext>
            </a:extLst>
          </p:cNvPr>
          <p:cNvSpPr>
            <a:spLocks noGrp="1"/>
          </p:cNvSpPr>
          <p:nvPr>
            <p:ph idx="1"/>
          </p:nvPr>
        </p:nvSpPr>
        <p:spPr>
          <a:xfrm>
            <a:off x="1025842" y="1537855"/>
            <a:ext cx="10201275" cy="4588415"/>
          </a:xfrm>
        </p:spPr>
        <p:txBody>
          <a:bodyPr/>
          <a:lstStyle/>
          <a:p>
            <a:r>
              <a:rPr lang="en-US" dirty="0"/>
              <a:t>The fully connected layers in the neural network take the h</a:t>
            </a:r>
            <a:r>
              <a:rPr lang="en-US" b="1" dirty="0"/>
              <a:t>igh-level filtered images, one dimension rectified pooled feature map, </a:t>
            </a:r>
            <a:r>
              <a:rPr lang="en-US" dirty="0"/>
              <a:t>and translate them into </a:t>
            </a:r>
            <a:r>
              <a:rPr lang="en-US" b="1" dirty="0"/>
              <a:t>votes (or signals). </a:t>
            </a:r>
          </a:p>
          <a:p>
            <a:r>
              <a:rPr lang="en-US" dirty="0"/>
              <a:t>These votes are expressed </a:t>
            </a:r>
            <a:r>
              <a:rPr lang="en-US" b="1" dirty="0"/>
              <a:t>as weights</a:t>
            </a:r>
            <a:r>
              <a:rPr lang="en-US" dirty="0"/>
              <a:t>, or connection strengths, between each value and each category. </a:t>
            </a:r>
          </a:p>
          <a:p>
            <a:r>
              <a:rPr lang="en-US" dirty="0"/>
              <a:t>When a new image is presented to the CNN, it percolates through the lower layers until it reaches the fully connected layer at the end.</a:t>
            </a:r>
          </a:p>
          <a:p>
            <a:r>
              <a:rPr lang="en-US" dirty="0"/>
              <a:t> Then an election is held. The answer with the most votes wins and is declared the category of the input.</a:t>
            </a:r>
            <a:endParaRPr lang="en-IN" dirty="0"/>
          </a:p>
        </p:txBody>
      </p:sp>
    </p:spTree>
    <p:extLst>
      <p:ext uri="{BB962C8B-B14F-4D97-AF65-F5344CB8AC3E}">
        <p14:creationId xmlns:p14="http://schemas.microsoft.com/office/powerpoint/2010/main" val="33699776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DD01B-DB0C-2D47-8606-40153F54B3A0}"/>
              </a:ext>
            </a:extLst>
          </p:cNvPr>
          <p:cNvSpPr>
            <a:spLocks noGrp="1"/>
          </p:cNvSpPr>
          <p:nvPr>
            <p:ph type="title"/>
          </p:nvPr>
        </p:nvSpPr>
        <p:spPr/>
        <p:txBody>
          <a:bodyPr>
            <a:normAutofit fontScale="90000"/>
          </a:bodyPr>
          <a:lstStyle/>
          <a:p>
            <a:r>
              <a:rPr lang="en-IN" dirty="0"/>
              <a:t>Challenges in Deep Convolutional Models</a:t>
            </a:r>
          </a:p>
        </p:txBody>
      </p:sp>
      <p:sp>
        <p:nvSpPr>
          <p:cNvPr id="3" name="Content Placeholder 2">
            <a:extLst>
              <a:ext uri="{FF2B5EF4-FFF2-40B4-BE49-F238E27FC236}">
                <a16:creationId xmlns:a16="http://schemas.microsoft.com/office/drawing/2014/main" id="{1CA3B752-5EE2-5E9C-F022-927A8116F0B5}"/>
              </a:ext>
            </a:extLst>
          </p:cNvPr>
          <p:cNvSpPr>
            <a:spLocks noGrp="1"/>
          </p:cNvSpPr>
          <p:nvPr>
            <p:ph idx="1"/>
          </p:nvPr>
        </p:nvSpPr>
        <p:spPr/>
        <p:txBody>
          <a:bodyPr>
            <a:normAutofit/>
          </a:bodyPr>
          <a:lstStyle/>
          <a:p>
            <a:pPr marL="0" indent="0">
              <a:buNone/>
            </a:pPr>
            <a:r>
              <a:rPr lang="en-IN" b="1" dirty="0"/>
              <a:t>1. Vanishing / Exploding Gradients</a:t>
            </a:r>
          </a:p>
          <a:p>
            <a:pPr marL="0" indent="0">
              <a:buNone/>
            </a:pPr>
            <a:r>
              <a:rPr lang="en-IN" dirty="0"/>
              <a:t>Especially in very deep networks</a:t>
            </a:r>
          </a:p>
          <a:p>
            <a:pPr marL="0" indent="0">
              <a:buNone/>
            </a:pPr>
            <a:r>
              <a:rPr lang="en-IN" b="1" dirty="0"/>
              <a:t>2. Overfitting</a:t>
            </a:r>
          </a:p>
          <a:p>
            <a:pPr marL="0" indent="0">
              <a:buNone/>
            </a:pPr>
            <a:r>
              <a:rPr lang="en-IN" dirty="0"/>
              <a:t>Due to large parameter count</a:t>
            </a:r>
          </a:p>
          <a:p>
            <a:pPr marL="0" indent="0">
              <a:buNone/>
            </a:pPr>
            <a:r>
              <a:rPr lang="en-IN" b="1" dirty="0"/>
              <a:t>3. Computational Cost</a:t>
            </a:r>
          </a:p>
          <a:p>
            <a:pPr marL="0" indent="0">
              <a:buNone/>
            </a:pPr>
            <a:r>
              <a:rPr lang="en-IN" dirty="0"/>
              <a:t>Memory and GPU intensive</a:t>
            </a:r>
          </a:p>
          <a:p>
            <a:pPr marL="0" indent="0">
              <a:buNone/>
            </a:pPr>
            <a:r>
              <a:rPr lang="en-IN" b="1" dirty="0"/>
              <a:t>4. Degradation Problem</a:t>
            </a:r>
          </a:p>
          <a:p>
            <a:pPr marL="0" indent="0">
              <a:buNone/>
            </a:pPr>
            <a:r>
              <a:rPr lang="en-IN" dirty="0"/>
              <a:t>Accuracy decreases when depth increases (not overfitting)</a:t>
            </a:r>
          </a:p>
          <a:p>
            <a:endParaRPr lang="en-IN" dirty="0"/>
          </a:p>
        </p:txBody>
      </p:sp>
    </p:spTree>
    <p:extLst>
      <p:ext uri="{BB962C8B-B14F-4D97-AF65-F5344CB8AC3E}">
        <p14:creationId xmlns:p14="http://schemas.microsoft.com/office/powerpoint/2010/main" val="42027076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CEB62-E910-3938-3969-EC02E1793F38}"/>
              </a:ext>
            </a:extLst>
          </p:cNvPr>
          <p:cNvSpPr>
            <a:spLocks noGrp="1"/>
          </p:cNvSpPr>
          <p:nvPr>
            <p:ph type="title"/>
          </p:nvPr>
        </p:nvSpPr>
        <p:spPr/>
        <p:txBody>
          <a:bodyPr>
            <a:normAutofit fontScale="90000"/>
          </a:bodyPr>
          <a:lstStyle/>
          <a:p>
            <a:r>
              <a:rPr lang="en-US" dirty="0"/>
              <a:t>Solutions to Deep CNN Challenges</a:t>
            </a:r>
            <a:endParaRPr lang="en-IN" dirty="0"/>
          </a:p>
        </p:txBody>
      </p:sp>
      <p:graphicFrame>
        <p:nvGraphicFramePr>
          <p:cNvPr id="4" name="Content Placeholder 3">
            <a:extLst>
              <a:ext uri="{FF2B5EF4-FFF2-40B4-BE49-F238E27FC236}">
                <a16:creationId xmlns:a16="http://schemas.microsoft.com/office/drawing/2014/main" id="{5E6F5DC6-D925-48E3-46B0-72EC2A59EEB5}"/>
              </a:ext>
            </a:extLst>
          </p:cNvPr>
          <p:cNvGraphicFramePr>
            <a:graphicFrameLocks noGrp="1"/>
          </p:cNvGraphicFramePr>
          <p:nvPr>
            <p:ph idx="1"/>
            <p:extLst>
              <p:ext uri="{D42A27DB-BD31-4B8C-83A1-F6EECF244321}">
                <p14:modId xmlns:p14="http://schemas.microsoft.com/office/powerpoint/2010/main" val="1070006488"/>
              </p:ext>
            </p:extLst>
          </p:nvPr>
        </p:nvGraphicFramePr>
        <p:xfrm>
          <a:off x="2165927" y="2425510"/>
          <a:ext cx="6437746" cy="1828800"/>
        </p:xfrm>
        <a:graphic>
          <a:graphicData uri="http://schemas.openxmlformats.org/drawingml/2006/table">
            <a:tbl>
              <a:tblPr/>
              <a:tblGrid>
                <a:gridCol w="3218873">
                  <a:extLst>
                    <a:ext uri="{9D8B030D-6E8A-4147-A177-3AD203B41FA5}">
                      <a16:colId xmlns:a16="http://schemas.microsoft.com/office/drawing/2014/main" val="1422119929"/>
                    </a:ext>
                  </a:extLst>
                </a:gridCol>
                <a:gridCol w="3218873">
                  <a:extLst>
                    <a:ext uri="{9D8B030D-6E8A-4147-A177-3AD203B41FA5}">
                      <a16:colId xmlns:a16="http://schemas.microsoft.com/office/drawing/2014/main" val="3117763960"/>
                    </a:ext>
                  </a:extLst>
                </a:gridCol>
              </a:tblGrid>
              <a:tr h="350390">
                <a:tc>
                  <a:txBody>
                    <a:bodyPr/>
                    <a:lstStyle/>
                    <a:p>
                      <a:pPr>
                        <a:buNone/>
                      </a:pPr>
                      <a:r>
                        <a:rPr lang="en-IN" b="1"/>
                        <a:t>Problem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Solution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275932"/>
                  </a:ext>
                </a:extLst>
              </a:tr>
              <a:tr h="350390">
                <a:tc>
                  <a:txBody>
                    <a:bodyPr/>
                    <a:lstStyle/>
                    <a:p>
                      <a:pPr>
                        <a:buNone/>
                      </a:pPr>
                      <a:r>
                        <a:rPr lang="en-IN"/>
                        <a:t>Vanishing gradients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ReLU, BatchNorm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378552"/>
                  </a:ext>
                </a:extLst>
              </a:tr>
              <a:tr h="350390">
                <a:tc>
                  <a:txBody>
                    <a:bodyPr/>
                    <a:lstStyle/>
                    <a:p>
                      <a:pPr>
                        <a:buNone/>
                      </a:pPr>
                      <a:r>
                        <a:rPr lang="en-IN"/>
                        <a:t>Overfitting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Dropout, augmentation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4167310"/>
                  </a:ext>
                </a:extLst>
              </a:tr>
              <a:tr h="350390">
                <a:tc>
                  <a:txBody>
                    <a:bodyPr/>
                    <a:lstStyle/>
                    <a:p>
                      <a:pPr>
                        <a:buNone/>
                      </a:pPr>
                      <a:r>
                        <a:rPr lang="en-IN"/>
                        <a:t>Degradation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Residual connections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2682038"/>
                  </a:ext>
                </a:extLst>
              </a:tr>
              <a:tr h="350390">
                <a:tc>
                  <a:txBody>
                    <a:bodyPr/>
                    <a:lstStyle/>
                    <a:p>
                      <a:pPr>
                        <a:buNone/>
                      </a:pPr>
                      <a:r>
                        <a:rPr lang="en-IN"/>
                        <a:t>High computation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err="1"/>
                        <a:t>Depthwise</a:t>
                      </a:r>
                      <a:r>
                        <a:rPr lang="en-IN" dirty="0"/>
                        <a:t> separable conv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107958"/>
                  </a:ext>
                </a:extLst>
              </a:tr>
            </a:tbl>
          </a:graphicData>
        </a:graphic>
      </p:graphicFrame>
    </p:spTree>
    <p:extLst>
      <p:ext uri="{BB962C8B-B14F-4D97-AF65-F5344CB8AC3E}">
        <p14:creationId xmlns:p14="http://schemas.microsoft.com/office/powerpoint/2010/main" val="6723471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27F3B-D275-4D9D-8757-837D060D85D8}"/>
              </a:ext>
            </a:extLst>
          </p:cNvPr>
          <p:cNvSpPr>
            <a:spLocks noGrp="1"/>
          </p:cNvSpPr>
          <p:nvPr>
            <p:ph type="title"/>
          </p:nvPr>
        </p:nvSpPr>
        <p:spPr/>
        <p:txBody>
          <a:bodyPr>
            <a:normAutofit fontScale="90000"/>
          </a:bodyPr>
          <a:lstStyle/>
          <a:p>
            <a:r>
              <a:rPr lang="en-IN" dirty="0"/>
              <a:t>Popular Deep Convolutional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A1ECA9-EB75-3D3C-C0BB-79637C7AE6AD}"/>
                  </a:ext>
                </a:extLst>
              </p:cNvPr>
              <p:cNvSpPr>
                <a:spLocks noGrp="1"/>
              </p:cNvSpPr>
              <p:nvPr>
                <p:ph idx="1"/>
              </p:nvPr>
            </p:nvSpPr>
            <p:spPr>
              <a:xfrm>
                <a:off x="810491" y="1641764"/>
                <a:ext cx="4384964" cy="4484506"/>
              </a:xfrm>
            </p:spPr>
            <p:txBody>
              <a:bodyPr>
                <a:noAutofit/>
              </a:bodyPr>
              <a:lstStyle/>
              <a:p>
                <a:pPr marL="0" indent="0">
                  <a:lnSpc>
                    <a:spcPct val="120000"/>
                  </a:lnSpc>
                  <a:spcBef>
                    <a:spcPts val="0"/>
                  </a:spcBef>
                  <a:spcAft>
                    <a:spcPts val="0"/>
                  </a:spcAft>
                  <a:buNone/>
                </a:pPr>
                <a:r>
                  <a:rPr lang="en-IN" sz="2000" b="1" dirty="0"/>
                  <a:t>1. </a:t>
                </a:r>
                <a:r>
                  <a:rPr lang="en-IN" sz="2000" b="1" dirty="0" err="1"/>
                  <a:t>VGGNet</a:t>
                </a:r>
                <a:endParaRPr lang="en-IN" sz="2000" b="1" dirty="0"/>
              </a:p>
              <a:p>
                <a:pPr marL="0" indent="0">
                  <a:lnSpc>
                    <a:spcPct val="120000"/>
                  </a:lnSpc>
                  <a:spcBef>
                    <a:spcPts val="0"/>
                  </a:spcBef>
                  <a:spcAft>
                    <a:spcPts val="0"/>
                  </a:spcAft>
                  <a:buNone/>
                </a:pPr>
                <a:r>
                  <a:rPr lang="en-IN" sz="2000" dirty="0"/>
                  <a:t>Very deep (16–19 layers)</a:t>
                </a:r>
              </a:p>
              <a:p>
                <a:pPr marL="0" indent="0">
                  <a:lnSpc>
                    <a:spcPct val="120000"/>
                  </a:lnSpc>
                  <a:spcBef>
                    <a:spcPts val="0"/>
                  </a:spcBef>
                  <a:spcAft>
                    <a:spcPts val="0"/>
                  </a:spcAft>
                  <a:buNone/>
                </a:pPr>
                <a:r>
                  <a:rPr lang="en-IN" sz="2000" dirty="0"/>
                  <a:t>Uses only 3×3 convolutions</a:t>
                </a:r>
              </a:p>
              <a:p>
                <a:pPr marL="0" indent="0">
                  <a:lnSpc>
                    <a:spcPct val="120000"/>
                  </a:lnSpc>
                  <a:spcBef>
                    <a:spcPts val="0"/>
                  </a:spcBef>
                  <a:spcAft>
                    <a:spcPts val="0"/>
                  </a:spcAft>
                  <a:buNone/>
                </a:pPr>
                <a:r>
                  <a:rPr lang="en-IN" sz="2000" dirty="0"/>
                  <a:t>High parameters</a:t>
                </a:r>
              </a:p>
              <a:p>
                <a:pPr marL="0" indent="0">
                  <a:lnSpc>
                    <a:spcPct val="120000"/>
                  </a:lnSpc>
                  <a:spcBef>
                    <a:spcPts val="0"/>
                  </a:spcBef>
                  <a:spcAft>
                    <a:spcPts val="0"/>
                  </a:spcAft>
                  <a:buNone/>
                </a:pPr>
                <a:r>
                  <a:rPr lang="en-IN" sz="2000" b="1" dirty="0"/>
                  <a:t>2. </a:t>
                </a:r>
                <a:r>
                  <a:rPr lang="en-IN" sz="2000" b="1" dirty="0" err="1"/>
                  <a:t>ResNet</a:t>
                </a:r>
                <a:endParaRPr lang="en-IN" sz="2000" b="1" dirty="0"/>
              </a:p>
              <a:p>
                <a:pPr marL="0" indent="0">
                  <a:lnSpc>
                    <a:spcPct val="120000"/>
                  </a:lnSpc>
                  <a:spcBef>
                    <a:spcPts val="0"/>
                  </a:spcBef>
                  <a:spcAft>
                    <a:spcPts val="0"/>
                  </a:spcAft>
                  <a:buNone/>
                </a:pPr>
                <a:r>
                  <a:rPr lang="en-IN" sz="2000" dirty="0"/>
                  <a:t>Introduces </a:t>
                </a:r>
                <a:r>
                  <a:rPr lang="en-IN" sz="2000" b="1" dirty="0"/>
                  <a:t>skip (residual) connections</a:t>
                </a:r>
                <a:endParaRPr lang="en-IN" sz="2000" dirty="0"/>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𝑦</m:t>
                      </m:r>
                      <m:r>
                        <a:rPr lang="en-IN" sz="2000">
                          <a:latin typeface="Cambria Math" panose="02040503050406030204" pitchFamily="18" charset="0"/>
                        </a:rPr>
                        <m:t>=</m:t>
                      </m:r>
                      <m:r>
                        <a:rPr lang="en-IN" sz="2000" i="1">
                          <a:latin typeface="Cambria Math" panose="02040503050406030204" pitchFamily="18" charset="0"/>
                        </a:rPr>
                        <m:t>𝐹</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r>
                        <a:rPr lang="ar-AE" sz="2000" i="1">
                          <a:latin typeface="Cambria Math" panose="02040503050406030204" pitchFamily="18" charset="0"/>
                        </a:rPr>
                        <m:t>𝑥</m:t>
                      </m:r>
                    </m:oMath>
                  </m:oMathPara>
                </a14:m>
                <a:endParaRPr lang="ar-AE" sz="2000" dirty="0"/>
              </a:p>
              <a:p>
                <a:pPr marL="0" indent="0">
                  <a:lnSpc>
                    <a:spcPct val="120000"/>
                  </a:lnSpc>
                  <a:spcBef>
                    <a:spcPts val="0"/>
                  </a:spcBef>
                  <a:spcAft>
                    <a:spcPts val="0"/>
                  </a:spcAft>
                  <a:buNone/>
                </a:pPr>
                <a:r>
                  <a:rPr lang="en-IN" sz="2000" dirty="0"/>
                  <a:t>Enables 100+ layers</a:t>
                </a:r>
              </a:p>
              <a:p>
                <a:pPr marL="0" indent="0">
                  <a:lnSpc>
                    <a:spcPct val="120000"/>
                  </a:lnSpc>
                  <a:spcBef>
                    <a:spcPts val="0"/>
                  </a:spcBef>
                  <a:spcAft>
                    <a:spcPts val="0"/>
                  </a:spcAft>
                  <a:buNone/>
                </a:pPr>
                <a:r>
                  <a:rPr lang="en-IN" sz="2000" b="1" dirty="0"/>
                  <a:t>3. Inception</a:t>
                </a:r>
              </a:p>
              <a:p>
                <a:pPr marL="0" indent="0">
                  <a:lnSpc>
                    <a:spcPct val="120000"/>
                  </a:lnSpc>
                  <a:spcBef>
                    <a:spcPts val="0"/>
                  </a:spcBef>
                  <a:spcAft>
                    <a:spcPts val="0"/>
                  </a:spcAft>
                  <a:buNone/>
                </a:pPr>
                <a:r>
                  <a:rPr lang="en-IN" sz="2000" dirty="0"/>
                  <a:t>Multi-scale convolutions in parallel</a:t>
                </a:r>
              </a:p>
              <a:p>
                <a:pPr marL="0" indent="0">
                  <a:lnSpc>
                    <a:spcPct val="120000"/>
                  </a:lnSpc>
                  <a:spcBef>
                    <a:spcPts val="0"/>
                  </a:spcBef>
                  <a:spcAft>
                    <a:spcPts val="0"/>
                  </a:spcAft>
                  <a:buNone/>
                </a:pPr>
                <a:r>
                  <a:rPr lang="en-IN" sz="2000" dirty="0"/>
                  <a:t>Efficient parameter usage</a:t>
                </a:r>
              </a:p>
            </p:txBody>
          </p:sp>
        </mc:Choice>
        <mc:Fallback xmlns="">
          <p:sp>
            <p:nvSpPr>
              <p:cNvPr id="3" name="Content Placeholder 2">
                <a:extLst>
                  <a:ext uri="{FF2B5EF4-FFF2-40B4-BE49-F238E27FC236}">
                    <a16:creationId xmlns:a16="http://schemas.microsoft.com/office/drawing/2014/main" id="{2DA1ECA9-EB75-3D3C-C0BB-79637C7AE6AD}"/>
                  </a:ext>
                </a:extLst>
              </p:cNvPr>
              <p:cNvSpPr>
                <a:spLocks noGrp="1" noRot="1" noChangeAspect="1" noMove="1" noResize="1" noEditPoints="1" noAdjustHandles="1" noChangeArrowheads="1" noChangeShapeType="1" noTextEdit="1"/>
              </p:cNvSpPr>
              <p:nvPr>
                <p:ph idx="1"/>
              </p:nvPr>
            </p:nvSpPr>
            <p:spPr>
              <a:xfrm>
                <a:off x="810491" y="1641764"/>
                <a:ext cx="4384964" cy="4484506"/>
              </a:xfrm>
              <a:blipFill>
                <a:blip r:embed="rId2"/>
                <a:stretch>
                  <a:fillRect l="-3616"/>
                </a:stretch>
              </a:blipFill>
            </p:spPr>
            <p:txBody>
              <a:bodyPr/>
              <a:lstStyle/>
              <a:p>
                <a:r>
                  <a:rPr lang="en-IN">
                    <a:noFill/>
                  </a:rPr>
                  <a:t> </a:t>
                </a:r>
              </a:p>
            </p:txBody>
          </p:sp>
        </mc:Fallback>
      </mc:AlternateContent>
      <p:sp>
        <p:nvSpPr>
          <p:cNvPr id="4" name="Content Placeholder 2">
            <a:extLst>
              <a:ext uri="{FF2B5EF4-FFF2-40B4-BE49-F238E27FC236}">
                <a16:creationId xmlns:a16="http://schemas.microsoft.com/office/drawing/2014/main" id="{7401F761-C2A9-0365-F179-91DBCCA71BC7}"/>
              </a:ext>
            </a:extLst>
          </p:cNvPr>
          <p:cNvSpPr txBox="1">
            <a:spLocks/>
          </p:cNvSpPr>
          <p:nvPr/>
        </p:nvSpPr>
        <p:spPr>
          <a:xfrm>
            <a:off x="7540336" y="1641764"/>
            <a:ext cx="3366654" cy="4484506"/>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20000"/>
              </a:lnSpc>
              <a:spcBef>
                <a:spcPts val="0"/>
              </a:spcBef>
              <a:spcAft>
                <a:spcPts val="0"/>
              </a:spcAft>
              <a:buFont typeface="Arial" panose="020B0604020202020204" pitchFamily="34" charset="0"/>
              <a:buNone/>
            </a:pPr>
            <a:r>
              <a:rPr lang="en-IN" b="1" dirty="0"/>
              <a:t>4. </a:t>
            </a:r>
            <a:r>
              <a:rPr lang="en-IN" b="1" dirty="0" err="1"/>
              <a:t>DenseNet</a:t>
            </a:r>
            <a:endParaRPr lang="en-IN" b="1" dirty="0"/>
          </a:p>
          <a:p>
            <a:pPr marL="0" indent="0">
              <a:lnSpc>
                <a:spcPct val="120000"/>
              </a:lnSpc>
              <a:spcBef>
                <a:spcPts val="0"/>
              </a:spcBef>
              <a:spcAft>
                <a:spcPts val="0"/>
              </a:spcAft>
              <a:buFont typeface="Arial" panose="020B0604020202020204" pitchFamily="34" charset="0"/>
              <a:buNone/>
            </a:pPr>
            <a:r>
              <a:rPr lang="en-IN" dirty="0"/>
              <a:t>Each layer connects to all previous layers</a:t>
            </a:r>
          </a:p>
          <a:p>
            <a:pPr marL="0" indent="0">
              <a:lnSpc>
                <a:spcPct val="120000"/>
              </a:lnSpc>
              <a:spcBef>
                <a:spcPts val="0"/>
              </a:spcBef>
              <a:spcAft>
                <a:spcPts val="0"/>
              </a:spcAft>
              <a:buFont typeface="Arial" panose="020B0604020202020204" pitchFamily="34" charset="0"/>
              <a:buNone/>
            </a:pPr>
            <a:r>
              <a:rPr lang="en-IN" dirty="0"/>
              <a:t>Strong feature reuse</a:t>
            </a:r>
          </a:p>
          <a:p>
            <a:pPr marL="0" indent="0">
              <a:lnSpc>
                <a:spcPct val="120000"/>
              </a:lnSpc>
              <a:spcBef>
                <a:spcPts val="0"/>
              </a:spcBef>
              <a:spcAft>
                <a:spcPts val="0"/>
              </a:spcAft>
              <a:buFont typeface="Arial" panose="020B0604020202020204" pitchFamily="34" charset="0"/>
              <a:buNone/>
            </a:pPr>
            <a:r>
              <a:rPr lang="en-IN" b="1" dirty="0"/>
              <a:t>5. </a:t>
            </a:r>
            <a:r>
              <a:rPr lang="en-IN" b="1" dirty="0" err="1"/>
              <a:t>MobileNet</a:t>
            </a:r>
            <a:endParaRPr lang="en-IN" b="1" dirty="0"/>
          </a:p>
          <a:p>
            <a:pPr marL="0" indent="0">
              <a:lnSpc>
                <a:spcPct val="120000"/>
              </a:lnSpc>
              <a:spcBef>
                <a:spcPts val="0"/>
              </a:spcBef>
              <a:spcAft>
                <a:spcPts val="0"/>
              </a:spcAft>
              <a:buFont typeface="Arial" panose="020B0604020202020204" pitchFamily="34" charset="0"/>
              <a:buNone/>
            </a:pPr>
            <a:r>
              <a:rPr lang="en-IN" dirty="0" err="1"/>
              <a:t>Depthwise</a:t>
            </a:r>
            <a:r>
              <a:rPr lang="en-IN" dirty="0"/>
              <a:t> separable convolutions</a:t>
            </a:r>
          </a:p>
          <a:p>
            <a:pPr marL="0" indent="0">
              <a:lnSpc>
                <a:spcPct val="120000"/>
              </a:lnSpc>
              <a:spcBef>
                <a:spcPts val="0"/>
              </a:spcBef>
              <a:spcAft>
                <a:spcPts val="0"/>
              </a:spcAft>
              <a:buFont typeface="Arial" panose="020B0604020202020204" pitchFamily="34" charset="0"/>
              <a:buNone/>
            </a:pPr>
            <a:r>
              <a:rPr lang="en-IN" dirty="0"/>
              <a:t>Lightweight for edge devices</a:t>
            </a:r>
          </a:p>
          <a:p>
            <a:pPr marL="0" indent="0">
              <a:lnSpc>
                <a:spcPct val="120000"/>
              </a:lnSpc>
              <a:spcBef>
                <a:spcPts val="0"/>
              </a:spcBef>
              <a:spcAft>
                <a:spcPts val="0"/>
              </a:spcAft>
              <a:buFont typeface="Arial" panose="020B0604020202020204" pitchFamily="34" charset="0"/>
              <a:buNone/>
            </a:pPr>
            <a:endParaRPr lang="en-IN" dirty="0"/>
          </a:p>
        </p:txBody>
      </p:sp>
    </p:spTree>
    <p:extLst>
      <p:ext uri="{BB962C8B-B14F-4D97-AF65-F5344CB8AC3E}">
        <p14:creationId xmlns:p14="http://schemas.microsoft.com/office/powerpoint/2010/main" val="321957880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888D0-455C-26E5-C625-EE801F1B5D6E}"/>
              </a:ext>
            </a:extLst>
          </p:cNvPr>
          <p:cNvSpPr>
            <a:spLocks noGrp="1"/>
          </p:cNvSpPr>
          <p:nvPr>
            <p:ph type="title"/>
          </p:nvPr>
        </p:nvSpPr>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6F693B7C-BC89-1363-5A83-CF3D2B36E711}"/>
              </a:ext>
            </a:extLst>
          </p:cNvPr>
          <p:cNvSpPr>
            <a:spLocks noGrp="1"/>
          </p:cNvSpPr>
          <p:nvPr>
            <p:ph idx="1"/>
          </p:nvPr>
        </p:nvSpPr>
        <p:spPr>
          <a:xfrm>
            <a:off x="675409" y="1517073"/>
            <a:ext cx="10551708" cy="4609197"/>
          </a:xfrm>
        </p:spPr>
        <p:txBody>
          <a:bodyPr>
            <a:normAutofit/>
          </a:bodyPr>
          <a:lstStyle/>
          <a:p>
            <a:pPr fontAlgn="base"/>
            <a:r>
              <a:rPr lang="en-US" b="1" dirty="0" err="1"/>
              <a:t>AlexNet</a:t>
            </a:r>
            <a:r>
              <a:rPr lang="en-US" b="1" dirty="0"/>
              <a:t>: </a:t>
            </a:r>
            <a:r>
              <a:rPr lang="en-US" dirty="0" err="1">
                <a:hlinkClick r:id="rId2">
                  <a:extLst>
                    <a:ext uri="{A12FA001-AC4F-418D-AE19-62706E023703}">
                      <ahyp:hlinkClr xmlns:ahyp="http://schemas.microsoft.com/office/drawing/2018/hyperlinkcolor" val="tx"/>
                    </a:ext>
                  </a:extLst>
                </a:hlinkClick>
              </a:rPr>
              <a:t>AlexNet</a:t>
            </a:r>
            <a:r>
              <a:rPr lang="en-US" dirty="0"/>
              <a:t> is a CNN architecture that was developed by Alex </a:t>
            </a:r>
            <a:r>
              <a:rPr lang="en-US" dirty="0" err="1"/>
              <a:t>Krizhevsky</a:t>
            </a:r>
            <a:r>
              <a:rPr lang="en-US" dirty="0"/>
              <a:t>, Ilya </a:t>
            </a:r>
            <a:r>
              <a:rPr lang="en-US" dirty="0" err="1"/>
              <a:t>Sutskever</a:t>
            </a:r>
            <a:r>
              <a:rPr lang="en-US" dirty="0"/>
              <a:t> and Geoffrey Hinton in 2012. </a:t>
            </a:r>
          </a:p>
          <a:p>
            <a:pPr fontAlgn="base"/>
            <a:r>
              <a:rPr lang="en-US" dirty="0"/>
              <a:t>It was the first CNN to win the ImageNet Large Scale Visual Recognition Challenge (ILSVRC) a major image recognition competition. </a:t>
            </a:r>
          </a:p>
          <a:p>
            <a:pPr fontAlgn="base"/>
            <a:r>
              <a:rPr lang="en-US" dirty="0"/>
              <a:t>It consists of several layers of convolutional and pooling layers followed by fully connected layers.</a:t>
            </a:r>
          </a:p>
          <a:p>
            <a:pPr fontAlgn="base"/>
            <a:r>
              <a:rPr lang="en-US" dirty="0"/>
              <a:t> The architecture includes </a:t>
            </a:r>
            <a:r>
              <a:rPr lang="en-US" b="1" dirty="0"/>
              <a:t>five convolutional layers, three pooling layers and three fully connected layers.</a:t>
            </a:r>
          </a:p>
          <a:p>
            <a:endParaRPr lang="en-IN" dirty="0"/>
          </a:p>
        </p:txBody>
      </p:sp>
    </p:spTree>
    <p:extLst>
      <p:ext uri="{BB962C8B-B14F-4D97-AF65-F5344CB8AC3E}">
        <p14:creationId xmlns:p14="http://schemas.microsoft.com/office/powerpoint/2010/main" val="15594432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78721-341C-EC35-E6D0-90F646578972}"/>
              </a:ext>
            </a:extLst>
          </p:cNvPr>
          <p:cNvSpPr>
            <a:spLocks noGrp="1"/>
          </p:cNvSpPr>
          <p:nvPr>
            <p:ph type="title"/>
          </p:nvPr>
        </p:nvSpPr>
        <p:spPr/>
        <p:txBody>
          <a:bodyPr>
            <a:normAutofit fontScale="90000"/>
          </a:bodyPr>
          <a:lstStyle/>
          <a:p>
            <a:r>
              <a:rPr lang="en-US" dirty="0" err="1"/>
              <a:t>AlexNet</a:t>
            </a:r>
            <a:endParaRPr lang="en-IN" dirty="0"/>
          </a:p>
        </p:txBody>
      </p:sp>
      <p:sp>
        <p:nvSpPr>
          <p:cNvPr id="3" name="Content Placeholder 2">
            <a:extLst>
              <a:ext uri="{FF2B5EF4-FFF2-40B4-BE49-F238E27FC236}">
                <a16:creationId xmlns:a16="http://schemas.microsoft.com/office/drawing/2014/main" id="{D70C425D-5942-A91C-7F46-92D2C691E654}"/>
              </a:ext>
            </a:extLst>
          </p:cNvPr>
          <p:cNvSpPr>
            <a:spLocks noGrp="1"/>
          </p:cNvSpPr>
          <p:nvPr>
            <p:ph idx="1"/>
          </p:nvPr>
        </p:nvSpPr>
        <p:spPr>
          <a:xfrm>
            <a:off x="508000" y="1493520"/>
            <a:ext cx="10719117" cy="4632750"/>
          </a:xfrm>
        </p:spPr>
        <p:txBody>
          <a:bodyPr>
            <a:normAutofit/>
          </a:bodyPr>
          <a:lstStyle/>
          <a:p>
            <a:pPr fontAlgn="base"/>
            <a:r>
              <a:rPr lang="en-US" dirty="0" err="1"/>
              <a:t>AlexNet</a:t>
            </a:r>
            <a:r>
              <a:rPr lang="en-US" dirty="0"/>
              <a:t> is a deep learning model that made a big impact in image recognition.</a:t>
            </a:r>
          </a:p>
          <a:p>
            <a:pPr fontAlgn="base"/>
            <a:r>
              <a:rPr lang="en-US" dirty="0"/>
              <a:t> It became famous for its ability to classify images accurately.</a:t>
            </a:r>
          </a:p>
          <a:p>
            <a:pPr fontAlgn="base"/>
            <a:r>
              <a:rPr lang="en-US" dirty="0"/>
              <a:t>It won the ImageNet Large Scale Visual Recognition Challenge (ILSVRC) 2012 with a top-5 error rate of </a:t>
            </a:r>
            <a:r>
              <a:rPr lang="en-US" b="1" dirty="0"/>
              <a:t>15.3%</a:t>
            </a:r>
            <a:r>
              <a:rPr lang="en-US" dirty="0"/>
              <a:t> (beating the runner up which had a top-5 error rate of </a:t>
            </a:r>
            <a:r>
              <a:rPr lang="en-US" i="1" dirty="0"/>
              <a:t>26.2%</a:t>
            </a:r>
            <a:r>
              <a:rPr lang="en-US" dirty="0"/>
              <a:t>).</a:t>
            </a:r>
          </a:p>
          <a:p>
            <a:pPr fontAlgn="base"/>
            <a:r>
              <a:rPr lang="en-US" dirty="0"/>
              <a:t>Most important features of the </a:t>
            </a:r>
            <a:r>
              <a:rPr lang="en-US" dirty="0" err="1"/>
              <a:t>AlexNet</a:t>
            </a:r>
            <a:r>
              <a:rPr lang="en-US" dirty="0"/>
              <a:t> are:</a:t>
            </a:r>
          </a:p>
          <a:p>
            <a:pPr fontAlgn="base"/>
            <a:r>
              <a:rPr lang="en-US" b="1" dirty="0"/>
              <a:t>Overfitting Prevention</a:t>
            </a:r>
            <a:r>
              <a:rPr lang="en-US" dirty="0"/>
              <a:t>: Dropout (0.5) was applied to the first </a:t>
            </a:r>
            <a:r>
              <a:rPr lang="en-US" b="1" dirty="0"/>
              <a:t>two fully connected layers</a:t>
            </a:r>
            <a:r>
              <a:rPr lang="en-US" dirty="0"/>
              <a:t> and data augmentation dynamically expanded the dataset hence both helping in reducing overfitting.</a:t>
            </a:r>
          </a:p>
          <a:p>
            <a:pPr fontAlgn="base"/>
            <a:r>
              <a:rPr lang="en-US" b="1" dirty="0"/>
              <a:t>Faster Training</a:t>
            </a:r>
            <a:r>
              <a:rPr lang="en-US" dirty="0"/>
              <a:t>:</a:t>
            </a:r>
            <a:r>
              <a:rPr lang="en-US" u="sng" dirty="0">
                <a:hlinkClick r:id="rId2"/>
              </a:rPr>
              <a:t> </a:t>
            </a:r>
            <a:r>
              <a:rPr lang="en-US" u="sng" dirty="0" err="1">
                <a:hlinkClick r:id="rId2"/>
              </a:rPr>
              <a:t>ReLU</a:t>
            </a:r>
            <a:r>
              <a:rPr lang="en-US" u="sng" dirty="0">
                <a:hlinkClick r:id="rId2"/>
              </a:rPr>
              <a:t> activation</a:t>
            </a:r>
            <a:r>
              <a:rPr lang="en-US" dirty="0"/>
              <a:t> was used instead of </a:t>
            </a:r>
            <a:r>
              <a:rPr lang="en-US" b="1" dirty="0"/>
              <a:t>tanh or sigmoid</a:t>
            </a:r>
            <a:r>
              <a:rPr lang="en-US" dirty="0"/>
              <a:t>, leading to a 6× speedup in training by avoiding activation saturation.</a:t>
            </a:r>
          </a:p>
          <a:p>
            <a:endParaRPr lang="en-IN" dirty="0"/>
          </a:p>
        </p:txBody>
      </p:sp>
    </p:spTree>
    <p:extLst>
      <p:ext uri="{BB962C8B-B14F-4D97-AF65-F5344CB8AC3E}">
        <p14:creationId xmlns:p14="http://schemas.microsoft.com/office/powerpoint/2010/main" val="3490030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893F9-F1B8-8ADA-971A-D8C78C3DFAD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737EEAF-11CE-F184-F105-3921468264E5}"/>
              </a:ext>
            </a:extLst>
          </p:cNvPr>
          <p:cNvSpPr>
            <a:spLocks noGrp="1"/>
          </p:cNvSpPr>
          <p:nvPr>
            <p:ph idx="1"/>
          </p:nvPr>
        </p:nvSpPr>
        <p:spPr/>
        <p:txBody>
          <a:bodyPr/>
          <a:lstStyle/>
          <a:p>
            <a:r>
              <a:rPr lang="en-US" dirty="0" err="1"/>
              <a:t>AlexNet</a:t>
            </a:r>
            <a:r>
              <a:rPr lang="en-US" dirty="0"/>
              <a:t> stands as a key milestone in </a:t>
            </a:r>
            <a:r>
              <a:rPr lang="en-US" u="sng" dirty="0">
                <a:hlinkClick r:id="rId2"/>
              </a:rPr>
              <a:t>computer vision,</a:t>
            </a:r>
            <a:r>
              <a:rPr lang="en-US" dirty="0"/>
              <a:t> demonstrating the power of deep architectures for image recognition.</a:t>
            </a:r>
          </a:p>
          <a:p>
            <a:r>
              <a:rPr lang="en-US" dirty="0"/>
              <a:t> With </a:t>
            </a:r>
            <a:r>
              <a:rPr lang="en-US" b="1" dirty="0"/>
              <a:t>eight layers, 62.3 million parameters</a:t>
            </a:r>
            <a:r>
              <a:rPr lang="en-US" dirty="0"/>
              <a:t>, and innovations like </a:t>
            </a:r>
            <a:r>
              <a:rPr lang="en-US" dirty="0" err="1"/>
              <a:t>ReLU</a:t>
            </a:r>
            <a:r>
              <a:rPr lang="en-US" dirty="0"/>
              <a:t> activation and dropout, it laid the foundation for modern AI models.</a:t>
            </a:r>
          </a:p>
          <a:p>
            <a:r>
              <a:rPr lang="en-US" dirty="0"/>
              <a:t> </a:t>
            </a:r>
            <a:endParaRPr lang="en-IN" dirty="0"/>
          </a:p>
        </p:txBody>
      </p:sp>
    </p:spTree>
    <p:extLst>
      <p:ext uri="{BB962C8B-B14F-4D97-AF65-F5344CB8AC3E}">
        <p14:creationId xmlns:p14="http://schemas.microsoft.com/office/powerpoint/2010/main" val="164778888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A9FEB-85FE-31C4-117D-0FA7F16B5B29}"/>
              </a:ext>
            </a:extLst>
          </p:cNvPr>
          <p:cNvSpPr>
            <a:spLocks noGrp="1"/>
          </p:cNvSpPr>
          <p:nvPr>
            <p:ph type="title"/>
          </p:nvPr>
        </p:nvSpPr>
        <p:spPr/>
        <p:txBody>
          <a:bodyPr>
            <a:normAutofit fontScale="90000"/>
          </a:bodyPr>
          <a:lstStyle/>
          <a:p>
            <a:r>
              <a:rPr lang="en-IN" dirty="0" err="1"/>
              <a:t>AlexNet</a:t>
            </a:r>
            <a:r>
              <a:rPr lang="en-IN" dirty="0"/>
              <a:t> Architecture</a:t>
            </a:r>
          </a:p>
        </p:txBody>
      </p:sp>
      <p:sp>
        <p:nvSpPr>
          <p:cNvPr id="3" name="Content Placeholder 2">
            <a:extLst>
              <a:ext uri="{FF2B5EF4-FFF2-40B4-BE49-F238E27FC236}">
                <a16:creationId xmlns:a16="http://schemas.microsoft.com/office/drawing/2014/main" id="{84945D07-7348-EAB1-2170-3531046F5C18}"/>
              </a:ext>
            </a:extLst>
          </p:cNvPr>
          <p:cNvSpPr>
            <a:spLocks noGrp="1"/>
          </p:cNvSpPr>
          <p:nvPr>
            <p:ph idx="1"/>
          </p:nvPr>
        </p:nvSpPr>
        <p:spPr>
          <a:xfrm>
            <a:off x="924560" y="1503680"/>
            <a:ext cx="10302557" cy="4622590"/>
          </a:xfrm>
        </p:spPr>
        <p:txBody>
          <a:bodyPr/>
          <a:lstStyle/>
          <a:p>
            <a:r>
              <a:rPr lang="en-US" dirty="0" err="1"/>
              <a:t>AlexNet</a:t>
            </a:r>
            <a:r>
              <a:rPr lang="en-US" dirty="0"/>
              <a:t> comprises a rather simple architecture compared to the latest Deep Learning Models. It consists of 8 layers: </a:t>
            </a:r>
            <a:r>
              <a:rPr lang="en-US" b="1" dirty="0"/>
              <a:t>5 convolutional layers and 3 fully connected layers.</a:t>
            </a:r>
          </a:p>
          <a:p>
            <a:r>
              <a:rPr lang="en-US" dirty="0"/>
              <a:t>However, it integrates several key innovations of its time, including the </a:t>
            </a:r>
            <a:r>
              <a:rPr lang="en-US" dirty="0" err="1"/>
              <a:t>ReLU</a:t>
            </a:r>
            <a:r>
              <a:rPr lang="en-US" dirty="0"/>
              <a:t> </a:t>
            </a:r>
            <a:r>
              <a:rPr lang="en-US" dirty="0">
                <a:hlinkClick r:id="rId2"/>
              </a:rPr>
              <a:t>Activation Functions</a:t>
            </a:r>
            <a:r>
              <a:rPr lang="en-US" dirty="0"/>
              <a:t>, Local Response Normalization (LRN), and Overlapping Max Pooling. We will look at each of them below.</a:t>
            </a:r>
          </a:p>
          <a:p>
            <a:endParaRPr lang="en-IN" dirty="0"/>
          </a:p>
        </p:txBody>
      </p:sp>
    </p:spTree>
    <p:extLst>
      <p:ext uri="{BB962C8B-B14F-4D97-AF65-F5344CB8AC3E}">
        <p14:creationId xmlns:p14="http://schemas.microsoft.com/office/powerpoint/2010/main" val="255685767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8FAF7-6024-B665-651D-8BFE14DC2FC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2C502EB-48FC-16E1-42FF-697748343088}"/>
              </a:ext>
            </a:extLst>
          </p:cNvPr>
          <p:cNvSpPr>
            <a:spLocks noGrp="1"/>
          </p:cNvSpPr>
          <p:nvPr>
            <p:ph idx="1"/>
          </p:nvPr>
        </p:nvSpPr>
        <p:spPr/>
        <p:txBody>
          <a:bodyPr/>
          <a:lstStyle/>
          <a:p>
            <a:endParaRPr lang="en-IN"/>
          </a:p>
        </p:txBody>
      </p:sp>
      <p:pic>
        <p:nvPicPr>
          <p:cNvPr id="1026" name="Picture 2" descr="AlexNet architecture. Includes 5 ...">
            <a:extLst>
              <a:ext uri="{FF2B5EF4-FFF2-40B4-BE49-F238E27FC236}">
                <a16:creationId xmlns:a16="http://schemas.microsoft.com/office/drawing/2014/main" id="{A94867C6-9404-6EF9-783C-E182066C7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1840" y="1391920"/>
            <a:ext cx="8291961" cy="4004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293961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7BF8A-ACD6-E978-2741-A94B7064876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EA285C5-E85C-4DCD-7268-2ACB21B0AFEB}"/>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527670F3-F00D-F478-F3D3-D78B323F61CB}"/>
              </a:ext>
            </a:extLst>
          </p:cNvPr>
          <p:cNvPicPr>
            <a:picLocks noChangeAspect="1"/>
          </p:cNvPicPr>
          <p:nvPr/>
        </p:nvPicPr>
        <p:blipFill>
          <a:blip r:embed="rId2"/>
          <a:stretch>
            <a:fillRect/>
          </a:stretch>
        </p:blipFill>
        <p:spPr>
          <a:xfrm>
            <a:off x="1645920" y="370001"/>
            <a:ext cx="9723120" cy="5888898"/>
          </a:xfrm>
          <a:prstGeom prst="rect">
            <a:avLst/>
          </a:prstGeom>
        </p:spPr>
      </p:pic>
    </p:spTree>
    <p:extLst>
      <p:ext uri="{BB962C8B-B14F-4D97-AF65-F5344CB8AC3E}">
        <p14:creationId xmlns:p14="http://schemas.microsoft.com/office/powerpoint/2010/main" val="233493055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5CFC0-B29D-3E56-8911-01DC2D83C23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BD6CED0-1E8C-8B86-5243-80B13FAC1088}"/>
              </a:ext>
            </a:extLst>
          </p:cNvPr>
          <p:cNvSpPr>
            <a:spLocks noGrp="1"/>
          </p:cNvSpPr>
          <p:nvPr>
            <p:ph idx="1"/>
          </p:nvPr>
        </p:nvSpPr>
        <p:spPr>
          <a:xfrm>
            <a:off x="1025842" y="1226127"/>
            <a:ext cx="10201275" cy="4900143"/>
          </a:xfrm>
        </p:spPr>
        <p:txBody>
          <a:bodyPr>
            <a:normAutofit fontScale="85000" lnSpcReduction="20000"/>
          </a:bodyPr>
          <a:lstStyle/>
          <a:p>
            <a:pPr>
              <a:lnSpc>
                <a:spcPct val="120000"/>
              </a:lnSpc>
              <a:spcBef>
                <a:spcPts val="0"/>
              </a:spcBef>
              <a:spcAft>
                <a:spcPts val="0"/>
              </a:spcAft>
            </a:pPr>
            <a:r>
              <a:rPr lang="en-US" b="1" dirty="0"/>
              <a:t>Input Layer</a:t>
            </a:r>
          </a:p>
          <a:p>
            <a:pPr>
              <a:lnSpc>
                <a:spcPct val="120000"/>
              </a:lnSpc>
              <a:spcBef>
                <a:spcPts val="0"/>
              </a:spcBef>
              <a:spcAft>
                <a:spcPts val="0"/>
              </a:spcAft>
            </a:pPr>
            <a:r>
              <a:rPr lang="en-US" dirty="0" err="1"/>
              <a:t>AlexNet</a:t>
            </a:r>
            <a:r>
              <a:rPr lang="en-US" dirty="0"/>
              <a:t> takes images of the Input size of 227x227x3 RGB Pixels.</a:t>
            </a:r>
          </a:p>
          <a:p>
            <a:pPr>
              <a:lnSpc>
                <a:spcPct val="120000"/>
              </a:lnSpc>
              <a:spcBef>
                <a:spcPts val="0"/>
              </a:spcBef>
              <a:spcAft>
                <a:spcPts val="0"/>
              </a:spcAft>
            </a:pPr>
            <a:r>
              <a:rPr lang="en-US" b="1" dirty="0"/>
              <a:t>Convolutional Layers</a:t>
            </a:r>
          </a:p>
          <a:p>
            <a:pPr>
              <a:lnSpc>
                <a:spcPct val="120000"/>
              </a:lnSpc>
              <a:spcBef>
                <a:spcPts val="0"/>
              </a:spcBef>
              <a:spcAft>
                <a:spcPts val="0"/>
              </a:spcAft>
            </a:pPr>
            <a:r>
              <a:rPr lang="en-US" b="1" dirty="0"/>
              <a:t>First Layer</a:t>
            </a:r>
            <a:r>
              <a:rPr lang="en-US" dirty="0"/>
              <a:t>: The first layer uses 96 kernels of size 11×11 with a stride of 4, activates them with the </a:t>
            </a:r>
            <a:r>
              <a:rPr lang="en-US" dirty="0" err="1"/>
              <a:t>ReLU</a:t>
            </a:r>
            <a:r>
              <a:rPr lang="en-US" dirty="0"/>
              <a:t> activation function, and then performs a Max Pooling operation.</a:t>
            </a:r>
          </a:p>
          <a:p>
            <a:pPr>
              <a:lnSpc>
                <a:spcPct val="120000"/>
              </a:lnSpc>
              <a:spcBef>
                <a:spcPts val="0"/>
              </a:spcBef>
              <a:spcAft>
                <a:spcPts val="0"/>
              </a:spcAft>
            </a:pPr>
            <a:r>
              <a:rPr lang="en-US" b="1" dirty="0"/>
              <a:t>Second Layer</a:t>
            </a:r>
            <a:r>
              <a:rPr lang="en-US" dirty="0"/>
              <a:t>: The second layer takes the output of the first layer as the input, with 256 kernels of size 5x5x48.</a:t>
            </a:r>
          </a:p>
          <a:p>
            <a:pPr>
              <a:lnSpc>
                <a:spcPct val="120000"/>
              </a:lnSpc>
              <a:spcBef>
                <a:spcPts val="0"/>
              </a:spcBef>
              <a:spcAft>
                <a:spcPts val="0"/>
              </a:spcAft>
            </a:pPr>
            <a:r>
              <a:rPr lang="en-US" b="1" dirty="0"/>
              <a:t>Third Layer</a:t>
            </a:r>
            <a:r>
              <a:rPr lang="en-US" dirty="0"/>
              <a:t>: 384 kernels of size 3x3x256. No pooling or normalization operations are performed on the third, fourth, and fifth layers.</a:t>
            </a:r>
          </a:p>
          <a:p>
            <a:pPr>
              <a:lnSpc>
                <a:spcPct val="120000"/>
              </a:lnSpc>
              <a:spcBef>
                <a:spcPts val="0"/>
              </a:spcBef>
              <a:spcAft>
                <a:spcPts val="0"/>
              </a:spcAft>
            </a:pPr>
            <a:r>
              <a:rPr lang="en-US" b="1" dirty="0"/>
              <a:t>Fourth Layer</a:t>
            </a:r>
            <a:r>
              <a:rPr lang="en-US" dirty="0"/>
              <a:t>: 384 kernels of size 3x3x192.</a:t>
            </a:r>
          </a:p>
          <a:p>
            <a:pPr>
              <a:lnSpc>
                <a:spcPct val="120000"/>
              </a:lnSpc>
              <a:spcBef>
                <a:spcPts val="0"/>
              </a:spcBef>
              <a:spcAft>
                <a:spcPts val="0"/>
              </a:spcAft>
            </a:pPr>
            <a:r>
              <a:rPr lang="en-US" b="1" dirty="0"/>
              <a:t>Fifth Layer</a:t>
            </a:r>
            <a:r>
              <a:rPr lang="en-US" dirty="0"/>
              <a:t>: 256 kernels of size 3x3x192.</a:t>
            </a:r>
          </a:p>
          <a:p>
            <a:pPr>
              <a:lnSpc>
                <a:spcPct val="120000"/>
              </a:lnSpc>
              <a:spcBef>
                <a:spcPts val="0"/>
              </a:spcBef>
              <a:spcAft>
                <a:spcPts val="0"/>
              </a:spcAft>
            </a:pPr>
            <a:r>
              <a:rPr lang="en-US" b="1" dirty="0"/>
              <a:t>Fully Connected Layers</a:t>
            </a:r>
          </a:p>
          <a:p>
            <a:pPr>
              <a:lnSpc>
                <a:spcPct val="120000"/>
              </a:lnSpc>
              <a:spcBef>
                <a:spcPts val="0"/>
              </a:spcBef>
              <a:spcAft>
                <a:spcPts val="0"/>
              </a:spcAft>
            </a:pPr>
            <a:r>
              <a:rPr lang="en-US" dirty="0"/>
              <a:t>The fully connected layers have 4096 neurons each.</a:t>
            </a:r>
          </a:p>
          <a:p>
            <a:pPr>
              <a:lnSpc>
                <a:spcPct val="120000"/>
              </a:lnSpc>
              <a:spcBef>
                <a:spcPts val="0"/>
              </a:spcBef>
              <a:spcAft>
                <a:spcPts val="0"/>
              </a:spcAft>
            </a:pPr>
            <a:r>
              <a:rPr lang="en-US" b="1" dirty="0"/>
              <a:t>Output Layer</a:t>
            </a:r>
          </a:p>
          <a:p>
            <a:pPr>
              <a:lnSpc>
                <a:spcPct val="120000"/>
              </a:lnSpc>
              <a:spcBef>
                <a:spcPts val="0"/>
              </a:spcBef>
              <a:spcAft>
                <a:spcPts val="0"/>
              </a:spcAft>
            </a:pPr>
            <a:r>
              <a:rPr lang="en-US" dirty="0"/>
              <a:t>The output layer is a SoftMax layer that outputs probabilities of the 1000 class labels.</a:t>
            </a:r>
          </a:p>
          <a:p>
            <a:pPr>
              <a:lnSpc>
                <a:spcPct val="120000"/>
              </a:lnSpc>
              <a:spcBef>
                <a:spcPts val="0"/>
              </a:spcBef>
              <a:spcAft>
                <a:spcPts val="0"/>
              </a:spcAft>
            </a:pPr>
            <a:endParaRPr lang="en-IN" dirty="0"/>
          </a:p>
        </p:txBody>
      </p:sp>
    </p:spTree>
    <p:extLst>
      <p:ext uri="{BB962C8B-B14F-4D97-AF65-F5344CB8AC3E}">
        <p14:creationId xmlns:p14="http://schemas.microsoft.com/office/powerpoint/2010/main" val="428915622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8EDB9-7A56-3DAD-521D-4C4BB3D06D8C}"/>
              </a:ext>
            </a:extLst>
          </p:cNvPr>
          <p:cNvSpPr>
            <a:spLocks noGrp="1"/>
          </p:cNvSpPr>
          <p:nvPr>
            <p:ph type="title"/>
          </p:nvPr>
        </p:nvSpPr>
        <p:spPr/>
        <p:txBody>
          <a:bodyPr>
            <a:normAutofit fontScale="90000"/>
          </a:bodyPr>
          <a:lstStyle/>
          <a:p>
            <a:r>
              <a:rPr lang="en-US" dirty="0" err="1"/>
              <a:t>Alexnet</a:t>
            </a:r>
            <a:endParaRPr lang="en-IN" dirty="0"/>
          </a:p>
        </p:txBody>
      </p:sp>
      <p:sp>
        <p:nvSpPr>
          <p:cNvPr id="3" name="Content Placeholder 2">
            <a:extLst>
              <a:ext uri="{FF2B5EF4-FFF2-40B4-BE49-F238E27FC236}">
                <a16:creationId xmlns:a16="http://schemas.microsoft.com/office/drawing/2014/main" id="{90BA5CA1-45DC-824C-7B1A-A779AE51C533}"/>
              </a:ext>
            </a:extLst>
          </p:cNvPr>
          <p:cNvSpPr>
            <a:spLocks noGrp="1"/>
          </p:cNvSpPr>
          <p:nvPr>
            <p:ph idx="1"/>
          </p:nvPr>
        </p:nvSpPr>
        <p:spPr>
          <a:xfrm>
            <a:off x="904240" y="1625600"/>
            <a:ext cx="10322877" cy="4500670"/>
          </a:xfrm>
        </p:spPr>
        <p:txBody>
          <a:bodyPr/>
          <a:lstStyle/>
          <a:p>
            <a:pPr marL="0" indent="0">
              <a:buNone/>
            </a:pPr>
            <a:r>
              <a:rPr lang="en-IN" b="1" dirty="0"/>
              <a:t>It uses</a:t>
            </a:r>
          </a:p>
          <a:p>
            <a:r>
              <a:rPr lang="en-IN" b="1" dirty="0"/>
              <a:t>Stochastic Gradient Descent</a:t>
            </a:r>
          </a:p>
          <a:p>
            <a:r>
              <a:rPr lang="en-IN" b="1" dirty="0"/>
              <a:t>Momentum</a:t>
            </a:r>
          </a:p>
          <a:p>
            <a:r>
              <a:rPr lang="en-IN" b="1" dirty="0"/>
              <a:t>Weight Decay</a:t>
            </a:r>
          </a:p>
          <a:p>
            <a:r>
              <a:rPr lang="en-IN" b="1" dirty="0"/>
              <a:t>Data Augmentation</a:t>
            </a:r>
          </a:p>
          <a:p>
            <a:r>
              <a:rPr lang="en-IN" b="1" dirty="0"/>
              <a:t>Dropout Layers</a:t>
            </a:r>
          </a:p>
          <a:p>
            <a:r>
              <a:rPr lang="en-IN" b="1" dirty="0"/>
              <a:t>Overlapping Pooling</a:t>
            </a:r>
          </a:p>
          <a:p>
            <a:endParaRPr lang="en-IN" dirty="0"/>
          </a:p>
        </p:txBody>
      </p:sp>
    </p:spTree>
    <p:extLst>
      <p:ext uri="{BB962C8B-B14F-4D97-AF65-F5344CB8AC3E}">
        <p14:creationId xmlns:p14="http://schemas.microsoft.com/office/powerpoint/2010/main" val="369678038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A1AB9-9FA3-8240-D04C-E72580978EDB}"/>
              </a:ext>
            </a:extLst>
          </p:cNvPr>
          <p:cNvSpPr>
            <a:spLocks noGrp="1"/>
          </p:cNvSpPr>
          <p:nvPr>
            <p:ph type="title"/>
          </p:nvPr>
        </p:nvSpPr>
        <p:spPr/>
        <p:txBody>
          <a:bodyPr>
            <a:normAutofit fontScale="90000"/>
          </a:bodyPr>
          <a:lstStyle/>
          <a:p>
            <a:r>
              <a:rPr lang="en-US" dirty="0"/>
              <a:t>ImageNet</a:t>
            </a:r>
            <a:endParaRPr lang="en-IN" dirty="0"/>
          </a:p>
        </p:txBody>
      </p:sp>
      <p:sp>
        <p:nvSpPr>
          <p:cNvPr id="3" name="Content Placeholder 2">
            <a:extLst>
              <a:ext uri="{FF2B5EF4-FFF2-40B4-BE49-F238E27FC236}">
                <a16:creationId xmlns:a16="http://schemas.microsoft.com/office/drawing/2014/main" id="{B1FA3522-82EA-D8AD-BE30-CC61F503EE7C}"/>
              </a:ext>
            </a:extLst>
          </p:cNvPr>
          <p:cNvSpPr>
            <a:spLocks noGrp="1"/>
          </p:cNvSpPr>
          <p:nvPr>
            <p:ph idx="1"/>
          </p:nvPr>
        </p:nvSpPr>
        <p:spPr>
          <a:xfrm>
            <a:off x="1168716" y="1908666"/>
            <a:ext cx="10505123" cy="4217604"/>
          </a:xfrm>
        </p:spPr>
        <p:txBody>
          <a:bodyPr/>
          <a:lstStyle/>
          <a:p>
            <a:pPr algn="just"/>
            <a:r>
              <a:rPr lang="en-US" dirty="0"/>
              <a:t>ImageNet is a vast visual database designed for object recognition research.</a:t>
            </a:r>
          </a:p>
          <a:p>
            <a:pPr algn="just"/>
            <a:r>
              <a:rPr lang="en-US" dirty="0"/>
              <a:t> It consists of over 14 million hand-annotated images with over 20,000 categories. </a:t>
            </a:r>
          </a:p>
          <a:p>
            <a:pPr algn="just"/>
            <a:r>
              <a:rPr lang="en-US" dirty="0"/>
              <a:t>This dataset played a major role in the success of </a:t>
            </a:r>
            <a:r>
              <a:rPr lang="en-US" dirty="0" err="1"/>
              <a:t>AlexNet</a:t>
            </a:r>
            <a:r>
              <a:rPr lang="en-US" dirty="0"/>
              <a:t> and the advancements in DL, as there was no large dataset on which Deep NNs could be trained previously.</a:t>
            </a:r>
          </a:p>
          <a:p>
            <a:pPr algn="just"/>
            <a:endParaRPr lang="en-IN" dirty="0"/>
          </a:p>
        </p:txBody>
      </p:sp>
    </p:spTree>
    <p:extLst>
      <p:ext uri="{BB962C8B-B14F-4D97-AF65-F5344CB8AC3E}">
        <p14:creationId xmlns:p14="http://schemas.microsoft.com/office/powerpoint/2010/main" val="93543558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A43BA-3322-5C68-6495-70FC99A55AB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AB58CFA-D11D-315D-B7A8-5C3E7C9CB060}"/>
              </a:ext>
            </a:extLst>
          </p:cNvPr>
          <p:cNvSpPr>
            <a:spLocks noGrp="1"/>
          </p:cNvSpPr>
          <p:nvPr>
            <p:ph idx="1"/>
          </p:nvPr>
        </p:nvSpPr>
        <p:spPr/>
        <p:txBody>
          <a:bodyPr/>
          <a:lstStyle/>
          <a:p>
            <a:r>
              <a:rPr lang="en-IN" b="1" dirty="0"/>
              <a:t>Purpose of ImageNet</a:t>
            </a:r>
          </a:p>
          <a:p>
            <a:r>
              <a:rPr lang="en-IN" dirty="0"/>
              <a:t>ImageNet was created to:</a:t>
            </a:r>
          </a:p>
          <a:p>
            <a:r>
              <a:rPr lang="en-IN" dirty="0"/>
              <a:t>Provide </a:t>
            </a:r>
            <a:r>
              <a:rPr lang="en-IN" b="1" dirty="0"/>
              <a:t>massive </a:t>
            </a:r>
            <a:r>
              <a:rPr lang="en-IN" b="1" dirty="0" err="1"/>
              <a:t>labeled</a:t>
            </a:r>
            <a:r>
              <a:rPr lang="en-IN" b="1" dirty="0"/>
              <a:t> image data</a:t>
            </a:r>
            <a:endParaRPr lang="en-IN" dirty="0"/>
          </a:p>
          <a:p>
            <a:r>
              <a:rPr lang="en-IN" dirty="0"/>
              <a:t>Enable training of </a:t>
            </a:r>
            <a:r>
              <a:rPr lang="en-IN" b="1" dirty="0"/>
              <a:t>deep convolutional neural networks</a:t>
            </a:r>
            <a:endParaRPr lang="en-IN" dirty="0"/>
          </a:p>
          <a:p>
            <a:r>
              <a:rPr lang="en-IN" dirty="0"/>
              <a:t>Benchmark image recognition algorithms</a:t>
            </a:r>
          </a:p>
          <a:p>
            <a:r>
              <a:rPr lang="en-IN" dirty="0"/>
              <a:t>Before ImageNet, datasets were too small for deep CNNs.</a:t>
            </a:r>
          </a:p>
          <a:p>
            <a:endParaRPr lang="en-IN" dirty="0"/>
          </a:p>
        </p:txBody>
      </p:sp>
    </p:spTree>
    <p:extLst>
      <p:ext uri="{BB962C8B-B14F-4D97-AF65-F5344CB8AC3E}">
        <p14:creationId xmlns:p14="http://schemas.microsoft.com/office/powerpoint/2010/main" val="3892932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0367B-2967-ECC0-706E-6A20147896B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5688701-166F-4430-A395-8EC62AFE3D2A}"/>
              </a:ext>
            </a:extLst>
          </p:cNvPr>
          <p:cNvSpPr>
            <a:spLocks noGrp="1"/>
          </p:cNvSpPr>
          <p:nvPr>
            <p:ph idx="1"/>
          </p:nvPr>
        </p:nvSpPr>
        <p:spPr>
          <a:xfrm>
            <a:off x="1025842" y="1579418"/>
            <a:ext cx="10201275" cy="4546852"/>
          </a:xfrm>
        </p:spPr>
        <p:txBody>
          <a:bodyPr/>
          <a:lstStyle/>
          <a:p>
            <a:r>
              <a:rPr lang="en-US" dirty="0"/>
              <a:t>The ImageNet project also conducts an annual ImageNet Large Scale Visual Recognition Challenge (ILSVRC) where researchers evaluate their algorithms to classify objects and scenes correctly.</a:t>
            </a:r>
          </a:p>
          <a:p>
            <a:r>
              <a:rPr lang="en-US" dirty="0"/>
              <a:t>The competition is important because it enables researchers to push the limits of existing models and invent new methodologies. </a:t>
            </a:r>
          </a:p>
          <a:p>
            <a:r>
              <a:rPr lang="en-US" dirty="0"/>
              <a:t>Several breakthrough models have been unveiled in this competition, </a:t>
            </a:r>
            <a:r>
              <a:rPr lang="en-US" dirty="0" err="1"/>
              <a:t>AlexNet</a:t>
            </a:r>
            <a:r>
              <a:rPr lang="en-US" dirty="0"/>
              <a:t> being one of them.</a:t>
            </a:r>
          </a:p>
        </p:txBody>
      </p:sp>
    </p:spTree>
    <p:extLst>
      <p:ext uri="{BB962C8B-B14F-4D97-AF65-F5344CB8AC3E}">
        <p14:creationId xmlns:p14="http://schemas.microsoft.com/office/powerpoint/2010/main" val="108232387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7A018-AA8E-AF13-69BB-34FDAEDB09A4}"/>
              </a:ext>
            </a:extLst>
          </p:cNvPr>
          <p:cNvSpPr>
            <a:spLocks noGrp="1"/>
          </p:cNvSpPr>
          <p:nvPr>
            <p:ph type="title"/>
          </p:nvPr>
        </p:nvSpPr>
        <p:spPr/>
        <p:txBody>
          <a:bodyPr>
            <a:normAutofit fontScale="90000"/>
          </a:bodyPr>
          <a:lstStyle/>
          <a:p>
            <a:r>
              <a:rPr lang="en-US"/>
              <a:t>Residual Networks (ResNet) - Deep Learning</a:t>
            </a:r>
          </a:p>
        </p:txBody>
      </p:sp>
      <p:sp>
        <p:nvSpPr>
          <p:cNvPr id="3" name="Content Placeholder 2">
            <a:extLst>
              <a:ext uri="{FF2B5EF4-FFF2-40B4-BE49-F238E27FC236}">
                <a16:creationId xmlns:a16="http://schemas.microsoft.com/office/drawing/2014/main" id="{EF8792B8-5A70-42FF-FC81-FB94BF082D72}"/>
              </a:ext>
            </a:extLst>
          </p:cNvPr>
          <p:cNvSpPr>
            <a:spLocks noGrp="1"/>
          </p:cNvSpPr>
          <p:nvPr>
            <p:ph idx="1"/>
          </p:nvPr>
        </p:nvSpPr>
        <p:spPr>
          <a:xfrm>
            <a:off x="833120" y="1371600"/>
            <a:ext cx="10393997" cy="4754670"/>
          </a:xfrm>
        </p:spPr>
        <p:txBody>
          <a:bodyPr>
            <a:normAutofit/>
          </a:bodyPr>
          <a:lstStyle/>
          <a:p>
            <a:pPr fontAlgn="base"/>
            <a:r>
              <a:rPr lang="en-US" dirty="0"/>
              <a:t>To overcome the challenges of training very deep neural networks, Residual Networks (</a:t>
            </a:r>
            <a:r>
              <a:rPr lang="en-US" dirty="0" err="1"/>
              <a:t>ResNet</a:t>
            </a:r>
            <a:r>
              <a:rPr lang="en-US" dirty="0"/>
              <a:t>) was introduced, which uses </a:t>
            </a:r>
            <a:r>
              <a:rPr lang="en-US" b="1" dirty="0"/>
              <a:t>skip connections </a:t>
            </a:r>
            <a:r>
              <a:rPr lang="en-US" dirty="0"/>
              <a:t>that allow the model to </a:t>
            </a:r>
            <a:r>
              <a:rPr lang="en-US" b="1" dirty="0"/>
              <a:t>learn residual mappings instead of direct transformations </a:t>
            </a:r>
            <a:r>
              <a:rPr lang="en-US" dirty="0"/>
              <a:t>making deep neural networks easier to train.</a:t>
            </a:r>
          </a:p>
          <a:p>
            <a:pPr fontAlgn="base"/>
            <a:r>
              <a:rPr lang="en-US" dirty="0"/>
              <a:t>It helps prevent </a:t>
            </a:r>
            <a:r>
              <a:rPr lang="en-US" b="1" dirty="0"/>
              <a:t>vanishing gradient problems </a:t>
            </a:r>
            <a:r>
              <a:rPr lang="en-US" dirty="0"/>
              <a:t>in very deep models.</a:t>
            </a:r>
          </a:p>
          <a:p>
            <a:pPr fontAlgn="base"/>
            <a:r>
              <a:rPr lang="en-US" b="1" dirty="0"/>
              <a:t>Skip connections </a:t>
            </a:r>
            <a:r>
              <a:rPr lang="en-US" dirty="0"/>
              <a:t>let information flow directly across layers.</a:t>
            </a:r>
          </a:p>
          <a:p>
            <a:pPr fontAlgn="base"/>
            <a:r>
              <a:rPr lang="en-US" dirty="0" err="1"/>
              <a:t>ResNet</a:t>
            </a:r>
            <a:r>
              <a:rPr lang="en-US" dirty="0"/>
              <a:t> enables building networks with </a:t>
            </a:r>
            <a:r>
              <a:rPr lang="en-US" b="1" dirty="0"/>
              <a:t>hundreds or even thousands of layers</a:t>
            </a:r>
            <a:r>
              <a:rPr lang="en-US" dirty="0"/>
              <a:t>.</a:t>
            </a:r>
          </a:p>
          <a:p>
            <a:pPr fontAlgn="base"/>
            <a:r>
              <a:rPr lang="en-US" dirty="0"/>
              <a:t>It is widely used in computer vision tasks like image classification and object detection.</a:t>
            </a:r>
          </a:p>
          <a:p>
            <a:pPr fontAlgn="base"/>
            <a:r>
              <a:rPr lang="en-US" dirty="0"/>
              <a:t>The </a:t>
            </a:r>
            <a:r>
              <a:rPr lang="en-US" dirty="0" err="1"/>
              <a:t>ResNet</a:t>
            </a:r>
            <a:r>
              <a:rPr lang="en-US" dirty="0"/>
              <a:t> architecture enables the network to learn multiple layers of features without getting stuck in local minima, a common issue with deep networks.</a:t>
            </a:r>
          </a:p>
          <a:p>
            <a:endParaRPr lang="en-IN" dirty="0"/>
          </a:p>
        </p:txBody>
      </p:sp>
    </p:spTree>
    <p:extLst>
      <p:ext uri="{BB962C8B-B14F-4D97-AF65-F5344CB8AC3E}">
        <p14:creationId xmlns:p14="http://schemas.microsoft.com/office/powerpoint/2010/main" val="60684780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4004D-4255-D439-786E-370596A1D08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70C1FE0-A321-D292-63E9-04C0FD165E3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AEC1038-B6DE-CCA9-E11F-C54FB0F2368A}"/>
              </a:ext>
            </a:extLst>
          </p:cNvPr>
          <p:cNvPicPr>
            <a:picLocks noChangeAspect="1"/>
          </p:cNvPicPr>
          <p:nvPr/>
        </p:nvPicPr>
        <p:blipFill>
          <a:blip r:embed="rId2"/>
          <a:stretch>
            <a:fillRect/>
          </a:stretch>
        </p:blipFill>
        <p:spPr>
          <a:xfrm>
            <a:off x="3348037" y="1524000"/>
            <a:ext cx="5495925" cy="3810000"/>
          </a:xfrm>
          <a:prstGeom prst="rect">
            <a:avLst/>
          </a:prstGeom>
        </p:spPr>
      </p:pic>
    </p:spTree>
    <p:extLst>
      <p:ext uri="{BB962C8B-B14F-4D97-AF65-F5344CB8AC3E}">
        <p14:creationId xmlns:p14="http://schemas.microsoft.com/office/powerpoint/2010/main" val="36960268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0E3D3-AFDF-E37C-029F-413EB9774BA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08C8B3F-5DB0-F669-475B-C18492D48924}"/>
              </a:ext>
            </a:extLst>
          </p:cNvPr>
          <p:cNvSpPr>
            <a:spLocks noGrp="1"/>
          </p:cNvSpPr>
          <p:nvPr>
            <p:ph idx="1"/>
          </p:nvPr>
        </p:nvSpPr>
        <p:spPr>
          <a:xfrm>
            <a:off x="904009" y="1537855"/>
            <a:ext cx="10323108" cy="4588415"/>
          </a:xfrm>
        </p:spPr>
        <p:txBody>
          <a:bodyPr>
            <a:normAutofit lnSpcReduction="10000"/>
          </a:bodyPr>
          <a:lstStyle/>
          <a:p>
            <a:pPr algn="just"/>
            <a:r>
              <a:rPr lang="en-US" dirty="0" err="1"/>
              <a:t>ResNet</a:t>
            </a:r>
            <a:r>
              <a:rPr lang="en-US" dirty="0"/>
              <a:t> stands for </a:t>
            </a:r>
            <a:r>
              <a:rPr lang="en-US" b="1" dirty="0"/>
              <a:t>Residual Network</a:t>
            </a:r>
            <a:r>
              <a:rPr lang="en-US" dirty="0"/>
              <a:t>. It is an innovative neural network architecture that was first introduced by Kaiming He, Xiangyu Zhang, Shaoqing Ren, and Jian Sun in their 2015 computer vision research paper titled ‘Deep Residual Learning for Image Recognition’.</a:t>
            </a:r>
          </a:p>
          <a:p>
            <a:pPr algn="just"/>
            <a:r>
              <a:rPr lang="en-US" dirty="0"/>
              <a:t>This model was immensely successful, as can be ascertained from the fact that its ensemble won the top position at </a:t>
            </a:r>
            <a:r>
              <a:rPr lang="en-US" b="1" dirty="0"/>
              <a:t>the ILSVRC 2015 classification competition </a:t>
            </a:r>
            <a:r>
              <a:rPr lang="en-US" dirty="0"/>
              <a:t>with a </a:t>
            </a:r>
            <a:r>
              <a:rPr lang="en-US" b="1" dirty="0"/>
              <a:t>training error of only 3.57%. </a:t>
            </a:r>
          </a:p>
          <a:p>
            <a:pPr algn="just"/>
            <a:r>
              <a:rPr lang="en-US" dirty="0"/>
              <a:t>Additionally, it also came first in ImageNet detection, ImageNet dataset localization, COCO detection, and COCO segmentation in the ILSVRC &amp; COCO in 2015 competitions.</a:t>
            </a:r>
          </a:p>
          <a:p>
            <a:pPr algn="just"/>
            <a:r>
              <a:rPr lang="en-US" dirty="0"/>
              <a:t>Additionally, </a:t>
            </a:r>
            <a:r>
              <a:rPr lang="en-US" dirty="0" err="1"/>
              <a:t>ResNet</a:t>
            </a:r>
            <a:r>
              <a:rPr lang="en-US" dirty="0"/>
              <a:t> has many variants that run on the same concept but have different numbers of pooling layers. </a:t>
            </a:r>
            <a:r>
              <a:rPr lang="en-US" b="1" dirty="0"/>
              <a:t>Resnet 50 is used to denote the variant that can work with 50 neural network layers.</a:t>
            </a:r>
            <a:endParaRPr lang="en-IN" b="1" dirty="0"/>
          </a:p>
        </p:txBody>
      </p:sp>
    </p:spTree>
    <p:extLst>
      <p:ext uri="{BB962C8B-B14F-4D97-AF65-F5344CB8AC3E}">
        <p14:creationId xmlns:p14="http://schemas.microsoft.com/office/powerpoint/2010/main" val="354560490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4FA5B-6CC8-5E93-E8DA-3000707B8D1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434BD4B-1CB7-663A-41E9-A9662667E9C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B32AE4C-3ABB-7084-F0B0-079939815E09}"/>
              </a:ext>
            </a:extLst>
          </p:cNvPr>
          <p:cNvPicPr>
            <a:picLocks noChangeAspect="1"/>
          </p:cNvPicPr>
          <p:nvPr/>
        </p:nvPicPr>
        <p:blipFill>
          <a:blip r:embed="rId2"/>
          <a:stretch>
            <a:fillRect/>
          </a:stretch>
        </p:blipFill>
        <p:spPr>
          <a:xfrm>
            <a:off x="345925" y="2327565"/>
            <a:ext cx="10738317" cy="3176376"/>
          </a:xfrm>
          <a:prstGeom prst="rect">
            <a:avLst/>
          </a:prstGeom>
        </p:spPr>
      </p:pic>
    </p:spTree>
    <p:extLst>
      <p:ext uri="{BB962C8B-B14F-4D97-AF65-F5344CB8AC3E}">
        <p14:creationId xmlns:p14="http://schemas.microsoft.com/office/powerpoint/2010/main" val="13624418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6813-63C7-DB88-8991-82CDC43673C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FCCF549-7C64-9C11-93B3-DAAEB17A861E}"/>
              </a:ext>
            </a:extLst>
          </p:cNvPr>
          <p:cNvSpPr>
            <a:spLocks noGrp="1"/>
          </p:cNvSpPr>
          <p:nvPr>
            <p:ph idx="1"/>
          </p:nvPr>
        </p:nvSpPr>
        <p:spPr>
          <a:xfrm>
            <a:off x="1168717" y="1423555"/>
            <a:ext cx="10058400" cy="4702715"/>
          </a:xfrm>
        </p:spPr>
        <p:txBody>
          <a:bodyPr/>
          <a:lstStyle/>
          <a:p>
            <a:pPr algn="just"/>
            <a:r>
              <a:rPr lang="en-US" dirty="0"/>
              <a:t>There are four convolutional layers in each module</a:t>
            </a:r>
          </a:p>
          <a:p>
            <a:pPr algn="just"/>
            <a:r>
              <a:rPr lang="en-US" dirty="0"/>
              <a:t>Together with the first  convolutional layer and the final fully connected layer, there are </a:t>
            </a:r>
            <a:r>
              <a:rPr lang="en-US" b="1" dirty="0"/>
              <a:t>18 layers in total</a:t>
            </a:r>
            <a:r>
              <a:rPr lang="en-US" dirty="0"/>
              <a:t>. </a:t>
            </a:r>
          </a:p>
          <a:p>
            <a:pPr algn="just"/>
            <a:r>
              <a:rPr lang="en-US" dirty="0"/>
              <a:t>Therefore, this model is commonly known </a:t>
            </a:r>
            <a:r>
              <a:rPr lang="en-US" b="1" dirty="0"/>
              <a:t>as ResNet-18</a:t>
            </a:r>
            <a:r>
              <a:rPr lang="en-US" dirty="0"/>
              <a:t>. </a:t>
            </a:r>
          </a:p>
          <a:p>
            <a:pPr algn="just"/>
            <a:r>
              <a:rPr lang="en-US" dirty="0"/>
              <a:t>By configuring different numbers of channels and residual blocks in the module, we can create different </a:t>
            </a:r>
            <a:r>
              <a:rPr lang="en-US" dirty="0" err="1"/>
              <a:t>ResNet</a:t>
            </a:r>
            <a:r>
              <a:rPr lang="en-US" dirty="0"/>
              <a:t> models, such as the deeper 152-layer ResNet-152. </a:t>
            </a:r>
          </a:p>
          <a:p>
            <a:pPr algn="just"/>
            <a:r>
              <a:rPr lang="en-US" dirty="0"/>
              <a:t>Although the main architecture of </a:t>
            </a:r>
            <a:r>
              <a:rPr lang="en-US" dirty="0" err="1"/>
              <a:t>ResNet</a:t>
            </a:r>
            <a:r>
              <a:rPr lang="en-US" dirty="0"/>
              <a:t> is similar to that of </a:t>
            </a:r>
            <a:r>
              <a:rPr lang="en-US" dirty="0" err="1"/>
              <a:t>GoogLeNet</a:t>
            </a:r>
            <a:r>
              <a:rPr lang="en-US" dirty="0"/>
              <a:t>, </a:t>
            </a:r>
            <a:r>
              <a:rPr lang="en-US" dirty="0" err="1"/>
              <a:t>ResNet’s</a:t>
            </a:r>
            <a:r>
              <a:rPr lang="en-US" dirty="0"/>
              <a:t> structure is simpler and easier to modify.</a:t>
            </a:r>
            <a:endParaRPr lang="en-IN" dirty="0"/>
          </a:p>
        </p:txBody>
      </p:sp>
    </p:spTree>
    <p:extLst>
      <p:ext uri="{BB962C8B-B14F-4D97-AF65-F5344CB8AC3E}">
        <p14:creationId xmlns:p14="http://schemas.microsoft.com/office/powerpoint/2010/main" val="24809934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83906-A17F-A648-4F2F-D86EF1621DA9}"/>
              </a:ext>
            </a:extLst>
          </p:cNvPr>
          <p:cNvSpPr>
            <a:spLocks noGrp="1"/>
          </p:cNvSpPr>
          <p:nvPr>
            <p:ph type="title"/>
          </p:nvPr>
        </p:nvSpPr>
        <p:spPr/>
        <p:txBody>
          <a:bodyPr>
            <a:normAutofit fontScale="90000"/>
          </a:bodyPr>
          <a:lstStyle/>
          <a:p>
            <a:r>
              <a:rPr lang="en-US"/>
              <a:t>What are the Features of ResNet?</a:t>
            </a:r>
            <a:endParaRPr lang="en-IN"/>
          </a:p>
        </p:txBody>
      </p:sp>
      <p:sp>
        <p:nvSpPr>
          <p:cNvPr id="3" name="Content Placeholder 2">
            <a:extLst>
              <a:ext uri="{FF2B5EF4-FFF2-40B4-BE49-F238E27FC236}">
                <a16:creationId xmlns:a16="http://schemas.microsoft.com/office/drawing/2014/main" id="{51782B50-76B9-DA36-3401-D9FF2EEC161B}"/>
              </a:ext>
            </a:extLst>
          </p:cNvPr>
          <p:cNvSpPr>
            <a:spLocks noGrp="1"/>
          </p:cNvSpPr>
          <p:nvPr>
            <p:ph idx="1"/>
          </p:nvPr>
        </p:nvSpPr>
        <p:spPr>
          <a:xfrm>
            <a:off x="592282" y="1381992"/>
            <a:ext cx="10634835" cy="4707082"/>
          </a:xfrm>
        </p:spPr>
        <p:txBody>
          <a:bodyPr>
            <a:normAutofit fontScale="92500" lnSpcReduction="10000"/>
          </a:bodyPr>
          <a:lstStyle/>
          <a:p>
            <a:r>
              <a:rPr lang="en-US" b="1" dirty="0"/>
              <a:t>Residual Connections:</a:t>
            </a:r>
            <a:r>
              <a:rPr lang="en-US" dirty="0"/>
              <a:t> </a:t>
            </a:r>
            <a:r>
              <a:rPr lang="en-US" dirty="0" err="1"/>
              <a:t>ResNet</a:t>
            </a:r>
            <a:r>
              <a:rPr lang="en-US" dirty="0"/>
              <a:t> incorporates residual connections, which allow for training very deep neural networks and alleviate the vanishing gradient problem.</a:t>
            </a:r>
          </a:p>
          <a:p>
            <a:r>
              <a:rPr lang="en-US" b="1" dirty="0"/>
              <a:t>Identity Mapping</a:t>
            </a:r>
            <a:r>
              <a:rPr lang="en-US" dirty="0"/>
              <a:t>: </a:t>
            </a:r>
            <a:r>
              <a:rPr lang="en-US" dirty="0" err="1"/>
              <a:t>ResNet</a:t>
            </a:r>
            <a:r>
              <a:rPr lang="en-US" dirty="0"/>
              <a:t> uses </a:t>
            </a:r>
            <a:r>
              <a:rPr lang="en-US" b="1" dirty="0"/>
              <a:t>identity mapping </a:t>
            </a:r>
            <a:r>
              <a:rPr lang="en-US" dirty="0"/>
              <a:t>as the residual function, which makes the training process easier by learning the residual mapping rather than the actual mapping.</a:t>
            </a:r>
          </a:p>
          <a:p>
            <a:r>
              <a:rPr lang="en-US" b="1" dirty="0"/>
              <a:t>Depth</a:t>
            </a:r>
            <a:r>
              <a:rPr lang="en-US" dirty="0"/>
              <a:t>: </a:t>
            </a:r>
            <a:r>
              <a:rPr lang="en-US" dirty="0" err="1"/>
              <a:t>ResNet</a:t>
            </a:r>
            <a:r>
              <a:rPr lang="en-US" dirty="0"/>
              <a:t> enables the creation of very deep neural networks, which can improve performance on image recognition tasks.</a:t>
            </a:r>
          </a:p>
          <a:p>
            <a:r>
              <a:rPr lang="en-US" b="1" dirty="0"/>
              <a:t>Fewer Parameters</a:t>
            </a:r>
            <a:r>
              <a:rPr lang="en-US" dirty="0"/>
              <a:t>: </a:t>
            </a:r>
            <a:r>
              <a:rPr lang="en-US" dirty="0" err="1"/>
              <a:t>ResNet</a:t>
            </a:r>
            <a:r>
              <a:rPr lang="en-US" dirty="0"/>
              <a:t> achieves better results with fewer parameters, making it computationally more efficient.</a:t>
            </a:r>
          </a:p>
          <a:p>
            <a:r>
              <a:rPr lang="en-US" b="1" dirty="0"/>
              <a:t>State-of-the-art Results:</a:t>
            </a:r>
            <a:r>
              <a:rPr lang="en-US" dirty="0"/>
              <a:t> </a:t>
            </a:r>
            <a:r>
              <a:rPr lang="en-US" dirty="0" err="1"/>
              <a:t>ResNet</a:t>
            </a:r>
            <a:r>
              <a:rPr lang="en-US" dirty="0"/>
              <a:t> has achieved state-of-the-art results on various image recognition tasks and has become a widely used benchmark for image recognition tasks.</a:t>
            </a:r>
          </a:p>
          <a:p>
            <a:r>
              <a:rPr lang="en-US" b="1" dirty="0"/>
              <a:t>General and Effective Approach:</a:t>
            </a:r>
            <a:r>
              <a:rPr lang="en-US" dirty="0"/>
              <a:t> The authors conclude that residual connections are a general and effective approach for enabling deeper networks.</a:t>
            </a:r>
          </a:p>
          <a:p>
            <a:endParaRPr lang="en-IN" dirty="0"/>
          </a:p>
        </p:txBody>
      </p:sp>
    </p:spTree>
    <p:extLst>
      <p:ext uri="{BB962C8B-B14F-4D97-AF65-F5344CB8AC3E}">
        <p14:creationId xmlns:p14="http://schemas.microsoft.com/office/powerpoint/2010/main" val="344624747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D10E-4726-FAAD-0D1C-66AD90C0E38B}"/>
              </a:ext>
            </a:extLst>
          </p:cNvPr>
          <p:cNvSpPr>
            <a:spLocks noGrp="1"/>
          </p:cNvSpPr>
          <p:nvPr>
            <p:ph type="title"/>
          </p:nvPr>
        </p:nvSpPr>
        <p:spPr/>
        <p:txBody>
          <a:bodyPr>
            <a:normAutofit fontScale="90000"/>
          </a:bodyPr>
          <a:lstStyle/>
          <a:p>
            <a:r>
              <a:rPr lang="en-IN" b="0" dirty="0"/>
              <a:t>How </a:t>
            </a:r>
            <a:r>
              <a:rPr lang="en-IN" b="0" dirty="0" err="1"/>
              <a:t>ResNet</a:t>
            </a:r>
            <a:r>
              <a:rPr lang="en-IN" b="0" dirty="0"/>
              <a:t> Works?</a:t>
            </a:r>
            <a:endParaRPr lang="en-IN" dirty="0"/>
          </a:p>
        </p:txBody>
      </p:sp>
      <p:sp>
        <p:nvSpPr>
          <p:cNvPr id="3" name="Content Placeholder 2">
            <a:extLst>
              <a:ext uri="{FF2B5EF4-FFF2-40B4-BE49-F238E27FC236}">
                <a16:creationId xmlns:a16="http://schemas.microsoft.com/office/drawing/2014/main" id="{B4AC96F1-D6E6-FCEC-3070-E05D34596BF9}"/>
              </a:ext>
            </a:extLst>
          </p:cNvPr>
          <p:cNvSpPr>
            <a:spLocks noGrp="1"/>
          </p:cNvSpPr>
          <p:nvPr>
            <p:ph idx="1"/>
          </p:nvPr>
        </p:nvSpPr>
        <p:spPr>
          <a:xfrm>
            <a:off x="487680" y="1496291"/>
            <a:ext cx="10739437" cy="4193309"/>
          </a:xfrm>
        </p:spPr>
        <p:txBody>
          <a:bodyPr>
            <a:normAutofit fontScale="92500" lnSpcReduction="10000"/>
          </a:bodyPr>
          <a:lstStyle/>
          <a:p>
            <a:pPr algn="just"/>
            <a:r>
              <a:rPr lang="en-US" dirty="0" err="1"/>
              <a:t>ResNet</a:t>
            </a:r>
            <a:r>
              <a:rPr lang="en-US" dirty="0"/>
              <a:t> works by </a:t>
            </a:r>
            <a:r>
              <a:rPr lang="en-US" b="1" dirty="0"/>
              <a:t>adding residual connections </a:t>
            </a:r>
            <a:r>
              <a:rPr lang="en-US" dirty="0"/>
              <a:t>to the network, which helps to maintain the information flow throughout the network and prevents the gradients from vanishing.</a:t>
            </a:r>
          </a:p>
          <a:p>
            <a:pPr algn="just"/>
            <a:r>
              <a:rPr lang="en-US" dirty="0"/>
              <a:t>The residual connection is a shortcut that allows the information to bypass one or more layers in the network and reach the output directly.</a:t>
            </a:r>
          </a:p>
          <a:p>
            <a:pPr algn="just"/>
            <a:r>
              <a:rPr lang="en-US" dirty="0"/>
              <a:t>The residual connection allows the network to learn the residual function and make small updates to the parameters, which enables the network to converge faster and achieve better performance.</a:t>
            </a:r>
          </a:p>
          <a:p>
            <a:pPr algn="just"/>
            <a:r>
              <a:rPr lang="en-US" dirty="0"/>
              <a:t>This enables the network to learn residual functions and helps the network to converge faster and achieve better performance.</a:t>
            </a:r>
          </a:p>
          <a:p>
            <a:pPr algn="just"/>
            <a:r>
              <a:rPr lang="en-US" dirty="0"/>
              <a:t>The residual connection is based on the idea that instead of trying to learn the complex mapping between the inputs and the outputs, it is easier to learn the residual function, which maps the inputs to the desired outputs.</a:t>
            </a:r>
          </a:p>
          <a:p>
            <a:pPr algn="just"/>
            <a:endParaRPr lang="en-IN" dirty="0"/>
          </a:p>
        </p:txBody>
      </p:sp>
    </p:spTree>
    <p:extLst>
      <p:ext uri="{BB962C8B-B14F-4D97-AF65-F5344CB8AC3E}">
        <p14:creationId xmlns:p14="http://schemas.microsoft.com/office/powerpoint/2010/main" val="195199181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3F877-C450-D8D1-2EBB-153F8215E66F}"/>
              </a:ext>
            </a:extLst>
          </p:cNvPr>
          <p:cNvSpPr>
            <a:spLocks noGrp="1"/>
          </p:cNvSpPr>
          <p:nvPr>
            <p:ph type="title"/>
          </p:nvPr>
        </p:nvSpPr>
        <p:spPr/>
        <p:txBody>
          <a:bodyPr>
            <a:normAutofit fontScale="90000"/>
          </a:bodyPr>
          <a:lstStyle/>
          <a:p>
            <a:r>
              <a:rPr lang="en-US" dirty="0"/>
              <a:t>Variants</a:t>
            </a:r>
            <a:endParaRPr lang="en-IN" dirty="0"/>
          </a:p>
        </p:txBody>
      </p:sp>
      <p:graphicFrame>
        <p:nvGraphicFramePr>
          <p:cNvPr id="4" name="Content Placeholder 3">
            <a:extLst>
              <a:ext uri="{FF2B5EF4-FFF2-40B4-BE49-F238E27FC236}">
                <a16:creationId xmlns:a16="http://schemas.microsoft.com/office/drawing/2014/main" id="{33755577-D92F-7581-07DF-6BFE2B4C2D59}"/>
              </a:ext>
            </a:extLst>
          </p:cNvPr>
          <p:cNvGraphicFramePr>
            <a:graphicFrameLocks noGrp="1"/>
          </p:cNvGraphicFramePr>
          <p:nvPr>
            <p:ph idx="1"/>
            <p:extLst>
              <p:ext uri="{D42A27DB-BD31-4B8C-83A1-F6EECF244321}">
                <p14:modId xmlns:p14="http://schemas.microsoft.com/office/powerpoint/2010/main" val="1719872781"/>
              </p:ext>
            </p:extLst>
          </p:nvPr>
        </p:nvGraphicFramePr>
        <p:xfrm>
          <a:off x="2451100" y="1922361"/>
          <a:ext cx="6292272" cy="2194560"/>
        </p:xfrm>
        <a:graphic>
          <a:graphicData uri="http://schemas.openxmlformats.org/drawingml/2006/table">
            <a:tbl>
              <a:tblPr/>
              <a:tblGrid>
                <a:gridCol w="3146136">
                  <a:extLst>
                    <a:ext uri="{9D8B030D-6E8A-4147-A177-3AD203B41FA5}">
                      <a16:colId xmlns:a16="http://schemas.microsoft.com/office/drawing/2014/main" val="1459825803"/>
                    </a:ext>
                  </a:extLst>
                </a:gridCol>
                <a:gridCol w="3146136">
                  <a:extLst>
                    <a:ext uri="{9D8B030D-6E8A-4147-A177-3AD203B41FA5}">
                      <a16:colId xmlns:a16="http://schemas.microsoft.com/office/drawing/2014/main" val="1287081462"/>
                    </a:ext>
                  </a:extLst>
                </a:gridCol>
              </a:tblGrid>
              <a:tr h="350181">
                <a:tc>
                  <a:txBody>
                    <a:bodyPr/>
                    <a:lstStyle/>
                    <a:p>
                      <a:pPr>
                        <a:buNone/>
                      </a:pPr>
                      <a:r>
                        <a:rPr lang="en-IN"/>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Depth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4315521"/>
                  </a:ext>
                </a:extLst>
              </a:tr>
              <a:tr h="350181">
                <a:tc>
                  <a:txBody>
                    <a:bodyPr/>
                    <a:lstStyle/>
                    <a:p>
                      <a:pPr>
                        <a:buNone/>
                      </a:pPr>
                      <a:r>
                        <a:rPr lang="en-IN" dirty="0"/>
                        <a:t>ResNet-18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18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2806730"/>
                  </a:ext>
                </a:extLst>
              </a:tr>
              <a:tr h="350181">
                <a:tc>
                  <a:txBody>
                    <a:bodyPr/>
                    <a:lstStyle/>
                    <a:p>
                      <a:pPr>
                        <a:buNone/>
                      </a:pPr>
                      <a:r>
                        <a:rPr lang="en-IN"/>
                        <a:t>ResNet-34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34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9573537"/>
                  </a:ext>
                </a:extLst>
              </a:tr>
              <a:tr h="350181">
                <a:tc>
                  <a:txBody>
                    <a:bodyPr/>
                    <a:lstStyle/>
                    <a:p>
                      <a:pPr>
                        <a:buNone/>
                      </a:pPr>
                      <a:r>
                        <a:rPr lang="en-IN"/>
                        <a:t>ResNet-50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50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66738"/>
                  </a:ext>
                </a:extLst>
              </a:tr>
              <a:tr h="350181">
                <a:tc>
                  <a:txBody>
                    <a:bodyPr/>
                    <a:lstStyle/>
                    <a:p>
                      <a:pPr>
                        <a:buNone/>
                      </a:pPr>
                      <a:r>
                        <a:rPr lang="en-IN"/>
                        <a:t>ResNet-101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101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0187917"/>
                  </a:ext>
                </a:extLst>
              </a:tr>
              <a:tr h="350181">
                <a:tc>
                  <a:txBody>
                    <a:bodyPr/>
                    <a:lstStyle/>
                    <a:p>
                      <a:pPr>
                        <a:buNone/>
                      </a:pPr>
                      <a:r>
                        <a:rPr lang="en-IN" dirty="0"/>
                        <a:t>ResNet-152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152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500162"/>
                  </a:ext>
                </a:extLst>
              </a:tr>
            </a:tbl>
          </a:graphicData>
        </a:graphic>
      </p:graphicFrame>
      <p:sp>
        <p:nvSpPr>
          <p:cNvPr id="6" name="TextBox 5">
            <a:extLst>
              <a:ext uri="{FF2B5EF4-FFF2-40B4-BE49-F238E27FC236}">
                <a16:creationId xmlns:a16="http://schemas.microsoft.com/office/drawing/2014/main" id="{99C7B523-FFF2-7488-5859-710DDBF8AD34}"/>
              </a:ext>
            </a:extLst>
          </p:cNvPr>
          <p:cNvSpPr txBox="1"/>
          <p:nvPr/>
        </p:nvSpPr>
        <p:spPr>
          <a:xfrm>
            <a:off x="1446934" y="5083524"/>
            <a:ext cx="6094268" cy="646331"/>
          </a:xfrm>
          <a:prstGeom prst="rect">
            <a:avLst/>
          </a:prstGeom>
          <a:noFill/>
        </p:spPr>
        <p:txBody>
          <a:bodyPr wrap="square">
            <a:spAutoFit/>
          </a:bodyPr>
          <a:lstStyle/>
          <a:p>
            <a:r>
              <a:rPr lang="en-IN" dirty="0">
                <a:hlinkClick r:id="rId2"/>
              </a:rPr>
              <a:t>https://viso.ai/deep-learning/resnet-residual-neural-network/</a:t>
            </a:r>
            <a:endParaRPr lang="en-IN" dirty="0"/>
          </a:p>
          <a:p>
            <a:endParaRPr lang="en-IN" dirty="0"/>
          </a:p>
        </p:txBody>
      </p:sp>
    </p:spTree>
    <p:extLst>
      <p:ext uri="{BB962C8B-B14F-4D97-AF65-F5344CB8AC3E}">
        <p14:creationId xmlns:p14="http://schemas.microsoft.com/office/powerpoint/2010/main" val="88724146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61F20-5AEF-228C-0D7B-5CBE860C6147}"/>
              </a:ext>
            </a:extLst>
          </p:cNvPr>
          <p:cNvSpPr>
            <a:spLocks noGrp="1"/>
          </p:cNvSpPr>
          <p:nvPr>
            <p:ph type="title"/>
          </p:nvPr>
        </p:nvSpPr>
        <p:spPr/>
        <p:txBody>
          <a:bodyPr>
            <a:normAutofit fontScale="90000"/>
          </a:bodyPr>
          <a:lstStyle/>
          <a:p>
            <a:r>
              <a:rPr lang="en-IN" dirty="0"/>
              <a:t>How </a:t>
            </a:r>
            <a:r>
              <a:rPr lang="en-IN" dirty="0" err="1"/>
              <a:t>ResNet</a:t>
            </a:r>
            <a:r>
              <a:rPr lang="en-IN" dirty="0"/>
              <a:t> Works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2B810B-B66E-1C02-3552-1A95B2E679E9}"/>
                  </a:ext>
                </a:extLst>
              </p:cNvPr>
              <p:cNvSpPr>
                <a:spLocks noGrp="1"/>
              </p:cNvSpPr>
              <p:nvPr>
                <p:ph idx="1"/>
              </p:nvPr>
            </p:nvSpPr>
            <p:spPr/>
            <p:txBody>
              <a:bodyPr/>
              <a:lstStyle/>
              <a:p>
                <a:pPr fontAlgn="base"/>
                <a:r>
                  <a:rPr lang="en-IN" dirty="0"/>
                  <a:t>Conventional networks try to learn the full mapping </a:t>
                </a:r>
                <a14:m>
                  <m:oMath xmlns:m="http://schemas.openxmlformats.org/officeDocument/2006/math">
                    <m:r>
                      <a:rPr lang="en-IN" i="1">
                        <a:latin typeface="Cambria Math" panose="02040503050406030204" pitchFamily="18" charset="0"/>
                      </a:rPr>
                      <m:t>𝐻</m:t>
                    </m:r>
                    <m:d>
                      <m:dPr>
                        <m:ctrlPr>
                          <a:rPr lang="ar-AE" i="1">
                            <a:latin typeface="Cambria Math" panose="02040503050406030204" pitchFamily="18" charset="0"/>
                          </a:rPr>
                        </m:ctrlPr>
                      </m:dPr>
                      <m:e>
                        <m:r>
                          <a:rPr lang="ar-AE" i="1">
                            <a:latin typeface="Cambria Math" panose="02040503050406030204" pitchFamily="18" charset="0"/>
                          </a:rPr>
                          <m:t>𝑥</m:t>
                        </m:r>
                      </m:e>
                    </m:d>
                  </m:oMath>
                </a14:m>
                <a:r>
                  <a:rPr lang="ar-AE" dirty="0"/>
                  <a:t>. </a:t>
                </a:r>
                <a:r>
                  <a:rPr lang="en-IN" dirty="0" err="1"/>
                  <a:t>ResNet</a:t>
                </a:r>
                <a:r>
                  <a:rPr lang="en-IN" dirty="0"/>
                  <a:t> instead learns a residual function and combines it with the input via a skip connection</a:t>
                </a:r>
              </a:p>
              <a:p>
                <a:pPr fontAlgn="base"/>
                <a14:m>
                  <m:oMath xmlns:m="http://schemas.openxmlformats.org/officeDocument/2006/math">
                    <m:r>
                      <a:rPr lang="en-IN" i="1">
                        <a:latin typeface="Cambria Math" panose="02040503050406030204" pitchFamily="18" charset="0"/>
                      </a:rPr>
                      <m:t>𝐻</m:t>
                    </m:r>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r>
                      <a:rPr lang="ar-AE" i="1">
                        <a:latin typeface="Cambria Math" panose="02040503050406030204" pitchFamily="18" charset="0"/>
                      </a:rPr>
                      <m:t>𝐹</m:t>
                    </m:r>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r>
                      <a:rPr lang="ar-AE" i="1">
                        <a:latin typeface="Cambria Math" panose="02040503050406030204" pitchFamily="18" charset="0"/>
                      </a:rPr>
                      <m:t>𝑥</m:t>
                    </m:r>
                  </m:oMath>
                </a14:m>
                <a:endParaRPr lang="ar-AE" i="1" dirty="0"/>
              </a:p>
              <a:p>
                <a:pPr fontAlgn="base"/>
                <a:r>
                  <a:rPr lang="en-IN" dirty="0"/>
                  <a:t>where:</a:t>
                </a:r>
              </a:p>
              <a:p>
                <a:pPr fontAlgn="base"/>
                <a14:m>
                  <m:oMath xmlns:m="http://schemas.openxmlformats.org/officeDocument/2006/math">
                    <m:r>
                      <a:rPr lang="en-IN" i="1">
                        <a:latin typeface="Cambria Math" panose="02040503050406030204" pitchFamily="18" charset="0"/>
                      </a:rPr>
                      <m:t>𝑥</m:t>
                    </m:r>
                  </m:oMath>
                </a14:m>
                <a:r>
                  <a:rPr lang="en-IN" dirty="0"/>
                  <a:t>: input to the block</a:t>
                </a:r>
              </a:p>
              <a:p>
                <a:pPr fontAlgn="base"/>
                <a14:m>
                  <m:oMath xmlns:m="http://schemas.openxmlformats.org/officeDocument/2006/math">
                    <m:r>
                      <a:rPr lang="en-IN" i="1">
                        <a:latin typeface="Cambria Math" panose="02040503050406030204" pitchFamily="18" charset="0"/>
                      </a:rPr>
                      <m:t>𝐻</m:t>
                    </m:r>
                    <m:d>
                      <m:dPr>
                        <m:ctrlPr>
                          <a:rPr lang="ar-AE" i="1">
                            <a:latin typeface="Cambria Math" panose="02040503050406030204" pitchFamily="18" charset="0"/>
                          </a:rPr>
                        </m:ctrlPr>
                      </m:dPr>
                      <m:e>
                        <m:r>
                          <a:rPr lang="ar-AE" i="1">
                            <a:latin typeface="Cambria Math" panose="02040503050406030204" pitchFamily="18" charset="0"/>
                          </a:rPr>
                          <m:t>𝑥</m:t>
                        </m:r>
                      </m:e>
                    </m:d>
                  </m:oMath>
                </a14:m>
                <a:r>
                  <a:rPr lang="ar-AE" dirty="0"/>
                  <a:t>: </a:t>
                </a:r>
                <a:r>
                  <a:rPr lang="en-IN" dirty="0"/>
                  <a:t>desired mapping</a:t>
                </a:r>
              </a:p>
              <a:p>
                <a:pPr fontAlgn="base"/>
                <a14:m>
                  <m:oMath xmlns:m="http://schemas.openxmlformats.org/officeDocument/2006/math">
                    <m:r>
                      <a:rPr lang="en-IN" i="1">
                        <a:latin typeface="Cambria Math" panose="02040503050406030204" pitchFamily="18" charset="0"/>
                      </a:rPr>
                      <m:t>𝐹</m:t>
                    </m:r>
                    <m:d>
                      <m:dPr>
                        <m:ctrlPr>
                          <a:rPr lang="ar-AE" i="1">
                            <a:latin typeface="Cambria Math" panose="02040503050406030204" pitchFamily="18" charset="0"/>
                          </a:rPr>
                        </m:ctrlPr>
                      </m:dPr>
                      <m:e>
                        <m:r>
                          <a:rPr lang="ar-AE" i="1">
                            <a:latin typeface="Cambria Math" panose="02040503050406030204" pitchFamily="18" charset="0"/>
                          </a:rPr>
                          <m:t>𝑥</m:t>
                        </m:r>
                      </m:e>
                    </m:d>
                  </m:oMath>
                </a14:m>
                <a:r>
                  <a:rPr lang="ar-AE" dirty="0"/>
                  <a:t>: </a:t>
                </a:r>
                <a:r>
                  <a:rPr lang="en-IN" dirty="0"/>
                  <a:t>residual function to be learned</a:t>
                </a:r>
              </a:p>
              <a:p>
                <a:pPr fontAlgn="base"/>
                <a:r>
                  <a:rPr lang="en-IN" dirty="0"/>
                  <a:t>Learning the simpler residual </a:t>
                </a:r>
                <a14:m>
                  <m:oMath xmlns:m="http://schemas.openxmlformats.org/officeDocument/2006/math">
                    <m:r>
                      <a:rPr lang="en-IN" i="1">
                        <a:latin typeface="Cambria Math" panose="02040503050406030204" pitchFamily="18" charset="0"/>
                      </a:rPr>
                      <m:t>𝐹</m:t>
                    </m:r>
                    <m:d>
                      <m:dPr>
                        <m:ctrlPr>
                          <a:rPr lang="ar-AE" i="1">
                            <a:latin typeface="Cambria Math" panose="02040503050406030204" pitchFamily="18" charset="0"/>
                          </a:rPr>
                        </m:ctrlPr>
                      </m:dPr>
                      <m:e>
                        <m:r>
                          <a:rPr lang="ar-AE" i="1">
                            <a:latin typeface="Cambria Math" panose="02040503050406030204" pitchFamily="18" charset="0"/>
                          </a:rPr>
                          <m:t>𝑥</m:t>
                        </m:r>
                      </m:e>
                    </m:d>
                  </m:oMath>
                </a14:m>
                <a:r>
                  <a:rPr lang="ar-AE" dirty="0"/>
                  <a:t> </a:t>
                </a:r>
                <a:r>
                  <a:rPr lang="en-IN" dirty="0"/>
                  <a:t>makes optimization easier.</a:t>
                </a:r>
              </a:p>
              <a:p>
                <a:endParaRPr lang="en-IN" dirty="0"/>
              </a:p>
            </p:txBody>
          </p:sp>
        </mc:Choice>
        <mc:Fallback xmlns="">
          <p:sp>
            <p:nvSpPr>
              <p:cNvPr id="3" name="Content Placeholder 2">
                <a:extLst>
                  <a:ext uri="{FF2B5EF4-FFF2-40B4-BE49-F238E27FC236}">
                    <a16:creationId xmlns:a16="http://schemas.microsoft.com/office/drawing/2014/main" id="{4E2B810B-B66E-1C02-3552-1A95B2E679E9}"/>
                  </a:ext>
                </a:extLst>
              </p:cNvPr>
              <p:cNvSpPr>
                <a:spLocks noGrp="1" noRot="1" noChangeAspect="1" noMove="1" noResize="1" noEditPoints="1" noAdjustHandles="1" noChangeArrowheads="1" noChangeShapeType="1" noTextEdit="1"/>
              </p:cNvSpPr>
              <p:nvPr>
                <p:ph idx="1"/>
              </p:nvPr>
            </p:nvSpPr>
            <p:spPr>
              <a:blipFill>
                <a:blip r:embed="rId2"/>
                <a:stretch>
                  <a:fillRect l="-1758" t="-2168" r="-909"/>
                </a:stretch>
              </a:blipFill>
            </p:spPr>
            <p:txBody>
              <a:bodyPr/>
              <a:lstStyle/>
              <a:p>
                <a:r>
                  <a:rPr lang="en-IN">
                    <a:noFill/>
                  </a:rPr>
                  <a:t> </a:t>
                </a:r>
              </a:p>
            </p:txBody>
          </p:sp>
        </mc:Fallback>
      </mc:AlternateContent>
    </p:spTree>
    <p:extLst>
      <p:ext uri="{BB962C8B-B14F-4D97-AF65-F5344CB8AC3E}">
        <p14:creationId xmlns:p14="http://schemas.microsoft.com/office/powerpoint/2010/main" val="379940366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7279B-E154-A305-F71B-8466272176E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6C48FA3-A05B-4275-7715-CBFB9201F676}"/>
              </a:ext>
            </a:extLst>
          </p:cNvPr>
          <p:cNvSpPr>
            <a:spLocks noGrp="1"/>
          </p:cNvSpPr>
          <p:nvPr>
            <p:ph idx="1"/>
          </p:nvPr>
        </p:nvSpPr>
        <p:spPr/>
        <p:txBody>
          <a:bodyPr/>
          <a:lstStyle/>
          <a:p>
            <a:pPr fontAlgn="base"/>
            <a:r>
              <a:rPr lang="en-US" b="1" dirty="0"/>
              <a:t>1. Residual Block:</a:t>
            </a:r>
            <a:r>
              <a:rPr lang="en-US" dirty="0"/>
              <a:t> A Residual Block contains:</a:t>
            </a:r>
          </a:p>
          <a:p>
            <a:pPr fontAlgn="base"/>
            <a:r>
              <a:rPr lang="en-US" dirty="0"/>
              <a:t>One or more convolutional layers</a:t>
            </a:r>
          </a:p>
          <a:p>
            <a:pPr fontAlgn="base"/>
            <a:r>
              <a:rPr lang="en-US" dirty="0"/>
              <a:t>A skip connection that bypasses these layers</a:t>
            </a:r>
          </a:p>
          <a:p>
            <a:pPr fontAlgn="base"/>
            <a:r>
              <a:rPr lang="en-US" dirty="0"/>
              <a:t>Addition of input to convolution output</a:t>
            </a:r>
          </a:p>
          <a:p>
            <a:pPr fontAlgn="base"/>
            <a:r>
              <a:rPr lang="en-US" dirty="0"/>
              <a:t>This ensures uninterrupted flow of information and gradients</a:t>
            </a:r>
          </a:p>
          <a:p>
            <a:pPr marL="0" indent="0">
              <a:buNone/>
            </a:pPr>
            <a:br>
              <a:rPr lang="en-US" dirty="0"/>
            </a:br>
            <a:endParaRPr lang="en-IN" dirty="0"/>
          </a:p>
        </p:txBody>
      </p:sp>
    </p:spTree>
    <p:extLst>
      <p:ext uri="{BB962C8B-B14F-4D97-AF65-F5344CB8AC3E}">
        <p14:creationId xmlns:p14="http://schemas.microsoft.com/office/powerpoint/2010/main" val="268390173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5B2DE-EEC5-D714-D704-CCDA981F589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4096060-7F40-28EC-64E8-B35465E6C63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32CED63-264C-0F9B-0C5E-84975352DE56}"/>
              </a:ext>
            </a:extLst>
          </p:cNvPr>
          <p:cNvPicPr>
            <a:picLocks noChangeAspect="1"/>
          </p:cNvPicPr>
          <p:nvPr/>
        </p:nvPicPr>
        <p:blipFill>
          <a:blip r:embed="rId2"/>
          <a:stretch>
            <a:fillRect/>
          </a:stretch>
        </p:blipFill>
        <p:spPr>
          <a:xfrm>
            <a:off x="2676525" y="1747837"/>
            <a:ext cx="6838950" cy="3362325"/>
          </a:xfrm>
          <a:prstGeom prst="rect">
            <a:avLst/>
          </a:prstGeom>
        </p:spPr>
      </p:pic>
    </p:spTree>
    <p:extLst>
      <p:ext uri="{BB962C8B-B14F-4D97-AF65-F5344CB8AC3E}">
        <p14:creationId xmlns:p14="http://schemas.microsoft.com/office/powerpoint/2010/main" val="145764081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611DB-40B4-7B58-03FF-DB9DFC1717A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2B7272C-1B18-7458-CE75-E4F365377D5C}"/>
              </a:ext>
            </a:extLst>
          </p:cNvPr>
          <p:cNvSpPr>
            <a:spLocks noGrp="1"/>
          </p:cNvSpPr>
          <p:nvPr>
            <p:ph idx="1"/>
          </p:nvPr>
        </p:nvSpPr>
        <p:spPr/>
        <p:txBody>
          <a:bodyPr/>
          <a:lstStyle/>
          <a:p>
            <a:pPr fontAlgn="base"/>
            <a:r>
              <a:rPr lang="en-US" b="1"/>
              <a:t>2. Skip (Shortcut) Connection</a:t>
            </a:r>
            <a:endParaRPr lang="en-US"/>
          </a:p>
          <a:p>
            <a:pPr fontAlgn="base"/>
            <a:r>
              <a:rPr lang="en-US"/>
              <a:t>Bypasses one or more layers</a:t>
            </a:r>
          </a:p>
          <a:p>
            <a:pPr fontAlgn="base"/>
            <a:r>
              <a:rPr lang="en-US"/>
              <a:t>Adds input directly to output</a:t>
            </a:r>
          </a:p>
          <a:p>
            <a:pPr fontAlgn="base"/>
            <a:r>
              <a:rPr lang="en-US"/>
              <a:t>Prevents vanishing gradients</a:t>
            </a:r>
          </a:p>
          <a:p>
            <a:pPr fontAlgn="base"/>
            <a:r>
              <a:rPr lang="en-US"/>
              <a:t>Improves parameter updates</a:t>
            </a:r>
          </a:p>
        </p:txBody>
      </p:sp>
    </p:spTree>
    <p:extLst>
      <p:ext uri="{BB962C8B-B14F-4D97-AF65-F5344CB8AC3E}">
        <p14:creationId xmlns:p14="http://schemas.microsoft.com/office/powerpoint/2010/main" val="250080698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5F80A-2B01-0AED-E708-C1CC3D693CB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FEA557C-7779-976D-86E3-7027525D72C8}"/>
              </a:ext>
            </a:extLst>
          </p:cNvPr>
          <p:cNvSpPr>
            <a:spLocks noGrp="1"/>
          </p:cNvSpPr>
          <p:nvPr>
            <p:ph idx="1"/>
          </p:nvPr>
        </p:nvSpPr>
        <p:spPr>
          <a:xfrm>
            <a:off x="375920" y="1392382"/>
            <a:ext cx="10851197" cy="4733888"/>
          </a:xfrm>
        </p:spPr>
        <p:txBody>
          <a:bodyPr>
            <a:normAutofit fontScale="92500"/>
          </a:bodyPr>
          <a:lstStyle/>
          <a:p>
            <a:pPr marL="0" indent="0" algn="just" fontAlgn="base">
              <a:buNone/>
            </a:pPr>
            <a:r>
              <a:rPr lang="en-US" b="1" dirty="0"/>
              <a:t> Handling Dimension Mismatch:</a:t>
            </a:r>
            <a:r>
              <a:rPr lang="en-US" dirty="0"/>
              <a:t> When input and output dimensions differ</a:t>
            </a:r>
          </a:p>
          <a:p>
            <a:pPr algn="just" fontAlgn="base"/>
            <a:r>
              <a:rPr lang="en-US" b="1" dirty="0"/>
              <a:t>Zero Padding:</a:t>
            </a:r>
            <a:r>
              <a:rPr lang="en-US" dirty="0"/>
              <a:t> Adds extra zeros to the input to match output dimensions in a residual block</a:t>
            </a:r>
          </a:p>
          <a:p>
            <a:pPr algn="just" fontAlgn="base"/>
            <a:r>
              <a:rPr lang="en-US" b="1" dirty="0"/>
              <a:t>Linear Projection: </a:t>
            </a:r>
            <a:r>
              <a:rPr lang="en-US" dirty="0"/>
              <a:t>Uses a learnable 1x1 convolution to match input and output dimensions for the skip connection.</a:t>
            </a:r>
          </a:p>
          <a:p>
            <a:pPr algn="just" fontAlgn="base"/>
            <a:r>
              <a:rPr lang="en-US" b="1" dirty="0"/>
              <a:t>3. Stacking Residual Blocks</a:t>
            </a:r>
            <a:r>
              <a:rPr lang="en-US" dirty="0"/>
              <a:t> : Multiple residual blocks can be stacked to create deep architectures. This allows networks to go very deep without suffering from degradation.</a:t>
            </a:r>
          </a:p>
          <a:p>
            <a:pPr algn="just" fontAlgn="base"/>
            <a:r>
              <a:rPr lang="en-US" b="1" dirty="0"/>
              <a:t>4. Global Average Pooling (GAP)</a:t>
            </a:r>
            <a:r>
              <a:rPr lang="en-US" dirty="0"/>
              <a:t>: Before the final fully connected layer </a:t>
            </a:r>
            <a:r>
              <a:rPr lang="en-US" dirty="0" err="1"/>
              <a:t>ResNet</a:t>
            </a:r>
            <a:r>
              <a:rPr lang="en-US" dirty="0"/>
              <a:t> uses GAP:</a:t>
            </a:r>
          </a:p>
          <a:p>
            <a:pPr algn="just" fontAlgn="base"/>
            <a:r>
              <a:rPr lang="en-US" dirty="0"/>
              <a:t>Converts each feature map to a single value by averaging</a:t>
            </a:r>
          </a:p>
          <a:p>
            <a:pPr algn="just" fontAlgn="base"/>
            <a:r>
              <a:rPr lang="en-US" dirty="0"/>
              <a:t>Reduces parameters less overfitting</a:t>
            </a:r>
          </a:p>
          <a:p>
            <a:pPr algn="just" fontAlgn="base"/>
            <a:r>
              <a:rPr lang="en-US" dirty="0"/>
              <a:t>Produces compact feature representation</a:t>
            </a:r>
          </a:p>
          <a:p>
            <a:pPr algn="just"/>
            <a:endParaRPr lang="en-IN" dirty="0"/>
          </a:p>
        </p:txBody>
      </p:sp>
    </p:spTree>
    <p:extLst>
      <p:ext uri="{BB962C8B-B14F-4D97-AF65-F5344CB8AC3E}">
        <p14:creationId xmlns:p14="http://schemas.microsoft.com/office/powerpoint/2010/main" val="172555128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1D42D-B6B2-420D-CE4E-2674A4BEA7E1}"/>
              </a:ext>
            </a:extLst>
          </p:cNvPr>
          <p:cNvSpPr>
            <a:spLocks noGrp="1"/>
          </p:cNvSpPr>
          <p:nvPr>
            <p:ph type="title"/>
          </p:nvPr>
        </p:nvSpPr>
        <p:spPr/>
        <p:txBody>
          <a:bodyPr>
            <a:normAutofit fontScale="90000"/>
          </a:bodyPr>
          <a:lstStyle/>
          <a:p>
            <a:endParaRPr lang="en-IN"/>
          </a:p>
        </p:txBody>
      </p:sp>
      <p:pic>
        <p:nvPicPr>
          <p:cNvPr id="5" name="Content Placeholder 4">
            <a:extLst>
              <a:ext uri="{FF2B5EF4-FFF2-40B4-BE49-F238E27FC236}">
                <a16:creationId xmlns:a16="http://schemas.microsoft.com/office/drawing/2014/main" id="{D754DA16-CD1B-B98F-58C6-7AC9D9110667}"/>
              </a:ext>
            </a:extLst>
          </p:cNvPr>
          <p:cNvPicPr>
            <a:picLocks noGrp="1" noChangeAspect="1"/>
          </p:cNvPicPr>
          <p:nvPr>
            <p:ph idx="1"/>
          </p:nvPr>
        </p:nvPicPr>
        <p:blipFill>
          <a:blip r:embed="rId2"/>
          <a:stretch>
            <a:fillRect/>
          </a:stretch>
        </p:blipFill>
        <p:spPr>
          <a:xfrm>
            <a:off x="1544320" y="-40645"/>
            <a:ext cx="7680960" cy="6528644"/>
          </a:xfrm>
          <a:prstGeom prst="rect">
            <a:avLst/>
          </a:prstGeom>
        </p:spPr>
      </p:pic>
    </p:spTree>
    <p:extLst>
      <p:ext uri="{BB962C8B-B14F-4D97-AF65-F5344CB8AC3E}">
        <p14:creationId xmlns:p14="http://schemas.microsoft.com/office/powerpoint/2010/main" val="130306227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9F93E-7880-AFFB-8F45-1D9F714D170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0C6720A-7FFE-5EB5-8F93-C3B8FB21B08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5170B02-10E2-CC92-9C9B-C0D565093208}"/>
              </a:ext>
            </a:extLst>
          </p:cNvPr>
          <p:cNvPicPr>
            <a:picLocks noChangeAspect="1"/>
          </p:cNvPicPr>
          <p:nvPr/>
        </p:nvPicPr>
        <p:blipFill>
          <a:blip r:embed="rId2"/>
          <a:stretch>
            <a:fillRect/>
          </a:stretch>
        </p:blipFill>
        <p:spPr>
          <a:xfrm>
            <a:off x="2018174" y="-83128"/>
            <a:ext cx="8073735" cy="6348845"/>
          </a:xfrm>
          <a:prstGeom prst="rect">
            <a:avLst/>
          </a:prstGeom>
        </p:spPr>
      </p:pic>
    </p:spTree>
    <p:extLst>
      <p:ext uri="{BB962C8B-B14F-4D97-AF65-F5344CB8AC3E}">
        <p14:creationId xmlns:p14="http://schemas.microsoft.com/office/powerpoint/2010/main" val="179968726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4D86A-4913-A89E-B840-7512B7D362F5}"/>
              </a:ext>
            </a:extLst>
          </p:cNvPr>
          <p:cNvSpPr>
            <a:spLocks noGrp="1"/>
          </p:cNvSpPr>
          <p:nvPr>
            <p:ph type="title"/>
          </p:nvPr>
        </p:nvSpPr>
        <p:spPr/>
        <p:txBody>
          <a:bodyPr>
            <a:normAutofit fontScale="90000"/>
          </a:bodyPr>
          <a:lstStyle/>
          <a:p>
            <a:r>
              <a:rPr lang="en-US" dirty="0"/>
              <a:t>Very Deep Convolutional Networks (VGG)</a:t>
            </a:r>
            <a:endParaRPr lang="en-IN" dirty="0"/>
          </a:p>
        </p:txBody>
      </p:sp>
      <p:sp>
        <p:nvSpPr>
          <p:cNvPr id="3" name="Content Placeholder 2">
            <a:extLst>
              <a:ext uri="{FF2B5EF4-FFF2-40B4-BE49-F238E27FC236}">
                <a16:creationId xmlns:a16="http://schemas.microsoft.com/office/drawing/2014/main" id="{4A7704AA-DDA2-B005-6151-A328354048D9}"/>
              </a:ext>
            </a:extLst>
          </p:cNvPr>
          <p:cNvSpPr>
            <a:spLocks noGrp="1"/>
          </p:cNvSpPr>
          <p:nvPr>
            <p:ph idx="1"/>
          </p:nvPr>
        </p:nvSpPr>
        <p:spPr>
          <a:xfrm>
            <a:off x="609600" y="1589809"/>
            <a:ext cx="10617517" cy="4536461"/>
          </a:xfrm>
        </p:spPr>
        <p:txBody>
          <a:bodyPr/>
          <a:lstStyle/>
          <a:p>
            <a:r>
              <a:rPr lang="en-US" dirty="0"/>
              <a:t>VGG stands for Visual Geometry Group; it is a standard deep Convolutional Neural Network (CNN) architecture with multiple layers. </a:t>
            </a:r>
          </a:p>
          <a:p>
            <a:r>
              <a:rPr lang="en-US" dirty="0"/>
              <a:t>The “deep” refers to the number of layers with VGG-16 or VGG-19 consisting of 16 and 19 convolutional layers.</a:t>
            </a:r>
          </a:p>
          <a:p>
            <a:r>
              <a:rPr lang="en-US" dirty="0"/>
              <a:t>The VGG architecture is the basis of ground-breaking object recognition models. </a:t>
            </a:r>
          </a:p>
          <a:p>
            <a:r>
              <a:rPr lang="en-US" dirty="0"/>
              <a:t>Developed as a deep neural network, the </a:t>
            </a:r>
            <a:r>
              <a:rPr lang="en-US" dirty="0" err="1"/>
              <a:t>VGGNet</a:t>
            </a:r>
            <a:r>
              <a:rPr lang="en-US" dirty="0"/>
              <a:t> also surpasses baselines on many tasks and datasets beyond ImageNet. </a:t>
            </a:r>
          </a:p>
          <a:p>
            <a:r>
              <a:rPr lang="en-US" dirty="0"/>
              <a:t>Moreover, it is still one of the most popular image recognition architectures.</a:t>
            </a:r>
            <a:endParaRPr lang="en-IN" dirty="0"/>
          </a:p>
        </p:txBody>
      </p:sp>
    </p:spTree>
    <p:extLst>
      <p:ext uri="{BB962C8B-B14F-4D97-AF65-F5344CB8AC3E}">
        <p14:creationId xmlns:p14="http://schemas.microsoft.com/office/powerpoint/2010/main" val="346781306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04B77-8B26-08DD-6FF9-2E167AF84008}"/>
              </a:ext>
            </a:extLst>
          </p:cNvPr>
          <p:cNvSpPr>
            <a:spLocks noGrp="1"/>
          </p:cNvSpPr>
          <p:nvPr>
            <p:ph type="title"/>
          </p:nvPr>
        </p:nvSpPr>
        <p:spPr/>
        <p:txBody>
          <a:bodyPr>
            <a:normAutofit fontScale="90000"/>
          </a:bodyPr>
          <a:lstStyle/>
          <a:p>
            <a:endParaRPr lang="en-IN"/>
          </a:p>
        </p:txBody>
      </p:sp>
      <p:pic>
        <p:nvPicPr>
          <p:cNvPr id="4" name="Content Placeholder 3">
            <a:extLst>
              <a:ext uri="{FF2B5EF4-FFF2-40B4-BE49-F238E27FC236}">
                <a16:creationId xmlns:a16="http://schemas.microsoft.com/office/drawing/2014/main" id="{1D25E825-9698-A808-BA89-F5F224FF6234}"/>
              </a:ext>
            </a:extLst>
          </p:cNvPr>
          <p:cNvPicPr>
            <a:picLocks noGrp="1" noChangeAspect="1"/>
          </p:cNvPicPr>
          <p:nvPr>
            <p:ph idx="1"/>
          </p:nvPr>
        </p:nvPicPr>
        <p:blipFill>
          <a:blip r:embed="rId2"/>
          <a:stretch>
            <a:fillRect/>
          </a:stretch>
        </p:blipFill>
        <p:spPr>
          <a:xfrm>
            <a:off x="1309254" y="1354208"/>
            <a:ext cx="8478982" cy="4979147"/>
          </a:xfrm>
          <a:prstGeom prst="rect">
            <a:avLst/>
          </a:prstGeom>
        </p:spPr>
      </p:pic>
    </p:spTree>
    <p:extLst>
      <p:ext uri="{BB962C8B-B14F-4D97-AF65-F5344CB8AC3E}">
        <p14:creationId xmlns:p14="http://schemas.microsoft.com/office/powerpoint/2010/main" val="189922974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B741B-2891-DFF8-BDD8-0F69E375E02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9A79F02-935D-2A98-B454-FF7F188C50E9}"/>
              </a:ext>
            </a:extLst>
          </p:cNvPr>
          <p:cNvSpPr>
            <a:spLocks noGrp="1"/>
          </p:cNvSpPr>
          <p:nvPr>
            <p:ph idx="1"/>
          </p:nvPr>
        </p:nvSpPr>
        <p:spPr>
          <a:xfrm>
            <a:off x="914400" y="1527464"/>
            <a:ext cx="10312717" cy="4598806"/>
          </a:xfrm>
        </p:spPr>
        <p:txBody>
          <a:bodyPr/>
          <a:lstStyle/>
          <a:p>
            <a:r>
              <a:rPr lang="en-US" dirty="0"/>
              <a:t>The VGG models were introduced by Karen Simonyan and Andrew Zisserman in their 2014 paper titled "</a:t>
            </a:r>
            <a:r>
              <a:rPr lang="en-US" i="1" dirty="0"/>
              <a:t>Very Deep Convolutional Networks for Large-Scale Image Recognition</a:t>
            </a:r>
            <a:r>
              <a:rPr lang="en-US" dirty="0"/>
              <a:t>.“</a:t>
            </a:r>
          </a:p>
          <a:p>
            <a:r>
              <a:rPr lang="en-US" dirty="0"/>
              <a:t> The primary objective was to investigate the </a:t>
            </a:r>
            <a:r>
              <a:rPr lang="en-US" b="1" dirty="0"/>
              <a:t>effect of increasing the depth of CNNs on large-scale image recognition tasks</a:t>
            </a:r>
            <a:r>
              <a:rPr lang="en-US" dirty="0"/>
              <a:t>.</a:t>
            </a:r>
          </a:p>
          <a:p>
            <a:r>
              <a:rPr lang="en-US" dirty="0"/>
              <a:t> VGG-16 and VGG-19, with 16 and 19 weight layers respectively, were among the most notable models presented in the paper. </a:t>
            </a:r>
          </a:p>
          <a:p>
            <a:r>
              <a:rPr lang="en-US" dirty="0"/>
              <a:t>Their design was characterized by using small 3x3 convolution filters consistently across all layers, which simplified the network structure and improved performance.</a:t>
            </a:r>
            <a:endParaRPr lang="en-IN" dirty="0"/>
          </a:p>
        </p:txBody>
      </p:sp>
    </p:spTree>
    <p:extLst>
      <p:ext uri="{BB962C8B-B14F-4D97-AF65-F5344CB8AC3E}">
        <p14:creationId xmlns:p14="http://schemas.microsoft.com/office/powerpoint/2010/main" val="318092166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3D911-2B55-2967-0650-4C9BED1DF329}"/>
              </a:ext>
            </a:extLst>
          </p:cNvPr>
          <p:cNvSpPr>
            <a:spLocks noGrp="1"/>
          </p:cNvSpPr>
          <p:nvPr>
            <p:ph type="title"/>
          </p:nvPr>
        </p:nvSpPr>
        <p:spPr/>
        <p:txBody>
          <a:bodyPr>
            <a:normAutofit fontScale="90000"/>
          </a:bodyPr>
          <a:lstStyle/>
          <a:p>
            <a:r>
              <a:rPr lang="en-US" dirty="0"/>
              <a:t>VGG 16 Architecture</a:t>
            </a:r>
            <a:endParaRPr lang="en-IN" dirty="0"/>
          </a:p>
        </p:txBody>
      </p:sp>
      <p:pic>
        <p:nvPicPr>
          <p:cNvPr id="5" name="Content Placeholder 4">
            <a:extLst>
              <a:ext uri="{FF2B5EF4-FFF2-40B4-BE49-F238E27FC236}">
                <a16:creationId xmlns:a16="http://schemas.microsoft.com/office/drawing/2014/main" id="{54A2E79F-619C-9766-B446-94DBEAC9996C}"/>
              </a:ext>
            </a:extLst>
          </p:cNvPr>
          <p:cNvPicPr>
            <a:picLocks noGrp="1" noChangeAspect="1"/>
          </p:cNvPicPr>
          <p:nvPr>
            <p:ph idx="1"/>
          </p:nvPr>
        </p:nvPicPr>
        <p:blipFill>
          <a:blip r:embed="rId2"/>
          <a:stretch>
            <a:fillRect/>
          </a:stretch>
        </p:blipFill>
        <p:spPr>
          <a:xfrm>
            <a:off x="873211" y="1339521"/>
            <a:ext cx="9835429" cy="4977142"/>
          </a:xfrm>
          <a:prstGeom prst="rect">
            <a:avLst/>
          </a:prstGeom>
        </p:spPr>
      </p:pic>
    </p:spTree>
    <p:extLst>
      <p:ext uri="{BB962C8B-B14F-4D97-AF65-F5344CB8AC3E}">
        <p14:creationId xmlns:p14="http://schemas.microsoft.com/office/powerpoint/2010/main" val="301228419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1852-4B40-2307-8618-1A94F0227CBA}"/>
              </a:ext>
            </a:extLst>
          </p:cNvPr>
          <p:cNvSpPr>
            <a:spLocks noGrp="1"/>
          </p:cNvSpPr>
          <p:nvPr>
            <p:ph type="title"/>
          </p:nvPr>
        </p:nvSpPr>
        <p:spPr/>
        <p:txBody>
          <a:bodyPr>
            <a:normAutofit fontScale="90000"/>
          </a:bodyPr>
          <a:lstStyle/>
          <a:p>
            <a:r>
              <a:rPr lang="en-IN" dirty="0"/>
              <a:t>VGG-16 Architecture </a:t>
            </a:r>
          </a:p>
        </p:txBody>
      </p:sp>
      <p:sp>
        <p:nvSpPr>
          <p:cNvPr id="3" name="Content Placeholder 2">
            <a:extLst>
              <a:ext uri="{FF2B5EF4-FFF2-40B4-BE49-F238E27FC236}">
                <a16:creationId xmlns:a16="http://schemas.microsoft.com/office/drawing/2014/main" id="{AF4C45C0-0EF0-F9C2-E8A7-BCFCA94E2B71}"/>
              </a:ext>
            </a:extLst>
          </p:cNvPr>
          <p:cNvSpPr>
            <a:spLocks noGrp="1"/>
          </p:cNvSpPr>
          <p:nvPr>
            <p:ph idx="1"/>
          </p:nvPr>
        </p:nvSpPr>
        <p:spPr/>
        <p:txBody>
          <a:bodyPr>
            <a:normAutofit lnSpcReduction="10000"/>
          </a:bodyPr>
          <a:lstStyle/>
          <a:p>
            <a:r>
              <a:rPr lang="en-IN" b="1" dirty="0"/>
              <a:t>Input</a:t>
            </a:r>
          </a:p>
          <a:p>
            <a:r>
              <a:rPr lang="en-IN" b="1" dirty="0"/>
              <a:t>224 × 224 × 3 RGB image</a:t>
            </a:r>
            <a:endParaRPr lang="en-IN" dirty="0"/>
          </a:p>
          <a:p>
            <a:br>
              <a:rPr lang="en-IN" dirty="0"/>
            </a:br>
            <a:endParaRPr lang="en-IN" dirty="0"/>
          </a:p>
          <a:p>
            <a:r>
              <a:rPr lang="en-IN" b="1" dirty="0"/>
              <a:t> Convolution Block 1</a:t>
            </a:r>
          </a:p>
          <a:p>
            <a:r>
              <a:rPr lang="en-IN" dirty="0"/>
              <a:t>Conv (3×3, 64) → </a:t>
            </a:r>
            <a:r>
              <a:rPr lang="en-IN" dirty="0" err="1"/>
              <a:t>ReLU</a:t>
            </a:r>
            <a:endParaRPr lang="en-IN" dirty="0"/>
          </a:p>
          <a:p>
            <a:r>
              <a:rPr lang="en-IN" dirty="0"/>
              <a:t>Conv (3×3, 64) → </a:t>
            </a:r>
            <a:r>
              <a:rPr lang="en-IN" dirty="0" err="1"/>
              <a:t>ReLU</a:t>
            </a:r>
            <a:endParaRPr lang="en-IN" dirty="0"/>
          </a:p>
          <a:p>
            <a:r>
              <a:rPr lang="en-IN" dirty="0"/>
              <a:t>Max Pool (2×2, stride 2)</a:t>
            </a:r>
          </a:p>
          <a:p>
            <a:r>
              <a:rPr lang="en-IN" dirty="0"/>
              <a:t>Output: </a:t>
            </a:r>
            <a:r>
              <a:rPr lang="en-IN" b="1" dirty="0"/>
              <a:t>112 × 112 × 64</a:t>
            </a:r>
            <a:endParaRPr lang="en-IN" dirty="0"/>
          </a:p>
          <a:p>
            <a:endParaRPr lang="en-IN" dirty="0"/>
          </a:p>
        </p:txBody>
      </p:sp>
    </p:spTree>
    <p:extLst>
      <p:ext uri="{BB962C8B-B14F-4D97-AF65-F5344CB8AC3E}">
        <p14:creationId xmlns:p14="http://schemas.microsoft.com/office/powerpoint/2010/main" val="144478459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08806-4D56-2FBC-4D74-C9FE917BD93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63B0F70-75A5-1F67-0747-3980B20539D0}"/>
              </a:ext>
            </a:extLst>
          </p:cNvPr>
          <p:cNvSpPr>
            <a:spLocks noGrp="1"/>
          </p:cNvSpPr>
          <p:nvPr>
            <p:ph idx="1"/>
          </p:nvPr>
        </p:nvSpPr>
        <p:spPr>
          <a:xfrm>
            <a:off x="810491" y="1496291"/>
            <a:ext cx="3938154" cy="4629979"/>
          </a:xfrm>
        </p:spPr>
        <p:txBody>
          <a:bodyPr>
            <a:normAutofit fontScale="92500" lnSpcReduction="10000"/>
          </a:bodyPr>
          <a:lstStyle/>
          <a:p>
            <a:pPr>
              <a:lnSpc>
                <a:spcPct val="120000"/>
              </a:lnSpc>
              <a:spcBef>
                <a:spcPts val="0"/>
              </a:spcBef>
              <a:spcAft>
                <a:spcPts val="0"/>
              </a:spcAft>
            </a:pPr>
            <a:r>
              <a:rPr lang="en-IN" b="1" dirty="0"/>
              <a:t>Convolution Block 2</a:t>
            </a:r>
          </a:p>
          <a:p>
            <a:pPr>
              <a:lnSpc>
                <a:spcPct val="120000"/>
              </a:lnSpc>
              <a:spcBef>
                <a:spcPts val="0"/>
              </a:spcBef>
              <a:spcAft>
                <a:spcPts val="0"/>
              </a:spcAft>
            </a:pPr>
            <a:r>
              <a:rPr lang="en-IN" dirty="0"/>
              <a:t>Conv (3×3, 128) → </a:t>
            </a:r>
            <a:r>
              <a:rPr lang="en-IN" dirty="0" err="1"/>
              <a:t>ReLU</a:t>
            </a:r>
            <a:endParaRPr lang="en-IN" dirty="0"/>
          </a:p>
          <a:p>
            <a:pPr>
              <a:lnSpc>
                <a:spcPct val="120000"/>
              </a:lnSpc>
              <a:spcBef>
                <a:spcPts val="0"/>
              </a:spcBef>
              <a:spcAft>
                <a:spcPts val="0"/>
              </a:spcAft>
            </a:pPr>
            <a:r>
              <a:rPr lang="en-IN" dirty="0"/>
              <a:t>Conv (3×3, 128) → </a:t>
            </a:r>
            <a:r>
              <a:rPr lang="en-IN" dirty="0" err="1"/>
              <a:t>ReLU</a:t>
            </a:r>
            <a:endParaRPr lang="en-IN" dirty="0"/>
          </a:p>
          <a:p>
            <a:pPr>
              <a:lnSpc>
                <a:spcPct val="120000"/>
              </a:lnSpc>
              <a:spcBef>
                <a:spcPts val="0"/>
              </a:spcBef>
              <a:spcAft>
                <a:spcPts val="0"/>
              </a:spcAft>
            </a:pPr>
            <a:r>
              <a:rPr lang="en-IN" dirty="0"/>
              <a:t>Max Pool (2×2)</a:t>
            </a:r>
          </a:p>
          <a:p>
            <a:pPr>
              <a:lnSpc>
                <a:spcPct val="120000"/>
              </a:lnSpc>
              <a:spcBef>
                <a:spcPts val="0"/>
              </a:spcBef>
              <a:spcAft>
                <a:spcPts val="0"/>
              </a:spcAft>
            </a:pPr>
            <a:r>
              <a:rPr lang="en-IN" dirty="0"/>
              <a:t>Output: </a:t>
            </a:r>
            <a:r>
              <a:rPr lang="en-IN" b="1" dirty="0"/>
              <a:t>56 × 56 × 128</a:t>
            </a:r>
            <a:endParaRPr lang="en-IN" dirty="0"/>
          </a:p>
          <a:p>
            <a:pPr>
              <a:lnSpc>
                <a:spcPct val="120000"/>
              </a:lnSpc>
              <a:spcBef>
                <a:spcPts val="0"/>
              </a:spcBef>
              <a:spcAft>
                <a:spcPts val="0"/>
              </a:spcAft>
            </a:pPr>
            <a:br>
              <a:rPr lang="en-IN" dirty="0"/>
            </a:br>
            <a:r>
              <a:rPr lang="en-IN" b="1" dirty="0"/>
              <a:t> Convolution Block 3</a:t>
            </a:r>
          </a:p>
          <a:p>
            <a:pPr>
              <a:lnSpc>
                <a:spcPct val="120000"/>
              </a:lnSpc>
              <a:spcBef>
                <a:spcPts val="0"/>
              </a:spcBef>
              <a:spcAft>
                <a:spcPts val="0"/>
              </a:spcAft>
            </a:pPr>
            <a:r>
              <a:rPr lang="en-IN" dirty="0"/>
              <a:t>Conv (3×3, 256) → </a:t>
            </a:r>
            <a:r>
              <a:rPr lang="en-IN" dirty="0" err="1"/>
              <a:t>ReLU</a:t>
            </a:r>
            <a:endParaRPr lang="en-IN" dirty="0"/>
          </a:p>
          <a:p>
            <a:pPr>
              <a:lnSpc>
                <a:spcPct val="120000"/>
              </a:lnSpc>
              <a:spcBef>
                <a:spcPts val="0"/>
              </a:spcBef>
              <a:spcAft>
                <a:spcPts val="0"/>
              </a:spcAft>
            </a:pPr>
            <a:r>
              <a:rPr lang="en-IN" dirty="0"/>
              <a:t>Conv (3×3, 256) → </a:t>
            </a:r>
            <a:r>
              <a:rPr lang="en-IN" dirty="0" err="1"/>
              <a:t>ReLU</a:t>
            </a:r>
            <a:endParaRPr lang="en-IN" dirty="0"/>
          </a:p>
          <a:p>
            <a:pPr>
              <a:lnSpc>
                <a:spcPct val="120000"/>
              </a:lnSpc>
              <a:spcBef>
                <a:spcPts val="0"/>
              </a:spcBef>
              <a:spcAft>
                <a:spcPts val="0"/>
              </a:spcAft>
            </a:pPr>
            <a:r>
              <a:rPr lang="en-IN" dirty="0"/>
              <a:t>Conv (3×3, 256) → </a:t>
            </a:r>
            <a:r>
              <a:rPr lang="en-IN" dirty="0" err="1"/>
              <a:t>ReLU</a:t>
            </a:r>
            <a:endParaRPr lang="en-IN" dirty="0"/>
          </a:p>
          <a:p>
            <a:pPr>
              <a:lnSpc>
                <a:spcPct val="120000"/>
              </a:lnSpc>
              <a:spcBef>
                <a:spcPts val="0"/>
              </a:spcBef>
              <a:spcAft>
                <a:spcPts val="0"/>
              </a:spcAft>
            </a:pPr>
            <a:r>
              <a:rPr lang="en-IN" dirty="0"/>
              <a:t>Max Pool (2×2)</a:t>
            </a:r>
          </a:p>
          <a:p>
            <a:pPr>
              <a:lnSpc>
                <a:spcPct val="120000"/>
              </a:lnSpc>
              <a:spcBef>
                <a:spcPts val="0"/>
              </a:spcBef>
              <a:spcAft>
                <a:spcPts val="0"/>
              </a:spcAft>
            </a:pPr>
            <a:r>
              <a:rPr lang="en-IN" dirty="0"/>
              <a:t>Output: </a:t>
            </a:r>
            <a:r>
              <a:rPr lang="en-IN" b="1" dirty="0"/>
              <a:t>28 × 28 × 256</a:t>
            </a:r>
            <a:endParaRPr lang="en-IN" dirty="0"/>
          </a:p>
          <a:p>
            <a:pPr>
              <a:lnSpc>
                <a:spcPct val="120000"/>
              </a:lnSpc>
              <a:spcBef>
                <a:spcPts val="0"/>
              </a:spcBef>
              <a:spcAft>
                <a:spcPts val="0"/>
              </a:spcAft>
            </a:pPr>
            <a:endParaRPr lang="en-IN" dirty="0"/>
          </a:p>
        </p:txBody>
      </p:sp>
      <p:sp>
        <p:nvSpPr>
          <p:cNvPr id="4" name="Content Placeholder 2">
            <a:extLst>
              <a:ext uri="{FF2B5EF4-FFF2-40B4-BE49-F238E27FC236}">
                <a16:creationId xmlns:a16="http://schemas.microsoft.com/office/drawing/2014/main" id="{E8DFD79C-AA99-1072-3C20-F747910C385F}"/>
              </a:ext>
            </a:extLst>
          </p:cNvPr>
          <p:cNvSpPr txBox="1">
            <a:spLocks/>
          </p:cNvSpPr>
          <p:nvPr/>
        </p:nvSpPr>
        <p:spPr>
          <a:xfrm>
            <a:off x="5919354" y="1496290"/>
            <a:ext cx="4118264" cy="4629979"/>
          </a:xfrm>
          <a:prstGeom prst="rect">
            <a:avLst/>
          </a:prstGeom>
        </p:spPr>
        <p:txBody>
          <a:bodyPr vert="horz" lIns="0" tIns="45720" rIns="0" bIns="45720" rtlCol="0">
            <a:normAutofit fontScale="92500" lnSpcReduction="2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 Convolution Block 4</a:t>
            </a:r>
          </a:p>
          <a:p>
            <a:pPr>
              <a:lnSpc>
                <a:spcPct val="120000"/>
              </a:lnSpc>
              <a:spcBef>
                <a:spcPts val="0"/>
              </a:spcBef>
              <a:spcAft>
                <a:spcPts val="0"/>
              </a:spcAft>
            </a:pPr>
            <a:r>
              <a:rPr lang="en-IN" dirty="0"/>
              <a:t>Conv (3×3, 512) → </a:t>
            </a:r>
            <a:r>
              <a:rPr lang="en-IN" dirty="0" err="1"/>
              <a:t>ReLU</a:t>
            </a:r>
            <a:endParaRPr lang="en-IN" dirty="0"/>
          </a:p>
          <a:p>
            <a:pPr>
              <a:lnSpc>
                <a:spcPct val="120000"/>
              </a:lnSpc>
              <a:spcBef>
                <a:spcPts val="0"/>
              </a:spcBef>
              <a:spcAft>
                <a:spcPts val="0"/>
              </a:spcAft>
            </a:pPr>
            <a:r>
              <a:rPr lang="en-IN" dirty="0"/>
              <a:t>Conv (3×3, 512) → </a:t>
            </a:r>
            <a:r>
              <a:rPr lang="en-IN" dirty="0" err="1"/>
              <a:t>ReLU</a:t>
            </a:r>
            <a:endParaRPr lang="en-IN" dirty="0"/>
          </a:p>
          <a:p>
            <a:pPr>
              <a:lnSpc>
                <a:spcPct val="120000"/>
              </a:lnSpc>
              <a:spcBef>
                <a:spcPts val="0"/>
              </a:spcBef>
              <a:spcAft>
                <a:spcPts val="0"/>
              </a:spcAft>
            </a:pPr>
            <a:r>
              <a:rPr lang="en-IN" dirty="0"/>
              <a:t>Conv (3×3, 512) → </a:t>
            </a:r>
            <a:r>
              <a:rPr lang="en-IN" dirty="0" err="1"/>
              <a:t>ReLU</a:t>
            </a:r>
            <a:endParaRPr lang="en-IN" dirty="0"/>
          </a:p>
          <a:p>
            <a:pPr>
              <a:lnSpc>
                <a:spcPct val="120000"/>
              </a:lnSpc>
              <a:spcBef>
                <a:spcPts val="0"/>
              </a:spcBef>
              <a:spcAft>
                <a:spcPts val="0"/>
              </a:spcAft>
            </a:pPr>
            <a:r>
              <a:rPr lang="en-IN" dirty="0"/>
              <a:t>Max Pool (2×2)</a:t>
            </a:r>
          </a:p>
          <a:p>
            <a:pPr>
              <a:lnSpc>
                <a:spcPct val="120000"/>
              </a:lnSpc>
              <a:spcBef>
                <a:spcPts val="0"/>
              </a:spcBef>
              <a:spcAft>
                <a:spcPts val="0"/>
              </a:spcAft>
            </a:pPr>
            <a:r>
              <a:rPr lang="en-IN" dirty="0"/>
              <a:t>Output: </a:t>
            </a:r>
            <a:r>
              <a:rPr lang="en-IN" b="1" dirty="0"/>
              <a:t>14 × 14 × 512</a:t>
            </a:r>
            <a:endParaRPr lang="en-IN" dirty="0"/>
          </a:p>
          <a:p>
            <a:r>
              <a:rPr lang="en-IN" b="1" dirty="0"/>
              <a:t>Convolution Block 5</a:t>
            </a:r>
          </a:p>
          <a:p>
            <a:r>
              <a:rPr lang="en-IN" dirty="0"/>
              <a:t>Conv (3×3, 512) → </a:t>
            </a:r>
            <a:r>
              <a:rPr lang="en-IN" dirty="0" err="1"/>
              <a:t>ReLU</a:t>
            </a:r>
            <a:endParaRPr lang="en-IN" dirty="0"/>
          </a:p>
          <a:p>
            <a:r>
              <a:rPr lang="en-IN" dirty="0"/>
              <a:t>Conv (3×3, 512) → </a:t>
            </a:r>
            <a:r>
              <a:rPr lang="en-IN" dirty="0" err="1"/>
              <a:t>ReLU</a:t>
            </a:r>
            <a:endParaRPr lang="en-IN" dirty="0"/>
          </a:p>
          <a:p>
            <a:r>
              <a:rPr lang="en-IN" dirty="0"/>
              <a:t>Conv (3×3, 512) → </a:t>
            </a:r>
            <a:r>
              <a:rPr lang="en-IN" dirty="0" err="1"/>
              <a:t>ReLU</a:t>
            </a:r>
            <a:endParaRPr lang="en-IN" dirty="0"/>
          </a:p>
          <a:p>
            <a:r>
              <a:rPr lang="en-IN" dirty="0"/>
              <a:t>Max Pool (2×2)</a:t>
            </a:r>
          </a:p>
          <a:p>
            <a:r>
              <a:rPr lang="en-IN" dirty="0"/>
              <a:t>Output: </a:t>
            </a:r>
            <a:r>
              <a:rPr lang="en-IN" b="1" dirty="0"/>
              <a:t>7 × 7 × 512</a:t>
            </a:r>
            <a:endParaRPr lang="en-IN" dirty="0"/>
          </a:p>
          <a:p>
            <a:pPr>
              <a:lnSpc>
                <a:spcPct val="120000"/>
              </a:lnSpc>
              <a:spcBef>
                <a:spcPts val="0"/>
              </a:spcBef>
              <a:spcAft>
                <a:spcPts val="0"/>
              </a:spcAft>
            </a:pPr>
            <a:endParaRPr lang="en-IN" dirty="0"/>
          </a:p>
        </p:txBody>
      </p:sp>
    </p:spTree>
    <p:extLst>
      <p:ext uri="{BB962C8B-B14F-4D97-AF65-F5344CB8AC3E}">
        <p14:creationId xmlns:p14="http://schemas.microsoft.com/office/powerpoint/2010/main" val="24192705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2F4AC-FB91-7338-CA62-5C208944B90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B190776-F1B6-1C88-60D1-64ED3D3B3C70}"/>
              </a:ext>
            </a:extLst>
          </p:cNvPr>
          <p:cNvSpPr>
            <a:spLocks noGrp="1"/>
          </p:cNvSpPr>
          <p:nvPr>
            <p:ph idx="1"/>
          </p:nvPr>
        </p:nvSpPr>
        <p:spPr/>
        <p:txBody>
          <a:bodyPr/>
          <a:lstStyle/>
          <a:p>
            <a:r>
              <a:rPr lang="en-IN" b="1" dirty="0"/>
              <a:t>Fully Connected Layers</a:t>
            </a:r>
          </a:p>
          <a:p>
            <a:r>
              <a:rPr lang="en-IN" dirty="0"/>
              <a:t>Flatten → 4096</a:t>
            </a:r>
          </a:p>
          <a:p>
            <a:r>
              <a:rPr lang="en-IN" dirty="0"/>
              <a:t>FC → 4096 (</a:t>
            </a:r>
            <a:r>
              <a:rPr lang="en-IN" dirty="0" err="1"/>
              <a:t>ReLU</a:t>
            </a:r>
            <a:r>
              <a:rPr lang="en-IN" dirty="0"/>
              <a:t>)</a:t>
            </a:r>
          </a:p>
          <a:p>
            <a:r>
              <a:rPr lang="en-IN" dirty="0"/>
              <a:t>FC → 4096 (</a:t>
            </a:r>
            <a:r>
              <a:rPr lang="en-IN" dirty="0" err="1"/>
              <a:t>ReLU</a:t>
            </a:r>
            <a:r>
              <a:rPr lang="en-IN" dirty="0"/>
              <a:t>)</a:t>
            </a:r>
          </a:p>
          <a:p>
            <a:r>
              <a:rPr lang="en-IN" dirty="0"/>
              <a:t>FC → 1000 (</a:t>
            </a:r>
            <a:r>
              <a:rPr lang="en-IN" dirty="0" err="1"/>
              <a:t>Softmax</a:t>
            </a:r>
            <a:r>
              <a:rPr lang="en-IN" dirty="0"/>
              <a:t>)</a:t>
            </a:r>
          </a:p>
          <a:p>
            <a:r>
              <a:rPr lang="en-IN" dirty="0"/>
              <a:t> </a:t>
            </a:r>
            <a:r>
              <a:rPr lang="en-IN" b="1" dirty="0"/>
              <a:t>1000 classes</a:t>
            </a:r>
            <a:r>
              <a:rPr lang="en-IN" dirty="0"/>
              <a:t> for ImageNet</a:t>
            </a:r>
          </a:p>
          <a:p>
            <a:endParaRPr lang="en-IN" dirty="0"/>
          </a:p>
        </p:txBody>
      </p:sp>
    </p:spTree>
    <p:extLst>
      <p:ext uri="{BB962C8B-B14F-4D97-AF65-F5344CB8AC3E}">
        <p14:creationId xmlns:p14="http://schemas.microsoft.com/office/powerpoint/2010/main" val="103341824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518EB-CD86-953F-E603-4880D2DAD86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1BEE77D-DDF9-FE0A-571A-CA027964AB7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55384802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19BA8-A49E-7B17-B00C-BC0B94443A07}"/>
              </a:ext>
            </a:extLst>
          </p:cNvPr>
          <p:cNvSpPr>
            <a:spLocks noGrp="1"/>
          </p:cNvSpPr>
          <p:nvPr>
            <p:ph type="title"/>
          </p:nvPr>
        </p:nvSpPr>
        <p:spPr/>
        <p:txBody>
          <a:bodyPr>
            <a:normAutofit fontScale="90000"/>
          </a:bodyPr>
          <a:lstStyle/>
          <a:p>
            <a:r>
              <a:rPr lang="en-US" dirty="0"/>
              <a:t>VGG-19 Architecture</a:t>
            </a:r>
            <a:endParaRPr lang="en-IN" dirty="0"/>
          </a:p>
        </p:txBody>
      </p:sp>
      <p:sp>
        <p:nvSpPr>
          <p:cNvPr id="3" name="Content Placeholder 2">
            <a:extLst>
              <a:ext uri="{FF2B5EF4-FFF2-40B4-BE49-F238E27FC236}">
                <a16:creationId xmlns:a16="http://schemas.microsoft.com/office/drawing/2014/main" id="{90FC6741-C961-006E-73B9-3876B03FAFAA}"/>
              </a:ext>
            </a:extLst>
          </p:cNvPr>
          <p:cNvSpPr>
            <a:spLocks noGrp="1"/>
          </p:cNvSpPr>
          <p:nvPr>
            <p:ph idx="1"/>
          </p:nvPr>
        </p:nvSpPr>
        <p:spPr>
          <a:xfrm>
            <a:off x="498764" y="1402773"/>
            <a:ext cx="11232572" cy="4723497"/>
          </a:xfrm>
        </p:spPr>
        <p:txBody>
          <a:bodyPr>
            <a:normAutofit fontScale="92500" lnSpcReduction="10000"/>
          </a:bodyPr>
          <a:lstStyle/>
          <a:p>
            <a:pPr fontAlgn="base"/>
            <a:r>
              <a:rPr lang="en-US" dirty="0"/>
              <a:t>VGG-19 is a deep convolutional neural network with 19 weight layers, comprising 16 convolutional layers and 3 fully connected layers. The architecture follows a straightforward and repetitive pattern, making it easier to understand and implement.</a:t>
            </a:r>
          </a:p>
          <a:p>
            <a:pPr fontAlgn="base"/>
            <a:r>
              <a:rPr lang="en-US" dirty="0"/>
              <a:t>The key components of the VGG-19 architecture are:</a:t>
            </a:r>
          </a:p>
          <a:p>
            <a:pPr fontAlgn="base"/>
            <a:r>
              <a:rPr lang="en-US" b="1" dirty="0"/>
              <a:t>Convolutional Layers</a:t>
            </a:r>
            <a:r>
              <a:rPr lang="en-US" dirty="0"/>
              <a:t>: 3x3 filters with a stride of 1 and padding of 1 to preserve spatial resolution.</a:t>
            </a:r>
          </a:p>
          <a:p>
            <a:pPr fontAlgn="base"/>
            <a:r>
              <a:rPr lang="en-US" b="1" dirty="0"/>
              <a:t>Activation Function</a:t>
            </a:r>
            <a:r>
              <a:rPr lang="en-US" dirty="0"/>
              <a:t>: </a:t>
            </a:r>
            <a:r>
              <a:rPr lang="en-US" dirty="0" err="1"/>
              <a:t>ReLU</a:t>
            </a:r>
            <a:r>
              <a:rPr lang="en-US" dirty="0"/>
              <a:t> (Rectified Linear Unit) applied after each convolutional layer to introduce non-linearity.</a:t>
            </a:r>
          </a:p>
          <a:p>
            <a:pPr fontAlgn="base"/>
            <a:r>
              <a:rPr lang="en-US" b="1" dirty="0"/>
              <a:t>Pooling Layers</a:t>
            </a:r>
            <a:r>
              <a:rPr lang="en-US" dirty="0"/>
              <a:t>: Max pooling with a 2x2 filter and a stride of 2 to reduce the spatial dimensions.</a:t>
            </a:r>
          </a:p>
          <a:p>
            <a:pPr fontAlgn="base"/>
            <a:r>
              <a:rPr lang="en-US" b="1" dirty="0"/>
              <a:t>Fully Connected Layers</a:t>
            </a:r>
            <a:r>
              <a:rPr lang="en-US" dirty="0"/>
              <a:t>: Three fully connected layers at the end of the network for classification.</a:t>
            </a:r>
          </a:p>
          <a:p>
            <a:pPr fontAlgn="base"/>
            <a:r>
              <a:rPr lang="en-US" b="1" dirty="0" err="1"/>
              <a:t>Softmax</a:t>
            </a:r>
            <a:r>
              <a:rPr lang="en-US" b="1" dirty="0"/>
              <a:t> Layer</a:t>
            </a:r>
            <a:r>
              <a:rPr lang="en-US" dirty="0"/>
              <a:t>: Final layer for outputting class probabilities.</a:t>
            </a:r>
          </a:p>
          <a:p>
            <a:endParaRPr lang="en-IN" dirty="0"/>
          </a:p>
        </p:txBody>
      </p:sp>
    </p:spTree>
    <p:extLst>
      <p:ext uri="{BB962C8B-B14F-4D97-AF65-F5344CB8AC3E}">
        <p14:creationId xmlns:p14="http://schemas.microsoft.com/office/powerpoint/2010/main" val="169503370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723A1-28ED-3F80-9F3F-2BA026628F8C}"/>
              </a:ext>
            </a:extLst>
          </p:cNvPr>
          <p:cNvSpPr>
            <a:spLocks noGrp="1"/>
          </p:cNvSpPr>
          <p:nvPr>
            <p:ph type="title"/>
          </p:nvPr>
        </p:nvSpPr>
        <p:spPr>
          <a:xfrm>
            <a:off x="394855" y="370001"/>
            <a:ext cx="10689387" cy="677258"/>
          </a:xfrm>
        </p:spPr>
        <p:txBody>
          <a:bodyPr>
            <a:noAutofit/>
          </a:bodyPr>
          <a:lstStyle/>
          <a:p>
            <a:r>
              <a:rPr lang="en-US" sz="4000" dirty="0"/>
              <a:t>Detailed Layer-by-Layer Architecture of VGG-Net 19</a:t>
            </a:r>
            <a:endParaRPr lang="en-IN" sz="4000" dirty="0"/>
          </a:p>
        </p:txBody>
      </p:sp>
      <p:sp>
        <p:nvSpPr>
          <p:cNvPr id="3" name="Content Placeholder 2">
            <a:extLst>
              <a:ext uri="{FF2B5EF4-FFF2-40B4-BE49-F238E27FC236}">
                <a16:creationId xmlns:a16="http://schemas.microsoft.com/office/drawing/2014/main" id="{2BC3F93F-233B-D571-B654-C0AC5E78CA8C}"/>
              </a:ext>
            </a:extLst>
          </p:cNvPr>
          <p:cNvSpPr>
            <a:spLocks noGrp="1"/>
          </p:cNvSpPr>
          <p:nvPr>
            <p:ph idx="1"/>
          </p:nvPr>
        </p:nvSpPr>
        <p:spPr>
          <a:xfrm>
            <a:off x="537730" y="1340427"/>
            <a:ext cx="10689387" cy="4785843"/>
          </a:xfrm>
        </p:spPr>
        <p:txBody>
          <a:bodyPr/>
          <a:lstStyle/>
          <a:p>
            <a:pPr fontAlgn="base"/>
            <a:r>
              <a:rPr lang="en-US" dirty="0"/>
              <a:t>The VGG-19 model consists of five blocks of convolutional layers, followed by three fully connected layers. Here is a detailed breakdown of each block:</a:t>
            </a:r>
          </a:p>
          <a:p>
            <a:endParaRPr lang="en-IN" dirty="0"/>
          </a:p>
        </p:txBody>
      </p:sp>
      <p:pic>
        <p:nvPicPr>
          <p:cNvPr id="5" name="Picture 4">
            <a:extLst>
              <a:ext uri="{FF2B5EF4-FFF2-40B4-BE49-F238E27FC236}">
                <a16:creationId xmlns:a16="http://schemas.microsoft.com/office/drawing/2014/main" id="{3787C6D2-E2F2-018E-4085-0CC1CFA56823}"/>
              </a:ext>
            </a:extLst>
          </p:cNvPr>
          <p:cNvPicPr>
            <a:picLocks noChangeAspect="1"/>
          </p:cNvPicPr>
          <p:nvPr/>
        </p:nvPicPr>
        <p:blipFill>
          <a:blip r:embed="rId2"/>
          <a:stretch>
            <a:fillRect/>
          </a:stretch>
        </p:blipFill>
        <p:spPr>
          <a:xfrm>
            <a:off x="2197733" y="2117603"/>
            <a:ext cx="7312229" cy="4301835"/>
          </a:xfrm>
          <a:prstGeom prst="rect">
            <a:avLst/>
          </a:prstGeom>
        </p:spPr>
      </p:pic>
    </p:spTree>
    <p:extLst>
      <p:ext uri="{BB962C8B-B14F-4D97-AF65-F5344CB8AC3E}">
        <p14:creationId xmlns:p14="http://schemas.microsoft.com/office/powerpoint/2010/main" val="215727221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F1FF6-94C4-0B39-3D10-3A23DFDD547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84FD1C0-44AA-F703-0340-F3A67E6CB238}"/>
              </a:ext>
            </a:extLst>
          </p:cNvPr>
          <p:cNvSpPr>
            <a:spLocks noGrp="1"/>
          </p:cNvSpPr>
          <p:nvPr>
            <p:ph idx="1"/>
          </p:nvPr>
        </p:nvSpPr>
        <p:spPr>
          <a:xfrm>
            <a:off x="768927" y="1163782"/>
            <a:ext cx="10458190" cy="4962488"/>
          </a:xfrm>
        </p:spPr>
        <p:txBody>
          <a:bodyPr>
            <a:normAutofit fontScale="92500" lnSpcReduction="20000"/>
          </a:bodyPr>
          <a:lstStyle/>
          <a:p>
            <a:pPr fontAlgn="base">
              <a:lnSpc>
                <a:spcPct val="120000"/>
              </a:lnSpc>
              <a:spcBef>
                <a:spcPts val="0"/>
              </a:spcBef>
              <a:spcAft>
                <a:spcPts val="0"/>
              </a:spcAft>
            </a:pPr>
            <a:r>
              <a:rPr lang="en-IN" b="1" dirty="0"/>
              <a:t>Block 1</a:t>
            </a:r>
          </a:p>
          <a:p>
            <a:pPr fontAlgn="base">
              <a:lnSpc>
                <a:spcPct val="120000"/>
              </a:lnSpc>
              <a:spcBef>
                <a:spcPts val="0"/>
              </a:spcBef>
              <a:spcAft>
                <a:spcPts val="0"/>
              </a:spcAft>
            </a:pPr>
            <a:r>
              <a:rPr lang="en-IN" dirty="0"/>
              <a:t>Conv1_1: 64 filters, 3x3 kernel, </a:t>
            </a:r>
            <a:r>
              <a:rPr lang="en-IN" dirty="0" err="1"/>
              <a:t>ReLU</a:t>
            </a:r>
            <a:r>
              <a:rPr lang="en-IN" dirty="0"/>
              <a:t> activation</a:t>
            </a:r>
          </a:p>
          <a:p>
            <a:pPr fontAlgn="base">
              <a:lnSpc>
                <a:spcPct val="120000"/>
              </a:lnSpc>
              <a:spcBef>
                <a:spcPts val="0"/>
              </a:spcBef>
              <a:spcAft>
                <a:spcPts val="0"/>
              </a:spcAft>
            </a:pPr>
            <a:r>
              <a:rPr lang="en-IN" dirty="0"/>
              <a:t>Conv1_2: 64 filters, 3x3 kernel, </a:t>
            </a:r>
            <a:r>
              <a:rPr lang="en-IN" dirty="0" err="1"/>
              <a:t>ReLU</a:t>
            </a:r>
            <a:r>
              <a:rPr lang="en-IN" dirty="0"/>
              <a:t> activation</a:t>
            </a:r>
          </a:p>
          <a:p>
            <a:pPr fontAlgn="base">
              <a:lnSpc>
                <a:spcPct val="120000"/>
              </a:lnSpc>
              <a:spcBef>
                <a:spcPts val="0"/>
              </a:spcBef>
              <a:spcAft>
                <a:spcPts val="0"/>
              </a:spcAft>
            </a:pPr>
            <a:r>
              <a:rPr lang="en-IN" dirty="0"/>
              <a:t>Max Pooling: 2x2 filter, stride 2</a:t>
            </a:r>
          </a:p>
          <a:p>
            <a:pPr fontAlgn="base">
              <a:lnSpc>
                <a:spcPct val="120000"/>
              </a:lnSpc>
              <a:spcBef>
                <a:spcPts val="0"/>
              </a:spcBef>
              <a:spcAft>
                <a:spcPts val="0"/>
              </a:spcAft>
            </a:pPr>
            <a:r>
              <a:rPr lang="en-IN" b="1" dirty="0"/>
              <a:t>Block 2</a:t>
            </a:r>
          </a:p>
          <a:p>
            <a:pPr fontAlgn="base">
              <a:lnSpc>
                <a:spcPct val="120000"/>
              </a:lnSpc>
              <a:spcBef>
                <a:spcPts val="0"/>
              </a:spcBef>
              <a:spcAft>
                <a:spcPts val="0"/>
              </a:spcAft>
            </a:pPr>
            <a:r>
              <a:rPr lang="en-IN" dirty="0"/>
              <a:t>Conv2_1: 128 filters, 3x3 kernel, </a:t>
            </a:r>
            <a:r>
              <a:rPr lang="en-IN" dirty="0" err="1"/>
              <a:t>ReLU</a:t>
            </a:r>
            <a:r>
              <a:rPr lang="en-IN" dirty="0"/>
              <a:t> activation</a:t>
            </a:r>
          </a:p>
          <a:p>
            <a:pPr fontAlgn="base">
              <a:lnSpc>
                <a:spcPct val="120000"/>
              </a:lnSpc>
              <a:spcBef>
                <a:spcPts val="0"/>
              </a:spcBef>
              <a:spcAft>
                <a:spcPts val="0"/>
              </a:spcAft>
            </a:pPr>
            <a:r>
              <a:rPr lang="en-IN" dirty="0"/>
              <a:t>Conv2_2: 128 filters, 3x3 kernel, </a:t>
            </a:r>
            <a:r>
              <a:rPr lang="en-IN" dirty="0" err="1"/>
              <a:t>ReLU</a:t>
            </a:r>
            <a:r>
              <a:rPr lang="en-IN" dirty="0"/>
              <a:t> activation</a:t>
            </a:r>
          </a:p>
          <a:p>
            <a:pPr fontAlgn="base">
              <a:lnSpc>
                <a:spcPct val="120000"/>
              </a:lnSpc>
              <a:spcBef>
                <a:spcPts val="0"/>
              </a:spcBef>
              <a:spcAft>
                <a:spcPts val="0"/>
              </a:spcAft>
            </a:pPr>
            <a:r>
              <a:rPr lang="en-IN" dirty="0"/>
              <a:t>Max Pooling: 2x2 filter, stride 2</a:t>
            </a:r>
          </a:p>
          <a:p>
            <a:pPr fontAlgn="base">
              <a:lnSpc>
                <a:spcPct val="120000"/>
              </a:lnSpc>
              <a:spcBef>
                <a:spcPts val="0"/>
              </a:spcBef>
              <a:spcAft>
                <a:spcPts val="0"/>
              </a:spcAft>
            </a:pPr>
            <a:r>
              <a:rPr lang="en-IN" b="1" dirty="0"/>
              <a:t>Block 3</a:t>
            </a:r>
          </a:p>
          <a:p>
            <a:pPr fontAlgn="base">
              <a:lnSpc>
                <a:spcPct val="120000"/>
              </a:lnSpc>
              <a:spcBef>
                <a:spcPts val="0"/>
              </a:spcBef>
              <a:spcAft>
                <a:spcPts val="0"/>
              </a:spcAft>
            </a:pPr>
            <a:r>
              <a:rPr lang="en-IN" dirty="0"/>
              <a:t>Conv3_1: 256 filters, 3x3 kernel, </a:t>
            </a:r>
            <a:r>
              <a:rPr lang="en-IN" dirty="0" err="1"/>
              <a:t>ReLU</a:t>
            </a:r>
            <a:r>
              <a:rPr lang="en-IN" dirty="0"/>
              <a:t> activation</a:t>
            </a:r>
          </a:p>
          <a:p>
            <a:pPr fontAlgn="base">
              <a:lnSpc>
                <a:spcPct val="120000"/>
              </a:lnSpc>
              <a:spcBef>
                <a:spcPts val="0"/>
              </a:spcBef>
              <a:spcAft>
                <a:spcPts val="0"/>
              </a:spcAft>
            </a:pPr>
            <a:r>
              <a:rPr lang="en-IN" dirty="0"/>
              <a:t>Conv3_2: 256 filters, 3x3 kernel, </a:t>
            </a:r>
            <a:r>
              <a:rPr lang="en-IN" dirty="0" err="1"/>
              <a:t>ReLU</a:t>
            </a:r>
            <a:r>
              <a:rPr lang="en-IN" dirty="0"/>
              <a:t> activation</a:t>
            </a:r>
          </a:p>
          <a:p>
            <a:pPr fontAlgn="base">
              <a:lnSpc>
                <a:spcPct val="120000"/>
              </a:lnSpc>
              <a:spcBef>
                <a:spcPts val="0"/>
              </a:spcBef>
              <a:spcAft>
                <a:spcPts val="0"/>
              </a:spcAft>
            </a:pPr>
            <a:r>
              <a:rPr lang="en-IN" dirty="0"/>
              <a:t>Conv3_3: 256 filters, 3x3 kernel, </a:t>
            </a:r>
            <a:r>
              <a:rPr lang="en-IN" dirty="0" err="1"/>
              <a:t>ReLU</a:t>
            </a:r>
            <a:r>
              <a:rPr lang="en-IN" dirty="0"/>
              <a:t> activation</a:t>
            </a:r>
          </a:p>
          <a:p>
            <a:pPr fontAlgn="base">
              <a:lnSpc>
                <a:spcPct val="120000"/>
              </a:lnSpc>
              <a:spcBef>
                <a:spcPts val="0"/>
              </a:spcBef>
              <a:spcAft>
                <a:spcPts val="0"/>
              </a:spcAft>
            </a:pPr>
            <a:r>
              <a:rPr lang="en-IN" dirty="0"/>
              <a:t>Conv3_4: 256 filters, 3x3 kernel, </a:t>
            </a:r>
            <a:r>
              <a:rPr lang="en-IN" dirty="0" err="1"/>
              <a:t>ReLU</a:t>
            </a:r>
            <a:r>
              <a:rPr lang="en-IN" dirty="0"/>
              <a:t> activation</a:t>
            </a:r>
          </a:p>
          <a:p>
            <a:pPr fontAlgn="base">
              <a:lnSpc>
                <a:spcPct val="120000"/>
              </a:lnSpc>
              <a:spcBef>
                <a:spcPts val="0"/>
              </a:spcBef>
              <a:spcAft>
                <a:spcPts val="0"/>
              </a:spcAft>
            </a:pPr>
            <a:r>
              <a:rPr lang="en-IN" dirty="0"/>
              <a:t>Max Pooling: 2x2 filter, stride 2</a:t>
            </a:r>
          </a:p>
          <a:p>
            <a:pPr>
              <a:lnSpc>
                <a:spcPct val="120000"/>
              </a:lnSpc>
              <a:spcBef>
                <a:spcPts val="0"/>
              </a:spcBef>
              <a:spcAft>
                <a:spcPts val="0"/>
              </a:spcAft>
            </a:pPr>
            <a:endParaRPr lang="en-IN" dirty="0"/>
          </a:p>
        </p:txBody>
      </p:sp>
    </p:spTree>
    <p:extLst>
      <p:ext uri="{BB962C8B-B14F-4D97-AF65-F5344CB8AC3E}">
        <p14:creationId xmlns:p14="http://schemas.microsoft.com/office/powerpoint/2010/main" val="48267382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1A569-F98D-196F-F8D9-F808B9399B4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63BA3C4-14BB-5419-E6F5-F95BF8AD0B0F}"/>
              </a:ext>
            </a:extLst>
          </p:cNvPr>
          <p:cNvSpPr>
            <a:spLocks noGrp="1"/>
          </p:cNvSpPr>
          <p:nvPr>
            <p:ph idx="1"/>
          </p:nvPr>
        </p:nvSpPr>
        <p:spPr>
          <a:xfrm>
            <a:off x="696191" y="1465118"/>
            <a:ext cx="10530926" cy="4661152"/>
          </a:xfrm>
        </p:spPr>
        <p:txBody>
          <a:bodyPr>
            <a:normAutofit fontScale="70000" lnSpcReduction="20000"/>
          </a:bodyPr>
          <a:lstStyle/>
          <a:p>
            <a:pPr fontAlgn="base">
              <a:lnSpc>
                <a:spcPct val="120000"/>
              </a:lnSpc>
              <a:spcBef>
                <a:spcPts val="0"/>
              </a:spcBef>
              <a:spcAft>
                <a:spcPts val="0"/>
              </a:spcAft>
            </a:pPr>
            <a:r>
              <a:rPr lang="en-IN" b="1" dirty="0"/>
              <a:t>Block 4</a:t>
            </a:r>
          </a:p>
          <a:p>
            <a:pPr fontAlgn="base">
              <a:lnSpc>
                <a:spcPct val="120000"/>
              </a:lnSpc>
              <a:spcBef>
                <a:spcPts val="0"/>
              </a:spcBef>
              <a:spcAft>
                <a:spcPts val="0"/>
              </a:spcAft>
            </a:pPr>
            <a:r>
              <a:rPr lang="en-IN" dirty="0"/>
              <a:t>Conv4_1: 512 filters, 3x3 kernel, </a:t>
            </a:r>
            <a:r>
              <a:rPr lang="en-IN" dirty="0" err="1"/>
              <a:t>ReLU</a:t>
            </a:r>
            <a:r>
              <a:rPr lang="en-IN" dirty="0"/>
              <a:t> activation</a:t>
            </a:r>
          </a:p>
          <a:p>
            <a:pPr fontAlgn="base">
              <a:lnSpc>
                <a:spcPct val="120000"/>
              </a:lnSpc>
              <a:spcBef>
                <a:spcPts val="0"/>
              </a:spcBef>
              <a:spcAft>
                <a:spcPts val="0"/>
              </a:spcAft>
            </a:pPr>
            <a:r>
              <a:rPr lang="en-IN" dirty="0"/>
              <a:t>Conv4_2: 512 filters, 3x3 kernel, </a:t>
            </a:r>
            <a:r>
              <a:rPr lang="en-IN" dirty="0" err="1"/>
              <a:t>ReLU</a:t>
            </a:r>
            <a:r>
              <a:rPr lang="en-IN" dirty="0"/>
              <a:t> activation</a:t>
            </a:r>
          </a:p>
          <a:p>
            <a:pPr fontAlgn="base">
              <a:lnSpc>
                <a:spcPct val="120000"/>
              </a:lnSpc>
              <a:spcBef>
                <a:spcPts val="0"/>
              </a:spcBef>
              <a:spcAft>
                <a:spcPts val="0"/>
              </a:spcAft>
            </a:pPr>
            <a:r>
              <a:rPr lang="en-IN" dirty="0"/>
              <a:t>Conv4_3: 512 filters, 3x3 kernel, </a:t>
            </a:r>
            <a:r>
              <a:rPr lang="en-IN" dirty="0" err="1"/>
              <a:t>ReLU</a:t>
            </a:r>
            <a:r>
              <a:rPr lang="en-IN" dirty="0"/>
              <a:t> activation</a:t>
            </a:r>
          </a:p>
          <a:p>
            <a:pPr fontAlgn="base">
              <a:lnSpc>
                <a:spcPct val="120000"/>
              </a:lnSpc>
              <a:spcBef>
                <a:spcPts val="0"/>
              </a:spcBef>
              <a:spcAft>
                <a:spcPts val="0"/>
              </a:spcAft>
            </a:pPr>
            <a:r>
              <a:rPr lang="en-IN" dirty="0"/>
              <a:t>Conv4_4: 512 filters, 3x3 kernel, </a:t>
            </a:r>
            <a:r>
              <a:rPr lang="en-IN" dirty="0" err="1"/>
              <a:t>ReLU</a:t>
            </a:r>
            <a:r>
              <a:rPr lang="en-IN" dirty="0"/>
              <a:t> activation</a:t>
            </a:r>
          </a:p>
          <a:p>
            <a:pPr fontAlgn="base">
              <a:lnSpc>
                <a:spcPct val="120000"/>
              </a:lnSpc>
              <a:spcBef>
                <a:spcPts val="0"/>
              </a:spcBef>
              <a:spcAft>
                <a:spcPts val="0"/>
              </a:spcAft>
            </a:pPr>
            <a:r>
              <a:rPr lang="en-IN" dirty="0"/>
              <a:t>Max Pooling: 2x2 filter, stride 2</a:t>
            </a:r>
          </a:p>
          <a:p>
            <a:pPr fontAlgn="base">
              <a:lnSpc>
                <a:spcPct val="120000"/>
              </a:lnSpc>
              <a:spcBef>
                <a:spcPts val="0"/>
              </a:spcBef>
              <a:spcAft>
                <a:spcPts val="0"/>
              </a:spcAft>
            </a:pPr>
            <a:r>
              <a:rPr lang="en-IN" b="1" dirty="0"/>
              <a:t>Block 5</a:t>
            </a:r>
          </a:p>
          <a:p>
            <a:pPr fontAlgn="base">
              <a:lnSpc>
                <a:spcPct val="120000"/>
              </a:lnSpc>
              <a:spcBef>
                <a:spcPts val="0"/>
              </a:spcBef>
              <a:spcAft>
                <a:spcPts val="0"/>
              </a:spcAft>
            </a:pPr>
            <a:r>
              <a:rPr lang="en-IN" dirty="0"/>
              <a:t>Conv5_1: 512 filters, 3x3 kernel, </a:t>
            </a:r>
            <a:r>
              <a:rPr lang="en-IN" dirty="0" err="1"/>
              <a:t>ReLU</a:t>
            </a:r>
            <a:r>
              <a:rPr lang="en-IN" dirty="0"/>
              <a:t> activation</a:t>
            </a:r>
          </a:p>
          <a:p>
            <a:pPr fontAlgn="base">
              <a:lnSpc>
                <a:spcPct val="120000"/>
              </a:lnSpc>
              <a:spcBef>
                <a:spcPts val="0"/>
              </a:spcBef>
              <a:spcAft>
                <a:spcPts val="0"/>
              </a:spcAft>
            </a:pPr>
            <a:r>
              <a:rPr lang="en-IN" dirty="0"/>
              <a:t>Conv5_2: 512 filters, 3x3 kernel, </a:t>
            </a:r>
            <a:r>
              <a:rPr lang="en-IN" dirty="0" err="1"/>
              <a:t>ReLU</a:t>
            </a:r>
            <a:r>
              <a:rPr lang="en-IN" dirty="0"/>
              <a:t> activation</a:t>
            </a:r>
          </a:p>
          <a:p>
            <a:pPr fontAlgn="base">
              <a:lnSpc>
                <a:spcPct val="120000"/>
              </a:lnSpc>
              <a:spcBef>
                <a:spcPts val="0"/>
              </a:spcBef>
              <a:spcAft>
                <a:spcPts val="0"/>
              </a:spcAft>
            </a:pPr>
            <a:r>
              <a:rPr lang="en-IN" dirty="0"/>
              <a:t>Conv5_3: 512 filters, 3x3 kernel, </a:t>
            </a:r>
            <a:r>
              <a:rPr lang="en-IN" dirty="0" err="1"/>
              <a:t>ReLU</a:t>
            </a:r>
            <a:r>
              <a:rPr lang="en-IN" dirty="0"/>
              <a:t> activation</a:t>
            </a:r>
          </a:p>
          <a:p>
            <a:pPr fontAlgn="base">
              <a:lnSpc>
                <a:spcPct val="120000"/>
              </a:lnSpc>
              <a:spcBef>
                <a:spcPts val="0"/>
              </a:spcBef>
              <a:spcAft>
                <a:spcPts val="0"/>
              </a:spcAft>
            </a:pPr>
            <a:r>
              <a:rPr lang="en-IN" dirty="0"/>
              <a:t>Conv5_4: 512 filters, 3x3 kernel, </a:t>
            </a:r>
            <a:r>
              <a:rPr lang="en-IN" dirty="0" err="1"/>
              <a:t>ReLU</a:t>
            </a:r>
            <a:r>
              <a:rPr lang="en-IN" dirty="0"/>
              <a:t> activation</a:t>
            </a:r>
          </a:p>
          <a:p>
            <a:pPr fontAlgn="base">
              <a:lnSpc>
                <a:spcPct val="120000"/>
              </a:lnSpc>
              <a:spcBef>
                <a:spcPts val="0"/>
              </a:spcBef>
              <a:spcAft>
                <a:spcPts val="0"/>
              </a:spcAft>
            </a:pPr>
            <a:r>
              <a:rPr lang="en-IN" dirty="0"/>
              <a:t>Max Pooling: 2x2 filter, stride 2</a:t>
            </a:r>
          </a:p>
          <a:p>
            <a:pPr fontAlgn="base">
              <a:lnSpc>
                <a:spcPct val="120000"/>
              </a:lnSpc>
              <a:spcBef>
                <a:spcPts val="0"/>
              </a:spcBef>
              <a:spcAft>
                <a:spcPts val="0"/>
              </a:spcAft>
            </a:pPr>
            <a:r>
              <a:rPr lang="en-IN" b="1" dirty="0"/>
              <a:t>Fully Connected Layers</a:t>
            </a:r>
          </a:p>
          <a:p>
            <a:pPr fontAlgn="base">
              <a:lnSpc>
                <a:spcPct val="120000"/>
              </a:lnSpc>
              <a:spcBef>
                <a:spcPts val="0"/>
              </a:spcBef>
              <a:spcAft>
                <a:spcPts val="0"/>
              </a:spcAft>
            </a:pPr>
            <a:r>
              <a:rPr lang="en-IN" b="1" dirty="0"/>
              <a:t>FC1</a:t>
            </a:r>
            <a:r>
              <a:rPr lang="en-IN" dirty="0"/>
              <a:t>: 4096 neurons, </a:t>
            </a:r>
            <a:r>
              <a:rPr lang="en-IN" dirty="0" err="1"/>
              <a:t>ReLU</a:t>
            </a:r>
            <a:r>
              <a:rPr lang="en-IN" dirty="0"/>
              <a:t> activation</a:t>
            </a:r>
          </a:p>
          <a:p>
            <a:pPr fontAlgn="base">
              <a:lnSpc>
                <a:spcPct val="120000"/>
              </a:lnSpc>
              <a:spcBef>
                <a:spcPts val="0"/>
              </a:spcBef>
              <a:spcAft>
                <a:spcPts val="0"/>
              </a:spcAft>
            </a:pPr>
            <a:r>
              <a:rPr lang="en-IN" b="1" dirty="0"/>
              <a:t>FC2</a:t>
            </a:r>
            <a:r>
              <a:rPr lang="en-IN" dirty="0"/>
              <a:t>: 4096 neurons, </a:t>
            </a:r>
            <a:r>
              <a:rPr lang="en-IN" dirty="0" err="1"/>
              <a:t>ReLU</a:t>
            </a:r>
            <a:r>
              <a:rPr lang="en-IN" dirty="0"/>
              <a:t> activation</a:t>
            </a:r>
          </a:p>
          <a:p>
            <a:pPr fontAlgn="base">
              <a:lnSpc>
                <a:spcPct val="120000"/>
              </a:lnSpc>
              <a:spcBef>
                <a:spcPts val="0"/>
              </a:spcBef>
              <a:spcAft>
                <a:spcPts val="0"/>
              </a:spcAft>
            </a:pPr>
            <a:r>
              <a:rPr lang="en-IN" b="1" dirty="0"/>
              <a:t>FC3</a:t>
            </a:r>
            <a:r>
              <a:rPr lang="en-IN" dirty="0"/>
              <a:t>: 1000 neurons, </a:t>
            </a:r>
            <a:r>
              <a:rPr lang="en-IN" dirty="0" err="1"/>
              <a:t>softmax</a:t>
            </a:r>
            <a:r>
              <a:rPr lang="en-IN" dirty="0"/>
              <a:t> activation (for 1000-class classification)</a:t>
            </a:r>
          </a:p>
          <a:p>
            <a:pPr>
              <a:lnSpc>
                <a:spcPct val="120000"/>
              </a:lnSpc>
              <a:spcBef>
                <a:spcPts val="0"/>
              </a:spcBef>
              <a:spcAft>
                <a:spcPts val="0"/>
              </a:spcAft>
            </a:pPr>
            <a:endParaRPr lang="en-IN" dirty="0"/>
          </a:p>
        </p:txBody>
      </p:sp>
    </p:spTree>
    <p:extLst>
      <p:ext uri="{BB962C8B-B14F-4D97-AF65-F5344CB8AC3E}">
        <p14:creationId xmlns:p14="http://schemas.microsoft.com/office/powerpoint/2010/main" val="417954862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3BF81-9047-64A9-77F1-C0596CEAE75D}"/>
              </a:ext>
            </a:extLst>
          </p:cNvPr>
          <p:cNvSpPr>
            <a:spLocks noGrp="1"/>
          </p:cNvSpPr>
          <p:nvPr>
            <p:ph type="title"/>
          </p:nvPr>
        </p:nvSpPr>
        <p:spPr/>
        <p:txBody>
          <a:bodyPr>
            <a:normAutofit fontScale="90000"/>
          </a:bodyPr>
          <a:lstStyle/>
          <a:p>
            <a:r>
              <a:rPr lang="en-US" dirty="0"/>
              <a:t>Architectural Design Principles</a:t>
            </a:r>
            <a:endParaRPr lang="en-IN" dirty="0"/>
          </a:p>
        </p:txBody>
      </p:sp>
      <p:sp>
        <p:nvSpPr>
          <p:cNvPr id="3" name="Content Placeholder 2">
            <a:extLst>
              <a:ext uri="{FF2B5EF4-FFF2-40B4-BE49-F238E27FC236}">
                <a16:creationId xmlns:a16="http://schemas.microsoft.com/office/drawing/2014/main" id="{3BF765E2-766C-2448-8EA7-222F60E4CE19}"/>
              </a:ext>
            </a:extLst>
          </p:cNvPr>
          <p:cNvSpPr>
            <a:spLocks noGrp="1"/>
          </p:cNvSpPr>
          <p:nvPr>
            <p:ph idx="1"/>
          </p:nvPr>
        </p:nvSpPr>
        <p:spPr/>
        <p:txBody>
          <a:bodyPr>
            <a:normAutofit/>
          </a:bodyPr>
          <a:lstStyle/>
          <a:p>
            <a:pPr fontAlgn="base"/>
            <a:r>
              <a:rPr lang="en-US" dirty="0"/>
              <a:t>The VGG-19 architecture follows several key design principles:</a:t>
            </a:r>
          </a:p>
          <a:p>
            <a:pPr fontAlgn="base"/>
            <a:r>
              <a:rPr lang="en-US" b="1" dirty="0"/>
              <a:t>Uniform Convolution Filters</a:t>
            </a:r>
            <a:r>
              <a:rPr lang="en-US" dirty="0"/>
              <a:t>: Consistently using 3x3 convolution filters simplifies the architecture and helps maintain uniformity.</a:t>
            </a:r>
          </a:p>
          <a:p>
            <a:pPr fontAlgn="base"/>
            <a:r>
              <a:rPr lang="en-US" b="1" dirty="0"/>
              <a:t>Deep Architecture</a:t>
            </a:r>
            <a:r>
              <a:rPr lang="en-US" dirty="0"/>
              <a:t>: Increasing the depth of the network enables learning more complex features.</a:t>
            </a:r>
          </a:p>
          <a:p>
            <a:pPr fontAlgn="base"/>
            <a:r>
              <a:rPr lang="en-US" b="1" dirty="0" err="1"/>
              <a:t>ReLU</a:t>
            </a:r>
            <a:r>
              <a:rPr lang="en-US" b="1" dirty="0"/>
              <a:t> Activation</a:t>
            </a:r>
            <a:r>
              <a:rPr lang="en-US" dirty="0"/>
              <a:t>: Introducing non-linearity helps in learning complex patterns.</a:t>
            </a:r>
          </a:p>
          <a:p>
            <a:pPr fontAlgn="base"/>
            <a:r>
              <a:rPr lang="en-US" b="1" dirty="0"/>
              <a:t>Max Pooling</a:t>
            </a:r>
            <a:r>
              <a:rPr lang="en-US" dirty="0"/>
              <a:t>: Reduces the spatial dimensions while preserving important features.</a:t>
            </a:r>
          </a:p>
          <a:p>
            <a:pPr fontAlgn="base"/>
            <a:r>
              <a:rPr lang="en-US" b="1" dirty="0"/>
              <a:t>Fully Connected Layers</a:t>
            </a:r>
            <a:r>
              <a:rPr lang="en-US" dirty="0"/>
              <a:t>: Combines the learned features for classification.</a:t>
            </a:r>
          </a:p>
          <a:p>
            <a:endParaRPr lang="en-IN" dirty="0"/>
          </a:p>
        </p:txBody>
      </p:sp>
    </p:spTree>
    <p:extLst>
      <p:ext uri="{BB962C8B-B14F-4D97-AF65-F5344CB8AC3E}">
        <p14:creationId xmlns:p14="http://schemas.microsoft.com/office/powerpoint/2010/main" val="37126894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B886F-4DDB-20BA-AAF5-52FFE115E8A3}"/>
              </a:ext>
            </a:extLst>
          </p:cNvPr>
          <p:cNvSpPr>
            <a:spLocks noGrp="1"/>
          </p:cNvSpPr>
          <p:nvPr>
            <p:ph type="title"/>
          </p:nvPr>
        </p:nvSpPr>
        <p:spPr/>
        <p:txBody>
          <a:bodyPr>
            <a:normAutofit fontScale="90000"/>
          </a:bodyPr>
          <a:lstStyle/>
          <a:p>
            <a:r>
              <a:rPr lang="en-US" dirty="0"/>
              <a:t>Impact and Legacy of VGG-19</a:t>
            </a:r>
            <a:endParaRPr lang="en-IN" dirty="0"/>
          </a:p>
        </p:txBody>
      </p:sp>
      <p:sp>
        <p:nvSpPr>
          <p:cNvPr id="3" name="Content Placeholder 2">
            <a:extLst>
              <a:ext uri="{FF2B5EF4-FFF2-40B4-BE49-F238E27FC236}">
                <a16:creationId xmlns:a16="http://schemas.microsoft.com/office/drawing/2014/main" id="{13534040-4606-011F-C41A-CB120CAF0F57}"/>
              </a:ext>
            </a:extLst>
          </p:cNvPr>
          <p:cNvSpPr>
            <a:spLocks noGrp="1"/>
          </p:cNvSpPr>
          <p:nvPr>
            <p:ph idx="1"/>
          </p:nvPr>
        </p:nvSpPr>
        <p:spPr>
          <a:xfrm>
            <a:off x="644236" y="1496291"/>
            <a:ext cx="10582881" cy="4629979"/>
          </a:xfrm>
        </p:spPr>
        <p:txBody>
          <a:bodyPr>
            <a:normAutofit fontScale="92500" lnSpcReduction="20000"/>
          </a:bodyPr>
          <a:lstStyle/>
          <a:p>
            <a:pPr fontAlgn="base"/>
            <a:r>
              <a:rPr lang="en-US" b="1" dirty="0"/>
              <a:t>Influence on Subsequent Models</a:t>
            </a:r>
          </a:p>
          <a:p>
            <a:pPr fontAlgn="base"/>
            <a:r>
              <a:rPr lang="en-US" dirty="0"/>
              <a:t>The simplicity and effectiveness of VGG-19 influenced the design of subsequent deep learning models.</a:t>
            </a:r>
          </a:p>
          <a:p>
            <a:pPr fontAlgn="base"/>
            <a:r>
              <a:rPr lang="en-US" dirty="0"/>
              <a:t> Architectures like </a:t>
            </a:r>
            <a:r>
              <a:rPr lang="en-US" dirty="0" err="1"/>
              <a:t>ResNet</a:t>
            </a:r>
            <a:r>
              <a:rPr lang="en-US" dirty="0"/>
              <a:t> and Inception drew inspiration from the depth and uniformity principles established by VGG models. </a:t>
            </a:r>
          </a:p>
          <a:p>
            <a:pPr fontAlgn="base"/>
            <a:r>
              <a:rPr lang="en-US" dirty="0"/>
              <a:t>VGG-19's deep yet straightforward architecture demonstrated that increasing depth could significantly improve performance in image recognition tasks.</a:t>
            </a:r>
          </a:p>
          <a:p>
            <a:pPr fontAlgn="base"/>
            <a:r>
              <a:rPr lang="en-US" b="1" dirty="0"/>
              <a:t>Use in Transfer Learning</a:t>
            </a:r>
          </a:p>
          <a:p>
            <a:pPr fontAlgn="base"/>
            <a:r>
              <a:rPr lang="en-US" dirty="0"/>
              <a:t>VGG-19 has been extensively used in transfer learning due to its robust feature extraction capabilities. </a:t>
            </a:r>
          </a:p>
          <a:p>
            <a:pPr fontAlgn="base"/>
            <a:r>
              <a:rPr lang="en-US" dirty="0"/>
              <a:t>Pre-trained VGG-19 models on large datasets like ImageNet are often fine-tuned for various computer vision tasks, including object detection, image segmentation, and style transfer.</a:t>
            </a:r>
          </a:p>
          <a:p>
            <a:endParaRPr lang="en-IN" dirty="0"/>
          </a:p>
        </p:txBody>
      </p:sp>
    </p:spTree>
    <p:extLst>
      <p:ext uri="{BB962C8B-B14F-4D97-AF65-F5344CB8AC3E}">
        <p14:creationId xmlns:p14="http://schemas.microsoft.com/office/powerpoint/2010/main" val="420859517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4B1B7-7A15-2312-E967-32BBC2296EE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6B94E83-F03C-ED3D-D6DF-DC82EC3E87D0}"/>
              </a:ext>
            </a:extLst>
          </p:cNvPr>
          <p:cNvSpPr>
            <a:spLocks noGrp="1"/>
          </p:cNvSpPr>
          <p:nvPr>
            <p:ph idx="1"/>
          </p:nvPr>
        </p:nvSpPr>
        <p:spPr/>
        <p:txBody>
          <a:bodyPr/>
          <a:lstStyle/>
          <a:p>
            <a:pPr fontAlgn="base"/>
            <a:r>
              <a:rPr lang="en-US" b="1" dirty="0"/>
              <a:t>Research and Industry Applications</a:t>
            </a:r>
          </a:p>
          <a:p>
            <a:pPr fontAlgn="base"/>
            <a:r>
              <a:rPr lang="en-US" dirty="0"/>
              <a:t>VGG-19 has found applications in numerous research and industry projects.</a:t>
            </a:r>
          </a:p>
          <a:p>
            <a:pPr fontAlgn="base"/>
            <a:r>
              <a:rPr lang="en-US" dirty="0"/>
              <a:t> Its architecture has been used as a baseline in academic research, enabling comparisons with newer models. </a:t>
            </a:r>
          </a:p>
          <a:p>
            <a:pPr fontAlgn="base"/>
            <a:r>
              <a:rPr lang="en-US" dirty="0"/>
              <a:t>In industry, VGG-19's pre-trained weights serve as powerful feature extractors in applications ranging from medical imaging to autonomous vehicles.</a:t>
            </a:r>
          </a:p>
          <a:p>
            <a:endParaRPr lang="en-IN" dirty="0"/>
          </a:p>
        </p:txBody>
      </p:sp>
    </p:spTree>
    <p:extLst>
      <p:ext uri="{BB962C8B-B14F-4D97-AF65-F5344CB8AC3E}">
        <p14:creationId xmlns:p14="http://schemas.microsoft.com/office/powerpoint/2010/main" val="349692334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1B091-9EDA-2D4C-2EA0-DA2D687927DB}"/>
              </a:ext>
            </a:extLst>
          </p:cNvPr>
          <p:cNvSpPr>
            <a:spLocks noGrp="1"/>
          </p:cNvSpPr>
          <p:nvPr>
            <p:ph type="title"/>
          </p:nvPr>
        </p:nvSpPr>
        <p:spPr/>
        <p:txBody>
          <a:bodyPr>
            <a:normAutofit fontScale="90000"/>
          </a:bodyPr>
          <a:lstStyle/>
          <a:p>
            <a:r>
              <a:rPr lang="en-IN" dirty="0" err="1"/>
              <a:t>GoogLeNet</a:t>
            </a:r>
            <a:r>
              <a:rPr lang="en-IN" dirty="0"/>
              <a:t> (Inception V1) </a:t>
            </a:r>
          </a:p>
        </p:txBody>
      </p:sp>
      <p:sp>
        <p:nvSpPr>
          <p:cNvPr id="3" name="Content Placeholder 2">
            <a:extLst>
              <a:ext uri="{FF2B5EF4-FFF2-40B4-BE49-F238E27FC236}">
                <a16:creationId xmlns:a16="http://schemas.microsoft.com/office/drawing/2014/main" id="{A9057502-E5D1-7ED2-CCC9-1EA33441FBD8}"/>
              </a:ext>
            </a:extLst>
          </p:cNvPr>
          <p:cNvSpPr>
            <a:spLocks noGrp="1"/>
          </p:cNvSpPr>
          <p:nvPr>
            <p:ph idx="1"/>
          </p:nvPr>
        </p:nvSpPr>
        <p:spPr>
          <a:xfrm>
            <a:off x="831273" y="1527464"/>
            <a:ext cx="10395844" cy="4598806"/>
          </a:xfrm>
        </p:spPr>
        <p:txBody>
          <a:bodyPr/>
          <a:lstStyle/>
          <a:p>
            <a:pPr algn="just"/>
            <a:r>
              <a:rPr lang="en-US" dirty="0" err="1"/>
              <a:t>GoogLeNet</a:t>
            </a:r>
            <a:r>
              <a:rPr lang="en-US" dirty="0"/>
              <a:t> (Inception V1) is a deep convolutional neural network architecture designed for efficient image classification. </a:t>
            </a:r>
          </a:p>
          <a:p>
            <a:pPr algn="just"/>
            <a:r>
              <a:rPr lang="en-US" dirty="0"/>
              <a:t>It introduces the Inception module, which performs multiple convolution operations (1x1, 3x3, 5x5) in parallel, along with </a:t>
            </a:r>
            <a:r>
              <a:rPr lang="en-US" b="1" dirty="0"/>
              <a:t>max pooling </a:t>
            </a:r>
            <a:r>
              <a:rPr lang="en-US" dirty="0"/>
              <a:t>and concatenates their outputs. </a:t>
            </a:r>
          </a:p>
          <a:p>
            <a:pPr algn="just"/>
            <a:r>
              <a:rPr lang="en-US" dirty="0"/>
              <a:t>The architecture is deep, yet optimized for speed and performance, which makes it suitable for large-scale visual recognition tasks. </a:t>
            </a:r>
          </a:p>
          <a:p>
            <a:pPr algn="just"/>
            <a:r>
              <a:rPr lang="en-US" dirty="0"/>
              <a:t>It brought forward innovative architectural choices such as 1×1 convolutions, global average pooling and the Inception module, all aimed at improving depth and computational efficiency.</a:t>
            </a:r>
            <a:endParaRPr lang="en-IN" dirty="0"/>
          </a:p>
        </p:txBody>
      </p:sp>
    </p:spTree>
    <p:extLst>
      <p:ext uri="{BB962C8B-B14F-4D97-AF65-F5344CB8AC3E}">
        <p14:creationId xmlns:p14="http://schemas.microsoft.com/office/powerpoint/2010/main" val="91970088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9972D-F0EC-C623-D754-AD4E1FDCE14A}"/>
              </a:ext>
            </a:extLst>
          </p:cNvPr>
          <p:cNvSpPr>
            <a:spLocks noGrp="1"/>
          </p:cNvSpPr>
          <p:nvPr>
            <p:ph type="title"/>
          </p:nvPr>
        </p:nvSpPr>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834144E2-5F4F-5992-DCD4-E1E2DF73D2FF}"/>
              </a:ext>
            </a:extLst>
          </p:cNvPr>
          <p:cNvSpPr>
            <a:spLocks noGrp="1"/>
          </p:cNvSpPr>
          <p:nvPr>
            <p:ph idx="1"/>
          </p:nvPr>
        </p:nvSpPr>
        <p:spPr>
          <a:xfrm>
            <a:off x="1025842" y="1524000"/>
            <a:ext cx="10058400" cy="4602270"/>
          </a:xfrm>
        </p:spPr>
        <p:txBody>
          <a:bodyPr>
            <a:normAutofit fontScale="92500" lnSpcReduction="10000"/>
          </a:bodyPr>
          <a:lstStyle/>
          <a:p>
            <a:r>
              <a:rPr lang="en-US" dirty="0"/>
              <a:t>When designing a deep learning model, one needs to decide what convolution filter size to use (whether it should be 3×3, 5×5, or 1×1) as it affects the model’s learning and performance, and when to max pool the layers. </a:t>
            </a:r>
          </a:p>
          <a:p>
            <a:r>
              <a:rPr lang="en-US" dirty="0"/>
              <a:t>However, the inception module, the key innovation introduced by a team of </a:t>
            </a:r>
            <a:r>
              <a:rPr lang="en-US" b="1" dirty="0"/>
              <a:t>Google researchers, solved this problem creatively. </a:t>
            </a:r>
          </a:p>
          <a:p>
            <a:r>
              <a:rPr lang="en-US" dirty="0"/>
              <a:t>Instead of deciding what filter size to use and when to perform a max pooling operation, they combined </a:t>
            </a:r>
            <a:r>
              <a:rPr lang="en-US" b="1" dirty="0"/>
              <a:t>multiple convolution filters.</a:t>
            </a:r>
          </a:p>
          <a:p>
            <a:r>
              <a:rPr lang="en-US" b="1" dirty="0"/>
              <a:t>Stacking multiple convolution filters </a:t>
            </a:r>
            <a:r>
              <a:rPr lang="en-US" dirty="0"/>
              <a:t>together instead of just one increases the parameter count many times. </a:t>
            </a:r>
          </a:p>
          <a:p>
            <a:r>
              <a:rPr lang="en-US" dirty="0"/>
              <a:t>However, </a:t>
            </a:r>
            <a:r>
              <a:rPr lang="en-US" dirty="0" err="1"/>
              <a:t>GoogLeNet</a:t>
            </a:r>
            <a:r>
              <a:rPr lang="en-US" dirty="0"/>
              <a:t> demonstrated by using the inception module that </a:t>
            </a:r>
            <a:r>
              <a:rPr lang="en-US" b="1" dirty="0"/>
              <a:t>depth and width in a neural network </a:t>
            </a:r>
            <a:r>
              <a:rPr lang="en-US" dirty="0"/>
              <a:t>could be increased without exploding computations.  </a:t>
            </a:r>
          </a:p>
          <a:p>
            <a:r>
              <a:rPr lang="en-US" dirty="0"/>
              <a:t>We will investigate the inception module in depth.</a:t>
            </a:r>
          </a:p>
          <a:p>
            <a:endParaRPr lang="en-IN" dirty="0"/>
          </a:p>
        </p:txBody>
      </p:sp>
    </p:spTree>
    <p:extLst>
      <p:ext uri="{BB962C8B-B14F-4D97-AF65-F5344CB8AC3E}">
        <p14:creationId xmlns:p14="http://schemas.microsoft.com/office/powerpoint/2010/main" val="98047630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4F44-DC45-CD9E-FA3B-6A27A5CB7AD1}"/>
              </a:ext>
            </a:extLst>
          </p:cNvPr>
          <p:cNvSpPr>
            <a:spLocks noGrp="1"/>
          </p:cNvSpPr>
          <p:nvPr>
            <p:ph type="title"/>
          </p:nvPr>
        </p:nvSpPr>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A3CDC786-B55F-FDCD-A85D-9921E764FCA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93DB02D-10D3-A85C-F540-41C72F8E575D}"/>
              </a:ext>
            </a:extLst>
          </p:cNvPr>
          <p:cNvPicPr>
            <a:picLocks noChangeAspect="1"/>
          </p:cNvPicPr>
          <p:nvPr/>
        </p:nvPicPr>
        <p:blipFill>
          <a:blip r:embed="rId2"/>
          <a:stretch>
            <a:fillRect/>
          </a:stretch>
        </p:blipFill>
        <p:spPr>
          <a:xfrm>
            <a:off x="1651721" y="1980465"/>
            <a:ext cx="8531369" cy="2897070"/>
          </a:xfrm>
          <a:prstGeom prst="rect">
            <a:avLst/>
          </a:prstGeom>
        </p:spPr>
      </p:pic>
    </p:spTree>
    <p:extLst>
      <p:ext uri="{BB962C8B-B14F-4D97-AF65-F5344CB8AC3E}">
        <p14:creationId xmlns:p14="http://schemas.microsoft.com/office/powerpoint/2010/main" val="410123430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C6A78-A599-0ABD-DD2B-A86448BDF571}"/>
              </a:ext>
            </a:extLst>
          </p:cNvPr>
          <p:cNvSpPr>
            <a:spLocks noGrp="1"/>
          </p:cNvSpPr>
          <p:nvPr>
            <p:ph type="title"/>
          </p:nvPr>
        </p:nvSpPr>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E59590E-30A8-64C7-6D6D-FC49CD639E4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56CF38A-B4E2-432D-539E-580AE275AE93}"/>
              </a:ext>
            </a:extLst>
          </p:cNvPr>
          <p:cNvPicPr>
            <a:picLocks noChangeAspect="1"/>
          </p:cNvPicPr>
          <p:nvPr/>
        </p:nvPicPr>
        <p:blipFill>
          <a:blip r:embed="rId2"/>
          <a:stretch>
            <a:fillRect/>
          </a:stretch>
        </p:blipFill>
        <p:spPr>
          <a:xfrm>
            <a:off x="2237836" y="2042919"/>
            <a:ext cx="7716327" cy="2772162"/>
          </a:xfrm>
          <a:prstGeom prst="rect">
            <a:avLst/>
          </a:prstGeom>
        </p:spPr>
      </p:pic>
    </p:spTree>
    <p:extLst>
      <p:ext uri="{BB962C8B-B14F-4D97-AF65-F5344CB8AC3E}">
        <p14:creationId xmlns:p14="http://schemas.microsoft.com/office/powerpoint/2010/main" val="415138434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E40D1-CB22-776D-D0CA-226BF79CFC30}"/>
              </a:ext>
            </a:extLst>
          </p:cNvPr>
          <p:cNvSpPr>
            <a:spLocks noGrp="1"/>
          </p:cNvSpPr>
          <p:nvPr>
            <p:ph type="title"/>
          </p:nvPr>
        </p:nvSpPr>
        <p:spPr/>
        <p:txBody>
          <a:bodyPr>
            <a:normAutofit fontScale="90000"/>
          </a:bodyPr>
          <a:lstStyle/>
          <a:p>
            <a:endParaRPr lang="en-IN"/>
          </a:p>
        </p:txBody>
      </p:sp>
      <p:pic>
        <p:nvPicPr>
          <p:cNvPr id="23554" name="Picture 2" descr="image showing googlenet">
            <a:extLst>
              <a:ext uri="{FF2B5EF4-FFF2-40B4-BE49-F238E27FC236}">
                <a16:creationId xmlns:a16="http://schemas.microsoft.com/office/drawing/2014/main" id="{91025B38-7409-233E-982B-486F72DA5E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68400" y="2570130"/>
            <a:ext cx="10058400" cy="2894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633936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5DF67-C8FE-F42C-C53A-DE6B1C0B4159}"/>
              </a:ext>
            </a:extLst>
          </p:cNvPr>
          <p:cNvSpPr>
            <a:spLocks noGrp="1"/>
          </p:cNvSpPr>
          <p:nvPr>
            <p:ph type="title"/>
          </p:nvPr>
        </p:nvSpPr>
        <p:spPr/>
        <p:txBody>
          <a:bodyPr>
            <a:normAutofit fontScale="90000"/>
          </a:bodyPr>
          <a:lstStyle/>
          <a:p>
            <a:r>
              <a:rPr lang="en-IN" dirty="0"/>
              <a:t>Key Features of </a:t>
            </a:r>
            <a:r>
              <a:rPr lang="en-IN" dirty="0" err="1"/>
              <a:t>GoogLeNet</a:t>
            </a:r>
            <a:endParaRPr lang="en-IN" dirty="0"/>
          </a:p>
        </p:txBody>
      </p:sp>
      <p:sp>
        <p:nvSpPr>
          <p:cNvPr id="3" name="Content Placeholder 2">
            <a:extLst>
              <a:ext uri="{FF2B5EF4-FFF2-40B4-BE49-F238E27FC236}">
                <a16:creationId xmlns:a16="http://schemas.microsoft.com/office/drawing/2014/main" id="{77E9B959-58C7-9AA3-A5D9-D71DF2DFDB09}"/>
              </a:ext>
            </a:extLst>
          </p:cNvPr>
          <p:cNvSpPr>
            <a:spLocks noGrp="1"/>
          </p:cNvSpPr>
          <p:nvPr>
            <p:ph idx="1"/>
          </p:nvPr>
        </p:nvSpPr>
        <p:spPr>
          <a:xfrm>
            <a:off x="883227" y="1267691"/>
            <a:ext cx="10343890" cy="4858579"/>
          </a:xfrm>
        </p:spPr>
        <p:txBody>
          <a:bodyPr>
            <a:normAutofit/>
          </a:bodyPr>
          <a:lstStyle/>
          <a:p>
            <a:pPr fontAlgn="base"/>
            <a:r>
              <a:rPr lang="en-US" dirty="0"/>
              <a:t>The </a:t>
            </a:r>
            <a:r>
              <a:rPr lang="en-US" dirty="0" err="1"/>
              <a:t>GoogLeNet</a:t>
            </a:r>
            <a:r>
              <a:rPr lang="en-US" dirty="0"/>
              <a:t> architecture is very different from previous architectures such as </a:t>
            </a:r>
            <a:r>
              <a:rPr lang="en-US" u="sng" dirty="0" err="1">
                <a:hlinkClick r:id="rId2"/>
              </a:rPr>
              <a:t>AlexNet</a:t>
            </a:r>
            <a:r>
              <a:rPr lang="en-US" dirty="0"/>
              <a:t> and ZF-Net. It uses many different kinds of methods such as:</a:t>
            </a:r>
          </a:p>
          <a:p>
            <a:pPr fontAlgn="base"/>
            <a:r>
              <a:rPr lang="en-US" b="1" dirty="0"/>
              <a:t>1. 1×1 Convolutions</a:t>
            </a:r>
          </a:p>
          <a:p>
            <a:pPr fontAlgn="base"/>
            <a:r>
              <a:rPr lang="en-US" dirty="0"/>
              <a:t>One of the core techniques employed in </a:t>
            </a:r>
            <a:r>
              <a:rPr lang="en-US" dirty="0" err="1"/>
              <a:t>GoogLeNet</a:t>
            </a:r>
            <a:r>
              <a:rPr lang="en-US" dirty="0"/>
              <a:t> is the use of 1×1 convolutions, primarily for </a:t>
            </a:r>
            <a:r>
              <a:rPr lang="en-US" u="sng" dirty="0">
                <a:hlinkClick r:id="rId3"/>
              </a:rPr>
              <a:t>dimensionality reduction</a:t>
            </a:r>
            <a:r>
              <a:rPr lang="en-US" dirty="0"/>
              <a:t>. These layers help decrease the number of trainable parameters while enabling deeper and more efficient architectures.</a:t>
            </a:r>
          </a:p>
          <a:p>
            <a:pPr fontAlgn="base"/>
            <a:r>
              <a:rPr lang="en-US" b="1" dirty="0"/>
              <a:t>Example Comparison:</a:t>
            </a:r>
            <a:endParaRPr lang="en-US" dirty="0"/>
          </a:p>
          <a:p>
            <a:pPr fontAlgn="base"/>
            <a:r>
              <a:rPr lang="en-US" b="1" dirty="0"/>
              <a:t>Without 1×1 Convolution:</a:t>
            </a:r>
            <a:r>
              <a:rPr lang="en-US" dirty="0"/>
              <a:t>(14×14×48)×(5×5×480)=112.9M operations</a:t>
            </a:r>
          </a:p>
          <a:p>
            <a:br>
              <a:rPr lang="en-US" dirty="0"/>
            </a:br>
            <a:endParaRPr lang="en-IN" dirty="0"/>
          </a:p>
        </p:txBody>
      </p:sp>
      <p:pic>
        <p:nvPicPr>
          <p:cNvPr id="24578" name="Picture 2">
            <a:extLst>
              <a:ext uri="{FF2B5EF4-FFF2-40B4-BE49-F238E27FC236}">
                <a16:creationId xmlns:a16="http://schemas.microsoft.com/office/drawing/2014/main" id="{E533BF8C-868E-9B05-46CE-317E34AB6B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9749" y="5052146"/>
            <a:ext cx="3152775" cy="1076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4115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1AD38-337B-7973-2F52-2EDE5D71B36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E40FC9A-285F-4D6E-7434-1587399CB48E}"/>
              </a:ext>
            </a:extLst>
          </p:cNvPr>
          <p:cNvSpPr>
            <a:spLocks noGrp="1"/>
          </p:cNvSpPr>
          <p:nvPr>
            <p:ph idx="1"/>
          </p:nvPr>
        </p:nvSpPr>
        <p:spPr>
          <a:xfrm>
            <a:off x="135082" y="1527464"/>
            <a:ext cx="11793682" cy="4759035"/>
          </a:xfrm>
        </p:spPr>
        <p:txBody>
          <a:bodyPr>
            <a:normAutofit fontScale="85000" lnSpcReduction="20000"/>
          </a:bodyPr>
          <a:lstStyle/>
          <a:p>
            <a:r>
              <a:rPr lang="en-US" b="1" dirty="0"/>
              <a:t>With 1×1 Convolution:</a:t>
            </a:r>
            <a:r>
              <a:rPr lang="en-US" dirty="0"/>
              <a:t>(14×14×16)×(1×1×480)+(14×14×48)×(5×5×16)=5.3M operations</a:t>
            </a:r>
          </a:p>
          <a:p>
            <a:endParaRPr lang="en-IN" dirty="0"/>
          </a:p>
          <a:p>
            <a:endParaRPr lang="en-IN" dirty="0"/>
          </a:p>
          <a:p>
            <a:endParaRPr lang="en-IN" dirty="0"/>
          </a:p>
          <a:p>
            <a:pPr fontAlgn="base"/>
            <a:r>
              <a:rPr lang="en-US" b="1" dirty="0"/>
              <a:t>2. Global Average Pooling</a:t>
            </a:r>
          </a:p>
          <a:p>
            <a:pPr fontAlgn="base"/>
            <a:r>
              <a:rPr lang="en-US" dirty="0"/>
              <a:t>In traditional architectures like </a:t>
            </a:r>
            <a:r>
              <a:rPr lang="en-US" dirty="0" err="1"/>
              <a:t>AlexNet</a:t>
            </a:r>
            <a:r>
              <a:rPr lang="en-US" dirty="0"/>
              <a:t>, fully connected layers at the end introduce a large number of parameters. </a:t>
            </a:r>
            <a:r>
              <a:rPr lang="en-US" dirty="0" err="1"/>
              <a:t>GoogLeNet</a:t>
            </a:r>
            <a:r>
              <a:rPr lang="en-US" dirty="0"/>
              <a:t> replaces these with Global Average Pooling, which computes the average of each feature map (e.g. converting 7×7 maps to 1×1), this significantly reduces the model’s parameter count and solves overfitting.</a:t>
            </a:r>
          </a:p>
          <a:p>
            <a:pPr fontAlgn="base"/>
            <a:r>
              <a:rPr lang="en-US" b="1" dirty="0"/>
              <a:t>Benefits:</a:t>
            </a:r>
            <a:endParaRPr lang="en-US" dirty="0"/>
          </a:p>
          <a:p>
            <a:pPr fontAlgn="base"/>
            <a:r>
              <a:rPr lang="en-US" dirty="0"/>
              <a:t>Zero additional trainable parameters</a:t>
            </a:r>
          </a:p>
          <a:p>
            <a:pPr fontAlgn="base"/>
            <a:r>
              <a:rPr lang="en-US" dirty="0"/>
              <a:t>Reduces overfitting</a:t>
            </a:r>
          </a:p>
          <a:p>
            <a:pPr fontAlgn="base"/>
            <a:r>
              <a:rPr lang="en-US" dirty="0"/>
              <a:t>Improves top-1 accuracy by approximately 0.6%</a:t>
            </a:r>
          </a:p>
          <a:p>
            <a:endParaRPr lang="en-IN" dirty="0"/>
          </a:p>
        </p:txBody>
      </p:sp>
      <p:pic>
        <p:nvPicPr>
          <p:cNvPr id="24580" name="Picture 4">
            <a:extLst>
              <a:ext uri="{FF2B5EF4-FFF2-40B4-BE49-F238E27FC236}">
                <a16:creationId xmlns:a16="http://schemas.microsoft.com/office/drawing/2014/main" id="{A279E91D-0439-35A4-EA5F-21E74DDC99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9156" y="1934874"/>
            <a:ext cx="5057775" cy="1076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83385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FD261-502C-DF62-448C-4831F70C1B0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6ACBFD3-C615-A1AC-2991-473FC9B4B99E}"/>
              </a:ext>
            </a:extLst>
          </p:cNvPr>
          <p:cNvSpPr>
            <a:spLocks noGrp="1"/>
          </p:cNvSpPr>
          <p:nvPr>
            <p:ph idx="1"/>
          </p:nvPr>
        </p:nvSpPr>
        <p:spPr>
          <a:xfrm>
            <a:off x="883227" y="1506682"/>
            <a:ext cx="10343890" cy="4619588"/>
          </a:xfrm>
        </p:spPr>
        <p:txBody>
          <a:bodyPr/>
          <a:lstStyle/>
          <a:p>
            <a:pPr fontAlgn="base"/>
            <a:r>
              <a:rPr lang="en-US" b="1" dirty="0"/>
              <a:t>3. Inception Module</a:t>
            </a:r>
          </a:p>
          <a:p>
            <a:pPr fontAlgn="base"/>
            <a:r>
              <a:rPr lang="en-US" dirty="0"/>
              <a:t>The Inception module is the architectural core of </a:t>
            </a:r>
            <a:r>
              <a:rPr lang="en-US" dirty="0" err="1"/>
              <a:t>GoogLeNet</a:t>
            </a:r>
            <a:r>
              <a:rPr lang="en-US" dirty="0"/>
              <a:t>. It processes the input using multiple types of operations </a:t>
            </a:r>
            <a:r>
              <a:rPr lang="en-US" b="1" dirty="0"/>
              <a:t>in </a:t>
            </a:r>
            <a:r>
              <a:rPr lang="en-US" dirty="0"/>
              <a:t>parallel, including 1×1, 3×3, 5×5 convolutions and 3×3 max pooling. The outputs from all paths are concatenated depth-wise.</a:t>
            </a:r>
          </a:p>
          <a:p>
            <a:pPr fontAlgn="base"/>
            <a:r>
              <a:rPr lang="en-US" b="1" dirty="0"/>
              <a:t>Purpose:</a:t>
            </a:r>
            <a:r>
              <a:rPr lang="en-US" dirty="0"/>
              <a:t> Enables the network to capture features at </a:t>
            </a:r>
            <a:r>
              <a:rPr lang="en-US" b="1" dirty="0"/>
              <a:t>multiple scales</a:t>
            </a:r>
            <a:r>
              <a:rPr lang="en-US" dirty="0"/>
              <a:t> effectively.</a:t>
            </a:r>
          </a:p>
          <a:p>
            <a:pPr fontAlgn="base"/>
            <a:r>
              <a:rPr lang="en-US" b="1" dirty="0"/>
              <a:t>Advantage:</a:t>
            </a:r>
            <a:r>
              <a:rPr lang="en-US" dirty="0"/>
              <a:t> Improves representational power without dramatically increasing computation.</a:t>
            </a:r>
          </a:p>
          <a:p>
            <a:endParaRPr lang="en-IN" dirty="0"/>
          </a:p>
        </p:txBody>
      </p:sp>
    </p:spTree>
    <p:extLst>
      <p:ext uri="{BB962C8B-B14F-4D97-AF65-F5344CB8AC3E}">
        <p14:creationId xmlns:p14="http://schemas.microsoft.com/office/powerpoint/2010/main" val="399168974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D5A04-796F-1B22-A8C5-8701255D271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85ED0FD-40AB-FFDC-0F7D-42AB941D7DE1}"/>
              </a:ext>
            </a:extLst>
          </p:cNvPr>
          <p:cNvSpPr>
            <a:spLocks noGrp="1"/>
          </p:cNvSpPr>
          <p:nvPr>
            <p:ph idx="1"/>
          </p:nvPr>
        </p:nvSpPr>
        <p:spPr/>
        <p:txBody>
          <a:bodyPr/>
          <a:lstStyle/>
          <a:p>
            <a:endParaRPr lang="en-IN" dirty="0"/>
          </a:p>
        </p:txBody>
      </p:sp>
      <p:pic>
        <p:nvPicPr>
          <p:cNvPr id="26626" name="Picture 2">
            <a:extLst>
              <a:ext uri="{FF2B5EF4-FFF2-40B4-BE49-F238E27FC236}">
                <a16:creationId xmlns:a16="http://schemas.microsoft.com/office/drawing/2014/main" id="{BB42F1FE-AAE9-A5C2-7B8D-EBFDD09F9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586" y="2235778"/>
            <a:ext cx="9904367" cy="3022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860340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7838B-B5AA-509A-D3C0-B31414D6260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38168CA-6D8A-D070-B38E-D3742AA4D8FC}"/>
              </a:ext>
            </a:extLst>
          </p:cNvPr>
          <p:cNvSpPr>
            <a:spLocks noGrp="1"/>
          </p:cNvSpPr>
          <p:nvPr>
            <p:ph idx="1"/>
          </p:nvPr>
        </p:nvSpPr>
        <p:spPr>
          <a:xfrm>
            <a:off x="1025842" y="1381991"/>
            <a:ext cx="10201275" cy="4744279"/>
          </a:xfrm>
        </p:spPr>
        <p:txBody>
          <a:bodyPr>
            <a:normAutofit fontScale="92500" lnSpcReduction="10000"/>
          </a:bodyPr>
          <a:lstStyle/>
          <a:p>
            <a:pPr fontAlgn="base"/>
            <a:r>
              <a:rPr lang="en-US" b="1" dirty="0"/>
              <a:t>4. Auxiliary Classifiers</a:t>
            </a:r>
          </a:p>
          <a:p>
            <a:pPr fontAlgn="base"/>
            <a:r>
              <a:rPr lang="en-US" dirty="0"/>
              <a:t>To address the </a:t>
            </a:r>
            <a:r>
              <a:rPr lang="en-US" dirty="0">
                <a:hlinkClick r:id="rId2">
                  <a:extLst>
                    <a:ext uri="{A12FA001-AC4F-418D-AE19-62706E023703}">
                      <ahyp:hlinkClr xmlns:ahyp="http://schemas.microsoft.com/office/drawing/2018/hyperlinkcolor" val="tx"/>
                    </a:ext>
                  </a:extLst>
                </a:hlinkClick>
              </a:rPr>
              <a:t>vanishing gradient</a:t>
            </a:r>
            <a:r>
              <a:rPr lang="en-US" dirty="0"/>
              <a:t> problem during training, </a:t>
            </a:r>
            <a:r>
              <a:rPr lang="en-US" dirty="0" err="1"/>
              <a:t>GoogLeNet</a:t>
            </a:r>
            <a:r>
              <a:rPr lang="en-US" dirty="0"/>
              <a:t> introduces auxiliary classifiers(intermediate branches that act as smaller classifiers). These are active only during training and help regularize the network.</a:t>
            </a:r>
          </a:p>
          <a:p>
            <a:pPr fontAlgn="base"/>
            <a:r>
              <a:rPr lang="en-US" b="1" dirty="0"/>
              <a:t>Structure of Each Auxiliary Classifier:</a:t>
            </a:r>
            <a:endParaRPr lang="en-US" dirty="0"/>
          </a:p>
          <a:p>
            <a:pPr fontAlgn="base"/>
            <a:r>
              <a:rPr lang="en-US" dirty="0"/>
              <a:t>Average pooling layer (5×5, stride 3)</a:t>
            </a:r>
          </a:p>
          <a:p>
            <a:pPr fontAlgn="base"/>
            <a:r>
              <a:rPr lang="en-US" dirty="0"/>
              <a:t>1×1 convolution (128 filters, </a:t>
            </a:r>
            <a:r>
              <a:rPr lang="en-US" dirty="0" err="1"/>
              <a:t>ReLU</a:t>
            </a:r>
            <a:r>
              <a:rPr lang="en-US" dirty="0"/>
              <a:t>)</a:t>
            </a:r>
          </a:p>
          <a:p>
            <a:pPr fontAlgn="base"/>
            <a:r>
              <a:rPr lang="en-US" dirty="0"/>
              <a:t>Fully connected layer (1024 units, </a:t>
            </a:r>
            <a:r>
              <a:rPr lang="en-US" dirty="0" err="1"/>
              <a:t>ReLU</a:t>
            </a:r>
            <a:r>
              <a:rPr lang="en-US" dirty="0"/>
              <a:t>)</a:t>
            </a:r>
          </a:p>
          <a:p>
            <a:pPr fontAlgn="base"/>
            <a:r>
              <a:rPr lang="en-US" dirty="0"/>
              <a:t>Dropout layer (dropout rate = 0.7)</a:t>
            </a:r>
          </a:p>
          <a:p>
            <a:pPr fontAlgn="base"/>
            <a:r>
              <a:rPr lang="en-US" dirty="0"/>
              <a:t>Fully connected </a:t>
            </a:r>
            <a:r>
              <a:rPr lang="en-US" dirty="0" err="1"/>
              <a:t>softmax</a:t>
            </a:r>
            <a:r>
              <a:rPr lang="en-US" dirty="0"/>
              <a:t> layer (1000 classes)</a:t>
            </a:r>
          </a:p>
          <a:p>
            <a:pPr fontAlgn="base"/>
            <a:r>
              <a:rPr lang="en-US" dirty="0"/>
              <a:t>The auxiliary losses are added to the main loss with a weight of </a:t>
            </a:r>
            <a:r>
              <a:rPr lang="en-US" b="1" dirty="0"/>
              <a:t>0.3</a:t>
            </a:r>
            <a:r>
              <a:rPr lang="en-US" dirty="0"/>
              <a:t> to stabilize training.</a:t>
            </a:r>
          </a:p>
        </p:txBody>
      </p:sp>
    </p:spTree>
    <p:extLst>
      <p:ext uri="{BB962C8B-B14F-4D97-AF65-F5344CB8AC3E}">
        <p14:creationId xmlns:p14="http://schemas.microsoft.com/office/powerpoint/2010/main" val="353607650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1ADD6-C5E5-867A-1818-78DD5A272AE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8A0FB3A-B9D3-4C5C-A20B-743C02A5E1A1}"/>
              </a:ext>
            </a:extLst>
          </p:cNvPr>
          <p:cNvSpPr>
            <a:spLocks noGrp="1"/>
          </p:cNvSpPr>
          <p:nvPr>
            <p:ph idx="1"/>
          </p:nvPr>
        </p:nvSpPr>
        <p:spPr>
          <a:xfrm>
            <a:off x="924791" y="1361209"/>
            <a:ext cx="10302326" cy="4765061"/>
          </a:xfrm>
        </p:spPr>
        <p:txBody>
          <a:bodyPr/>
          <a:lstStyle/>
          <a:p>
            <a:pPr algn="just" fontAlgn="base"/>
            <a:r>
              <a:rPr lang="en-US" b="1" dirty="0"/>
              <a:t>5. Model Architecture</a:t>
            </a:r>
          </a:p>
          <a:p>
            <a:pPr algn="just" fontAlgn="base"/>
            <a:r>
              <a:rPr lang="en-US" dirty="0" err="1"/>
              <a:t>GoogLeNet</a:t>
            </a:r>
            <a:r>
              <a:rPr lang="en-US" dirty="0"/>
              <a:t> is a </a:t>
            </a:r>
            <a:r>
              <a:rPr lang="en-US" b="1" dirty="0"/>
              <a:t>22-layer deep network</a:t>
            </a:r>
            <a:r>
              <a:rPr lang="en-US" dirty="0"/>
              <a:t> (excluding pooling layers) that emphasizes computational efficiency, making it feasible to run even on hardware with limited resources.</a:t>
            </a:r>
          </a:p>
          <a:p>
            <a:pPr algn="just" fontAlgn="base"/>
            <a:r>
              <a:rPr lang="en-US" dirty="0"/>
              <a:t> Below is Layer by Layer architectural details of </a:t>
            </a:r>
            <a:r>
              <a:rPr lang="en-US" dirty="0" err="1"/>
              <a:t>GoogLeNet</a:t>
            </a:r>
            <a:r>
              <a:rPr lang="en-US" dirty="0"/>
              <a:t>.</a:t>
            </a:r>
          </a:p>
          <a:p>
            <a:pPr algn="just"/>
            <a:endParaRPr lang="en-IN" dirty="0"/>
          </a:p>
        </p:txBody>
      </p:sp>
    </p:spTree>
    <p:extLst>
      <p:ext uri="{BB962C8B-B14F-4D97-AF65-F5344CB8AC3E}">
        <p14:creationId xmlns:p14="http://schemas.microsoft.com/office/powerpoint/2010/main" val="395539191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53C14-1989-2DB5-5864-7A458E91A70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449A0FD-800B-0CDD-2B3D-5B767A29769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E7F7EB1-9D3C-EB81-7243-994A9F4A18B6}"/>
              </a:ext>
            </a:extLst>
          </p:cNvPr>
          <p:cNvPicPr>
            <a:picLocks noChangeAspect="1"/>
          </p:cNvPicPr>
          <p:nvPr/>
        </p:nvPicPr>
        <p:blipFill>
          <a:blip r:embed="rId2"/>
          <a:stretch>
            <a:fillRect/>
          </a:stretch>
        </p:blipFill>
        <p:spPr>
          <a:xfrm>
            <a:off x="1025843" y="842951"/>
            <a:ext cx="10058399" cy="5283319"/>
          </a:xfrm>
          <a:prstGeom prst="rect">
            <a:avLst/>
          </a:prstGeom>
        </p:spPr>
      </p:pic>
    </p:spTree>
    <p:extLst>
      <p:ext uri="{BB962C8B-B14F-4D97-AF65-F5344CB8AC3E}">
        <p14:creationId xmlns:p14="http://schemas.microsoft.com/office/powerpoint/2010/main" val="81556839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DB96-D40A-4FC2-B233-5C1AF10D138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AE8EE0E-58FA-4E42-F311-E3E644E95443}"/>
              </a:ext>
            </a:extLst>
          </p:cNvPr>
          <p:cNvSpPr>
            <a:spLocks noGrp="1"/>
          </p:cNvSpPr>
          <p:nvPr>
            <p:ph idx="1"/>
          </p:nvPr>
        </p:nvSpPr>
        <p:spPr>
          <a:xfrm>
            <a:off x="914400" y="1309255"/>
            <a:ext cx="10312717" cy="4817015"/>
          </a:xfrm>
        </p:spPr>
        <p:txBody>
          <a:bodyPr/>
          <a:lstStyle/>
          <a:p>
            <a:r>
              <a:rPr lang="en-US" dirty="0"/>
              <a:t>The architecture also contains two auxiliary classifier layer connected to the output of Inception (4a) and Inception (4d) layers.</a:t>
            </a:r>
            <a:endParaRPr lang="en-IN" dirty="0"/>
          </a:p>
        </p:txBody>
      </p:sp>
    </p:spTree>
    <p:extLst>
      <p:ext uri="{BB962C8B-B14F-4D97-AF65-F5344CB8AC3E}">
        <p14:creationId xmlns:p14="http://schemas.microsoft.com/office/powerpoint/2010/main" val="170093107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DF290-AC4F-B00F-AED8-5BD8A33B9F8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DE29323-BC51-5B01-624C-27222B41C23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F32E5CD-F29A-0622-0C42-F6370A87D877}"/>
              </a:ext>
            </a:extLst>
          </p:cNvPr>
          <p:cNvPicPr>
            <a:picLocks noChangeAspect="1"/>
          </p:cNvPicPr>
          <p:nvPr/>
        </p:nvPicPr>
        <p:blipFill>
          <a:blip r:embed="rId2"/>
          <a:stretch>
            <a:fillRect/>
          </a:stretch>
        </p:blipFill>
        <p:spPr>
          <a:xfrm>
            <a:off x="1782473" y="1908666"/>
            <a:ext cx="7629525" cy="3819525"/>
          </a:xfrm>
          <a:prstGeom prst="rect">
            <a:avLst/>
          </a:prstGeom>
        </p:spPr>
      </p:pic>
    </p:spTree>
    <p:extLst>
      <p:ext uri="{BB962C8B-B14F-4D97-AF65-F5344CB8AC3E}">
        <p14:creationId xmlns:p14="http://schemas.microsoft.com/office/powerpoint/2010/main" val="21522526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B015D-6A40-10A6-1B70-93F6C59D26F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3D9E338-EADC-B1BF-DFBC-84D3E66ACAA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4A826D5-E891-E364-6876-87E8403CE3B1}"/>
              </a:ext>
            </a:extLst>
          </p:cNvPr>
          <p:cNvPicPr>
            <a:picLocks noChangeAspect="1"/>
          </p:cNvPicPr>
          <p:nvPr/>
        </p:nvPicPr>
        <p:blipFill>
          <a:blip r:embed="rId2"/>
          <a:stretch>
            <a:fillRect/>
          </a:stretch>
        </p:blipFill>
        <p:spPr>
          <a:xfrm>
            <a:off x="2281237" y="1519237"/>
            <a:ext cx="7629525" cy="3819525"/>
          </a:xfrm>
          <a:prstGeom prst="rect">
            <a:avLst/>
          </a:prstGeom>
        </p:spPr>
      </p:pic>
    </p:spTree>
    <p:extLst>
      <p:ext uri="{BB962C8B-B14F-4D97-AF65-F5344CB8AC3E}">
        <p14:creationId xmlns:p14="http://schemas.microsoft.com/office/powerpoint/2010/main" val="273059746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9DADF-BD78-2E92-B420-3D1D225A9B2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95E0D95-1B38-EF6B-10B4-A69DBD2C41A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8EF3F72-3FAF-C827-B020-79E3E17B0DA4}"/>
              </a:ext>
            </a:extLst>
          </p:cNvPr>
          <p:cNvPicPr>
            <a:picLocks noChangeAspect="1"/>
          </p:cNvPicPr>
          <p:nvPr/>
        </p:nvPicPr>
        <p:blipFill>
          <a:blip r:embed="rId2"/>
          <a:stretch>
            <a:fillRect/>
          </a:stretch>
        </p:blipFill>
        <p:spPr>
          <a:xfrm>
            <a:off x="2281237" y="1519237"/>
            <a:ext cx="7629525" cy="3819525"/>
          </a:xfrm>
          <a:prstGeom prst="rect">
            <a:avLst/>
          </a:prstGeom>
        </p:spPr>
      </p:pic>
    </p:spTree>
    <p:extLst>
      <p:ext uri="{BB962C8B-B14F-4D97-AF65-F5344CB8AC3E}">
        <p14:creationId xmlns:p14="http://schemas.microsoft.com/office/powerpoint/2010/main" val="55422813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C4D74-E919-84B6-ECCC-465C3F105E2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A68E973-9210-62BC-A7A1-65F2883CFBB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24A94C6-3DF6-EE1B-50C7-709FAF6DD0E4}"/>
              </a:ext>
            </a:extLst>
          </p:cNvPr>
          <p:cNvPicPr>
            <a:picLocks noChangeAspect="1"/>
          </p:cNvPicPr>
          <p:nvPr/>
        </p:nvPicPr>
        <p:blipFill>
          <a:blip r:embed="rId2"/>
          <a:stretch>
            <a:fillRect/>
          </a:stretch>
        </p:blipFill>
        <p:spPr>
          <a:xfrm>
            <a:off x="2240279" y="1519237"/>
            <a:ext cx="7629525" cy="3819525"/>
          </a:xfrm>
          <a:prstGeom prst="rect">
            <a:avLst/>
          </a:prstGeom>
        </p:spPr>
      </p:pic>
    </p:spTree>
    <p:extLst>
      <p:ext uri="{BB962C8B-B14F-4D97-AF65-F5344CB8AC3E}">
        <p14:creationId xmlns:p14="http://schemas.microsoft.com/office/powerpoint/2010/main" val="314540631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1A96C-05B4-8085-A825-5DCAEDEE295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522D124-01EA-D3A0-04C9-A531CC11CF8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A831AF4-F3A8-B1B3-DC7B-0E82CDB91E32}"/>
              </a:ext>
            </a:extLst>
          </p:cNvPr>
          <p:cNvPicPr>
            <a:picLocks noChangeAspect="1"/>
          </p:cNvPicPr>
          <p:nvPr/>
        </p:nvPicPr>
        <p:blipFill>
          <a:blip r:embed="rId2"/>
          <a:stretch>
            <a:fillRect/>
          </a:stretch>
        </p:blipFill>
        <p:spPr>
          <a:xfrm>
            <a:off x="2281237" y="1519237"/>
            <a:ext cx="7629525" cy="3819525"/>
          </a:xfrm>
          <a:prstGeom prst="rect">
            <a:avLst/>
          </a:prstGeom>
        </p:spPr>
      </p:pic>
    </p:spTree>
    <p:extLst>
      <p:ext uri="{BB962C8B-B14F-4D97-AF65-F5344CB8AC3E}">
        <p14:creationId xmlns:p14="http://schemas.microsoft.com/office/powerpoint/2010/main" val="283998935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AAD14-0604-5ED4-AC14-DC0BCB9ECA8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A75EF24-411B-0F43-0E51-062D4AB8DFD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B1A3011-F077-FBB0-7548-8EAE186D3DF8}"/>
              </a:ext>
            </a:extLst>
          </p:cNvPr>
          <p:cNvPicPr>
            <a:picLocks noChangeAspect="1"/>
          </p:cNvPicPr>
          <p:nvPr/>
        </p:nvPicPr>
        <p:blipFill>
          <a:blip r:embed="rId2"/>
          <a:stretch>
            <a:fillRect/>
          </a:stretch>
        </p:blipFill>
        <p:spPr>
          <a:xfrm>
            <a:off x="2281237" y="1519237"/>
            <a:ext cx="7629525" cy="3819525"/>
          </a:xfrm>
          <a:prstGeom prst="rect">
            <a:avLst/>
          </a:prstGeom>
        </p:spPr>
      </p:pic>
    </p:spTree>
    <p:extLst>
      <p:ext uri="{BB962C8B-B14F-4D97-AF65-F5344CB8AC3E}">
        <p14:creationId xmlns:p14="http://schemas.microsoft.com/office/powerpoint/2010/main" val="410264099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EEB1E-7C94-A4FF-6F94-AA33C4271CC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AAFACB4-994B-0CD4-36CA-1C863C1CFCA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D286505-623A-5777-B56C-B15D16BFE1BB}"/>
              </a:ext>
            </a:extLst>
          </p:cNvPr>
          <p:cNvPicPr>
            <a:picLocks noChangeAspect="1"/>
          </p:cNvPicPr>
          <p:nvPr/>
        </p:nvPicPr>
        <p:blipFill>
          <a:blip r:embed="rId2"/>
          <a:stretch>
            <a:fillRect/>
          </a:stretch>
        </p:blipFill>
        <p:spPr>
          <a:xfrm>
            <a:off x="2281237" y="1519237"/>
            <a:ext cx="7629525" cy="3819525"/>
          </a:xfrm>
          <a:prstGeom prst="rect">
            <a:avLst/>
          </a:prstGeom>
        </p:spPr>
      </p:pic>
    </p:spTree>
    <p:extLst>
      <p:ext uri="{BB962C8B-B14F-4D97-AF65-F5344CB8AC3E}">
        <p14:creationId xmlns:p14="http://schemas.microsoft.com/office/powerpoint/2010/main" val="90633727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E3A3C-1F75-A241-A8FF-EFB8BD857D8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152437A-363D-EB8F-0F60-B825A37062C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ED3A135-4388-7F23-F18E-1271099118B5}"/>
              </a:ext>
            </a:extLst>
          </p:cNvPr>
          <p:cNvPicPr>
            <a:picLocks noChangeAspect="1"/>
          </p:cNvPicPr>
          <p:nvPr/>
        </p:nvPicPr>
        <p:blipFill>
          <a:blip r:embed="rId2"/>
          <a:stretch>
            <a:fillRect/>
          </a:stretch>
        </p:blipFill>
        <p:spPr>
          <a:xfrm>
            <a:off x="2281237" y="1524000"/>
            <a:ext cx="7629525" cy="3810000"/>
          </a:xfrm>
          <a:prstGeom prst="rect">
            <a:avLst/>
          </a:prstGeom>
        </p:spPr>
      </p:pic>
    </p:spTree>
    <p:extLst>
      <p:ext uri="{BB962C8B-B14F-4D97-AF65-F5344CB8AC3E}">
        <p14:creationId xmlns:p14="http://schemas.microsoft.com/office/powerpoint/2010/main" val="49870357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F752-4D93-0D37-F236-C39BA5251939}"/>
              </a:ext>
            </a:extLst>
          </p:cNvPr>
          <p:cNvSpPr>
            <a:spLocks noGrp="1"/>
          </p:cNvSpPr>
          <p:nvPr>
            <p:ph type="title"/>
          </p:nvPr>
        </p:nvSpPr>
        <p:spPr/>
        <p:txBody>
          <a:bodyPr>
            <a:normAutofit fontScale="90000"/>
          </a:bodyPr>
          <a:lstStyle/>
          <a:p>
            <a:r>
              <a:rPr lang="en-US" dirty="0"/>
              <a:t>Key highlights of the architecture:</a:t>
            </a:r>
            <a:endParaRPr lang="en-IN" dirty="0"/>
          </a:p>
        </p:txBody>
      </p:sp>
      <p:sp>
        <p:nvSpPr>
          <p:cNvPr id="3" name="Content Placeholder 2">
            <a:extLst>
              <a:ext uri="{FF2B5EF4-FFF2-40B4-BE49-F238E27FC236}">
                <a16:creationId xmlns:a16="http://schemas.microsoft.com/office/drawing/2014/main" id="{2DF38B4D-949C-2B53-55D6-3CE11A2EA68A}"/>
              </a:ext>
            </a:extLst>
          </p:cNvPr>
          <p:cNvSpPr>
            <a:spLocks noGrp="1"/>
          </p:cNvSpPr>
          <p:nvPr>
            <p:ph idx="1"/>
          </p:nvPr>
        </p:nvSpPr>
        <p:spPr>
          <a:xfrm>
            <a:off x="852055" y="1350818"/>
            <a:ext cx="10375062" cy="4775452"/>
          </a:xfrm>
        </p:spPr>
        <p:txBody>
          <a:bodyPr>
            <a:normAutofit fontScale="92500" lnSpcReduction="20000"/>
          </a:bodyPr>
          <a:lstStyle/>
          <a:p>
            <a:pPr fontAlgn="base"/>
            <a:r>
              <a:rPr lang="en-US" b="1" dirty="0"/>
              <a:t>Input Layer</a:t>
            </a:r>
            <a:r>
              <a:rPr lang="en-US" dirty="0"/>
              <a:t>: Accepts a 224×224 RGB image as input.</a:t>
            </a:r>
          </a:p>
          <a:p>
            <a:pPr fontAlgn="base"/>
            <a:r>
              <a:rPr lang="en-US" b="1" dirty="0"/>
              <a:t>Initial Convolutions and Pooling</a:t>
            </a:r>
            <a:r>
              <a:rPr lang="en-US" dirty="0"/>
              <a:t>: Applies a series of standard convolutional and max pooling layers to </a:t>
            </a:r>
            <a:r>
              <a:rPr lang="en-US" dirty="0" err="1"/>
              <a:t>downsample</a:t>
            </a:r>
            <a:r>
              <a:rPr lang="en-US" dirty="0"/>
              <a:t> the input and extract low-level features.</a:t>
            </a:r>
          </a:p>
          <a:p>
            <a:pPr fontAlgn="base"/>
            <a:r>
              <a:rPr lang="en-US" b="1" dirty="0"/>
              <a:t>Local Response Normalization (LRN)</a:t>
            </a:r>
            <a:r>
              <a:rPr lang="en-US" dirty="0"/>
              <a:t>: Normalizes the feature maps early in the network to improve generalization.</a:t>
            </a:r>
          </a:p>
          <a:p>
            <a:pPr fontAlgn="base"/>
            <a:r>
              <a:rPr lang="en-US" b="1" dirty="0"/>
              <a:t>Inception Modules</a:t>
            </a:r>
            <a:r>
              <a:rPr lang="en-US" dirty="0"/>
              <a:t>: Each module processes the input through 1×1, 3×3, and 5×5 convolutions, as well as 3×3 max pooling, all in parallel. The outputs are concatenated along the depth dimension, allowing the network to capture both fine and coarse features.</a:t>
            </a:r>
          </a:p>
          <a:p>
            <a:pPr fontAlgn="base"/>
            <a:r>
              <a:rPr lang="en-US" b="1" dirty="0"/>
              <a:t>Auxiliary Classifiers</a:t>
            </a:r>
            <a:r>
              <a:rPr lang="en-US" dirty="0"/>
              <a:t>: Appear as smaller branches connected to intermediate layers of the network. Include average pooling, 1×1 convolutions, fully connected layers, and </a:t>
            </a:r>
            <a:r>
              <a:rPr lang="en-US" dirty="0" err="1"/>
              <a:t>softmax</a:t>
            </a:r>
            <a:r>
              <a:rPr lang="en-US" dirty="0"/>
              <a:t> outputs.</a:t>
            </a:r>
          </a:p>
          <a:p>
            <a:pPr fontAlgn="base"/>
            <a:r>
              <a:rPr lang="en-US" b="1" dirty="0"/>
              <a:t>Final Layers</a:t>
            </a:r>
            <a:r>
              <a:rPr lang="en-US" dirty="0"/>
              <a:t>: Uses global average pooling (7×7) to reduce each feature map to a single value. Followed by a fully connected layer and a </a:t>
            </a:r>
            <a:r>
              <a:rPr lang="en-US" dirty="0" err="1"/>
              <a:t>softmax</a:t>
            </a:r>
            <a:r>
              <a:rPr lang="en-US" dirty="0"/>
              <a:t> activation to produce the final classification output.</a:t>
            </a:r>
          </a:p>
          <a:p>
            <a:endParaRPr lang="en-IN" dirty="0"/>
          </a:p>
        </p:txBody>
      </p:sp>
    </p:spTree>
    <p:extLst>
      <p:ext uri="{BB962C8B-B14F-4D97-AF65-F5344CB8AC3E}">
        <p14:creationId xmlns:p14="http://schemas.microsoft.com/office/powerpoint/2010/main" val="87474643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32730-7FE3-7DE6-0F08-A017614DEBB4}"/>
              </a:ext>
            </a:extLst>
          </p:cNvPr>
          <p:cNvSpPr>
            <a:spLocks noGrp="1"/>
          </p:cNvSpPr>
          <p:nvPr>
            <p:ph type="title"/>
          </p:nvPr>
        </p:nvSpPr>
        <p:spPr/>
        <p:txBody>
          <a:bodyPr>
            <a:normAutofit fontScale="90000"/>
          </a:bodyPr>
          <a:lstStyle/>
          <a:p>
            <a:r>
              <a:rPr lang="en-IN" dirty="0" err="1"/>
              <a:t>DenseNet</a:t>
            </a:r>
            <a:endParaRPr lang="en-IN" dirty="0"/>
          </a:p>
        </p:txBody>
      </p:sp>
      <p:sp>
        <p:nvSpPr>
          <p:cNvPr id="3" name="Content Placeholder 2">
            <a:extLst>
              <a:ext uri="{FF2B5EF4-FFF2-40B4-BE49-F238E27FC236}">
                <a16:creationId xmlns:a16="http://schemas.microsoft.com/office/drawing/2014/main" id="{D6C55595-4CFC-3796-C4F7-0DDBA6EB7FE1}"/>
              </a:ext>
            </a:extLst>
          </p:cNvPr>
          <p:cNvSpPr>
            <a:spLocks noGrp="1"/>
          </p:cNvSpPr>
          <p:nvPr>
            <p:ph idx="1"/>
          </p:nvPr>
        </p:nvSpPr>
        <p:spPr/>
        <p:txBody>
          <a:bodyPr/>
          <a:lstStyle/>
          <a:p>
            <a:r>
              <a:rPr lang="en-US" dirty="0"/>
              <a:t>Convolutional neural networks (CNNs) have been at the forefront of visual object recognition. </a:t>
            </a:r>
          </a:p>
          <a:p>
            <a:r>
              <a:rPr lang="en-US" dirty="0"/>
              <a:t>From the pioneering LeNet to the widely used VGG and </a:t>
            </a:r>
            <a:r>
              <a:rPr lang="en-US" dirty="0" err="1"/>
              <a:t>ResNets</a:t>
            </a:r>
            <a:r>
              <a:rPr lang="en-US" dirty="0"/>
              <a:t>, the quest for deeper and more efficient networks continues. </a:t>
            </a:r>
          </a:p>
          <a:p>
            <a:r>
              <a:rPr lang="en-US" dirty="0"/>
              <a:t>A significant breakthrough in this evolution is the Densely Connected Convolutional Network, or </a:t>
            </a:r>
            <a:r>
              <a:rPr lang="en-US" dirty="0" err="1"/>
              <a:t>DenseNet</a:t>
            </a:r>
            <a:r>
              <a:rPr lang="en-US" dirty="0"/>
              <a:t>, introduced by Gao Huang, Zhuang Liu, Laurens van der </a:t>
            </a:r>
            <a:r>
              <a:rPr lang="en-US" dirty="0" err="1"/>
              <a:t>Maaten</a:t>
            </a:r>
            <a:r>
              <a:rPr lang="en-US" dirty="0"/>
              <a:t>, and Kilian Q. Weinberger. </a:t>
            </a:r>
          </a:p>
          <a:p>
            <a:r>
              <a:rPr lang="en-US" dirty="0" err="1"/>
              <a:t>DenseNet's</a:t>
            </a:r>
            <a:r>
              <a:rPr lang="en-US" dirty="0"/>
              <a:t> novel architecture improves </a:t>
            </a:r>
            <a:r>
              <a:rPr lang="en-US" b="1" dirty="0"/>
              <a:t>information flow and gradient propagation</a:t>
            </a:r>
            <a:r>
              <a:rPr lang="en-US" dirty="0"/>
              <a:t>, offering numerous advantages over traditional CNNs and </a:t>
            </a:r>
            <a:r>
              <a:rPr lang="en-US" dirty="0" err="1"/>
              <a:t>ResNets</a:t>
            </a:r>
            <a:r>
              <a:rPr lang="en-US" dirty="0"/>
              <a:t>.</a:t>
            </a:r>
            <a:endParaRPr lang="en-IN" dirty="0"/>
          </a:p>
        </p:txBody>
      </p:sp>
    </p:spTree>
    <p:extLst>
      <p:ext uri="{BB962C8B-B14F-4D97-AF65-F5344CB8AC3E}">
        <p14:creationId xmlns:p14="http://schemas.microsoft.com/office/powerpoint/2010/main" val="283125916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E08F9-5DCB-4268-391A-2C53E2FBE1A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42A0769-B5E7-8CEE-BEDE-ABA922E4A23A}"/>
              </a:ext>
            </a:extLst>
          </p:cNvPr>
          <p:cNvSpPr>
            <a:spLocks noGrp="1"/>
          </p:cNvSpPr>
          <p:nvPr>
            <p:ph idx="1"/>
          </p:nvPr>
        </p:nvSpPr>
        <p:spPr>
          <a:xfrm>
            <a:off x="1025842" y="1319645"/>
            <a:ext cx="10201275" cy="4806625"/>
          </a:xfrm>
        </p:spPr>
        <p:txBody>
          <a:bodyPr>
            <a:normAutofit lnSpcReduction="10000"/>
          </a:bodyPr>
          <a:lstStyle/>
          <a:p>
            <a:r>
              <a:rPr lang="en-US" dirty="0" err="1"/>
              <a:t>DenseNet</a:t>
            </a:r>
            <a:r>
              <a:rPr lang="en-US" dirty="0"/>
              <a:t>, short for Dense Convolutional Network, is a deep learning architecture for convolutional neural networks (CNNs) introduced by Gao Huang, Zhuang Liu, Laurens van der </a:t>
            </a:r>
            <a:r>
              <a:rPr lang="en-US" dirty="0" err="1"/>
              <a:t>Maaten</a:t>
            </a:r>
            <a:r>
              <a:rPr lang="en-US" dirty="0"/>
              <a:t>, and Kilian Q. Weinberger in their paper titled </a:t>
            </a:r>
            <a:r>
              <a:rPr lang="en-US" b="1" dirty="0"/>
              <a:t>"Densely Connected Convolutional Networks" published in 2017. </a:t>
            </a:r>
          </a:p>
          <a:p>
            <a:r>
              <a:rPr lang="en-US" dirty="0" err="1"/>
              <a:t>DenseNet</a:t>
            </a:r>
            <a:r>
              <a:rPr lang="en-US" dirty="0"/>
              <a:t> revolutionized the field of computer vision by proposing a novel connectivity pattern within CNNs, addressing challenges such as </a:t>
            </a:r>
            <a:r>
              <a:rPr lang="en-US" b="1" dirty="0"/>
              <a:t>feature reuse, vanishing gradients, and parameter efficiency. </a:t>
            </a:r>
          </a:p>
          <a:p>
            <a:r>
              <a:rPr lang="en-US" dirty="0"/>
              <a:t>Unlike traditional CNN architectures where each layer is connected only to subsequent layers, </a:t>
            </a:r>
            <a:r>
              <a:rPr lang="en-US" dirty="0" err="1"/>
              <a:t>DenseNet</a:t>
            </a:r>
            <a:r>
              <a:rPr lang="en-US" dirty="0"/>
              <a:t> establishes </a:t>
            </a:r>
            <a:r>
              <a:rPr lang="en-US" b="1" dirty="0"/>
              <a:t>direct connections between all layers within a block</a:t>
            </a:r>
            <a:r>
              <a:rPr lang="en-US" dirty="0"/>
              <a:t>. </a:t>
            </a:r>
          </a:p>
          <a:p>
            <a:r>
              <a:rPr lang="en-US" dirty="0"/>
              <a:t>This dense connectivity enables each layer to </a:t>
            </a:r>
            <a:r>
              <a:rPr lang="en-US" b="1" dirty="0"/>
              <a:t>receive feature maps from all preceding layers as inputs,</a:t>
            </a:r>
            <a:r>
              <a:rPr lang="en-US" dirty="0"/>
              <a:t> fostering extensive information flow throughout the network.</a:t>
            </a:r>
            <a:endParaRPr lang="en-IN" dirty="0"/>
          </a:p>
        </p:txBody>
      </p:sp>
    </p:spTree>
    <p:extLst>
      <p:ext uri="{BB962C8B-B14F-4D97-AF65-F5344CB8AC3E}">
        <p14:creationId xmlns:p14="http://schemas.microsoft.com/office/powerpoint/2010/main" val="213715700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53D88-C392-E90D-C319-3061A12295E2}"/>
              </a:ext>
            </a:extLst>
          </p:cNvPr>
          <p:cNvSpPr>
            <a:spLocks noGrp="1"/>
          </p:cNvSpPr>
          <p:nvPr>
            <p:ph type="title"/>
          </p:nvPr>
        </p:nvSpPr>
        <p:spPr/>
        <p:txBody>
          <a:bodyPr>
            <a:normAutofit fontScale="90000"/>
          </a:bodyPr>
          <a:lstStyle/>
          <a:p>
            <a:r>
              <a:rPr lang="en-US" dirty="0"/>
              <a:t>Key Characteristics of </a:t>
            </a:r>
            <a:r>
              <a:rPr lang="en-US" dirty="0" err="1"/>
              <a:t>DenseNet</a:t>
            </a:r>
            <a:endParaRPr lang="en-IN" dirty="0"/>
          </a:p>
        </p:txBody>
      </p:sp>
      <p:sp>
        <p:nvSpPr>
          <p:cNvPr id="3" name="Content Placeholder 2">
            <a:extLst>
              <a:ext uri="{FF2B5EF4-FFF2-40B4-BE49-F238E27FC236}">
                <a16:creationId xmlns:a16="http://schemas.microsoft.com/office/drawing/2014/main" id="{859F43FA-B714-1C60-106A-AD1457E98271}"/>
              </a:ext>
            </a:extLst>
          </p:cNvPr>
          <p:cNvSpPr>
            <a:spLocks noGrp="1"/>
          </p:cNvSpPr>
          <p:nvPr>
            <p:ph idx="1"/>
          </p:nvPr>
        </p:nvSpPr>
        <p:spPr/>
        <p:txBody>
          <a:bodyPr>
            <a:normAutofit lnSpcReduction="10000"/>
          </a:bodyPr>
          <a:lstStyle/>
          <a:p>
            <a:pPr fontAlgn="base"/>
            <a:r>
              <a:rPr lang="en-US" b="1" dirty="0"/>
              <a:t>Alleviated Vanishing Gradient Problem</a:t>
            </a:r>
            <a:r>
              <a:rPr lang="en-US" dirty="0"/>
              <a:t>: Dense connections ensure that gradients can flow directly to earlier layers, mitigating the vanishing gradient issue common in deep networks.</a:t>
            </a:r>
          </a:p>
          <a:p>
            <a:pPr fontAlgn="base"/>
            <a:r>
              <a:rPr lang="en-US" b="1" dirty="0"/>
              <a:t>Improved Feature Propagation</a:t>
            </a:r>
            <a:r>
              <a:rPr lang="en-US" dirty="0"/>
              <a:t>: Each layer has direct access to the gradients from the loss function and the original input signal, promoting better feature propagation.</a:t>
            </a:r>
          </a:p>
          <a:p>
            <a:pPr fontAlgn="base"/>
            <a:r>
              <a:rPr lang="en-US" b="1" dirty="0"/>
              <a:t>Feature Reuse</a:t>
            </a:r>
            <a:r>
              <a:rPr lang="en-US" dirty="0"/>
              <a:t>: By concatenating features from all preceding layers, </a:t>
            </a:r>
            <a:r>
              <a:rPr lang="en-US" dirty="0" err="1"/>
              <a:t>DenseNet</a:t>
            </a:r>
            <a:r>
              <a:rPr lang="en-US" dirty="0"/>
              <a:t> encourages feature reuse, reducing redundancy and improving efficiency.</a:t>
            </a:r>
          </a:p>
          <a:p>
            <a:pPr fontAlgn="base"/>
            <a:r>
              <a:rPr lang="en-US" b="1" dirty="0"/>
              <a:t>Reduced Parameters</a:t>
            </a:r>
            <a:r>
              <a:rPr lang="en-US" dirty="0"/>
              <a:t>: Despite its dense connections, </a:t>
            </a:r>
            <a:r>
              <a:rPr lang="en-US" dirty="0" err="1"/>
              <a:t>DenseNet</a:t>
            </a:r>
            <a:r>
              <a:rPr lang="en-US" dirty="0"/>
              <a:t> is parameter-efficient. It eliminates the need to relearn redundant features, resulting in fewer parameters compared to traditional networks.</a:t>
            </a:r>
          </a:p>
          <a:p>
            <a:endParaRPr lang="en-IN" dirty="0"/>
          </a:p>
        </p:txBody>
      </p:sp>
    </p:spTree>
    <p:extLst>
      <p:ext uri="{BB962C8B-B14F-4D97-AF65-F5344CB8AC3E}">
        <p14:creationId xmlns:p14="http://schemas.microsoft.com/office/powerpoint/2010/main" val="310235033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89A27-9EC1-038B-AAFF-786749BA93F7}"/>
              </a:ext>
            </a:extLst>
          </p:cNvPr>
          <p:cNvSpPr>
            <a:spLocks noGrp="1"/>
          </p:cNvSpPr>
          <p:nvPr>
            <p:ph type="title"/>
          </p:nvPr>
        </p:nvSpPr>
        <p:spPr/>
        <p:txBody>
          <a:bodyPr>
            <a:normAutofit fontScale="90000"/>
          </a:bodyPr>
          <a:lstStyle/>
          <a:p>
            <a:r>
              <a:rPr lang="en-US" dirty="0"/>
              <a:t>Comparing </a:t>
            </a:r>
            <a:r>
              <a:rPr lang="en-US" dirty="0" err="1"/>
              <a:t>DenseNet</a:t>
            </a:r>
            <a:r>
              <a:rPr lang="en-US" dirty="0"/>
              <a:t> with Other CNN Architectures</a:t>
            </a:r>
            <a:endParaRPr lang="en-IN" dirty="0"/>
          </a:p>
        </p:txBody>
      </p:sp>
      <p:graphicFrame>
        <p:nvGraphicFramePr>
          <p:cNvPr id="4" name="Content Placeholder 3">
            <a:extLst>
              <a:ext uri="{FF2B5EF4-FFF2-40B4-BE49-F238E27FC236}">
                <a16:creationId xmlns:a16="http://schemas.microsoft.com/office/drawing/2014/main" id="{11A09B1C-BFA7-AF32-71E0-CB6F6A688CE5}"/>
              </a:ext>
            </a:extLst>
          </p:cNvPr>
          <p:cNvGraphicFramePr>
            <a:graphicFrameLocks noGrp="1"/>
          </p:cNvGraphicFramePr>
          <p:nvPr>
            <p:ph idx="1"/>
            <p:extLst>
              <p:ext uri="{D42A27DB-BD31-4B8C-83A1-F6EECF244321}">
                <p14:modId xmlns:p14="http://schemas.microsoft.com/office/powerpoint/2010/main" val="2923410292"/>
              </p:ext>
            </p:extLst>
          </p:nvPr>
        </p:nvGraphicFramePr>
        <p:xfrm>
          <a:off x="529937" y="955964"/>
          <a:ext cx="10889676" cy="5731142"/>
        </p:xfrm>
        <a:graphic>
          <a:graphicData uri="http://schemas.openxmlformats.org/drawingml/2006/table">
            <a:tbl>
              <a:tblPr/>
              <a:tblGrid>
                <a:gridCol w="1814946">
                  <a:extLst>
                    <a:ext uri="{9D8B030D-6E8A-4147-A177-3AD203B41FA5}">
                      <a16:colId xmlns:a16="http://schemas.microsoft.com/office/drawing/2014/main" val="1327097406"/>
                    </a:ext>
                  </a:extLst>
                </a:gridCol>
                <a:gridCol w="1814946">
                  <a:extLst>
                    <a:ext uri="{9D8B030D-6E8A-4147-A177-3AD203B41FA5}">
                      <a16:colId xmlns:a16="http://schemas.microsoft.com/office/drawing/2014/main" val="932327238"/>
                    </a:ext>
                  </a:extLst>
                </a:gridCol>
                <a:gridCol w="1814946">
                  <a:extLst>
                    <a:ext uri="{9D8B030D-6E8A-4147-A177-3AD203B41FA5}">
                      <a16:colId xmlns:a16="http://schemas.microsoft.com/office/drawing/2014/main" val="486796085"/>
                    </a:ext>
                  </a:extLst>
                </a:gridCol>
                <a:gridCol w="1814946">
                  <a:extLst>
                    <a:ext uri="{9D8B030D-6E8A-4147-A177-3AD203B41FA5}">
                      <a16:colId xmlns:a16="http://schemas.microsoft.com/office/drawing/2014/main" val="3428884930"/>
                    </a:ext>
                  </a:extLst>
                </a:gridCol>
                <a:gridCol w="1814946">
                  <a:extLst>
                    <a:ext uri="{9D8B030D-6E8A-4147-A177-3AD203B41FA5}">
                      <a16:colId xmlns:a16="http://schemas.microsoft.com/office/drawing/2014/main" val="1282200833"/>
                    </a:ext>
                  </a:extLst>
                </a:gridCol>
                <a:gridCol w="1814946">
                  <a:extLst>
                    <a:ext uri="{9D8B030D-6E8A-4147-A177-3AD203B41FA5}">
                      <a16:colId xmlns:a16="http://schemas.microsoft.com/office/drawing/2014/main" val="1063633892"/>
                    </a:ext>
                  </a:extLst>
                </a:gridCol>
              </a:tblGrid>
              <a:tr h="475517">
                <a:tc>
                  <a:txBody>
                    <a:bodyPr/>
                    <a:lstStyle/>
                    <a:p>
                      <a:pPr algn="ctr" fontAlgn="base">
                        <a:buNone/>
                      </a:pPr>
                      <a:r>
                        <a:rPr lang="en-IN" sz="1400" b="1">
                          <a:effectLst/>
                          <a:latin typeface="Nunito" pitchFamily="2" charset="0"/>
                        </a:rPr>
                        <a:t>Aspect</a:t>
                      </a:r>
                    </a:p>
                  </a:txBody>
                  <a:tcPr marL="26900" marR="26900" marT="53801" marB="538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dirty="0" err="1">
                          <a:effectLst/>
                          <a:latin typeface="Nunito" pitchFamily="2" charset="0"/>
                        </a:rPr>
                        <a:t>DenseNet</a:t>
                      </a:r>
                      <a:endParaRPr lang="en-IN" sz="1400" b="1" dirty="0">
                        <a:effectLst/>
                        <a:latin typeface="Nunito" pitchFamily="2" charset="0"/>
                      </a:endParaRPr>
                    </a:p>
                  </a:txBody>
                  <a:tcPr marL="53801" marR="53801" marT="53801" marB="538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kern="1200" dirty="0" err="1">
                          <a:solidFill>
                            <a:schemeClr val="tx1"/>
                          </a:solidFill>
                          <a:effectLst/>
                          <a:latin typeface="Nunito" pitchFamily="2" charset="0"/>
                          <a:ea typeface="+mn-ea"/>
                          <a:cs typeface="+mn-cs"/>
                          <a:hlinkClick r:id="rId2">
                            <a:extLst>
                              <a:ext uri="{A12FA001-AC4F-418D-AE19-62706E023703}">
                                <ahyp:hlinkClr xmlns:ahyp="http://schemas.microsoft.com/office/drawing/2018/hyperlinkcolor" val="tx"/>
                              </a:ext>
                            </a:extLst>
                          </a:hlinkClick>
                        </a:rPr>
                        <a:t>ResNet</a:t>
                      </a:r>
                      <a:endParaRPr lang="en-IN" sz="1400" b="1" kern="1200" dirty="0">
                        <a:solidFill>
                          <a:schemeClr val="tx1"/>
                        </a:solidFill>
                        <a:effectLst/>
                        <a:latin typeface="Nunito" pitchFamily="2" charset="0"/>
                        <a:ea typeface="+mn-ea"/>
                        <a:cs typeface="+mn-cs"/>
                      </a:endParaRPr>
                    </a:p>
                  </a:txBody>
                  <a:tcPr marL="53801" marR="53801" marT="53801" marB="538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kern="1200" dirty="0">
                          <a:solidFill>
                            <a:schemeClr val="tx1"/>
                          </a:solidFill>
                          <a:effectLst/>
                          <a:latin typeface="Nunito" pitchFamily="2" charset="0"/>
                          <a:ea typeface="+mn-ea"/>
                          <a:cs typeface="+mn-cs"/>
                          <a:hlinkClick r:id="rId3">
                            <a:extLst>
                              <a:ext uri="{A12FA001-AC4F-418D-AE19-62706E023703}">
                                <ahyp:hlinkClr xmlns:ahyp="http://schemas.microsoft.com/office/drawing/2018/hyperlinkcolor" val="tx"/>
                              </a:ext>
                            </a:extLst>
                          </a:hlinkClick>
                        </a:rPr>
                        <a:t>VGG</a:t>
                      </a:r>
                      <a:endParaRPr lang="en-IN" sz="1400" b="1" kern="1200" dirty="0">
                        <a:solidFill>
                          <a:schemeClr val="tx1"/>
                        </a:solidFill>
                        <a:effectLst/>
                        <a:latin typeface="Nunito" pitchFamily="2" charset="0"/>
                        <a:ea typeface="+mn-ea"/>
                        <a:cs typeface="+mn-cs"/>
                      </a:endParaRPr>
                    </a:p>
                  </a:txBody>
                  <a:tcPr marL="53801" marR="53801" marT="53801" marB="538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kern="1200" dirty="0">
                          <a:solidFill>
                            <a:schemeClr val="tx1"/>
                          </a:solidFill>
                          <a:effectLst/>
                          <a:latin typeface="Nunito" pitchFamily="2" charset="0"/>
                          <a:ea typeface="+mn-ea"/>
                          <a:cs typeface="+mn-cs"/>
                          <a:hlinkClick r:id="rId4">
                            <a:extLst>
                              <a:ext uri="{A12FA001-AC4F-418D-AE19-62706E023703}">
                                <ahyp:hlinkClr xmlns:ahyp="http://schemas.microsoft.com/office/drawing/2018/hyperlinkcolor" val="tx"/>
                              </a:ext>
                            </a:extLst>
                          </a:hlinkClick>
                        </a:rPr>
                        <a:t>Inception (</a:t>
                      </a:r>
                      <a:r>
                        <a:rPr lang="en-IN" sz="1400" b="1" kern="1200" dirty="0" err="1">
                          <a:solidFill>
                            <a:schemeClr val="tx1"/>
                          </a:solidFill>
                          <a:effectLst/>
                          <a:latin typeface="Nunito" pitchFamily="2" charset="0"/>
                          <a:ea typeface="+mn-ea"/>
                          <a:cs typeface="+mn-cs"/>
                          <a:hlinkClick r:id="rId4">
                            <a:extLst>
                              <a:ext uri="{A12FA001-AC4F-418D-AE19-62706E023703}">
                                <ahyp:hlinkClr xmlns:ahyp="http://schemas.microsoft.com/office/drawing/2018/hyperlinkcolor" val="tx"/>
                              </a:ext>
                            </a:extLst>
                          </a:hlinkClick>
                        </a:rPr>
                        <a:t>GoogLeNet</a:t>
                      </a:r>
                      <a:r>
                        <a:rPr lang="en-IN" sz="1400" b="1" kern="1200" dirty="0">
                          <a:solidFill>
                            <a:schemeClr val="tx1"/>
                          </a:solidFill>
                          <a:effectLst/>
                          <a:latin typeface="Nunito" pitchFamily="2" charset="0"/>
                          <a:ea typeface="+mn-ea"/>
                          <a:cs typeface="+mn-cs"/>
                          <a:hlinkClick r:id="rId4">
                            <a:extLst>
                              <a:ext uri="{A12FA001-AC4F-418D-AE19-62706E023703}">
                                <ahyp:hlinkClr xmlns:ahyp="http://schemas.microsoft.com/office/drawing/2018/hyperlinkcolor" val="tx"/>
                              </a:ext>
                            </a:extLst>
                          </a:hlinkClick>
                        </a:rPr>
                        <a:t>)</a:t>
                      </a:r>
                      <a:endParaRPr lang="en-IN" sz="1400" b="1" kern="1200" dirty="0">
                        <a:solidFill>
                          <a:schemeClr val="tx1"/>
                        </a:solidFill>
                        <a:effectLst/>
                        <a:latin typeface="Nunito" pitchFamily="2" charset="0"/>
                        <a:ea typeface="+mn-ea"/>
                        <a:cs typeface="+mn-cs"/>
                      </a:endParaRPr>
                    </a:p>
                  </a:txBody>
                  <a:tcPr marL="53801" marR="53801" marT="53801" marB="538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kern="1200" dirty="0" err="1">
                          <a:solidFill>
                            <a:schemeClr val="tx1"/>
                          </a:solidFill>
                          <a:effectLst/>
                          <a:latin typeface="Nunito" pitchFamily="2" charset="0"/>
                          <a:ea typeface="+mn-ea"/>
                          <a:cs typeface="+mn-cs"/>
                          <a:hlinkClick r:id="rId5">
                            <a:extLst>
                              <a:ext uri="{A12FA001-AC4F-418D-AE19-62706E023703}">
                                <ahyp:hlinkClr xmlns:ahyp="http://schemas.microsoft.com/office/drawing/2018/hyperlinkcolor" val="tx"/>
                              </a:ext>
                            </a:extLst>
                          </a:hlinkClick>
                        </a:rPr>
                        <a:t>AlexNet</a:t>
                      </a:r>
                      <a:endParaRPr lang="en-IN" sz="1400" b="1" kern="1200" dirty="0">
                        <a:solidFill>
                          <a:schemeClr val="tx1"/>
                        </a:solidFill>
                        <a:effectLst/>
                        <a:latin typeface="Nunito" pitchFamily="2" charset="0"/>
                        <a:ea typeface="+mn-ea"/>
                        <a:cs typeface="+mn-cs"/>
                      </a:endParaRPr>
                    </a:p>
                  </a:txBody>
                  <a:tcPr marL="53801" marR="53801" marT="53801" marB="538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3322731364"/>
                  </a:ext>
                </a:extLst>
              </a:tr>
              <a:tr h="331849">
                <a:tc>
                  <a:txBody>
                    <a:bodyPr/>
                    <a:lstStyle/>
                    <a:p>
                      <a:pPr algn="ctr" fontAlgn="ctr">
                        <a:buNone/>
                      </a:pPr>
                      <a:r>
                        <a:rPr lang="en-IN" sz="1400" b="1">
                          <a:effectLst/>
                          <a:latin typeface="Nunito" pitchFamily="2" charset="0"/>
                        </a:rPr>
                        <a:t>Connectivity</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Dense connections</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Shortcut connections</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Sequential</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Parallel paths</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Sequential</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11559223"/>
                  </a:ext>
                </a:extLst>
              </a:tr>
              <a:tr h="331849">
                <a:tc>
                  <a:txBody>
                    <a:bodyPr/>
                    <a:lstStyle/>
                    <a:p>
                      <a:pPr algn="ctr" fontAlgn="ctr">
                        <a:buNone/>
                      </a:pPr>
                      <a:r>
                        <a:rPr lang="en-IN" sz="1400" b="1">
                          <a:effectLst/>
                          <a:latin typeface="Nunito" pitchFamily="2" charset="0"/>
                        </a:rPr>
                        <a:t>Gradient Flow</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Excellent</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Good</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Good</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68498874"/>
                  </a:ext>
                </a:extLst>
              </a:tr>
              <a:tr h="490000">
                <a:tc>
                  <a:txBody>
                    <a:bodyPr/>
                    <a:lstStyle/>
                    <a:p>
                      <a:pPr algn="ctr" fontAlgn="ctr">
                        <a:buNone/>
                      </a:pPr>
                      <a:r>
                        <a:rPr lang="en-IN" sz="1400" b="1">
                          <a:effectLst/>
                          <a:latin typeface="Nunito" pitchFamily="2" charset="0"/>
                        </a:rPr>
                        <a:t>Parameter Efficiency</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High</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dirty="0">
                          <a:effectLst/>
                          <a:latin typeface="Nunito" pitchFamily="2" charset="0"/>
                        </a:rPr>
                        <a:t>Moderate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Low</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Low</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37028407"/>
                  </a:ext>
                </a:extLst>
              </a:tr>
              <a:tr h="331849">
                <a:tc>
                  <a:txBody>
                    <a:bodyPr/>
                    <a:lstStyle/>
                    <a:p>
                      <a:pPr algn="ctr" fontAlgn="ctr">
                        <a:buNone/>
                      </a:pPr>
                      <a:r>
                        <a:rPr lang="en-IN" sz="1400" b="1">
                          <a:effectLst/>
                          <a:latin typeface="Nunito" pitchFamily="2" charset="0"/>
                        </a:rPr>
                        <a:t>Feature Reuse</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Extensive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Some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dirty="0">
                          <a:effectLst/>
                          <a:latin typeface="Nunito" pitchFamily="2" charset="0"/>
                        </a:rPr>
                        <a:t>Minimal</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Minimal</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68437406"/>
                  </a:ext>
                </a:extLst>
              </a:tr>
              <a:tr h="331849">
                <a:tc>
                  <a:txBody>
                    <a:bodyPr/>
                    <a:lstStyle/>
                    <a:p>
                      <a:pPr algn="ctr" fontAlgn="ctr">
                        <a:buNone/>
                      </a:pPr>
                      <a:r>
                        <a:rPr lang="en-IN" sz="1400" b="1">
                          <a:effectLst/>
                          <a:latin typeface="Nunito" pitchFamily="2" charset="0"/>
                        </a:rPr>
                        <a:t>Vanishing Gradient</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Mitigated</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Mitigated</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Prone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Mitigated</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Prone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95705019"/>
                  </a:ext>
                </a:extLst>
              </a:tr>
              <a:tr h="490000">
                <a:tc>
                  <a:txBody>
                    <a:bodyPr/>
                    <a:lstStyle/>
                    <a:p>
                      <a:pPr algn="ctr" fontAlgn="ctr">
                        <a:buNone/>
                      </a:pPr>
                      <a:r>
                        <a:rPr lang="en-IN" sz="1400" b="1">
                          <a:effectLst/>
                          <a:latin typeface="Nunito" pitchFamily="2" charset="0"/>
                        </a:rPr>
                        <a:t>Depth</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Very deep, fewer parameters</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Very deep</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Deep, limited by training</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Deep</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Shallow compared to modern</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05926932"/>
                  </a:ext>
                </a:extLst>
              </a:tr>
              <a:tr h="490000">
                <a:tc>
                  <a:txBody>
                    <a:bodyPr/>
                    <a:lstStyle/>
                    <a:p>
                      <a:pPr algn="ctr" fontAlgn="ctr">
                        <a:buNone/>
                      </a:pPr>
                      <a:r>
                        <a:rPr lang="en-IN" sz="1400" b="1">
                          <a:effectLst/>
                          <a:latin typeface="Nunito" pitchFamily="2" charset="0"/>
                        </a:rPr>
                        <a:t>Computational Cost</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 higher memory usage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 to high</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High</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 to high</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46445951"/>
                  </a:ext>
                </a:extLst>
              </a:tr>
              <a:tr h="331849">
                <a:tc>
                  <a:txBody>
                    <a:bodyPr/>
                    <a:lstStyle/>
                    <a:p>
                      <a:pPr algn="ctr" fontAlgn="ctr">
                        <a:buNone/>
                      </a:pPr>
                      <a:r>
                        <a:rPr lang="en-IN" sz="1400" b="1">
                          <a:effectLst/>
                          <a:latin typeface="Nunito" pitchFamily="2" charset="0"/>
                        </a:rPr>
                        <a:t>Training Complexity</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 to high</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High</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dirty="0">
                          <a:effectLst/>
                          <a:latin typeface="Nunito" pitchFamily="2" charset="0"/>
                        </a:rPr>
                        <a:t>Moderate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Moderate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94099934"/>
                  </a:ext>
                </a:extLst>
              </a:tr>
              <a:tr h="490000">
                <a:tc>
                  <a:txBody>
                    <a:bodyPr/>
                    <a:lstStyle/>
                    <a:p>
                      <a:pPr algn="ctr" fontAlgn="ctr">
                        <a:buNone/>
                      </a:pPr>
                      <a:r>
                        <a:rPr lang="en-IN" sz="1400" b="1">
                          <a:effectLst/>
                          <a:latin typeface="Nunito" pitchFamily="2" charset="0"/>
                        </a:rPr>
                        <a:t>Performance</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High, state-of-the-art</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High, state-of-the-art</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Good, but outperformed</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High, competitive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Good for its time</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01229824"/>
                  </a:ext>
                </a:extLst>
              </a:tr>
              <a:tr h="648152">
                <a:tc>
                  <a:txBody>
                    <a:bodyPr/>
                    <a:lstStyle/>
                    <a:p>
                      <a:pPr algn="ctr" fontAlgn="ctr">
                        <a:buNone/>
                      </a:pPr>
                      <a:r>
                        <a:rPr lang="en-IN" sz="1400" b="1">
                          <a:effectLst/>
                          <a:latin typeface="Nunito" pitchFamily="2" charset="0"/>
                        </a:rPr>
                        <a:t>Applications</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Classification, detection, segmentation</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Classification, detection, segmentation</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Classification, feature extraction</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Classification, detection, segmentation</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Classification, early benchmarks</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03879427"/>
                  </a:ext>
                </a:extLst>
              </a:tr>
              <a:tr h="331849">
                <a:tc>
                  <a:txBody>
                    <a:bodyPr/>
                    <a:lstStyle/>
                    <a:p>
                      <a:pPr algn="ctr" fontAlgn="ctr">
                        <a:buNone/>
                      </a:pPr>
                      <a:r>
                        <a:rPr lang="en-IN" sz="1400" b="1">
                          <a:effectLst/>
                          <a:latin typeface="Nunito" pitchFamily="2" charset="0"/>
                        </a:rPr>
                        <a:t>Introduced</a:t>
                      </a:r>
                      <a:endParaRPr lang="en-IN" sz="1400" b="0">
                        <a:effectLst/>
                        <a:latin typeface="Nunito" pitchFamily="2" charset="0"/>
                      </a:endParaRP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2017</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2015</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2014</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2015</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dirty="0">
                          <a:effectLst/>
                          <a:latin typeface="Nunito" pitchFamily="2" charset="0"/>
                        </a:rPr>
                        <a:t>2012</a:t>
                      </a:r>
                    </a:p>
                  </a:txBody>
                  <a:tcPr marL="53801" marR="53801" marT="75321" marB="75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55868810"/>
                  </a:ext>
                </a:extLst>
              </a:tr>
            </a:tbl>
          </a:graphicData>
        </a:graphic>
      </p:graphicFrame>
    </p:spTree>
    <p:extLst>
      <p:ext uri="{BB962C8B-B14F-4D97-AF65-F5344CB8AC3E}">
        <p14:creationId xmlns:p14="http://schemas.microsoft.com/office/powerpoint/2010/main" val="4782025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10CEE-7644-2888-114A-DC6DC9B13087}"/>
              </a:ext>
            </a:extLst>
          </p:cNvPr>
          <p:cNvSpPr>
            <a:spLocks noGrp="1"/>
          </p:cNvSpPr>
          <p:nvPr>
            <p:ph type="title"/>
          </p:nvPr>
        </p:nvSpPr>
        <p:spPr/>
        <p:txBody>
          <a:bodyPr>
            <a:normAutofit fontScale="90000"/>
          </a:bodyPr>
          <a:lstStyle/>
          <a:p>
            <a:r>
              <a:rPr lang="en-IN" dirty="0"/>
              <a:t>Architecture of </a:t>
            </a:r>
            <a:r>
              <a:rPr lang="en-IN" dirty="0" err="1"/>
              <a:t>DenseNet</a:t>
            </a:r>
            <a:endParaRPr lang="en-IN" dirty="0"/>
          </a:p>
        </p:txBody>
      </p:sp>
      <p:sp>
        <p:nvSpPr>
          <p:cNvPr id="3" name="Content Placeholder 2">
            <a:extLst>
              <a:ext uri="{FF2B5EF4-FFF2-40B4-BE49-F238E27FC236}">
                <a16:creationId xmlns:a16="http://schemas.microsoft.com/office/drawing/2014/main" id="{111FFF29-05EF-5ABC-A5A5-A896AAEF2334}"/>
              </a:ext>
            </a:extLst>
          </p:cNvPr>
          <p:cNvSpPr>
            <a:spLocks noGrp="1"/>
          </p:cNvSpPr>
          <p:nvPr>
            <p:ph idx="1"/>
          </p:nvPr>
        </p:nvSpPr>
        <p:spPr>
          <a:xfrm>
            <a:off x="893618" y="1278082"/>
            <a:ext cx="10333499" cy="4848188"/>
          </a:xfrm>
        </p:spPr>
        <p:txBody>
          <a:bodyPr/>
          <a:lstStyle/>
          <a:p>
            <a:pPr fontAlgn="base"/>
            <a:r>
              <a:rPr lang="en-US" dirty="0" err="1"/>
              <a:t>DenseNet</a:t>
            </a:r>
            <a:r>
              <a:rPr lang="en-US" dirty="0"/>
              <a:t> introduces a paradigm shift by connecting each layer to every other layer in a feed-forward manner. </a:t>
            </a:r>
          </a:p>
          <a:p>
            <a:pPr fontAlgn="base"/>
            <a:r>
              <a:rPr lang="en-US" dirty="0"/>
              <a:t>Unlike traditional CNNs, which have a single connection between consecutive layers, </a:t>
            </a:r>
            <a:r>
              <a:rPr lang="en-US" dirty="0" err="1"/>
              <a:t>DenseNet</a:t>
            </a:r>
            <a:r>
              <a:rPr lang="en-US" dirty="0"/>
              <a:t> ensures that each layer receives inputs from all preceding layers and passes its output to all subsequent layers. </a:t>
            </a:r>
          </a:p>
          <a:p>
            <a:pPr fontAlgn="base"/>
            <a:r>
              <a:rPr lang="en-US" dirty="0"/>
              <a:t>This results in a network with L(L+1)/2 direct connections for L layers, significantly enhancing information flow.</a:t>
            </a:r>
          </a:p>
          <a:p>
            <a:br>
              <a:rPr lang="en-US" dirty="0"/>
            </a:br>
            <a:endParaRPr lang="en-IN" dirty="0"/>
          </a:p>
        </p:txBody>
      </p:sp>
      <p:pic>
        <p:nvPicPr>
          <p:cNvPr id="7" name="Picture 6">
            <a:extLst>
              <a:ext uri="{FF2B5EF4-FFF2-40B4-BE49-F238E27FC236}">
                <a16:creationId xmlns:a16="http://schemas.microsoft.com/office/drawing/2014/main" id="{A3AC1231-4357-C87E-3048-44CB4B7BE09E}"/>
              </a:ext>
            </a:extLst>
          </p:cNvPr>
          <p:cNvPicPr>
            <a:picLocks noChangeAspect="1"/>
          </p:cNvPicPr>
          <p:nvPr/>
        </p:nvPicPr>
        <p:blipFill>
          <a:blip r:embed="rId2"/>
          <a:stretch>
            <a:fillRect/>
          </a:stretch>
        </p:blipFill>
        <p:spPr>
          <a:xfrm>
            <a:off x="891069" y="4239804"/>
            <a:ext cx="10193173" cy="1724266"/>
          </a:xfrm>
          <a:prstGeom prst="rect">
            <a:avLst/>
          </a:prstGeom>
        </p:spPr>
      </p:pic>
    </p:spTree>
    <p:extLst>
      <p:ext uri="{BB962C8B-B14F-4D97-AF65-F5344CB8AC3E}">
        <p14:creationId xmlns:p14="http://schemas.microsoft.com/office/powerpoint/2010/main" val="326116116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AB70B-E3D6-7BEA-E66F-1449CA65CA6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EDB6329-AB9D-4091-D55C-13225C1684C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3C5D546-59C1-E762-7EC5-26A712A65BCE}"/>
              </a:ext>
            </a:extLst>
          </p:cNvPr>
          <p:cNvPicPr>
            <a:picLocks noChangeAspect="1"/>
          </p:cNvPicPr>
          <p:nvPr/>
        </p:nvPicPr>
        <p:blipFill>
          <a:blip r:embed="rId2"/>
          <a:stretch>
            <a:fillRect/>
          </a:stretch>
        </p:blipFill>
        <p:spPr>
          <a:xfrm>
            <a:off x="2112385" y="1514475"/>
            <a:ext cx="7115175" cy="3829050"/>
          </a:xfrm>
          <a:prstGeom prst="rect">
            <a:avLst/>
          </a:prstGeom>
        </p:spPr>
      </p:pic>
    </p:spTree>
    <p:extLst>
      <p:ext uri="{BB962C8B-B14F-4D97-AF65-F5344CB8AC3E}">
        <p14:creationId xmlns:p14="http://schemas.microsoft.com/office/powerpoint/2010/main" val="130606279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09005-49A0-8F85-A585-1CE456913FA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8E541A2-9068-88EE-148F-372F7717992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E3E7BFA-265F-3569-27FE-964171AC35B3}"/>
              </a:ext>
            </a:extLst>
          </p:cNvPr>
          <p:cNvPicPr>
            <a:picLocks noChangeAspect="1"/>
          </p:cNvPicPr>
          <p:nvPr/>
        </p:nvPicPr>
        <p:blipFill>
          <a:blip r:embed="rId2"/>
          <a:stretch>
            <a:fillRect/>
          </a:stretch>
        </p:blipFill>
        <p:spPr>
          <a:xfrm>
            <a:off x="1462087" y="1009650"/>
            <a:ext cx="9267825" cy="4838700"/>
          </a:xfrm>
          <a:prstGeom prst="rect">
            <a:avLst/>
          </a:prstGeom>
        </p:spPr>
      </p:pic>
    </p:spTree>
    <p:extLst>
      <p:ext uri="{BB962C8B-B14F-4D97-AF65-F5344CB8AC3E}">
        <p14:creationId xmlns:p14="http://schemas.microsoft.com/office/powerpoint/2010/main" val="301849072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0FD13-F67D-4438-54F0-2A63A872C8D3}"/>
              </a:ext>
            </a:extLst>
          </p:cNvPr>
          <p:cNvSpPr>
            <a:spLocks noGrp="1"/>
          </p:cNvSpPr>
          <p:nvPr>
            <p:ph type="title"/>
          </p:nvPr>
        </p:nvSpPr>
        <p:spPr/>
        <p:txBody>
          <a:bodyPr>
            <a:normAutofit fontScale="90000"/>
          </a:bodyPr>
          <a:lstStyle/>
          <a:p>
            <a:r>
              <a:rPr lang="en-IN" dirty="0"/>
              <a:t>Dense Block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65DB19-E7E6-5B2A-A16D-4E20DA5D5BC8}"/>
                  </a:ext>
                </a:extLst>
              </p:cNvPr>
              <p:cNvSpPr>
                <a:spLocks noGrp="1"/>
              </p:cNvSpPr>
              <p:nvPr>
                <p:ph idx="1"/>
              </p:nvPr>
            </p:nvSpPr>
            <p:spPr>
              <a:xfrm>
                <a:off x="862445" y="1631373"/>
                <a:ext cx="10364672" cy="4494897"/>
              </a:xfrm>
            </p:spPr>
            <p:txBody>
              <a:bodyPr/>
              <a:lstStyle/>
              <a:p>
                <a:pPr fontAlgn="base"/>
                <a:r>
                  <a:rPr lang="en-IN" dirty="0"/>
                  <a:t>Dense blocks are the building blocks of </a:t>
                </a:r>
                <a:r>
                  <a:rPr lang="en-IN" dirty="0" err="1"/>
                  <a:t>DenseNet</a:t>
                </a:r>
                <a:r>
                  <a:rPr lang="en-IN" dirty="0"/>
                  <a:t> architectures. </a:t>
                </a:r>
              </a:p>
              <a:p>
                <a:pPr fontAlgn="base"/>
                <a:r>
                  <a:rPr lang="en-IN" dirty="0"/>
                  <a:t>Each dense block consists of multiple convolutional layers, typically followed by </a:t>
                </a:r>
                <a:r>
                  <a:rPr lang="en-IN" b="1" dirty="0"/>
                  <a:t>batch</a:t>
                </a:r>
                <a:r>
                  <a:rPr lang="en-IN" b="1" u="sng" dirty="0">
                    <a:hlinkClick r:id="rId2"/>
                  </a:rPr>
                  <a:t> normalization</a:t>
                </a:r>
                <a:r>
                  <a:rPr lang="en-IN" b="1" dirty="0"/>
                  <a:t> and a non-linear activation function </a:t>
                </a:r>
                <a:r>
                  <a:rPr lang="en-IN" dirty="0"/>
                  <a:t>(e.g., </a:t>
                </a:r>
                <a:r>
                  <a:rPr lang="en-IN" dirty="0" err="1"/>
                  <a:t>ReLU</a:t>
                </a:r>
                <a:r>
                  <a:rPr lang="en-IN" dirty="0"/>
                  <a:t>).</a:t>
                </a:r>
              </a:p>
              <a:p>
                <a:pPr fontAlgn="base"/>
                <a:r>
                  <a:rPr lang="en-IN" dirty="0"/>
                  <a:t> Importantly, each layer within a dense block </a:t>
                </a:r>
                <a:r>
                  <a:rPr lang="en-IN" b="1" dirty="0"/>
                  <a:t>receives feature maps from all preceding layers as inputs, facilitating feature reuse and propagation</a:t>
                </a:r>
                <a:r>
                  <a:rPr lang="en-IN" dirty="0"/>
                  <a:t>.</a:t>
                </a:r>
              </a:p>
              <a:p>
                <a:pPr fontAlgn="base"/>
                <a:r>
                  <a:rPr lang="en-IN" dirty="0"/>
                  <a:t>Within a dense block, each layer receives the concatenated output of all preceding layers as its input. </a:t>
                </a:r>
              </a:p>
              <a:p>
                <a:pPr fontAlgn="base"/>
                <a:r>
                  <a:rPr lang="en-IN" dirty="0"/>
                  <a:t>If a dense block has m layers, and each layer produces k feature maps (where k is known as the growth rate), the l-</a:t>
                </a:r>
                <a:r>
                  <a:rPr lang="en-IN" dirty="0" err="1"/>
                  <a:t>th</a:t>
                </a:r>
                <a:r>
                  <a:rPr lang="en-IN" dirty="0"/>
                  <a:t> layer will have </a:t>
                </a:r>
                <a14:m>
                  <m:oMath xmlns:m="http://schemas.openxmlformats.org/officeDocument/2006/math">
                    <m:r>
                      <a:rPr lang="en-IN" i="1">
                        <a:latin typeface="Cambria Math" panose="02040503050406030204" pitchFamily="18" charset="0"/>
                      </a:rPr>
                      <m:t>𝑘</m:t>
                    </m:r>
                    <m:r>
                      <a:rPr lang="en-IN">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𝑙</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𝑙</m:t>
                            </m:r>
                          </m:e>
                          <m:sub>
                            <m:r>
                              <a:rPr lang="ar-AE">
                                <a:latin typeface="Cambria Math" panose="02040503050406030204" pitchFamily="18" charset="0"/>
                              </a:rPr>
                              <m:t>0</m:t>
                            </m:r>
                          </m:sub>
                        </m:sSub>
                      </m:e>
                    </m:d>
                  </m:oMath>
                </a14:m>
                <a:r>
                  <a:rPr lang="ar-AE" dirty="0"/>
                  <a:t> </a:t>
                </a:r>
                <a:r>
                  <a:rPr lang="en-IN" dirty="0"/>
                  <a:t>input feature maps (where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𝑙</m:t>
                        </m:r>
                      </m:e>
                      <m:sub>
                        <m:r>
                          <a:rPr lang="ar-AE">
                            <a:latin typeface="Cambria Math" panose="02040503050406030204" pitchFamily="18" charset="0"/>
                          </a:rPr>
                          <m:t>0</m:t>
                        </m:r>
                      </m:sub>
                    </m:sSub>
                  </m:oMath>
                </a14:m>
                <a:r>
                  <a:rPr lang="ar-AE" dirty="0"/>
                  <a:t> </a:t>
                </a:r>
                <a:r>
                  <a:rPr lang="en-IN" dirty="0"/>
                  <a:t>is the number of input channels to the dense block).</a:t>
                </a:r>
              </a:p>
              <a:p>
                <a:endParaRPr lang="en-IN" dirty="0"/>
              </a:p>
            </p:txBody>
          </p:sp>
        </mc:Choice>
        <mc:Fallback xmlns="">
          <p:sp>
            <p:nvSpPr>
              <p:cNvPr id="3" name="Content Placeholder 2">
                <a:extLst>
                  <a:ext uri="{FF2B5EF4-FFF2-40B4-BE49-F238E27FC236}">
                    <a16:creationId xmlns:a16="http://schemas.microsoft.com/office/drawing/2014/main" id="{0D65DB19-E7E6-5B2A-A16D-4E20DA5D5BC8}"/>
                  </a:ext>
                </a:extLst>
              </p:cNvPr>
              <p:cNvSpPr>
                <a:spLocks noGrp="1" noRot="1" noChangeAspect="1" noMove="1" noResize="1" noEditPoints="1" noAdjustHandles="1" noChangeArrowheads="1" noChangeShapeType="1" noTextEdit="1"/>
              </p:cNvSpPr>
              <p:nvPr>
                <p:ph idx="1"/>
              </p:nvPr>
            </p:nvSpPr>
            <p:spPr>
              <a:xfrm>
                <a:off x="862445" y="1631373"/>
                <a:ext cx="10364672" cy="4494897"/>
              </a:xfrm>
              <a:blipFill>
                <a:blip r:embed="rId3"/>
                <a:stretch>
                  <a:fillRect l="-1646" t="-1900" r="-2175"/>
                </a:stretch>
              </a:blipFill>
            </p:spPr>
            <p:txBody>
              <a:bodyPr/>
              <a:lstStyle/>
              <a:p>
                <a:r>
                  <a:rPr lang="en-IN">
                    <a:noFill/>
                  </a:rPr>
                  <a:t> </a:t>
                </a:r>
              </a:p>
            </p:txBody>
          </p:sp>
        </mc:Fallback>
      </mc:AlternateContent>
    </p:spTree>
    <p:extLst>
      <p:ext uri="{BB962C8B-B14F-4D97-AF65-F5344CB8AC3E}">
        <p14:creationId xmlns:p14="http://schemas.microsoft.com/office/powerpoint/2010/main" val="169673880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E27F-2186-AE1F-E82A-24CE5C47889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1A70AB7-6D3C-285F-5542-50C400E9B37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65A3216-6119-346D-1FB5-4EBCC378426E}"/>
              </a:ext>
            </a:extLst>
          </p:cNvPr>
          <p:cNvPicPr>
            <a:picLocks noChangeAspect="1"/>
          </p:cNvPicPr>
          <p:nvPr/>
        </p:nvPicPr>
        <p:blipFill>
          <a:blip r:embed="rId2"/>
          <a:stretch>
            <a:fillRect/>
          </a:stretch>
        </p:blipFill>
        <p:spPr>
          <a:xfrm>
            <a:off x="1119187" y="1843087"/>
            <a:ext cx="9953625" cy="3171825"/>
          </a:xfrm>
          <a:prstGeom prst="rect">
            <a:avLst/>
          </a:prstGeom>
        </p:spPr>
      </p:pic>
    </p:spTree>
    <p:extLst>
      <p:ext uri="{BB962C8B-B14F-4D97-AF65-F5344CB8AC3E}">
        <p14:creationId xmlns:p14="http://schemas.microsoft.com/office/powerpoint/2010/main" val="229465128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C3B37-4E32-2822-4AE7-26426B2137B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AA5E246-0691-429F-6B7C-79BA2F70F0D2}"/>
              </a:ext>
            </a:extLst>
          </p:cNvPr>
          <p:cNvSpPr>
            <a:spLocks noGrp="1"/>
          </p:cNvSpPr>
          <p:nvPr>
            <p:ph idx="1"/>
          </p:nvPr>
        </p:nvSpPr>
        <p:spPr>
          <a:xfrm>
            <a:off x="1025842" y="1548245"/>
            <a:ext cx="10201275" cy="4578025"/>
          </a:xfrm>
        </p:spPr>
        <p:txBody>
          <a:bodyPr/>
          <a:lstStyle/>
          <a:p>
            <a:pPr fontAlgn="base"/>
            <a:r>
              <a:rPr lang="en-US" b="1" dirty="0"/>
              <a:t>Example of a Dense Block:</a:t>
            </a:r>
          </a:p>
          <a:p>
            <a:pPr fontAlgn="base"/>
            <a:r>
              <a:rPr lang="en-US" b="1" dirty="0"/>
              <a:t>Layer 1</a:t>
            </a:r>
            <a:r>
              <a:rPr lang="en-US" dirty="0"/>
              <a:t>: Receives input feature maps.</a:t>
            </a:r>
          </a:p>
          <a:p>
            <a:pPr fontAlgn="base"/>
            <a:r>
              <a:rPr lang="en-US" b="1" dirty="0"/>
              <a:t>Layer 2</a:t>
            </a:r>
            <a:r>
              <a:rPr lang="en-US" dirty="0"/>
              <a:t>: Receives input feature maps + output of Layer 1.</a:t>
            </a:r>
          </a:p>
          <a:p>
            <a:pPr fontAlgn="base"/>
            <a:r>
              <a:rPr lang="en-US" b="1" dirty="0"/>
              <a:t>Layer 3</a:t>
            </a:r>
            <a:r>
              <a:rPr lang="en-US" dirty="0"/>
              <a:t>: Receives input feature maps + output of Layer 1 + output of Layer 2.</a:t>
            </a:r>
          </a:p>
          <a:p>
            <a:pPr fontAlgn="base"/>
            <a:r>
              <a:rPr lang="en-US" dirty="0"/>
              <a:t>This pattern continues for all layers within the block, ensuring a highly interconnected architecture.</a:t>
            </a:r>
          </a:p>
          <a:p>
            <a:endParaRPr lang="en-IN" dirty="0"/>
          </a:p>
        </p:txBody>
      </p:sp>
    </p:spTree>
    <p:extLst>
      <p:ext uri="{BB962C8B-B14F-4D97-AF65-F5344CB8AC3E}">
        <p14:creationId xmlns:p14="http://schemas.microsoft.com/office/powerpoint/2010/main" val="347458184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2E3D0-2870-D9DF-0E57-D9016D25F33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D84D658-0EAC-A03B-70BB-F3AC0D772BC0}"/>
              </a:ext>
            </a:extLst>
          </p:cNvPr>
          <p:cNvSpPr>
            <a:spLocks noGrp="1"/>
          </p:cNvSpPr>
          <p:nvPr>
            <p:ph idx="1"/>
          </p:nvPr>
        </p:nvSpPr>
        <p:spPr>
          <a:xfrm>
            <a:off x="1168717" y="1620982"/>
            <a:ext cx="10058400" cy="4505288"/>
          </a:xfrm>
        </p:spPr>
        <p:txBody>
          <a:bodyPr/>
          <a:lstStyle/>
          <a:p>
            <a:pPr fontAlgn="base"/>
            <a:r>
              <a:rPr lang="en-US" b="1" dirty="0"/>
              <a:t>Transition Layer</a:t>
            </a:r>
          </a:p>
          <a:p>
            <a:pPr fontAlgn="base"/>
            <a:r>
              <a:rPr lang="en-US" dirty="0"/>
              <a:t>Transition layers are used to connect dense blocks. They serve two main purposes: </a:t>
            </a:r>
            <a:r>
              <a:rPr lang="en-US" b="1" dirty="0"/>
              <a:t>reducing the number of feature maps and </a:t>
            </a:r>
            <a:r>
              <a:rPr lang="en-US" b="1" dirty="0" err="1"/>
              <a:t>downsampling</a:t>
            </a:r>
            <a:r>
              <a:rPr lang="en-US" b="1" dirty="0"/>
              <a:t> the spatial dimensions of the feature maps</a:t>
            </a:r>
            <a:r>
              <a:rPr lang="en-US" dirty="0"/>
              <a:t>. </a:t>
            </a:r>
          </a:p>
          <a:p>
            <a:pPr fontAlgn="base"/>
            <a:r>
              <a:rPr lang="en-US" dirty="0"/>
              <a:t>This helps in maintaining the computational efficiency and compactness of the network. A typical transition layer consists of:</a:t>
            </a:r>
          </a:p>
          <a:p>
            <a:pPr fontAlgn="base"/>
            <a:r>
              <a:rPr lang="en-US" b="1" dirty="0"/>
              <a:t>Batch Normalization</a:t>
            </a:r>
            <a:r>
              <a:rPr lang="en-US" dirty="0"/>
              <a:t>: Normalizes the feature maps.</a:t>
            </a:r>
          </a:p>
          <a:p>
            <a:pPr fontAlgn="base"/>
            <a:r>
              <a:rPr lang="en-US" b="1" dirty="0"/>
              <a:t>1x1 Convolution</a:t>
            </a:r>
            <a:r>
              <a:rPr lang="en-US" dirty="0"/>
              <a:t>: Reduces the number of feature maps.</a:t>
            </a:r>
          </a:p>
          <a:p>
            <a:pPr fontAlgn="base"/>
            <a:r>
              <a:rPr lang="en-US" b="1" dirty="0"/>
              <a:t>Average Pooling</a:t>
            </a:r>
            <a:r>
              <a:rPr lang="en-US" dirty="0"/>
              <a:t>: </a:t>
            </a:r>
            <a:r>
              <a:rPr lang="en-US" dirty="0" err="1"/>
              <a:t>Downsamples</a:t>
            </a:r>
            <a:r>
              <a:rPr lang="en-US" dirty="0"/>
              <a:t> the spatial dimensions.</a:t>
            </a:r>
          </a:p>
          <a:p>
            <a:endParaRPr lang="en-IN" dirty="0"/>
          </a:p>
        </p:txBody>
      </p:sp>
    </p:spTree>
    <p:extLst>
      <p:ext uri="{BB962C8B-B14F-4D97-AF65-F5344CB8AC3E}">
        <p14:creationId xmlns:p14="http://schemas.microsoft.com/office/powerpoint/2010/main" val="27678756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F2512-A034-ED2B-7A68-D954C8575DC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818CE54-66ED-7F86-6745-C2D1C4A0A95E}"/>
              </a:ext>
            </a:extLst>
          </p:cNvPr>
          <p:cNvSpPr>
            <a:spLocks noGrp="1"/>
          </p:cNvSpPr>
          <p:nvPr>
            <p:ph idx="1"/>
          </p:nvPr>
        </p:nvSpPr>
        <p:spPr>
          <a:xfrm>
            <a:off x="789709" y="1392382"/>
            <a:ext cx="10952018" cy="4696691"/>
          </a:xfrm>
        </p:spPr>
        <p:txBody>
          <a:bodyPr>
            <a:normAutofit fontScale="92500" lnSpcReduction="20000"/>
          </a:bodyPr>
          <a:lstStyle/>
          <a:p>
            <a:pPr fontAlgn="base"/>
            <a:r>
              <a:rPr lang="en-US" b="1" dirty="0"/>
              <a:t>Growth Rate (k)</a:t>
            </a:r>
          </a:p>
          <a:p>
            <a:pPr fontAlgn="base"/>
            <a:r>
              <a:rPr lang="en-US" dirty="0"/>
              <a:t>The growth rate ( k ) is a critical hyperparameter in </a:t>
            </a:r>
            <a:r>
              <a:rPr lang="en-US" dirty="0" err="1"/>
              <a:t>DenseNet</a:t>
            </a:r>
            <a:r>
              <a:rPr lang="en-US" dirty="0"/>
              <a:t>. It </a:t>
            </a:r>
            <a:r>
              <a:rPr lang="en-US" b="1" dirty="0"/>
              <a:t>defines the number of feature maps each layer i</a:t>
            </a:r>
            <a:r>
              <a:rPr lang="en-US" dirty="0"/>
              <a:t>n a dense block produces.</a:t>
            </a:r>
          </a:p>
          <a:p>
            <a:pPr fontAlgn="base"/>
            <a:r>
              <a:rPr lang="en-US" dirty="0"/>
              <a:t> A larger growth rate means more information is added at each layer, but it also increases the computational cost. The choice of k </a:t>
            </a:r>
            <a:r>
              <a:rPr lang="en-US" b="1" dirty="0"/>
              <a:t>affects the network's capacity and performance</a:t>
            </a:r>
            <a:r>
              <a:rPr lang="en-US" dirty="0"/>
              <a:t>.</a:t>
            </a:r>
          </a:p>
          <a:p>
            <a:pPr fontAlgn="base"/>
            <a:r>
              <a:rPr lang="en-US" b="1" dirty="0" err="1"/>
              <a:t>DenseNet</a:t>
            </a:r>
            <a:r>
              <a:rPr lang="en-US" b="1" dirty="0"/>
              <a:t> Variants</a:t>
            </a:r>
          </a:p>
          <a:p>
            <a:pPr fontAlgn="base"/>
            <a:r>
              <a:rPr lang="en-US" dirty="0" err="1"/>
              <a:t>DenseNet</a:t>
            </a:r>
            <a:r>
              <a:rPr lang="en-US" dirty="0"/>
              <a:t> comes in several variants, distinguished primarily by their depth and number of layers:</a:t>
            </a:r>
          </a:p>
          <a:p>
            <a:pPr fontAlgn="base"/>
            <a:r>
              <a:rPr lang="en-US" b="1" dirty="0"/>
              <a:t>DenseNet-121</a:t>
            </a:r>
            <a:r>
              <a:rPr lang="en-US" dirty="0"/>
              <a:t>: Contains 121 layers, known for its balanced trade-off between </a:t>
            </a:r>
            <a:r>
              <a:rPr lang="en-US" b="1" dirty="0"/>
              <a:t>computational efficiency and accuracy</a:t>
            </a:r>
            <a:r>
              <a:rPr lang="en-US" dirty="0"/>
              <a:t>. Ideal for tasks requiring moderate computational resources.</a:t>
            </a:r>
          </a:p>
          <a:p>
            <a:pPr fontAlgn="base"/>
            <a:r>
              <a:rPr lang="en-US" b="1" dirty="0"/>
              <a:t>DenseNet-169</a:t>
            </a:r>
            <a:r>
              <a:rPr lang="en-US" dirty="0"/>
              <a:t>: With 169 layers, this variant provides </a:t>
            </a:r>
            <a:r>
              <a:rPr lang="en-US" b="1" dirty="0"/>
              <a:t>deeper feature extraction, suitable for more complex datasets where higher accuracy is needed</a:t>
            </a:r>
            <a:r>
              <a:rPr lang="en-US" dirty="0"/>
              <a:t>.</a:t>
            </a:r>
          </a:p>
          <a:p>
            <a:pPr fontAlgn="base"/>
            <a:r>
              <a:rPr lang="en-US" b="1" dirty="0"/>
              <a:t>DenseNet-201 and DenseNet-264</a:t>
            </a:r>
            <a:r>
              <a:rPr lang="en-US" dirty="0"/>
              <a:t>: These variants offer even deeper architectures, suitable for </a:t>
            </a:r>
            <a:r>
              <a:rPr lang="en-US" b="1" dirty="0"/>
              <a:t>highly complex tasks requiring extensive feature representation.</a:t>
            </a:r>
          </a:p>
          <a:p>
            <a:endParaRPr lang="en-IN" dirty="0"/>
          </a:p>
        </p:txBody>
      </p:sp>
    </p:spTree>
    <p:extLst>
      <p:ext uri="{BB962C8B-B14F-4D97-AF65-F5344CB8AC3E}">
        <p14:creationId xmlns:p14="http://schemas.microsoft.com/office/powerpoint/2010/main" val="376500321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67DF6-0D33-74A6-9334-83284527C8AD}"/>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8BD62207-91E1-547F-5EB1-8E367F2F53C9}"/>
              </a:ext>
            </a:extLst>
          </p:cNvPr>
          <p:cNvGraphicFramePr>
            <a:graphicFrameLocks noGrp="1"/>
          </p:cNvGraphicFramePr>
          <p:nvPr>
            <p:ph idx="1"/>
            <p:extLst>
              <p:ext uri="{D42A27DB-BD31-4B8C-83A1-F6EECF244321}">
                <p14:modId xmlns:p14="http://schemas.microsoft.com/office/powerpoint/2010/main" val="2017037294"/>
              </p:ext>
            </p:extLst>
          </p:nvPr>
        </p:nvGraphicFramePr>
        <p:xfrm>
          <a:off x="1025842" y="1494068"/>
          <a:ext cx="10200960" cy="4341512"/>
        </p:xfrm>
        <a:graphic>
          <a:graphicData uri="http://schemas.openxmlformats.org/drawingml/2006/table">
            <a:tbl>
              <a:tblPr/>
              <a:tblGrid>
                <a:gridCol w="2226513">
                  <a:extLst>
                    <a:ext uri="{9D8B030D-6E8A-4147-A177-3AD203B41FA5}">
                      <a16:colId xmlns:a16="http://schemas.microsoft.com/office/drawing/2014/main" val="1994792455"/>
                    </a:ext>
                  </a:extLst>
                </a:gridCol>
                <a:gridCol w="1485900">
                  <a:extLst>
                    <a:ext uri="{9D8B030D-6E8A-4147-A177-3AD203B41FA5}">
                      <a16:colId xmlns:a16="http://schemas.microsoft.com/office/drawing/2014/main" val="3280441683"/>
                    </a:ext>
                  </a:extLst>
                </a:gridCol>
                <a:gridCol w="1880754">
                  <a:extLst>
                    <a:ext uri="{9D8B030D-6E8A-4147-A177-3AD203B41FA5}">
                      <a16:colId xmlns:a16="http://schemas.microsoft.com/office/drawing/2014/main" val="1449744688"/>
                    </a:ext>
                  </a:extLst>
                </a:gridCol>
                <a:gridCol w="4607793">
                  <a:extLst>
                    <a:ext uri="{9D8B030D-6E8A-4147-A177-3AD203B41FA5}">
                      <a16:colId xmlns:a16="http://schemas.microsoft.com/office/drawing/2014/main" val="2041986587"/>
                    </a:ext>
                  </a:extLst>
                </a:gridCol>
              </a:tblGrid>
              <a:tr h="578868">
                <a:tc>
                  <a:txBody>
                    <a:bodyPr/>
                    <a:lstStyle/>
                    <a:p>
                      <a:pPr algn="ctr" fontAlgn="base">
                        <a:buNone/>
                      </a:pPr>
                      <a:r>
                        <a:rPr lang="en-IN" sz="1800" b="1">
                          <a:effectLst/>
                          <a:latin typeface="Nunito" pitchFamily="2" charset="0"/>
                        </a:rPr>
                        <a:t>Variant</a:t>
                      </a:r>
                    </a:p>
                  </a:txBody>
                  <a:tcPr marL="38100" marR="381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800" b="1">
                          <a:effectLst/>
                          <a:latin typeface="Nunito" pitchFamily="2" charset="0"/>
                        </a:rPr>
                        <a:t>Layers</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800" b="1">
                          <a:effectLst/>
                          <a:latin typeface="Nunito" pitchFamily="2" charset="0"/>
                        </a:rPr>
                        <a:t>Parameters</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800" b="1">
                          <a:effectLst/>
                          <a:latin typeface="Nunito" pitchFamily="2" charset="0"/>
                        </a:rPr>
                        <a:t>Typical Use Cases</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3454235615"/>
                  </a:ext>
                </a:extLst>
              </a:tr>
              <a:tr h="940661">
                <a:tc>
                  <a:txBody>
                    <a:bodyPr/>
                    <a:lstStyle/>
                    <a:p>
                      <a:pPr algn="ctr" fontAlgn="ctr">
                        <a:buNone/>
                      </a:pPr>
                      <a:r>
                        <a:rPr lang="en-IN" sz="1800" b="0">
                          <a:effectLst/>
                          <a:latin typeface="Nunito" pitchFamily="2" charset="0"/>
                        </a:rPr>
                        <a:t>DenseNet-121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a:effectLst/>
                          <a:latin typeface="Nunito" pitchFamily="2" charset="0"/>
                        </a:rPr>
                        <a:t>121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a:effectLst/>
                          <a:latin typeface="Nunito" pitchFamily="2" charset="0"/>
                        </a:rPr>
                        <a:t>7.98M</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a:effectLst/>
                          <a:latin typeface="Nunito" pitchFamily="2" charset="0"/>
                        </a:rPr>
                        <a:t>General-purpose image classification, object detection</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30038282"/>
                  </a:ext>
                </a:extLst>
              </a:tr>
              <a:tr h="940661">
                <a:tc>
                  <a:txBody>
                    <a:bodyPr/>
                    <a:lstStyle/>
                    <a:p>
                      <a:pPr algn="ctr" fontAlgn="ctr">
                        <a:buNone/>
                      </a:pPr>
                      <a:r>
                        <a:rPr lang="en-IN" sz="1800" b="0">
                          <a:effectLst/>
                          <a:latin typeface="Nunito" pitchFamily="2" charset="0"/>
                        </a:rPr>
                        <a:t>DenseNet-169</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a:effectLst/>
                          <a:latin typeface="Nunito" pitchFamily="2" charset="0"/>
                        </a:rPr>
                        <a:t>169</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a:effectLst/>
                          <a:latin typeface="Nunito" pitchFamily="2" charset="0"/>
                        </a:rPr>
                        <a:t>14.15M</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Advanced image recognition, medical image analysis</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57555940"/>
                  </a:ext>
                </a:extLst>
              </a:tr>
              <a:tr h="940661">
                <a:tc>
                  <a:txBody>
                    <a:bodyPr/>
                    <a:lstStyle/>
                    <a:p>
                      <a:pPr algn="ctr" fontAlgn="ctr">
                        <a:buNone/>
                      </a:pPr>
                      <a:r>
                        <a:rPr lang="en-IN" sz="1800" b="0">
                          <a:effectLst/>
                          <a:latin typeface="Nunito" pitchFamily="2" charset="0"/>
                        </a:rPr>
                        <a:t>DenseNet-201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a:effectLst/>
                          <a:latin typeface="Nunito" pitchFamily="2" charset="0"/>
                        </a:rPr>
                        <a:t>201</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a:effectLst/>
                          <a:latin typeface="Nunito" pitchFamily="2" charset="0"/>
                        </a:rPr>
                        <a:t>20.01M</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High-accuracy tasks, detailed feature extraction</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34402712"/>
                  </a:ext>
                </a:extLst>
              </a:tr>
              <a:tr h="940661">
                <a:tc>
                  <a:txBody>
                    <a:bodyPr/>
                    <a:lstStyle/>
                    <a:p>
                      <a:pPr algn="ctr" fontAlgn="ctr">
                        <a:buNone/>
                      </a:pPr>
                      <a:r>
                        <a:rPr lang="en-IN" sz="1800" b="0">
                          <a:effectLst/>
                          <a:latin typeface="Nunito" pitchFamily="2" charset="0"/>
                        </a:rPr>
                        <a:t>DenseNet-264</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a:effectLst/>
                          <a:latin typeface="Nunito" pitchFamily="2" charset="0"/>
                        </a:rPr>
                        <a:t>264</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a:effectLst/>
                          <a:latin typeface="Nunito" pitchFamily="2" charset="0"/>
                        </a:rPr>
                        <a:t>33.34M</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800" b="0" dirty="0">
                          <a:effectLst/>
                          <a:latin typeface="Nunito" pitchFamily="2" charset="0"/>
                        </a:rPr>
                        <a:t>Complex visual tasks, extensive datasets</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00860351"/>
                  </a:ext>
                </a:extLst>
              </a:tr>
            </a:tbl>
          </a:graphicData>
        </a:graphic>
      </p:graphicFrame>
    </p:spTree>
    <p:extLst>
      <p:ext uri="{BB962C8B-B14F-4D97-AF65-F5344CB8AC3E}">
        <p14:creationId xmlns:p14="http://schemas.microsoft.com/office/powerpoint/2010/main" val="212461724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DDC14-3693-B241-69B0-D13F37F2983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1B65A7E-C47A-E77A-F7EF-5A47AB09CEFF}"/>
              </a:ext>
            </a:extLst>
          </p:cNvPr>
          <p:cNvSpPr>
            <a:spLocks noGrp="1"/>
          </p:cNvSpPr>
          <p:nvPr>
            <p:ph idx="1"/>
          </p:nvPr>
        </p:nvSpPr>
        <p:spPr/>
        <p:txBody>
          <a:bodyPr/>
          <a:lstStyle/>
          <a:p>
            <a:pPr fontAlgn="base"/>
            <a:r>
              <a:rPr lang="en-US" b="1" dirty="0"/>
              <a:t>Advantages of </a:t>
            </a:r>
            <a:r>
              <a:rPr lang="en-US" b="1" dirty="0" err="1"/>
              <a:t>DenseNet</a:t>
            </a:r>
            <a:endParaRPr lang="en-US" b="1" dirty="0"/>
          </a:p>
          <a:p>
            <a:pPr fontAlgn="base"/>
            <a:r>
              <a:rPr lang="en-US" b="1" dirty="0"/>
              <a:t>Reduced Vanishing Gradient Problem</a:t>
            </a:r>
            <a:r>
              <a:rPr lang="en-US" dirty="0"/>
              <a:t>: Dense connections improve gradient flow and facilitate the training of very deep networks.</a:t>
            </a:r>
          </a:p>
          <a:p>
            <a:pPr fontAlgn="base"/>
            <a:r>
              <a:rPr lang="en-US" b="1" dirty="0"/>
              <a:t>Feature Reuse</a:t>
            </a:r>
            <a:r>
              <a:rPr lang="en-US" dirty="0"/>
              <a:t>: Each layer has access to all preceding layers' feature maps, promoting the reuse of learned features and enhancing learning efficiency.</a:t>
            </a:r>
          </a:p>
          <a:p>
            <a:pPr fontAlgn="base"/>
            <a:r>
              <a:rPr lang="en-US" b="1" dirty="0"/>
              <a:t>Fewer Parameters</a:t>
            </a:r>
            <a:r>
              <a:rPr lang="en-US" dirty="0"/>
              <a:t>: </a:t>
            </a:r>
            <a:r>
              <a:rPr lang="en-US" dirty="0" err="1"/>
              <a:t>DenseNets</a:t>
            </a:r>
            <a:r>
              <a:rPr lang="en-US" dirty="0"/>
              <a:t> often have fewer parameters compared to traditional CNNs with similar depth due to efficient feature reuse.</a:t>
            </a:r>
          </a:p>
          <a:p>
            <a:pPr fontAlgn="base"/>
            <a:r>
              <a:rPr lang="en-US" b="1" dirty="0"/>
              <a:t>Improved Accuracy</a:t>
            </a:r>
            <a:r>
              <a:rPr lang="en-US" dirty="0"/>
              <a:t>: </a:t>
            </a:r>
            <a:r>
              <a:rPr lang="en-US" dirty="0" err="1"/>
              <a:t>DenseNets</a:t>
            </a:r>
            <a:r>
              <a:rPr lang="en-US" dirty="0"/>
              <a:t> have shown high accuracy on various benchmarks, such as ImageNet and CIFAR.</a:t>
            </a:r>
          </a:p>
          <a:p>
            <a:endParaRPr lang="en-IN" dirty="0"/>
          </a:p>
        </p:txBody>
      </p:sp>
    </p:spTree>
    <p:extLst>
      <p:ext uri="{BB962C8B-B14F-4D97-AF65-F5344CB8AC3E}">
        <p14:creationId xmlns:p14="http://schemas.microsoft.com/office/powerpoint/2010/main" val="410101585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98BBD-712C-4101-3455-53D734AAF5C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79690BF-232B-DAEE-1BAA-01F6E134989F}"/>
              </a:ext>
            </a:extLst>
          </p:cNvPr>
          <p:cNvSpPr>
            <a:spLocks noGrp="1"/>
          </p:cNvSpPr>
          <p:nvPr>
            <p:ph idx="1"/>
          </p:nvPr>
        </p:nvSpPr>
        <p:spPr>
          <a:xfrm>
            <a:off x="862445" y="1402773"/>
            <a:ext cx="10364672" cy="4723497"/>
          </a:xfrm>
        </p:spPr>
        <p:txBody>
          <a:bodyPr>
            <a:normAutofit fontScale="92500" lnSpcReduction="10000"/>
          </a:bodyPr>
          <a:lstStyle/>
          <a:p>
            <a:pPr fontAlgn="base"/>
            <a:r>
              <a:rPr lang="en-US" b="1" dirty="0"/>
              <a:t>Limitations of </a:t>
            </a:r>
            <a:r>
              <a:rPr lang="en-US" b="1" dirty="0" err="1"/>
              <a:t>DenseNet</a:t>
            </a:r>
            <a:endParaRPr lang="en-US" b="1" dirty="0"/>
          </a:p>
          <a:p>
            <a:pPr fontAlgn="base"/>
            <a:r>
              <a:rPr lang="en-US" b="1" dirty="0"/>
              <a:t>High Memory Consumption</a:t>
            </a:r>
            <a:r>
              <a:rPr lang="en-US" dirty="0"/>
              <a:t>: Dense connections increase memory usage due to the storage requirements for feature maps, making </a:t>
            </a:r>
            <a:r>
              <a:rPr lang="en-US" dirty="0" err="1"/>
              <a:t>DenseNet</a:t>
            </a:r>
            <a:r>
              <a:rPr lang="en-US" dirty="0"/>
              <a:t> less practical for devices with limited memory.</a:t>
            </a:r>
          </a:p>
          <a:p>
            <a:pPr fontAlgn="base"/>
            <a:r>
              <a:rPr lang="en-US" b="1" dirty="0"/>
              <a:t>Computational Complexity</a:t>
            </a:r>
            <a:r>
              <a:rPr lang="en-US" dirty="0"/>
              <a:t>: The extensive connectivity leads to increased computational demands, resulting in longer training times and higher computational costs, which may not be ideal for real-time applications.</a:t>
            </a:r>
          </a:p>
          <a:p>
            <a:pPr fontAlgn="base"/>
            <a:r>
              <a:rPr lang="en-US" b="1" dirty="0"/>
              <a:t>Implementation Complexity</a:t>
            </a:r>
            <a:r>
              <a:rPr lang="en-US" dirty="0"/>
              <a:t>: Managing and concatenating a large number of feature maps adds complexity to the implementation, requiring careful tuning of hyperparameters and</a:t>
            </a:r>
            <a:r>
              <a:rPr lang="en-US" u="sng" dirty="0">
                <a:hlinkClick r:id="rId2"/>
              </a:rPr>
              <a:t> </a:t>
            </a:r>
            <a:r>
              <a:rPr lang="en-US" dirty="0">
                <a:hlinkClick r:id="rId2">
                  <a:extLst>
                    <a:ext uri="{A12FA001-AC4F-418D-AE19-62706E023703}">
                      <ahyp:hlinkClr xmlns:ahyp="http://schemas.microsoft.com/office/drawing/2018/hyperlinkcolor" val="tx"/>
                    </a:ext>
                  </a:extLst>
                </a:hlinkClick>
              </a:rPr>
              <a:t>regularization techniques</a:t>
            </a:r>
            <a:r>
              <a:rPr lang="en-US" dirty="0"/>
              <a:t> to maintain performance and stability.</a:t>
            </a:r>
          </a:p>
          <a:p>
            <a:pPr fontAlgn="base"/>
            <a:r>
              <a:rPr lang="en-US" b="1" dirty="0"/>
              <a:t>Risk of Overfitting</a:t>
            </a:r>
            <a:r>
              <a:rPr lang="en-US" dirty="0"/>
              <a:t>: Although </a:t>
            </a:r>
            <a:r>
              <a:rPr lang="en-US" dirty="0" err="1"/>
              <a:t>DenseNet</a:t>
            </a:r>
            <a:r>
              <a:rPr lang="en-US" dirty="0"/>
              <a:t> reduces overfitting through better feature reuse, there is still a risk, particularly if the network is not properly regularized or if the training data is insufficient.</a:t>
            </a:r>
          </a:p>
          <a:p>
            <a:endParaRPr lang="en-IN" dirty="0"/>
          </a:p>
        </p:txBody>
      </p:sp>
    </p:spTree>
    <p:extLst>
      <p:ext uri="{BB962C8B-B14F-4D97-AF65-F5344CB8AC3E}">
        <p14:creationId xmlns:p14="http://schemas.microsoft.com/office/powerpoint/2010/main" val="363878463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19E29-5568-DB90-7FA5-FFA0D9C28943}"/>
              </a:ext>
            </a:extLst>
          </p:cNvPr>
          <p:cNvSpPr>
            <a:spLocks noGrp="1"/>
          </p:cNvSpPr>
          <p:nvPr>
            <p:ph type="title"/>
          </p:nvPr>
        </p:nvSpPr>
        <p:spPr/>
        <p:txBody>
          <a:bodyPr>
            <a:normAutofit fontScale="90000"/>
          </a:bodyPr>
          <a:lstStyle/>
          <a:p>
            <a:r>
              <a:rPr lang="en-IN" dirty="0" err="1"/>
              <a:t>Mobilenet</a:t>
            </a:r>
            <a:r>
              <a:rPr lang="en-IN" dirty="0"/>
              <a:t> V2 Architecture</a:t>
            </a:r>
          </a:p>
        </p:txBody>
      </p:sp>
      <p:sp>
        <p:nvSpPr>
          <p:cNvPr id="3" name="Content Placeholder 2">
            <a:extLst>
              <a:ext uri="{FF2B5EF4-FFF2-40B4-BE49-F238E27FC236}">
                <a16:creationId xmlns:a16="http://schemas.microsoft.com/office/drawing/2014/main" id="{BBB241B9-D25E-D754-E02A-B323CECEB07F}"/>
              </a:ext>
            </a:extLst>
          </p:cNvPr>
          <p:cNvSpPr>
            <a:spLocks noGrp="1"/>
          </p:cNvSpPr>
          <p:nvPr>
            <p:ph idx="1"/>
          </p:nvPr>
        </p:nvSpPr>
        <p:spPr/>
        <p:txBody>
          <a:bodyPr/>
          <a:lstStyle/>
          <a:p>
            <a:r>
              <a:rPr lang="en-US" dirty="0"/>
              <a:t>The need for efficient neural network architectures has grown with the proliferation of mobile devices and the demand for on-device AI applications. </a:t>
            </a:r>
          </a:p>
          <a:p>
            <a:r>
              <a:rPr lang="en-US" dirty="0"/>
              <a:t>Traditional deep learning models are computationally expensive and require significant memory, making them unsuitable for deployment on resource-constrained devices.</a:t>
            </a:r>
          </a:p>
          <a:p>
            <a:r>
              <a:rPr lang="en-US" dirty="0"/>
              <a:t> </a:t>
            </a:r>
            <a:r>
              <a:rPr lang="en-US" dirty="0" err="1"/>
              <a:t>MobileNet</a:t>
            </a:r>
            <a:r>
              <a:rPr lang="en-US" dirty="0"/>
              <a:t> V2 addresses these challenges by introducing an optimized architecture that balances performance and efficiency.</a:t>
            </a:r>
            <a:endParaRPr lang="en-IN" dirty="0"/>
          </a:p>
        </p:txBody>
      </p:sp>
    </p:spTree>
    <p:extLst>
      <p:ext uri="{BB962C8B-B14F-4D97-AF65-F5344CB8AC3E}">
        <p14:creationId xmlns:p14="http://schemas.microsoft.com/office/powerpoint/2010/main" val="180244399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60378-996C-31E0-0A35-31C6A63502D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7B4CC88-5E7D-3FA2-CB81-0C3E886F002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B08432F-A1C6-393C-DE70-FAA9FDE068AB}"/>
              </a:ext>
            </a:extLst>
          </p:cNvPr>
          <p:cNvPicPr>
            <a:picLocks noChangeAspect="1"/>
          </p:cNvPicPr>
          <p:nvPr/>
        </p:nvPicPr>
        <p:blipFill>
          <a:blip r:embed="rId2"/>
          <a:stretch>
            <a:fillRect/>
          </a:stretch>
        </p:blipFill>
        <p:spPr>
          <a:xfrm>
            <a:off x="822960" y="462915"/>
            <a:ext cx="10546080" cy="5932170"/>
          </a:xfrm>
          <a:prstGeom prst="rect">
            <a:avLst/>
          </a:prstGeom>
        </p:spPr>
      </p:pic>
    </p:spTree>
    <p:extLst>
      <p:ext uri="{BB962C8B-B14F-4D97-AF65-F5344CB8AC3E}">
        <p14:creationId xmlns:p14="http://schemas.microsoft.com/office/powerpoint/2010/main" val="47495164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8CEB-EC89-4291-0D99-636FF0B44D51}"/>
              </a:ext>
            </a:extLst>
          </p:cNvPr>
          <p:cNvSpPr>
            <a:spLocks noGrp="1"/>
          </p:cNvSpPr>
          <p:nvPr>
            <p:ph type="title"/>
          </p:nvPr>
        </p:nvSpPr>
        <p:spPr/>
        <p:txBody>
          <a:bodyPr>
            <a:normAutofit fontScale="90000"/>
          </a:bodyPr>
          <a:lstStyle/>
          <a:p>
            <a:endParaRPr lang="en-IN"/>
          </a:p>
        </p:txBody>
      </p:sp>
      <p:pic>
        <p:nvPicPr>
          <p:cNvPr id="5" name="Content Placeholder 4">
            <a:extLst>
              <a:ext uri="{FF2B5EF4-FFF2-40B4-BE49-F238E27FC236}">
                <a16:creationId xmlns:a16="http://schemas.microsoft.com/office/drawing/2014/main" id="{396D7D23-2875-1409-43F7-6DB7A3CD19D3}"/>
              </a:ext>
            </a:extLst>
          </p:cNvPr>
          <p:cNvPicPr>
            <a:picLocks noGrp="1" noChangeAspect="1"/>
          </p:cNvPicPr>
          <p:nvPr>
            <p:ph idx="1"/>
          </p:nvPr>
        </p:nvPicPr>
        <p:blipFill>
          <a:blip r:embed="rId2"/>
          <a:stretch>
            <a:fillRect/>
          </a:stretch>
        </p:blipFill>
        <p:spPr>
          <a:xfrm>
            <a:off x="1300197" y="1047259"/>
            <a:ext cx="9428763" cy="5303679"/>
          </a:xfrm>
          <a:prstGeom prst="rect">
            <a:avLst/>
          </a:prstGeom>
        </p:spPr>
      </p:pic>
    </p:spTree>
    <p:extLst>
      <p:ext uri="{BB962C8B-B14F-4D97-AF65-F5344CB8AC3E}">
        <p14:creationId xmlns:p14="http://schemas.microsoft.com/office/powerpoint/2010/main" val="163433395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5834C-FD21-0392-C862-9E112DFDD10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9143E06-A2F6-3323-0CA3-6A26257C0E43}"/>
              </a:ext>
            </a:extLst>
          </p:cNvPr>
          <p:cNvSpPr>
            <a:spLocks noGrp="1"/>
          </p:cNvSpPr>
          <p:nvPr>
            <p:ph idx="1"/>
          </p:nvPr>
        </p:nvSpPr>
        <p:spPr/>
        <p:txBody>
          <a:bodyPr/>
          <a:lstStyle/>
          <a:p>
            <a:endParaRPr lang="en-IN"/>
          </a:p>
        </p:txBody>
      </p:sp>
      <p:pic>
        <p:nvPicPr>
          <p:cNvPr id="1026" name="Picture 2" descr="MobileNetV2: The Next Generation of On-Device Computer Vision Networks">
            <a:extLst>
              <a:ext uri="{FF2B5EF4-FFF2-40B4-BE49-F238E27FC236}">
                <a16:creationId xmlns:a16="http://schemas.microsoft.com/office/drawing/2014/main" id="{199986B2-1AF8-6A1E-554A-910AF88B93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691" y="928518"/>
            <a:ext cx="6762909" cy="5227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4059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218F-D16A-88CA-5FCC-44C9A067E8A2}"/>
              </a:ext>
            </a:extLst>
          </p:cNvPr>
          <p:cNvSpPr>
            <a:spLocks noGrp="1"/>
          </p:cNvSpPr>
          <p:nvPr>
            <p:ph type="title"/>
          </p:nvPr>
        </p:nvSpPr>
        <p:spPr/>
        <p:txBody>
          <a:bodyPr>
            <a:normAutofit fontScale="90000"/>
          </a:bodyPr>
          <a:lstStyle/>
          <a:p>
            <a:r>
              <a:rPr lang="en-US" dirty="0"/>
              <a:t>Key Features of </a:t>
            </a:r>
            <a:r>
              <a:rPr lang="en-US" dirty="0" err="1"/>
              <a:t>MobileNet</a:t>
            </a:r>
            <a:r>
              <a:rPr lang="en-US" dirty="0"/>
              <a:t> V2</a:t>
            </a:r>
            <a:endParaRPr lang="en-IN" dirty="0"/>
          </a:p>
        </p:txBody>
      </p:sp>
      <p:sp>
        <p:nvSpPr>
          <p:cNvPr id="3" name="Content Placeholder 2">
            <a:extLst>
              <a:ext uri="{FF2B5EF4-FFF2-40B4-BE49-F238E27FC236}">
                <a16:creationId xmlns:a16="http://schemas.microsoft.com/office/drawing/2014/main" id="{763FA8AB-30E4-3090-03C7-36CB254D035A}"/>
              </a:ext>
            </a:extLst>
          </p:cNvPr>
          <p:cNvSpPr>
            <a:spLocks noGrp="1"/>
          </p:cNvSpPr>
          <p:nvPr>
            <p:ph idx="1"/>
          </p:nvPr>
        </p:nvSpPr>
        <p:spPr>
          <a:xfrm>
            <a:off x="1025842" y="1300480"/>
            <a:ext cx="10201275" cy="4825790"/>
          </a:xfrm>
        </p:spPr>
        <p:txBody>
          <a:bodyPr>
            <a:normAutofit/>
          </a:bodyPr>
          <a:lstStyle/>
          <a:p>
            <a:pPr fontAlgn="base"/>
            <a:r>
              <a:rPr lang="en-US" b="1" dirty="0"/>
              <a:t>1. Inverted Residuals</a:t>
            </a:r>
          </a:p>
          <a:p>
            <a:pPr fontAlgn="base"/>
            <a:r>
              <a:rPr lang="en-US" dirty="0" err="1"/>
              <a:t>MobileNet</a:t>
            </a:r>
            <a:r>
              <a:rPr lang="en-US" dirty="0"/>
              <a:t> V2 introduces the concept of inverted residuals with linear bottlenecks. This approach preserves </a:t>
            </a:r>
            <a:r>
              <a:rPr lang="en-US" b="1" dirty="0"/>
              <a:t>the input and output dimensions </a:t>
            </a:r>
            <a:r>
              <a:rPr lang="en-US" dirty="0"/>
              <a:t>while performing the intermediate layers in a lower-dimensional space, reducing the computational cost. The inverted residual block consists of three layers:</a:t>
            </a:r>
          </a:p>
          <a:p>
            <a:pPr fontAlgn="base"/>
            <a:r>
              <a:rPr lang="en-US" b="1" dirty="0"/>
              <a:t>1x1 Convolution (Expansion Layer)</a:t>
            </a:r>
            <a:r>
              <a:rPr lang="en-US" dirty="0"/>
              <a:t>: Expands the input channels by a factor, increasing the dimensionality of the data.</a:t>
            </a:r>
          </a:p>
          <a:p>
            <a:pPr fontAlgn="base"/>
            <a:r>
              <a:rPr lang="en-US" b="1" dirty="0" err="1"/>
              <a:t>Depthwise</a:t>
            </a:r>
            <a:r>
              <a:rPr lang="en-US" b="1" dirty="0"/>
              <a:t> Convolution</a:t>
            </a:r>
            <a:r>
              <a:rPr lang="en-US" dirty="0"/>
              <a:t>: Applies a </a:t>
            </a:r>
            <a:r>
              <a:rPr lang="en-US" dirty="0" err="1"/>
              <a:t>depthwise</a:t>
            </a:r>
            <a:r>
              <a:rPr lang="en-US" dirty="0"/>
              <a:t> convolution to each expanded channel independently, performing spatial convolution.</a:t>
            </a:r>
          </a:p>
          <a:p>
            <a:pPr fontAlgn="base"/>
            <a:r>
              <a:rPr lang="en-US" b="1" dirty="0"/>
              <a:t>1x1 Convolution (Projection Layer)</a:t>
            </a:r>
            <a:r>
              <a:rPr lang="en-US" dirty="0"/>
              <a:t>: Projects the expanded data back to a lower-dimensional space, reducing the number of channels to the desired output size.</a:t>
            </a:r>
          </a:p>
          <a:p>
            <a:endParaRPr lang="en-IN" dirty="0"/>
          </a:p>
        </p:txBody>
      </p:sp>
    </p:spTree>
    <p:extLst>
      <p:ext uri="{BB962C8B-B14F-4D97-AF65-F5344CB8AC3E}">
        <p14:creationId xmlns:p14="http://schemas.microsoft.com/office/powerpoint/2010/main" val="178561229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367E9-5BD3-D590-C8C4-968466E2CDC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4A91D2B-1A5C-9DD2-FBB7-B1C3F69B15C6}"/>
              </a:ext>
            </a:extLst>
          </p:cNvPr>
          <p:cNvSpPr>
            <a:spLocks noGrp="1"/>
          </p:cNvSpPr>
          <p:nvPr>
            <p:ph idx="1"/>
          </p:nvPr>
        </p:nvSpPr>
        <p:spPr>
          <a:xfrm>
            <a:off x="1025842" y="1584960"/>
            <a:ext cx="10201275" cy="4541310"/>
          </a:xfrm>
        </p:spPr>
        <p:txBody>
          <a:bodyPr/>
          <a:lstStyle/>
          <a:p>
            <a:r>
              <a:rPr lang="en-IN" dirty="0"/>
              <a:t>Flow of data inside one block:</a:t>
            </a:r>
          </a:p>
          <a:p>
            <a:r>
              <a:rPr lang="en-IN" dirty="0"/>
              <a:t>Input (narrow: h × w × k channels)</a:t>
            </a:r>
          </a:p>
          <a:p>
            <a:r>
              <a:rPr lang="en-IN" dirty="0"/>
              <a:t>1×1 conv + ReLU6 → expand to h × w × (</a:t>
            </a:r>
            <a:r>
              <a:rPr lang="en-IN" dirty="0" err="1"/>
              <a:t>t·k</a:t>
            </a:r>
            <a:r>
              <a:rPr lang="en-IN" dirty="0"/>
              <a:t>) (wide)</a:t>
            </a:r>
          </a:p>
          <a:p>
            <a:r>
              <a:rPr lang="en-IN" dirty="0" err="1"/>
              <a:t>Depthwise</a:t>
            </a:r>
            <a:r>
              <a:rPr lang="en-IN" dirty="0"/>
              <a:t> 3×3 conv + ReLU6 → still wide, spatial filtering is cheap</a:t>
            </a:r>
          </a:p>
          <a:p>
            <a:r>
              <a:rPr lang="en-IN" dirty="0"/>
              <a:t>1×1 conv + </a:t>
            </a:r>
            <a:r>
              <a:rPr lang="en-IN" b="1" dirty="0"/>
              <a:t>Linear</a:t>
            </a:r>
            <a:r>
              <a:rPr lang="en-IN" dirty="0"/>
              <a:t> (no </a:t>
            </a:r>
            <a:r>
              <a:rPr lang="en-IN" dirty="0" err="1"/>
              <a:t>ReLU</a:t>
            </a:r>
            <a:r>
              <a:rPr lang="en-IN" dirty="0"/>
              <a:t>!) → project back to h × w × k' (narrow again)</a:t>
            </a:r>
          </a:p>
          <a:p>
            <a:r>
              <a:rPr lang="en-IN" dirty="0"/>
              <a:t>Add shortcut: output = projection + input (only if stride=1 and channels match)</a:t>
            </a:r>
          </a:p>
          <a:p>
            <a:endParaRPr lang="en-IN" dirty="0"/>
          </a:p>
        </p:txBody>
      </p:sp>
    </p:spTree>
    <p:extLst>
      <p:ext uri="{BB962C8B-B14F-4D97-AF65-F5344CB8AC3E}">
        <p14:creationId xmlns:p14="http://schemas.microsoft.com/office/powerpoint/2010/main" val="425105341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AA965-8F2C-264B-F158-8F41344BCCE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491BA64-942F-9F0D-F42D-A4D0A3E8205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E74F29E-2740-CEE9-11A5-5D9591E42543}"/>
              </a:ext>
            </a:extLst>
          </p:cNvPr>
          <p:cNvPicPr>
            <a:picLocks noChangeAspect="1"/>
          </p:cNvPicPr>
          <p:nvPr/>
        </p:nvPicPr>
        <p:blipFill>
          <a:blip r:embed="rId2"/>
          <a:stretch>
            <a:fillRect/>
          </a:stretch>
        </p:blipFill>
        <p:spPr>
          <a:xfrm>
            <a:off x="396240" y="1290002"/>
            <a:ext cx="7098030" cy="4562475"/>
          </a:xfrm>
          <a:prstGeom prst="rect">
            <a:avLst/>
          </a:prstGeom>
        </p:spPr>
      </p:pic>
    </p:spTree>
    <p:extLst>
      <p:ext uri="{BB962C8B-B14F-4D97-AF65-F5344CB8AC3E}">
        <p14:creationId xmlns:p14="http://schemas.microsoft.com/office/powerpoint/2010/main" val="281225511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3ACFC-5BBB-9F98-218D-8614F21A2AE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4186D92-68BA-574D-3C56-BAE05823F596}"/>
              </a:ext>
            </a:extLst>
          </p:cNvPr>
          <p:cNvSpPr>
            <a:spLocks noGrp="1"/>
          </p:cNvSpPr>
          <p:nvPr>
            <p:ph idx="1"/>
          </p:nvPr>
        </p:nvSpPr>
        <p:spPr>
          <a:xfrm>
            <a:off x="883227" y="1361208"/>
            <a:ext cx="10343890" cy="4765061"/>
          </a:xfrm>
        </p:spPr>
        <p:txBody>
          <a:bodyPr>
            <a:normAutofit fontScale="92500" lnSpcReduction="10000"/>
          </a:bodyPr>
          <a:lstStyle/>
          <a:p>
            <a:pPr fontAlgn="base"/>
            <a:r>
              <a:rPr lang="en-US" b="1" dirty="0"/>
              <a:t>2. </a:t>
            </a:r>
            <a:r>
              <a:rPr lang="en-US" b="1" dirty="0" err="1"/>
              <a:t>Depthwise</a:t>
            </a:r>
            <a:r>
              <a:rPr lang="en-US" b="1" dirty="0"/>
              <a:t> Separable Convolutions</a:t>
            </a:r>
          </a:p>
          <a:p>
            <a:pPr fontAlgn="base"/>
            <a:r>
              <a:rPr lang="en-US" dirty="0"/>
              <a:t>Similar to </a:t>
            </a:r>
            <a:r>
              <a:rPr lang="en-US" dirty="0" err="1"/>
              <a:t>MobileNet</a:t>
            </a:r>
            <a:r>
              <a:rPr lang="en-US" dirty="0"/>
              <a:t> V1, </a:t>
            </a:r>
            <a:r>
              <a:rPr lang="en-US" dirty="0" err="1"/>
              <a:t>MobileNet</a:t>
            </a:r>
            <a:r>
              <a:rPr lang="en-US" dirty="0"/>
              <a:t> V2 utilizes </a:t>
            </a:r>
            <a:r>
              <a:rPr lang="en-US" dirty="0" err="1"/>
              <a:t>depthwise</a:t>
            </a:r>
            <a:r>
              <a:rPr lang="en-US" dirty="0"/>
              <a:t> separable convolutions, which split a standard convolution into two operations: </a:t>
            </a:r>
            <a:r>
              <a:rPr lang="en-US" b="1" dirty="0" err="1"/>
              <a:t>depthwise</a:t>
            </a:r>
            <a:r>
              <a:rPr lang="en-US" b="1" dirty="0"/>
              <a:t> convolution and pointwise convolution. </a:t>
            </a:r>
          </a:p>
          <a:p>
            <a:pPr fontAlgn="base"/>
            <a:r>
              <a:rPr lang="en-US" dirty="0"/>
              <a:t>This separation significantly reduces the number of parameters and computations, making the network more efficient.</a:t>
            </a:r>
          </a:p>
          <a:p>
            <a:pPr fontAlgn="base"/>
            <a:r>
              <a:rPr lang="en-US" b="1" dirty="0"/>
              <a:t>3. Linear Bottlenecks</a:t>
            </a:r>
          </a:p>
          <a:p>
            <a:pPr fontAlgn="base"/>
            <a:r>
              <a:rPr lang="en-US" dirty="0"/>
              <a:t>The architecture incorporates linear bottlenecks between layers, ensuring that the manifold of the input data is not overly compressed. </a:t>
            </a:r>
          </a:p>
          <a:p>
            <a:pPr fontAlgn="base"/>
            <a:r>
              <a:rPr lang="en-US" dirty="0"/>
              <a:t>This technique helps in retaining more information and improving model accuracy.</a:t>
            </a:r>
          </a:p>
          <a:p>
            <a:pPr fontAlgn="base"/>
            <a:r>
              <a:rPr lang="en-US" dirty="0"/>
              <a:t> The linear bottleneck layer follows the pattern of 1x1 convolution for expansion, </a:t>
            </a:r>
            <a:r>
              <a:rPr lang="en-US" dirty="0" err="1"/>
              <a:t>depthwise</a:t>
            </a:r>
            <a:r>
              <a:rPr lang="en-US" dirty="0"/>
              <a:t> convolution for spatial filtering, and another 1x1 convolution for projection.</a:t>
            </a:r>
            <a:endParaRPr lang="en-IN" dirty="0"/>
          </a:p>
        </p:txBody>
      </p:sp>
    </p:spTree>
    <p:extLst>
      <p:ext uri="{BB962C8B-B14F-4D97-AF65-F5344CB8AC3E}">
        <p14:creationId xmlns:p14="http://schemas.microsoft.com/office/powerpoint/2010/main" val="389964965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D4663-4234-362B-F7F9-B6E35DA3B97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B1BED2E-004E-2741-9288-E0C496EF2A1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504EDC0-C005-A430-F5B5-996A21355F97}"/>
              </a:ext>
            </a:extLst>
          </p:cNvPr>
          <p:cNvPicPr>
            <a:picLocks noChangeAspect="1"/>
          </p:cNvPicPr>
          <p:nvPr/>
        </p:nvPicPr>
        <p:blipFill>
          <a:blip r:embed="rId2"/>
          <a:stretch>
            <a:fillRect/>
          </a:stretch>
        </p:blipFill>
        <p:spPr>
          <a:xfrm>
            <a:off x="2047875" y="1119187"/>
            <a:ext cx="8096250" cy="4619625"/>
          </a:xfrm>
          <a:prstGeom prst="rect">
            <a:avLst/>
          </a:prstGeom>
        </p:spPr>
      </p:pic>
    </p:spTree>
    <p:extLst>
      <p:ext uri="{BB962C8B-B14F-4D97-AF65-F5344CB8AC3E}">
        <p14:creationId xmlns:p14="http://schemas.microsoft.com/office/powerpoint/2010/main" val="23970974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016AB-CA0F-2585-1266-AFCFBA635C9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ADA33A1-C507-7010-D05A-DA82425B2A87}"/>
              </a:ext>
            </a:extLst>
          </p:cNvPr>
          <p:cNvSpPr>
            <a:spLocks noGrp="1"/>
          </p:cNvSpPr>
          <p:nvPr>
            <p:ph idx="1"/>
          </p:nvPr>
        </p:nvSpPr>
        <p:spPr/>
        <p:txBody>
          <a:bodyPr/>
          <a:lstStyle/>
          <a:p>
            <a:pPr fontAlgn="base"/>
            <a:r>
              <a:rPr lang="en-US" b="1" dirty="0"/>
              <a:t>4. ReLU6 Activation Function</a:t>
            </a:r>
          </a:p>
          <a:p>
            <a:pPr fontAlgn="base"/>
            <a:r>
              <a:rPr lang="en-US" dirty="0" err="1"/>
              <a:t>MobileNet</a:t>
            </a:r>
            <a:r>
              <a:rPr lang="en-US" dirty="0"/>
              <a:t> V2 employs the ReLU6 activation function, a modified version of the </a:t>
            </a:r>
            <a:r>
              <a:rPr lang="en-US" dirty="0" err="1"/>
              <a:t>ReLU</a:t>
            </a:r>
            <a:r>
              <a:rPr lang="en-US" dirty="0"/>
              <a:t> function. </a:t>
            </a:r>
          </a:p>
          <a:p>
            <a:pPr fontAlgn="base"/>
            <a:r>
              <a:rPr lang="en-US" dirty="0"/>
              <a:t>ReLU6 restricts the activation values to a range of [0, 6], providing better quantization properties for efficient computation on mobile devices. </a:t>
            </a:r>
          </a:p>
          <a:p>
            <a:pPr fontAlgn="base"/>
            <a:r>
              <a:rPr lang="en-US" dirty="0"/>
              <a:t>This activation function helps in achieving a balance between accuracy and efficiency.</a:t>
            </a:r>
          </a:p>
          <a:p>
            <a:endParaRPr lang="en-IN" dirty="0"/>
          </a:p>
        </p:txBody>
      </p:sp>
    </p:spTree>
    <p:extLst>
      <p:ext uri="{BB962C8B-B14F-4D97-AF65-F5344CB8AC3E}">
        <p14:creationId xmlns:p14="http://schemas.microsoft.com/office/powerpoint/2010/main" val="252743592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9D35-8BE5-B450-B706-DE35A19773CC}"/>
              </a:ext>
            </a:extLst>
          </p:cNvPr>
          <p:cNvSpPr>
            <a:spLocks noGrp="1"/>
          </p:cNvSpPr>
          <p:nvPr>
            <p:ph type="title"/>
          </p:nvPr>
        </p:nvSpPr>
        <p:spPr/>
        <p:txBody>
          <a:bodyPr>
            <a:normAutofit fontScale="90000"/>
          </a:bodyPr>
          <a:lstStyle/>
          <a:p>
            <a:r>
              <a:rPr lang="en-US" dirty="0" err="1"/>
              <a:t>MobileNet</a:t>
            </a:r>
            <a:r>
              <a:rPr lang="en-US" dirty="0"/>
              <a:t> V2 Architecture</a:t>
            </a:r>
            <a:endParaRPr lang="en-IN" dirty="0"/>
          </a:p>
        </p:txBody>
      </p:sp>
      <p:sp>
        <p:nvSpPr>
          <p:cNvPr id="3" name="Content Placeholder 2">
            <a:extLst>
              <a:ext uri="{FF2B5EF4-FFF2-40B4-BE49-F238E27FC236}">
                <a16:creationId xmlns:a16="http://schemas.microsoft.com/office/drawing/2014/main" id="{A8AD3DF9-3AE6-97FC-EE96-7C98B83A0CA1}"/>
              </a:ext>
            </a:extLst>
          </p:cNvPr>
          <p:cNvSpPr>
            <a:spLocks noGrp="1"/>
          </p:cNvSpPr>
          <p:nvPr>
            <p:ph idx="1"/>
          </p:nvPr>
        </p:nvSpPr>
        <p:spPr>
          <a:xfrm>
            <a:off x="945573" y="1454727"/>
            <a:ext cx="10179627" cy="4515679"/>
          </a:xfrm>
        </p:spPr>
        <p:txBody>
          <a:bodyPr>
            <a:normAutofit fontScale="92500" lnSpcReduction="20000"/>
          </a:bodyPr>
          <a:lstStyle/>
          <a:p>
            <a:pPr fontAlgn="base"/>
            <a:r>
              <a:rPr lang="en-US" dirty="0"/>
              <a:t>The </a:t>
            </a:r>
            <a:r>
              <a:rPr lang="en-US" dirty="0" err="1"/>
              <a:t>MobileNet</a:t>
            </a:r>
            <a:r>
              <a:rPr lang="en-US" dirty="0"/>
              <a:t> V2 architecture is built upon several key building blocks, including the inverted residual block, which is the core component of the network.</a:t>
            </a:r>
          </a:p>
          <a:p>
            <a:pPr fontAlgn="base"/>
            <a:r>
              <a:rPr lang="en-US" b="1" dirty="0"/>
              <a:t>Network Structure</a:t>
            </a:r>
          </a:p>
          <a:p>
            <a:pPr fontAlgn="base"/>
            <a:r>
              <a:rPr lang="en-US" dirty="0" err="1"/>
              <a:t>MobileNet</a:t>
            </a:r>
            <a:r>
              <a:rPr lang="en-US" dirty="0"/>
              <a:t> V2 follows a streamlined architecture consisting of:</a:t>
            </a:r>
          </a:p>
          <a:p>
            <a:pPr fontAlgn="base"/>
            <a:r>
              <a:rPr lang="en-US" b="1" dirty="0"/>
              <a:t>Initial Convolution Layer</a:t>
            </a:r>
            <a:r>
              <a:rPr lang="en-US" dirty="0"/>
              <a:t>: A standard convolution layer with 32 filters and a stride of 2.</a:t>
            </a:r>
          </a:p>
          <a:p>
            <a:pPr fontAlgn="base"/>
            <a:r>
              <a:rPr lang="en-US" b="1" dirty="0"/>
              <a:t>Series of Inverted Residual Blocks</a:t>
            </a:r>
            <a:r>
              <a:rPr lang="en-US" dirty="0"/>
              <a:t>: The network contains several stages, each with a specific number of inverted residual blocks. The expansion factors, output channels, and strides vary across stages to manage the computational complexity and receptive field.</a:t>
            </a:r>
          </a:p>
          <a:p>
            <a:pPr fontAlgn="base"/>
            <a:r>
              <a:rPr lang="en-US" b="1" dirty="0"/>
              <a:t>Final Convolution Layer</a:t>
            </a:r>
            <a:r>
              <a:rPr lang="en-US" dirty="0"/>
              <a:t>: A 1x1 convolution layer with 1280 filters, followed by a global average pooling layer.</a:t>
            </a:r>
          </a:p>
          <a:p>
            <a:pPr fontAlgn="base"/>
            <a:r>
              <a:rPr lang="en-US" b="1" dirty="0"/>
              <a:t>Fully Connected Layer</a:t>
            </a:r>
            <a:r>
              <a:rPr lang="en-US" dirty="0"/>
              <a:t>: A fully connected layer with </a:t>
            </a:r>
            <a:r>
              <a:rPr lang="en-US" dirty="0" err="1"/>
              <a:t>softmax</a:t>
            </a:r>
            <a:r>
              <a:rPr lang="en-US" dirty="0"/>
              <a:t> activation for classification tasks.</a:t>
            </a:r>
          </a:p>
          <a:p>
            <a:endParaRPr lang="en-IN" dirty="0"/>
          </a:p>
        </p:txBody>
      </p:sp>
    </p:spTree>
    <p:extLst>
      <p:ext uri="{BB962C8B-B14F-4D97-AF65-F5344CB8AC3E}">
        <p14:creationId xmlns:p14="http://schemas.microsoft.com/office/powerpoint/2010/main" val="74163982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9E4CA-6295-D0C0-BE75-3EA1C9C1B73A}"/>
              </a:ext>
            </a:extLst>
          </p:cNvPr>
          <p:cNvSpPr>
            <a:spLocks noGrp="1"/>
          </p:cNvSpPr>
          <p:nvPr>
            <p:ph type="title"/>
          </p:nvPr>
        </p:nvSpPr>
        <p:spPr/>
        <p:txBody>
          <a:bodyPr>
            <a:normAutofit fontScale="90000"/>
          </a:bodyPr>
          <a:lstStyle/>
          <a:p>
            <a:r>
              <a:rPr lang="en-IN" dirty="0"/>
              <a:t>Detailed Layer Configuration</a:t>
            </a:r>
          </a:p>
        </p:txBody>
      </p:sp>
      <p:graphicFrame>
        <p:nvGraphicFramePr>
          <p:cNvPr id="4" name="Content Placeholder 3">
            <a:extLst>
              <a:ext uri="{FF2B5EF4-FFF2-40B4-BE49-F238E27FC236}">
                <a16:creationId xmlns:a16="http://schemas.microsoft.com/office/drawing/2014/main" id="{39BE4828-C2C9-FC9D-9B6D-88C1F9032F15}"/>
              </a:ext>
            </a:extLst>
          </p:cNvPr>
          <p:cNvGraphicFramePr>
            <a:graphicFrameLocks noGrp="1"/>
          </p:cNvGraphicFramePr>
          <p:nvPr>
            <p:ph idx="1"/>
            <p:extLst>
              <p:ext uri="{D42A27DB-BD31-4B8C-83A1-F6EECF244321}">
                <p14:modId xmlns:p14="http://schemas.microsoft.com/office/powerpoint/2010/main" val="766259651"/>
              </p:ext>
            </p:extLst>
          </p:nvPr>
        </p:nvGraphicFramePr>
        <p:xfrm>
          <a:off x="1" y="1205345"/>
          <a:ext cx="11824858" cy="5048438"/>
        </p:xfrm>
        <a:graphic>
          <a:graphicData uri="http://schemas.openxmlformats.org/drawingml/2006/table">
            <a:tbl>
              <a:tblPr/>
              <a:tblGrid>
                <a:gridCol w="2357589">
                  <a:extLst>
                    <a:ext uri="{9D8B030D-6E8A-4147-A177-3AD203B41FA5}">
                      <a16:colId xmlns:a16="http://schemas.microsoft.com/office/drawing/2014/main" val="148751086"/>
                    </a:ext>
                  </a:extLst>
                </a:gridCol>
                <a:gridCol w="1584029">
                  <a:extLst>
                    <a:ext uri="{9D8B030D-6E8A-4147-A177-3AD203B41FA5}">
                      <a16:colId xmlns:a16="http://schemas.microsoft.com/office/drawing/2014/main" val="2622410138"/>
                    </a:ext>
                  </a:extLst>
                </a:gridCol>
                <a:gridCol w="1970810">
                  <a:extLst>
                    <a:ext uri="{9D8B030D-6E8A-4147-A177-3AD203B41FA5}">
                      <a16:colId xmlns:a16="http://schemas.microsoft.com/office/drawing/2014/main" val="1608198510"/>
                    </a:ext>
                  </a:extLst>
                </a:gridCol>
                <a:gridCol w="1970810">
                  <a:extLst>
                    <a:ext uri="{9D8B030D-6E8A-4147-A177-3AD203B41FA5}">
                      <a16:colId xmlns:a16="http://schemas.microsoft.com/office/drawing/2014/main" val="2406889822"/>
                    </a:ext>
                  </a:extLst>
                </a:gridCol>
                <a:gridCol w="1970810">
                  <a:extLst>
                    <a:ext uri="{9D8B030D-6E8A-4147-A177-3AD203B41FA5}">
                      <a16:colId xmlns:a16="http://schemas.microsoft.com/office/drawing/2014/main" val="315896393"/>
                    </a:ext>
                  </a:extLst>
                </a:gridCol>
                <a:gridCol w="1970810">
                  <a:extLst>
                    <a:ext uri="{9D8B030D-6E8A-4147-A177-3AD203B41FA5}">
                      <a16:colId xmlns:a16="http://schemas.microsoft.com/office/drawing/2014/main" val="742183345"/>
                    </a:ext>
                  </a:extLst>
                </a:gridCol>
              </a:tblGrid>
              <a:tr h="287160">
                <a:tc>
                  <a:txBody>
                    <a:bodyPr/>
                    <a:lstStyle/>
                    <a:p>
                      <a:pPr algn="ctr" fontAlgn="base">
                        <a:buNone/>
                      </a:pPr>
                      <a:r>
                        <a:rPr lang="en-IN" sz="1400" b="1">
                          <a:effectLst/>
                          <a:latin typeface="Nunito" pitchFamily="2" charset="0"/>
                        </a:rPr>
                        <a:t>Layer Type</a:t>
                      </a:r>
                    </a:p>
                  </a:txBody>
                  <a:tcPr marL="26166" marR="26166" marT="52332" marB="52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a:effectLst/>
                          <a:latin typeface="Nunito" pitchFamily="2" charset="0"/>
                        </a:rPr>
                        <a:t>Input Size</a:t>
                      </a:r>
                    </a:p>
                  </a:txBody>
                  <a:tcPr marL="52332" marR="52332" marT="52332" marB="52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a:effectLst/>
                          <a:latin typeface="Nunito" pitchFamily="2" charset="0"/>
                        </a:rPr>
                        <a:t>Output Size</a:t>
                      </a:r>
                    </a:p>
                  </a:txBody>
                  <a:tcPr marL="52332" marR="52332" marT="52332" marB="52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a:effectLst/>
                          <a:latin typeface="Nunito" pitchFamily="2" charset="0"/>
                        </a:rPr>
                        <a:t>Kernel Size</a:t>
                      </a:r>
                    </a:p>
                  </a:txBody>
                  <a:tcPr marL="52332" marR="52332" marT="52332" marB="52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a:effectLst/>
                          <a:latin typeface="Nunito" pitchFamily="2" charset="0"/>
                        </a:rPr>
                        <a:t>Stride</a:t>
                      </a:r>
                    </a:p>
                  </a:txBody>
                  <a:tcPr marL="52332" marR="52332" marT="52332" marB="52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buNone/>
                      </a:pPr>
                      <a:r>
                        <a:rPr lang="en-IN" sz="1400" b="1">
                          <a:effectLst/>
                          <a:latin typeface="Nunito" pitchFamily="2" charset="0"/>
                        </a:rPr>
                        <a:t>Expansion Factor</a:t>
                      </a:r>
                    </a:p>
                  </a:txBody>
                  <a:tcPr marL="52332" marR="52332" marT="52332" marB="52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524950323"/>
                  </a:ext>
                </a:extLst>
              </a:tr>
              <a:tr h="316904">
                <a:tc>
                  <a:txBody>
                    <a:bodyPr/>
                    <a:lstStyle/>
                    <a:p>
                      <a:pPr algn="ctr" fontAlgn="ctr">
                        <a:buNone/>
                      </a:pPr>
                      <a:r>
                        <a:rPr lang="en-IN" sz="1400" b="0">
                          <a:effectLst/>
                          <a:latin typeface="Nunito" pitchFamily="2" charset="0"/>
                        </a:rPr>
                        <a:t>Initial Conv</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224x224x3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112x112x32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3x3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64320899"/>
                  </a:ext>
                </a:extLst>
              </a:tr>
              <a:tr h="470122">
                <a:tc>
                  <a:txBody>
                    <a:bodyPr/>
                    <a:lstStyle/>
                    <a:p>
                      <a:pPr algn="ctr" fontAlgn="ctr">
                        <a:buNone/>
                      </a:pPr>
                      <a:r>
                        <a:rPr lang="en-IN" sz="1400" b="0">
                          <a:effectLst/>
                          <a:latin typeface="Nunito" pitchFamily="2" charset="0"/>
                        </a:rPr>
                        <a:t>Inverted Residual Block</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112x112x32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112x112x16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3x3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77960771"/>
                  </a:ext>
                </a:extLst>
              </a:tr>
              <a:tr h="470122">
                <a:tc>
                  <a:txBody>
                    <a:bodyPr/>
                    <a:lstStyle/>
                    <a:p>
                      <a:pPr algn="ctr" fontAlgn="ctr">
                        <a:buNone/>
                      </a:pPr>
                      <a:r>
                        <a:rPr lang="en-IN" sz="1400" b="0">
                          <a:effectLst/>
                          <a:latin typeface="Nunito" pitchFamily="2" charset="0"/>
                        </a:rPr>
                        <a:t>Inverted Residual Block x2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112x112x16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56x56x24</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3x3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01924002"/>
                  </a:ext>
                </a:extLst>
              </a:tr>
              <a:tr h="470122">
                <a:tc>
                  <a:txBody>
                    <a:bodyPr/>
                    <a:lstStyle/>
                    <a:p>
                      <a:pPr algn="ctr" fontAlgn="ctr">
                        <a:buNone/>
                      </a:pPr>
                      <a:r>
                        <a:rPr lang="en-IN" sz="1400" b="0">
                          <a:effectLst/>
                          <a:latin typeface="Nunito" pitchFamily="2" charset="0"/>
                        </a:rPr>
                        <a:t>Inverted Residual Block 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56x56x24</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28x28x32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3x3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32633783"/>
                  </a:ext>
                </a:extLst>
              </a:tr>
              <a:tr h="470122">
                <a:tc>
                  <a:txBody>
                    <a:bodyPr/>
                    <a:lstStyle/>
                    <a:p>
                      <a:pPr algn="ctr" fontAlgn="ctr">
                        <a:buNone/>
                      </a:pPr>
                      <a:r>
                        <a:rPr lang="en-IN" sz="1400" b="0">
                          <a:effectLst/>
                          <a:latin typeface="Nunito" pitchFamily="2" charset="0"/>
                        </a:rPr>
                        <a:t>Inverted Residual Block x4</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28x28x32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14x14x64</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3x3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42300480"/>
                  </a:ext>
                </a:extLst>
              </a:tr>
              <a:tr h="470122">
                <a:tc>
                  <a:txBody>
                    <a:bodyPr/>
                    <a:lstStyle/>
                    <a:p>
                      <a:pPr algn="ctr" fontAlgn="ctr">
                        <a:buNone/>
                      </a:pPr>
                      <a:r>
                        <a:rPr lang="en-IN" sz="1400" b="0">
                          <a:effectLst/>
                          <a:latin typeface="Nunito" pitchFamily="2" charset="0"/>
                        </a:rPr>
                        <a:t>Inverted Residual Block 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14x14x64</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14x14x96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3x3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66894821"/>
                  </a:ext>
                </a:extLst>
              </a:tr>
              <a:tr h="470122">
                <a:tc>
                  <a:txBody>
                    <a:bodyPr/>
                    <a:lstStyle/>
                    <a:p>
                      <a:pPr algn="ctr" fontAlgn="ctr">
                        <a:buNone/>
                      </a:pPr>
                      <a:r>
                        <a:rPr lang="en-IN" sz="1400" b="0">
                          <a:effectLst/>
                          <a:latin typeface="Nunito" pitchFamily="2" charset="0"/>
                        </a:rPr>
                        <a:t>Inverted Residual Block 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14x14x96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7x7x160</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3x3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2</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2073362"/>
                  </a:ext>
                </a:extLst>
              </a:tr>
              <a:tr h="470122">
                <a:tc>
                  <a:txBody>
                    <a:bodyPr/>
                    <a:lstStyle/>
                    <a:p>
                      <a:pPr algn="ctr" fontAlgn="ctr">
                        <a:buNone/>
                      </a:pPr>
                      <a:r>
                        <a:rPr lang="en-IN" sz="1400" b="0">
                          <a:effectLst/>
                          <a:latin typeface="Nunito" pitchFamily="2" charset="0"/>
                        </a:rPr>
                        <a:t>Inverted Residual Block x1</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7x7x160</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7x7x320</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3x3</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6</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10734331"/>
                  </a:ext>
                </a:extLst>
              </a:tr>
              <a:tr h="316904">
                <a:tc>
                  <a:txBody>
                    <a:bodyPr/>
                    <a:lstStyle/>
                    <a:p>
                      <a:pPr algn="ctr" fontAlgn="ctr">
                        <a:buNone/>
                      </a:pPr>
                      <a:r>
                        <a:rPr lang="en-IN" sz="1400" b="0">
                          <a:effectLst/>
                          <a:latin typeface="Nunito" pitchFamily="2" charset="0"/>
                        </a:rPr>
                        <a:t>Final Conv</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7x7x320</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7x7x1280</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dirty="0">
                          <a:effectLst/>
                          <a:latin typeface="Nunito" pitchFamily="2" charset="0"/>
                        </a:rPr>
                        <a:t>1x1</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26203440"/>
                  </a:ext>
                </a:extLst>
              </a:tr>
              <a:tr h="316904">
                <a:tc>
                  <a:txBody>
                    <a:bodyPr/>
                    <a:lstStyle/>
                    <a:p>
                      <a:pPr algn="ctr" fontAlgn="ctr">
                        <a:buNone/>
                      </a:pPr>
                      <a:r>
                        <a:rPr lang="en-IN" sz="1400" b="0">
                          <a:effectLst/>
                          <a:latin typeface="Nunito" pitchFamily="2" charset="0"/>
                        </a:rPr>
                        <a:t>Global Avg Pooling</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7x7x1280</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1x1x1280</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57951863"/>
                  </a:ext>
                </a:extLst>
              </a:tr>
              <a:tr h="316904">
                <a:tc>
                  <a:txBody>
                    <a:bodyPr/>
                    <a:lstStyle/>
                    <a:p>
                      <a:pPr algn="ctr" fontAlgn="ctr">
                        <a:buNone/>
                      </a:pPr>
                      <a:r>
                        <a:rPr lang="en-IN" sz="1400" b="0">
                          <a:effectLst/>
                          <a:latin typeface="Nunito" pitchFamily="2" charset="0"/>
                        </a:rPr>
                        <a:t>Fully Connected</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1x1x1280</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1x1x1000</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a:effectLst/>
                          <a:latin typeface="Nunito" pitchFamily="2" charset="0"/>
                        </a:rPr>
                        <a:t>-</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IN" sz="1400" b="0" dirty="0">
                          <a:effectLst/>
                          <a:latin typeface="Nunito" pitchFamily="2" charset="0"/>
                        </a:rPr>
                        <a:t>-</a:t>
                      </a:r>
                    </a:p>
                  </a:txBody>
                  <a:tcPr marL="52332" marR="52332" marT="73265" marB="732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75090007"/>
                  </a:ext>
                </a:extLst>
              </a:tr>
            </a:tbl>
          </a:graphicData>
        </a:graphic>
      </p:graphicFrame>
    </p:spTree>
    <p:extLst>
      <p:ext uri="{BB962C8B-B14F-4D97-AF65-F5344CB8AC3E}">
        <p14:creationId xmlns:p14="http://schemas.microsoft.com/office/powerpoint/2010/main" val="149065788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E96C6-7B57-D51A-B5D1-CA56DC4BD89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150EED5-DD6E-6FFA-A8A0-C5A6F6FC9C5C}"/>
              </a:ext>
            </a:extLst>
          </p:cNvPr>
          <p:cNvSpPr>
            <a:spLocks noGrp="1"/>
          </p:cNvSpPr>
          <p:nvPr>
            <p:ph idx="1"/>
          </p:nvPr>
        </p:nvSpPr>
        <p:spPr/>
        <p:txBody>
          <a:bodyPr/>
          <a:lstStyle/>
          <a:p>
            <a:pPr fontAlgn="base"/>
            <a:r>
              <a:rPr lang="en-US" b="1" dirty="0"/>
              <a:t>Advantages of </a:t>
            </a:r>
            <a:r>
              <a:rPr lang="en-US" b="1" dirty="0" err="1"/>
              <a:t>MobileNet</a:t>
            </a:r>
            <a:r>
              <a:rPr lang="en-US" b="1" dirty="0"/>
              <a:t> V2</a:t>
            </a:r>
          </a:p>
          <a:p>
            <a:pPr fontAlgn="base"/>
            <a:r>
              <a:rPr lang="en-US" b="1" dirty="0"/>
              <a:t>Efficiency</a:t>
            </a:r>
            <a:r>
              <a:rPr lang="en-US" dirty="0"/>
              <a:t>: </a:t>
            </a:r>
            <a:r>
              <a:rPr lang="en-US" dirty="0" err="1"/>
              <a:t>MobileNet</a:t>
            </a:r>
            <a:r>
              <a:rPr lang="en-US" dirty="0"/>
              <a:t> V2 achieves a good balance between accuracy and efficiency, making it ideal for mobile and embedded applications.</a:t>
            </a:r>
          </a:p>
          <a:p>
            <a:pPr fontAlgn="base"/>
            <a:r>
              <a:rPr lang="en-US" b="1" dirty="0"/>
              <a:t>Flexibility</a:t>
            </a:r>
            <a:r>
              <a:rPr lang="en-US" dirty="0"/>
              <a:t>: The architecture can be easily scaled to meet the specific needs of different applications by adjusting the width multiplier and resolution multiplier.</a:t>
            </a:r>
          </a:p>
          <a:p>
            <a:pPr fontAlgn="base"/>
            <a:r>
              <a:rPr lang="en-US" b="1" dirty="0"/>
              <a:t>Improved Performance</a:t>
            </a:r>
            <a:r>
              <a:rPr lang="en-US" dirty="0"/>
              <a:t>: Compared to its predecessor, </a:t>
            </a:r>
            <a:r>
              <a:rPr lang="en-US" dirty="0" err="1"/>
              <a:t>MobileNet</a:t>
            </a:r>
            <a:r>
              <a:rPr lang="en-US" dirty="0"/>
              <a:t> V2 provides better performance with fewer parameters and lower computational cost.</a:t>
            </a:r>
          </a:p>
          <a:p>
            <a:endParaRPr lang="en-IN" dirty="0"/>
          </a:p>
        </p:txBody>
      </p:sp>
    </p:spTree>
    <p:extLst>
      <p:ext uri="{BB962C8B-B14F-4D97-AF65-F5344CB8AC3E}">
        <p14:creationId xmlns:p14="http://schemas.microsoft.com/office/powerpoint/2010/main" val="73035903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C827A-571F-6A26-D9B2-ACE46FD90A5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8367709-D32D-D657-389C-F88CEA438559}"/>
              </a:ext>
            </a:extLst>
          </p:cNvPr>
          <p:cNvSpPr>
            <a:spLocks noGrp="1"/>
          </p:cNvSpPr>
          <p:nvPr>
            <p:ph idx="1"/>
          </p:nvPr>
        </p:nvSpPr>
        <p:spPr/>
        <p:txBody>
          <a:bodyPr>
            <a:normAutofit lnSpcReduction="10000"/>
          </a:bodyPr>
          <a:lstStyle/>
          <a:p>
            <a:pPr fontAlgn="base"/>
            <a:r>
              <a:rPr lang="en-US" b="1" dirty="0"/>
              <a:t>Applications of </a:t>
            </a:r>
            <a:r>
              <a:rPr lang="en-US" b="1" dirty="0" err="1"/>
              <a:t>MobileNet</a:t>
            </a:r>
            <a:r>
              <a:rPr lang="en-US" b="1" dirty="0"/>
              <a:t> V2</a:t>
            </a:r>
          </a:p>
          <a:p>
            <a:pPr fontAlgn="base"/>
            <a:r>
              <a:rPr lang="en-US" dirty="0" err="1"/>
              <a:t>MobileNet</a:t>
            </a:r>
            <a:r>
              <a:rPr lang="en-US" dirty="0"/>
              <a:t> V2 is well-suited for a variety of applications, including:</a:t>
            </a:r>
          </a:p>
          <a:p>
            <a:pPr fontAlgn="base"/>
            <a:r>
              <a:rPr lang="en-US" b="1" dirty="0"/>
              <a:t>Image Classification</a:t>
            </a:r>
            <a:r>
              <a:rPr lang="en-US" dirty="0"/>
              <a:t>: Efficiently classifying images on mobile devices with limited computational resources.</a:t>
            </a:r>
          </a:p>
          <a:p>
            <a:pPr fontAlgn="base"/>
            <a:r>
              <a:rPr lang="en-US" b="1" dirty="0"/>
              <a:t>Object Detection</a:t>
            </a:r>
            <a:r>
              <a:rPr lang="en-US" dirty="0"/>
              <a:t>: Serving as a backbone for lightweight object detection models.</a:t>
            </a:r>
          </a:p>
          <a:p>
            <a:pPr fontAlgn="base"/>
            <a:r>
              <a:rPr lang="en-US" b="1" dirty="0"/>
              <a:t>Semantic Segmentation</a:t>
            </a:r>
            <a:r>
              <a:rPr lang="en-US" dirty="0"/>
              <a:t>: Enabling real-time segmentation tasks on resource-constrained devices.</a:t>
            </a:r>
          </a:p>
          <a:p>
            <a:pPr fontAlgn="base"/>
            <a:r>
              <a:rPr lang="en-US" b="1" dirty="0"/>
              <a:t>Embedded Vision</a:t>
            </a:r>
            <a:r>
              <a:rPr lang="en-US" dirty="0"/>
              <a:t>: Powering vision-based applications in embedded systems, such as drones, robots, and IoT devices.</a:t>
            </a:r>
          </a:p>
          <a:p>
            <a:endParaRPr lang="en-IN" dirty="0"/>
          </a:p>
        </p:txBody>
      </p:sp>
    </p:spTree>
    <p:extLst>
      <p:ext uri="{BB962C8B-B14F-4D97-AF65-F5344CB8AC3E}">
        <p14:creationId xmlns:p14="http://schemas.microsoft.com/office/powerpoint/2010/main" val="375435810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DCA5B-AF06-D761-3131-6BCE790E0A8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9BBB5B6-C446-F702-8785-7C0A384E336E}"/>
              </a:ext>
            </a:extLst>
          </p:cNvPr>
          <p:cNvSpPr>
            <a:spLocks noGrp="1"/>
          </p:cNvSpPr>
          <p:nvPr>
            <p:ph idx="1"/>
          </p:nvPr>
        </p:nvSpPr>
        <p:spPr/>
        <p:txBody>
          <a:bodyPr/>
          <a:lstStyle/>
          <a:p>
            <a:endParaRPr lang="en-IN"/>
          </a:p>
        </p:txBody>
      </p:sp>
      <p:pic>
        <p:nvPicPr>
          <p:cNvPr id="2050" name="Picture 2" descr="A Summary of the “MobileNetV2: Inverted Residuals and Linear ...">
            <a:extLst>
              <a:ext uri="{FF2B5EF4-FFF2-40B4-BE49-F238E27FC236}">
                <a16:creationId xmlns:a16="http://schemas.microsoft.com/office/drawing/2014/main" id="{6479221F-2823-E2F3-BB1B-1437BC2B17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3520" y="1397342"/>
            <a:ext cx="7884159" cy="4471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26505"/>
      </p:ext>
    </p:extLst>
  </p:cSld>
  <p:clrMapOvr>
    <a:masterClrMapping/>
  </p:clrMapOvr>
</p:sld>
</file>

<file path=ppt/theme/theme1.xml><?xml version="1.0" encoding="utf-8"?>
<a:theme xmlns:a="http://schemas.openxmlformats.org/drawingml/2006/main" name="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9D9A2368AF1418CA9A4BDBEB848A7" ma:contentTypeVersion="3" ma:contentTypeDescription="Create a new document." ma:contentTypeScope="" ma:versionID="ed4482c8128c479f1c7ed524388f5946">
  <xsd:schema xmlns:xsd="http://www.w3.org/2001/XMLSchema" xmlns:xs="http://www.w3.org/2001/XMLSchema" xmlns:p="http://schemas.microsoft.com/office/2006/metadata/properties" xmlns:ns2="ae805b06-2a12-48cc-9df9-71e0a5172f32" targetNamespace="http://schemas.microsoft.com/office/2006/metadata/properties" ma:root="true" ma:fieldsID="2b049cf2964ab8f6ee39770229980d91" ns2:_="">
    <xsd:import namespace="ae805b06-2a12-48cc-9df9-71e0a5172f3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5b06-2a12-48cc-9df9-71e0a5172f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33C615-9EE4-44E4-9092-682917600B4A}">
  <ds:schemaRefs>
    <ds:schemaRef ds:uri="http://schemas.microsoft.com/sharepoint/v3/contenttype/forms"/>
  </ds:schemaRefs>
</ds:datastoreItem>
</file>

<file path=customXml/itemProps2.xml><?xml version="1.0" encoding="utf-8"?>
<ds:datastoreItem xmlns:ds="http://schemas.openxmlformats.org/officeDocument/2006/customXml" ds:itemID="{8DBD5ECA-E529-44ED-A9D5-08B0C75E5E1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8FB11F3-016B-4FAF-A51C-8F59DB9A9E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805b06-2a12-48cc-9df9-71e0a5172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9180</TotalTime>
  <Words>12753</Words>
  <Application>Microsoft Office PowerPoint</Application>
  <PresentationFormat>Widescreen</PresentationFormat>
  <Paragraphs>1111</Paragraphs>
  <Slides>205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205</vt:i4>
      </vt:variant>
    </vt:vector>
  </HeadingPairs>
  <TitlesOfParts>
    <vt:vector size="213" baseType="lpstr">
      <vt:lpstr>__CircularFontRegular_5bf51c</vt:lpstr>
      <vt:lpstr>Arial</vt:lpstr>
      <vt:lpstr>Calibri</vt:lpstr>
      <vt:lpstr>Calibri Light</vt:lpstr>
      <vt:lpstr>Cambria Math</vt:lpstr>
      <vt:lpstr>Nunito</vt:lpstr>
      <vt:lpstr>source-serif-pro</vt:lpstr>
      <vt:lpstr>Retrospect</vt:lpstr>
      <vt:lpstr>Deep Learning Module 2</vt:lpstr>
      <vt:lpstr>What is a Convolutional Neural Network (CNN)?</vt:lpstr>
      <vt:lpstr>PowerPoint Presentation</vt:lpstr>
      <vt:lpstr>How Does CNN Work?</vt:lpstr>
      <vt:lpstr>PowerPoint Presentation</vt:lpstr>
      <vt:lpstr>PowerPoint Presentation</vt:lpstr>
      <vt:lpstr>PowerPoint Presentation</vt:lpstr>
      <vt:lpstr>PowerPoint Presentation</vt:lpstr>
      <vt:lpstr>Artificial Neurons’ Role in CNN</vt:lpstr>
      <vt:lpstr>Feature Extraction in CNN</vt:lpstr>
      <vt:lpstr>PowerPoint Presentation</vt:lpstr>
      <vt:lpstr>PowerPoint Presentation</vt:lpstr>
      <vt:lpstr>Convolutional neural networks (CNNs) in Deep Learning</vt:lpstr>
      <vt:lpstr>PowerPoint Presentation</vt:lpstr>
      <vt:lpstr>Computer Vision</vt:lpstr>
      <vt:lpstr>PowerPoint Presentation</vt:lpstr>
      <vt:lpstr>PowerPoint Presentation</vt:lpstr>
      <vt:lpstr>PowerPoint Presentation</vt:lpstr>
      <vt:lpstr>CNN operations</vt:lpstr>
      <vt:lpstr>PowerPoint Presentation</vt:lpstr>
      <vt:lpstr>How Convolution Works in CNNs</vt:lpstr>
      <vt:lpstr>PowerPoint Presentation</vt:lpstr>
      <vt:lpstr>PowerPoint Presentation</vt:lpstr>
      <vt:lpstr>PowerPoint Presentation</vt:lpstr>
      <vt:lpstr>Example of Convolution Operation</vt:lpstr>
      <vt:lpstr>Key Terms in Convolution Operation</vt:lpstr>
      <vt:lpstr>Types of Convolution Operations</vt:lpstr>
      <vt:lpstr>PowerPoint Presentation</vt:lpstr>
      <vt:lpstr>PowerPoint Presentation</vt:lpstr>
      <vt:lpstr> Padding</vt:lpstr>
      <vt:lpstr>PowerPoint Presentation</vt:lpstr>
      <vt:lpstr>PowerPoint Presentation</vt:lpstr>
      <vt:lpstr>PowerPoint Presentation</vt:lpstr>
      <vt:lpstr>Strides</vt:lpstr>
      <vt:lpstr>PowerPoint Presentation</vt:lpstr>
      <vt:lpstr>PowerPoint Presentation</vt:lpstr>
      <vt:lpstr>PowerPoint Presentation</vt:lpstr>
      <vt:lpstr>PowerPoint Presentation</vt:lpstr>
      <vt:lpstr>Convolution Kernels</vt:lpstr>
      <vt:lpstr>Output Size</vt:lpstr>
      <vt:lpstr>With padding</vt:lpstr>
      <vt:lpstr>With strided </vt:lpstr>
      <vt:lpstr> 3D</vt:lpstr>
      <vt:lpstr>PowerPoint Presentation</vt:lpstr>
      <vt:lpstr>PowerPoint Presentation</vt:lpstr>
      <vt:lpstr>HOW TO CALCULATE NUMBER OF PARAMETERS</vt:lpstr>
      <vt:lpstr>PowerPoint Presentation</vt:lpstr>
      <vt:lpstr>PowerPoint Presentation</vt:lpstr>
      <vt:lpstr>Pooling Layer</vt:lpstr>
      <vt:lpstr>PowerPoint Presentation</vt:lpstr>
      <vt:lpstr>Why are Pooling Layers Important? </vt:lpstr>
      <vt:lpstr>Types of Pooling Layers</vt:lpstr>
      <vt:lpstr>PowerPoint Presentation</vt:lpstr>
      <vt:lpstr>PowerPoint Presentation</vt:lpstr>
      <vt:lpstr>PowerPoint Presentation</vt:lpstr>
      <vt:lpstr>PowerPoint Presentation</vt:lpstr>
      <vt:lpstr>How Pooling Layers Work?</vt:lpstr>
      <vt:lpstr>Flatten</vt:lpstr>
      <vt:lpstr>PowerPoint Presentation</vt:lpstr>
      <vt:lpstr>Overlapping pooling</vt:lpstr>
      <vt:lpstr>PowerPoint Presentation</vt:lpstr>
      <vt:lpstr>PowerPoint Presentation</vt:lpstr>
      <vt:lpstr>PowerPoint Presentation</vt:lpstr>
      <vt:lpstr>PowerPoint Presentation</vt:lpstr>
      <vt:lpstr>PowerPoint Presentation</vt:lpstr>
      <vt:lpstr>Advantages and Disadvantages</vt:lpstr>
      <vt:lpstr>PowerPoint Presentation</vt:lpstr>
      <vt:lpstr>CNN Architecture</vt:lpstr>
      <vt:lpstr>PowerPoint Presentation</vt:lpstr>
      <vt:lpstr>PowerPoint Presentation</vt:lpstr>
      <vt:lpstr>PowerPoint Presentation</vt:lpstr>
      <vt:lpstr>PowerPoint Presentation</vt:lpstr>
      <vt:lpstr>PowerPoint Presentation</vt:lpstr>
      <vt:lpstr>Convolutional layer</vt:lpstr>
      <vt:lpstr>Pooling layer</vt:lpstr>
      <vt:lpstr>Fully-connected layer</vt:lpstr>
      <vt:lpstr>PowerPoint Presentation</vt:lpstr>
      <vt:lpstr>Activation Function</vt:lpstr>
      <vt:lpstr>PowerPoint Presentation</vt:lpstr>
      <vt:lpstr>Receptive field in deep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Convolution Neural Networks</vt:lpstr>
      <vt:lpstr>PowerPoint Presentation</vt:lpstr>
      <vt:lpstr>PowerPoint Presentation</vt:lpstr>
      <vt:lpstr>PowerPoint Presentation</vt:lpstr>
      <vt:lpstr>PowerPoint Presentation</vt:lpstr>
      <vt:lpstr>Deep Convolutional Models</vt:lpstr>
      <vt:lpstr>PowerPoint Presentation</vt:lpstr>
      <vt:lpstr>PowerPoint Presentation</vt:lpstr>
      <vt:lpstr>PowerPoint Presentation</vt:lpstr>
      <vt:lpstr>PowerPoint Presentation</vt:lpstr>
      <vt:lpstr>PowerPoint Presentation</vt:lpstr>
      <vt:lpstr>1. Convolutional Layer and ReLu</vt:lpstr>
      <vt:lpstr>2. Pooling Layer</vt:lpstr>
      <vt:lpstr>3. Fully Connected Layer</vt:lpstr>
      <vt:lpstr>4. Dropout Layer</vt:lpstr>
      <vt:lpstr>5. Activation Functions Layer</vt:lpstr>
      <vt:lpstr>How Does a DCNN Work?</vt:lpstr>
      <vt:lpstr>PowerPoint Presentation</vt:lpstr>
      <vt:lpstr>PowerPoint Presentation</vt:lpstr>
      <vt:lpstr>PowerPoint Presentation</vt:lpstr>
      <vt:lpstr>PowerPoint Presentation</vt:lpstr>
      <vt:lpstr>PowerPoint Presentation</vt:lpstr>
      <vt:lpstr>Challenges in Deep Convolutional Models</vt:lpstr>
      <vt:lpstr>Solutions to Deep CNN Challenges</vt:lpstr>
      <vt:lpstr>Popular Deep Convolutional Models</vt:lpstr>
      <vt:lpstr>PowerPoint Presentation</vt:lpstr>
      <vt:lpstr>AlexNet</vt:lpstr>
      <vt:lpstr>PowerPoint Presentation</vt:lpstr>
      <vt:lpstr>AlexNet Architecture</vt:lpstr>
      <vt:lpstr>PowerPoint Presentation</vt:lpstr>
      <vt:lpstr>PowerPoint Presentation</vt:lpstr>
      <vt:lpstr>PowerPoint Presentation</vt:lpstr>
      <vt:lpstr>Alexnet</vt:lpstr>
      <vt:lpstr>ImageNet</vt:lpstr>
      <vt:lpstr>PowerPoint Presentation</vt:lpstr>
      <vt:lpstr>PowerPoint Presentation</vt:lpstr>
      <vt:lpstr>Residual Networks (ResNet) - Deep Learning</vt:lpstr>
      <vt:lpstr>PowerPoint Presentation</vt:lpstr>
      <vt:lpstr>PowerPoint Presentation</vt:lpstr>
      <vt:lpstr>PowerPoint Presentation</vt:lpstr>
      <vt:lpstr>PowerPoint Presentation</vt:lpstr>
      <vt:lpstr>What are the Features of ResNet?</vt:lpstr>
      <vt:lpstr>How ResNet Works?</vt:lpstr>
      <vt:lpstr>Variants</vt:lpstr>
      <vt:lpstr>How ResNet Works</vt:lpstr>
      <vt:lpstr>PowerPoint Presentation</vt:lpstr>
      <vt:lpstr>PowerPoint Presentation</vt:lpstr>
      <vt:lpstr>PowerPoint Presentation</vt:lpstr>
      <vt:lpstr>PowerPoint Presentation</vt:lpstr>
      <vt:lpstr>PowerPoint Presentation</vt:lpstr>
      <vt:lpstr>PowerPoint Presentation</vt:lpstr>
      <vt:lpstr>Very Deep Convolutional Networks (VGG)</vt:lpstr>
      <vt:lpstr>PowerPoint Presentation</vt:lpstr>
      <vt:lpstr>PowerPoint Presentation</vt:lpstr>
      <vt:lpstr>VGG 16 Architecture</vt:lpstr>
      <vt:lpstr>VGG-16 Architecture </vt:lpstr>
      <vt:lpstr>PowerPoint Presentation</vt:lpstr>
      <vt:lpstr>PowerPoint Presentation</vt:lpstr>
      <vt:lpstr>PowerPoint Presentation</vt:lpstr>
      <vt:lpstr>VGG-19 Architecture</vt:lpstr>
      <vt:lpstr>Detailed Layer-by-Layer Architecture of VGG-Net 19</vt:lpstr>
      <vt:lpstr>PowerPoint Presentation</vt:lpstr>
      <vt:lpstr>PowerPoint Presentation</vt:lpstr>
      <vt:lpstr>Architectural Design Principles</vt:lpstr>
      <vt:lpstr>Impact and Legacy of VGG-19</vt:lpstr>
      <vt:lpstr>PowerPoint Presentation</vt:lpstr>
      <vt:lpstr>GoogLeNet (Inception V1) </vt:lpstr>
      <vt:lpstr>PowerPoint Presentation</vt:lpstr>
      <vt:lpstr>PowerPoint Presentation</vt:lpstr>
      <vt:lpstr>PowerPoint Presentation</vt:lpstr>
      <vt:lpstr>PowerPoint Presentation</vt:lpstr>
      <vt:lpstr>Key Features of GoogLeNet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highlights of the architecture:</vt:lpstr>
      <vt:lpstr>DenseNet</vt:lpstr>
      <vt:lpstr>PowerPoint Presentation</vt:lpstr>
      <vt:lpstr>Key Characteristics of DenseNet</vt:lpstr>
      <vt:lpstr>Comparing DenseNet with Other CNN Architectures</vt:lpstr>
      <vt:lpstr>Architecture of DenseNet</vt:lpstr>
      <vt:lpstr>PowerPoint Presentation</vt:lpstr>
      <vt:lpstr>PowerPoint Presentation</vt:lpstr>
      <vt:lpstr>Dense Block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Mobilenet V2 Architecture</vt:lpstr>
      <vt:lpstr>PowerPoint Presentation</vt:lpstr>
      <vt:lpstr>PowerPoint Presentation</vt:lpstr>
      <vt:lpstr>PowerPoint Presentation</vt:lpstr>
      <vt:lpstr>Key Features of MobileNet V2</vt:lpstr>
      <vt:lpstr>PowerPoint Presentation</vt:lpstr>
      <vt:lpstr>PowerPoint Presentation</vt:lpstr>
      <vt:lpstr>PowerPoint Presentation</vt:lpstr>
      <vt:lpstr>PowerPoint Presentation</vt:lpstr>
      <vt:lpstr>PowerPoint Presentation</vt:lpstr>
      <vt:lpstr>MobileNet V2 Architecture</vt:lpstr>
      <vt:lpstr>Detailed Layer Configuration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Rajarajeshwari S</dc:creator>
  <cp:lastModifiedBy>Dheetchanya Mohan</cp:lastModifiedBy>
  <cp:revision>8</cp:revision>
  <dcterms:created xsi:type="dcterms:W3CDTF">2025-07-15T13:21:18Z</dcterms:created>
  <dcterms:modified xsi:type="dcterms:W3CDTF">2026-03-04T07:27:06Z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0x01010079F9D9A2368AF1418CA9A4BDBEB848A7</vt:lpwstr>
  </property>
</Properties>
</file>