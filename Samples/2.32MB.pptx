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4"/>
  </p:sldMasterIdLst>
  <p:notesMasterIdLst>
    <p:notesMasterId r:id="rId75"/>
  </p:notesMasterIdLst>
  <p:sldIdLst>
    <p:sldId id="256" r:id="rId5"/>
    <p:sldId id="418" r:id="rId6"/>
    <p:sldId id="462" r:id="rId7"/>
    <p:sldId id="463" r:id="rId8"/>
    <p:sldId id="464" r:id="rId9"/>
    <p:sldId id="465" r:id="rId10"/>
    <p:sldId id="466" r:id="rId11"/>
    <p:sldId id="467" r:id="rId12"/>
    <p:sldId id="516" r:id="rId13"/>
    <p:sldId id="517" r:id="rId14"/>
    <p:sldId id="518" r:id="rId15"/>
    <p:sldId id="519" r:id="rId16"/>
    <p:sldId id="520" r:id="rId17"/>
    <p:sldId id="468" r:id="rId18"/>
    <p:sldId id="512" r:id="rId19"/>
    <p:sldId id="513" r:id="rId20"/>
    <p:sldId id="514" r:id="rId21"/>
    <p:sldId id="515" r:id="rId22"/>
    <p:sldId id="469" r:id="rId23"/>
    <p:sldId id="419" r:id="rId24"/>
    <p:sldId id="470" r:id="rId25"/>
    <p:sldId id="471" r:id="rId26"/>
    <p:sldId id="472" r:id="rId27"/>
    <p:sldId id="473" r:id="rId28"/>
    <p:sldId id="474" r:id="rId29"/>
    <p:sldId id="475" r:id="rId30"/>
    <p:sldId id="477" r:id="rId31"/>
    <p:sldId id="420" r:id="rId32"/>
    <p:sldId id="478" r:id="rId33"/>
    <p:sldId id="479" r:id="rId34"/>
    <p:sldId id="480" r:id="rId35"/>
    <p:sldId id="481" r:id="rId36"/>
    <p:sldId id="482" r:id="rId37"/>
    <p:sldId id="483" r:id="rId38"/>
    <p:sldId id="484" r:id="rId39"/>
    <p:sldId id="485" r:id="rId40"/>
    <p:sldId id="486" r:id="rId41"/>
    <p:sldId id="487" r:id="rId42"/>
    <p:sldId id="488" r:id="rId43"/>
    <p:sldId id="421" r:id="rId44"/>
    <p:sldId id="489" r:id="rId45"/>
    <p:sldId id="490" r:id="rId46"/>
    <p:sldId id="491" r:id="rId47"/>
    <p:sldId id="492" r:id="rId48"/>
    <p:sldId id="493" r:id="rId49"/>
    <p:sldId id="494" r:id="rId50"/>
    <p:sldId id="495" r:id="rId51"/>
    <p:sldId id="422" r:id="rId52"/>
    <p:sldId id="496" r:id="rId53"/>
    <p:sldId id="497" r:id="rId54"/>
    <p:sldId id="498" r:id="rId55"/>
    <p:sldId id="499" r:id="rId56"/>
    <p:sldId id="500" r:id="rId57"/>
    <p:sldId id="501" r:id="rId58"/>
    <p:sldId id="502" r:id="rId59"/>
    <p:sldId id="423" r:id="rId60"/>
    <p:sldId id="424" r:id="rId61"/>
    <p:sldId id="503" r:id="rId62"/>
    <p:sldId id="504" r:id="rId63"/>
    <p:sldId id="505" r:id="rId64"/>
    <p:sldId id="506" r:id="rId65"/>
    <p:sldId id="507" r:id="rId66"/>
    <p:sldId id="508" r:id="rId67"/>
    <p:sldId id="509" r:id="rId68"/>
    <p:sldId id="510" r:id="rId69"/>
    <p:sldId id="511" r:id="rId70"/>
    <p:sldId id="425" r:id="rId71"/>
    <p:sldId id="426" r:id="rId72"/>
    <p:sldId id="427" r:id="rId73"/>
    <p:sldId id="428" r:id="rId7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B8A6A225-FED4-4349-B59F-F950937FEA7A}">
          <p14:sldIdLst>
            <p14:sldId id="256"/>
            <p14:sldId id="418"/>
            <p14:sldId id="462"/>
            <p14:sldId id="463"/>
            <p14:sldId id="464"/>
            <p14:sldId id="465"/>
            <p14:sldId id="466"/>
            <p14:sldId id="467"/>
            <p14:sldId id="516"/>
            <p14:sldId id="517"/>
            <p14:sldId id="518"/>
            <p14:sldId id="519"/>
            <p14:sldId id="520"/>
            <p14:sldId id="468"/>
            <p14:sldId id="512"/>
            <p14:sldId id="513"/>
            <p14:sldId id="514"/>
            <p14:sldId id="515"/>
            <p14:sldId id="469"/>
            <p14:sldId id="419"/>
            <p14:sldId id="470"/>
            <p14:sldId id="471"/>
            <p14:sldId id="472"/>
            <p14:sldId id="473"/>
            <p14:sldId id="474"/>
            <p14:sldId id="475"/>
            <p14:sldId id="477"/>
            <p14:sldId id="420"/>
            <p14:sldId id="478"/>
            <p14:sldId id="479"/>
            <p14:sldId id="480"/>
            <p14:sldId id="481"/>
            <p14:sldId id="482"/>
            <p14:sldId id="483"/>
            <p14:sldId id="484"/>
            <p14:sldId id="485"/>
            <p14:sldId id="486"/>
            <p14:sldId id="487"/>
            <p14:sldId id="488"/>
            <p14:sldId id="421"/>
            <p14:sldId id="489"/>
            <p14:sldId id="490"/>
            <p14:sldId id="491"/>
            <p14:sldId id="492"/>
            <p14:sldId id="493"/>
            <p14:sldId id="494"/>
            <p14:sldId id="495"/>
            <p14:sldId id="422"/>
            <p14:sldId id="496"/>
            <p14:sldId id="497"/>
            <p14:sldId id="498"/>
            <p14:sldId id="499"/>
            <p14:sldId id="500"/>
            <p14:sldId id="501"/>
            <p14:sldId id="502"/>
            <p14:sldId id="423"/>
            <p14:sldId id="424"/>
            <p14:sldId id="503"/>
            <p14:sldId id="504"/>
            <p14:sldId id="505"/>
            <p14:sldId id="506"/>
            <p14:sldId id="507"/>
            <p14:sldId id="508"/>
            <p14:sldId id="509"/>
            <p14:sldId id="510"/>
            <p14:sldId id="511"/>
            <p14:sldId id="425"/>
            <p14:sldId id="426"/>
            <p14:sldId id="427"/>
            <p14:sldId id="42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2BF3FAE-15A8-48B2-8092-A1D53816FBF0}" v="273" dt="2026-03-02T06:41:01.35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0" d="100"/>
          <a:sy n="70" d="100"/>
        </p:scale>
        <p:origin x="536"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tableStyles" Target="tableStyles.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openxmlformats.org/officeDocument/2006/relationships/viewProps" Target="viewProps.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microsoft.com/office/2016/11/relationships/changesInfo" Target="changesInfos/changesInfo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theme" Target="theme/theme1.xml"/><Relationship Id="rId81"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presProps" Target="presProps.xml"/><Relationship Id="rId7" Type="http://schemas.openxmlformats.org/officeDocument/2006/relationships/slide" Target="slides/slide3.xml"/><Relationship Id="rId71" Type="http://schemas.openxmlformats.org/officeDocument/2006/relationships/slide" Target="slides/slide67.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ajarajeshwari S" userId="e4d90711455572c4" providerId="LiveId" clId="{CCD4E902-00B9-4B30-B952-A9A7A2B9871A}"/>
    <pc:docChg chg="undo custSel addSld delSld modSld sldOrd addSection delSection modSection">
      <pc:chgData name="Rajarajeshwari S" userId="e4d90711455572c4" providerId="LiveId" clId="{CCD4E902-00B9-4B30-B952-A9A7A2B9871A}" dt="2026-03-02T06:41:06.236" v="1547" actId="14100"/>
      <pc:docMkLst>
        <pc:docMk/>
      </pc:docMkLst>
      <pc:sldChg chg="modSp mod">
        <pc:chgData name="Rajarajeshwari S" userId="e4d90711455572c4" providerId="LiveId" clId="{CCD4E902-00B9-4B30-B952-A9A7A2B9871A}" dt="2026-02-25T17:30:30.104" v="1133" actId="20577"/>
        <pc:sldMkLst>
          <pc:docMk/>
          <pc:sldMk cId="1731249778" sldId="256"/>
        </pc:sldMkLst>
        <pc:spChg chg="mod">
          <ac:chgData name="Rajarajeshwari S" userId="e4d90711455572c4" providerId="LiveId" clId="{CCD4E902-00B9-4B30-B952-A9A7A2B9871A}" dt="2026-02-25T17:30:30.104" v="1133" actId="20577"/>
          <ac:spMkLst>
            <pc:docMk/>
            <pc:sldMk cId="1731249778" sldId="256"/>
            <ac:spMk id="2" creationId="{C1330AB0-E2A7-A94E-073C-A411BCE69B37}"/>
          </ac:spMkLst>
        </pc:spChg>
      </pc:sldChg>
      <pc:sldChg chg="modSp add del mod">
        <pc:chgData name="Rajarajeshwari S" userId="e4d90711455572c4" providerId="LiveId" clId="{CCD4E902-00B9-4B30-B952-A9A7A2B9871A}" dt="2026-02-25T17:43:43.199" v="1155" actId="1076"/>
        <pc:sldMkLst>
          <pc:docMk/>
          <pc:sldMk cId="3885985288" sldId="418"/>
        </pc:sldMkLst>
        <pc:spChg chg="mod">
          <ac:chgData name="Rajarajeshwari S" userId="e4d90711455572c4" providerId="LiveId" clId="{CCD4E902-00B9-4B30-B952-A9A7A2B9871A}" dt="2026-02-25T17:43:43.199" v="1155" actId="1076"/>
          <ac:spMkLst>
            <pc:docMk/>
            <pc:sldMk cId="3885985288" sldId="418"/>
            <ac:spMk id="2" creationId="{ED8C43A4-56B7-4EF0-4B5B-60872B1AF7BA}"/>
          </ac:spMkLst>
        </pc:spChg>
        <pc:spChg chg="mod">
          <ac:chgData name="Rajarajeshwari S" userId="e4d90711455572c4" providerId="LiveId" clId="{CCD4E902-00B9-4B30-B952-A9A7A2B9871A}" dt="2026-02-25T16:24:51.065" v="170" actId="12"/>
          <ac:spMkLst>
            <pc:docMk/>
            <pc:sldMk cId="3885985288" sldId="418"/>
            <ac:spMk id="3" creationId="{5F159B50-5A96-A62A-53BC-3F0E5E1BF640}"/>
          </ac:spMkLst>
        </pc:spChg>
      </pc:sldChg>
      <pc:sldChg chg="modSp mod">
        <pc:chgData name="Rajarajeshwari S" userId="e4d90711455572c4" providerId="LiveId" clId="{CCD4E902-00B9-4B30-B952-A9A7A2B9871A}" dt="2026-02-25T16:34:06.831" v="303" actId="27636"/>
        <pc:sldMkLst>
          <pc:docMk/>
          <pc:sldMk cId="1002710002" sldId="419"/>
        </pc:sldMkLst>
        <pc:spChg chg="mod">
          <ac:chgData name="Rajarajeshwari S" userId="e4d90711455572c4" providerId="LiveId" clId="{CCD4E902-00B9-4B30-B952-A9A7A2B9871A}" dt="2026-02-25T16:34:03.961" v="301" actId="20577"/>
          <ac:spMkLst>
            <pc:docMk/>
            <pc:sldMk cId="1002710002" sldId="419"/>
            <ac:spMk id="2" creationId="{9E86CDD6-372B-2474-70A8-0A7D75431642}"/>
          </ac:spMkLst>
        </pc:spChg>
        <pc:spChg chg="mod">
          <ac:chgData name="Rajarajeshwari S" userId="e4d90711455572c4" providerId="LiveId" clId="{CCD4E902-00B9-4B30-B952-A9A7A2B9871A}" dt="2026-02-25T16:34:06.831" v="303" actId="27636"/>
          <ac:spMkLst>
            <pc:docMk/>
            <pc:sldMk cId="1002710002" sldId="419"/>
            <ac:spMk id="3" creationId="{A2495008-62D8-2B8A-2D25-FD10BBCACF48}"/>
          </ac:spMkLst>
        </pc:spChg>
      </pc:sldChg>
      <pc:sldChg chg="modSp mod">
        <pc:chgData name="Rajarajeshwari S" userId="e4d90711455572c4" providerId="LiveId" clId="{CCD4E902-00B9-4B30-B952-A9A7A2B9871A}" dt="2026-02-25T16:49:23.360" v="503" actId="20577"/>
        <pc:sldMkLst>
          <pc:docMk/>
          <pc:sldMk cId="16087949" sldId="420"/>
        </pc:sldMkLst>
        <pc:spChg chg="mod">
          <ac:chgData name="Rajarajeshwari S" userId="e4d90711455572c4" providerId="LiveId" clId="{CCD4E902-00B9-4B30-B952-A9A7A2B9871A}" dt="2026-02-25T16:49:23.360" v="503" actId="20577"/>
          <ac:spMkLst>
            <pc:docMk/>
            <pc:sldMk cId="16087949" sldId="420"/>
            <ac:spMk id="2" creationId="{E24EFD19-D13C-1CF9-6ACE-BD9E8BA244A1}"/>
          </ac:spMkLst>
        </pc:spChg>
        <pc:spChg chg="mod">
          <ac:chgData name="Rajarajeshwari S" userId="e4d90711455572c4" providerId="LiveId" clId="{CCD4E902-00B9-4B30-B952-A9A7A2B9871A}" dt="2026-02-25T16:49:20.686" v="500" actId="27636"/>
          <ac:spMkLst>
            <pc:docMk/>
            <pc:sldMk cId="16087949" sldId="420"/>
            <ac:spMk id="3" creationId="{19B299A0-EF03-E836-775F-067DE0B5E023}"/>
          </ac:spMkLst>
        </pc:spChg>
      </pc:sldChg>
      <pc:sldChg chg="modSp mod">
        <pc:chgData name="Rajarajeshwari S" userId="e4d90711455572c4" providerId="LiveId" clId="{CCD4E902-00B9-4B30-B952-A9A7A2B9871A}" dt="2026-03-02T02:45:41.391" v="1332" actId="27636"/>
        <pc:sldMkLst>
          <pc:docMk/>
          <pc:sldMk cId="2864229856" sldId="421"/>
        </pc:sldMkLst>
        <pc:spChg chg="mod">
          <ac:chgData name="Rajarajeshwari S" userId="e4d90711455572c4" providerId="LiveId" clId="{CCD4E902-00B9-4B30-B952-A9A7A2B9871A}" dt="2026-02-25T17:53:53.497" v="1242" actId="20577"/>
          <ac:spMkLst>
            <pc:docMk/>
            <pc:sldMk cId="2864229856" sldId="421"/>
            <ac:spMk id="2" creationId="{9CE7DA28-CA29-3566-9DB9-3B9628FBE89D}"/>
          </ac:spMkLst>
        </pc:spChg>
        <pc:spChg chg="mod">
          <ac:chgData name="Rajarajeshwari S" userId="e4d90711455572c4" providerId="LiveId" clId="{CCD4E902-00B9-4B30-B952-A9A7A2B9871A}" dt="2026-03-02T02:45:41.391" v="1332" actId="27636"/>
          <ac:spMkLst>
            <pc:docMk/>
            <pc:sldMk cId="2864229856" sldId="421"/>
            <ac:spMk id="3" creationId="{9281A55B-EDDF-D46A-458F-1A1F19F6437B}"/>
          </ac:spMkLst>
        </pc:spChg>
      </pc:sldChg>
      <pc:sldChg chg="modSp mod">
        <pc:chgData name="Rajarajeshwari S" userId="e4d90711455572c4" providerId="LiveId" clId="{CCD4E902-00B9-4B30-B952-A9A7A2B9871A}" dt="2026-03-02T03:13:04.757" v="1369" actId="1076"/>
        <pc:sldMkLst>
          <pc:docMk/>
          <pc:sldMk cId="1936075307" sldId="422"/>
        </pc:sldMkLst>
        <pc:spChg chg="mod">
          <ac:chgData name="Rajarajeshwari S" userId="e4d90711455572c4" providerId="LiveId" clId="{CCD4E902-00B9-4B30-B952-A9A7A2B9871A}" dt="2026-02-25T17:11:41.247" v="746" actId="20577"/>
          <ac:spMkLst>
            <pc:docMk/>
            <pc:sldMk cId="1936075307" sldId="422"/>
            <ac:spMk id="2" creationId="{9707AEBB-B4C8-8AEE-82D5-30D9DE40C9A9}"/>
          </ac:spMkLst>
        </pc:spChg>
        <pc:spChg chg="mod">
          <ac:chgData name="Rajarajeshwari S" userId="e4d90711455572c4" providerId="LiveId" clId="{CCD4E902-00B9-4B30-B952-A9A7A2B9871A}" dt="2026-02-25T17:11:38.329" v="743" actId="27636"/>
          <ac:spMkLst>
            <pc:docMk/>
            <pc:sldMk cId="1936075307" sldId="422"/>
            <ac:spMk id="3" creationId="{BF9FB90C-9BA5-8C24-7C1C-FFBCA35A8EFB}"/>
          </ac:spMkLst>
        </pc:spChg>
        <pc:picChg chg="mod">
          <ac:chgData name="Rajarajeshwari S" userId="e4d90711455572c4" providerId="LiveId" clId="{CCD4E902-00B9-4B30-B952-A9A7A2B9871A}" dt="2026-03-02T03:13:04.757" v="1369" actId="1076"/>
          <ac:picMkLst>
            <pc:docMk/>
            <pc:sldMk cId="1936075307" sldId="422"/>
            <ac:picMk id="5" creationId="{6009409C-5966-47E4-7FC2-3646EC9F895C}"/>
          </ac:picMkLst>
        </pc:picChg>
      </pc:sldChg>
      <pc:sldChg chg="modSp mod">
        <pc:chgData name="Rajarajeshwari S" userId="e4d90711455572c4" providerId="LiveId" clId="{CCD4E902-00B9-4B30-B952-A9A7A2B9871A}" dt="2026-03-02T03:33:56.446" v="1395" actId="1076"/>
        <pc:sldMkLst>
          <pc:docMk/>
          <pc:sldMk cId="1637576590" sldId="423"/>
        </pc:sldMkLst>
        <pc:spChg chg="mod">
          <ac:chgData name="Rajarajeshwari S" userId="e4d90711455572c4" providerId="LiveId" clId="{CCD4E902-00B9-4B30-B952-A9A7A2B9871A}" dt="2026-02-25T17:22:26.162" v="970" actId="20577"/>
          <ac:spMkLst>
            <pc:docMk/>
            <pc:sldMk cId="1637576590" sldId="423"/>
            <ac:spMk id="2" creationId="{F10AB7DE-70CB-B548-4F08-3AD7798F74DA}"/>
          </ac:spMkLst>
        </pc:spChg>
        <pc:spChg chg="mod">
          <ac:chgData name="Rajarajeshwari S" userId="e4d90711455572c4" providerId="LiveId" clId="{CCD4E902-00B9-4B30-B952-A9A7A2B9871A}" dt="2026-02-25T17:22:23.253" v="968" actId="21"/>
          <ac:spMkLst>
            <pc:docMk/>
            <pc:sldMk cId="1637576590" sldId="423"/>
            <ac:spMk id="3" creationId="{02D70689-AD8F-CD21-4E73-5F3EC835D525}"/>
          </ac:spMkLst>
        </pc:spChg>
        <pc:picChg chg="mod">
          <ac:chgData name="Rajarajeshwari S" userId="e4d90711455572c4" providerId="LiveId" clId="{CCD4E902-00B9-4B30-B952-A9A7A2B9871A}" dt="2026-03-02T03:33:56.446" v="1395" actId="1076"/>
          <ac:picMkLst>
            <pc:docMk/>
            <pc:sldMk cId="1637576590" sldId="423"/>
            <ac:picMk id="5" creationId="{CD420FFD-37A6-9817-6C32-464FE62D2B07}"/>
          </ac:picMkLst>
        </pc:picChg>
      </pc:sldChg>
      <pc:sldChg chg="modSp mod">
        <pc:chgData name="Rajarajeshwari S" userId="e4d90711455572c4" providerId="LiveId" clId="{CCD4E902-00B9-4B30-B952-A9A7A2B9871A}" dt="2026-03-02T03:34:26.997" v="1400" actId="1076"/>
        <pc:sldMkLst>
          <pc:docMk/>
          <pc:sldMk cId="3399428388" sldId="424"/>
        </pc:sldMkLst>
        <pc:spChg chg="mod">
          <ac:chgData name="Rajarajeshwari S" userId="e4d90711455572c4" providerId="LiveId" clId="{CCD4E902-00B9-4B30-B952-A9A7A2B9871A}" dt="2026-03-02T03:34:21.502" v="1397" actId="27636"/>
          <ac:spMkLst>
            <pc:docMk/>
            <pc:sldMk cId="3399428388" sldId="424"/>
            <ac:spMk id="3" creationId="{FC44DB6A-69F2-2135-9E98-8D7FFA39F4B8}"/>
          </ac:spMkLst>
        </pc:spChg>
        <pc:picChg chg="mod">
          <ac:chgData name="Rajarajeshwari S" userId="e4d90711455572c4" providerId="LiveId" clId="{CCD4E902-00B9-4B30-B952-A9A7A2B9871A}" dt="2026-03-02T03:34:26.997" v="1400" actId="1076"/>
          <ac:picMkLst>
            <pc:docMk/>
            <pc:sldMk cId="3399428388" sldId="424"/>
            <ac:picMk id="9" creationId="{E4DDEE68-2967-4E2B-A103-33E2E6F266A3}"/>
          </ac:picMkLst>
        </pc:picChg>
      </pc:sldChg>
      <pc:sldChg chg="modSp new mod">
        <pc:chgData name="Rajarajeshwari S" userId="e4d90711455572c4" providerId="LiveId" clId="{CCD4E902-00B9-4B30-B952-A9A7A2B9871A}" dt="2026-02-25T17:30:54.272" v="1135" actId="20577"/>
        <pc:sldMkLst>
          <pc:docMk/>
          <pc:sldMk cId="878854981" sldId="462"/>
        </pc:sldMkLst>
        <pc:spChg chg="mod">
          <ac:chgData name="Rajarajeshwari S" userId="e4d90711455572c4" providerId="LiveId" clId="{CCD4E902-00B9-4B30-B952-A9A7A2B9871A}" dt="2026-02-25T16:24:19.664" v="163" actId="27636"/>
          <ac:spMkLst>
            <pc:docMk/>
            <pc:sldMk cId="878854981" sldId="462"/>
            <ac:spMk id="2" creationId="{990C44BE-D490-AD6F-BEF5-07210B5DEE7A}"/>
          </ac:spMkLst>
        </pc:spChg>
        <pc:spChg chg="mod">
          <ac:chgData name="Rajarajeshwari S" userId="e4d90711455572c4" providerId="LiveId" clId="{CCD4E902-00B9-4B30-B952-A9A7A2B9871A}" dt="2026-02-25T17:30:54.272" v="1135" actId="20577"/>
          <ac:spMkLst>
            <pc:docMk/>
            <pc:sldMk cId="878854981" sldId="462"/>
            <ac:spMk id="3" creationId="{AEBAC2D4-74DA-609A-1BC4-28F17742617A}"/>
          </ac:spMkLst>
        </pc:spChg>
      </pc:sldChg>
      <pc:sldChg chg="modSp new mod">
        <pc:chgData name="Rajarajeshwari S" userId="e4d90711455572c4" providerId="LiveId" clId="{CCD4E902-00B9-4B30-B952-A9A7A2B9871A}" dt="2026-02-25T17:32:11.968" v="1141" actId="113"/>
        <pc:sldMkLst>
          <pc:docMk/>
          <pc:sldMk cId="570042984" sldId="463"/>
        </pc:sldMkLst>
        <pc:spChg chg="mod">
          <ac:chgData name="Rajarajeshwari S" userId="e4d90711455572c4" providerId="LiveId" clId="{CCD4E902-00B9-4B30-B952-A9A7A2B9871A}" dt="2026-02-25T16:25:49.627" v="174" actId="27636"/>
          <ac:spMkLst>
            <pc:docMk/>
            <pc:sldMk cId="570042984" sldId="463"/>
            <ac:spMk id="2" creationId="{06003385-205E-41F3-9B3B-D34F71085551}"/>
          </ac:spMkLst>
        </pc:spChg>
        <pc:spChg chg="mod">
          <ac:chgData name="Rajarajeshwari S" userId="e4d90711455572c4" providerId="LiveId" clId="{CCD4E902-00B9-4B30-B952-A9A7A2B9871A}" dt="2026-02-25T17:32:11.968" v="1141" actId="113"/>
          <ac:spMkLst>
            <pc:docMk/>
            <pc:sldMk cId="570042984" sldId="463"/>
            <ac:spMk id="3" creationId="{AE2A1464-B96A-4CEB-2CF7-534EE352AA8E}"/>
          </ac:spMkLst>
        </pc:spChg>
      </pc:sldChg>
      <pc:sldChg chg="modSp new mod">
        <pc:chgData name="Rajarajeshwari S" userId="e4d90711455572c4" providerId="LiveId" clId="{CCD4E902-00B9-4B30-B952-A9A7A2B9871A}" dt="2026-02-25T17:45:14.628" v="1156" actId="6549"/>
        <pc:sldMkLst>
          <pc:docMk/>
          <pc:sldMk cId="3484386275" sldId="464"/>
        </pc:sldMkLst>
        <pc:spChg chg="mod">
          <ac:chgData name="Rajarajeshwari S" userId="e4d90711455572c4" providerId="LiveId" clId="{CCD4E902-00B9-4B30-B952-A9A7A2B9871A}" dt="2026-02-25T16:26:32.995" v="182" actId="27636"/>
          <ac:spMkLst>
            <pc:docMk/>
            <pc:sldMk cId="3484386275" sldId="464"/>
            <ac:spMk id="2" creationId="{9E495D13-DF60-81BB-3449-EDAADFB73B58}"/>
          </ac:spMkLst>
        </pc:spChg>
        <pc:spChg chg="mod">
          <ac:chgData name="Rajarajeshwari S" userId="e4d90711455572c4" providerId="LiveId" clId="{CCD4E902-00B9-4B30-B952-A9A7A2B9871A}" dt="2026-02-25T17:45:14.628" v="1156" actId="6549"/>
          <ac:spMkLst>
            <pc:docMk/>
            <pc:sldMk cId="3484386275" sldId="464"/>
            <ac:spMk id="3" creationId="{90AF69C3-2DFA-8BF1-0679-C71DA334B484}"/>
          </ac:spMkLst>
        </pc:spChg>
      </pc:sldChg>
      <pc:sldChg chg="modSp new mod">
        <pc:chgData name="Rajarajeshwari S" userId="e4d90711455572c4" providerId="LiveId" clId="{CCD4E902-00B9-4B30-B952-A9A7A2B9871A}" dt="2026-02-25T17:46:15.968" v="1160" actId="27636"/>
        <pc:sldMkLst>
          <pc:docMk/>
          <pc:sldMk cId="325830098" sldId="465"/>
        </pc:sldMkLst>
        <pc:spChg chg="mod">
          <ac:chgData name="Rajarajeshwari S" userId="e4d90711455572c4" providerId="LiveId" clId="{CCD4E902-00B9-4B30-B952-A9A7A2B9871A}" dt="2026-02-25T16:28:30.675" v="228" actId="27636"/>
          <ac:spMkLst>
            <pc:docMk/>
            <pc:sldMk cId="325830098" sldId="465"/>
            <ac:spMk id="2" creationId="{C8FC5378-20D0-E9E9-D901-2C9BC3E2F5CF}"/>
          </ac:spMkLst>
        </pc:spChg>
        <pc:spChg chg="mod">
          <ac:chgData name="Rajarajeshwari S" userId="e4d90711455572c4" providerId="LiveId" clId="{CCD4E902-00B9-4B30-B952-A9A7A2B9871A}" dt="2026-02-25T17:46:15.968" v="1160" actId="27636"/>
          <ac:spMkLst>
            <pc:docMk/>
            <pc:sldMk cId="325830098" sldId="465"/>
            <ac:spMk id="3" creationId="{1DFD0CAF-3204-3136-CB3C-2733FD40C5D8}"/>
          </ac:spMkLst>
        </pc:spChg>
      </pc:sldChg>
      <pc:sldChg chg="modSp new mod">
        <pc:chgData name="Rajarajeshwari S" userId="e4d90711455572c4" providerId="LiveId" clId="{CCD4E902-00B9-4B30-B952-A9A7A2B9871A}" dt="2026-02-25T17:46:52.403" v="1173" actId="27636"/>
        <pc:sldMkLst>
          <pc:docMk/>
          <pc:sldMk cId="1341103926" sldId="466"/>
        </pc:sldMkLst>
        <pc:spChg chg="mod">
          <ac:chgData name="Rajarajeshwari S" userId="e4d90711455572c4" providerId="LiveId" clId="{CCD4E902-00B9-4B30-B952-A9A7A2B9871A}" dt="2026-02-25T16:29:57.688" v="247" actId="27636"/>
          <ac:spMkLst>
            <pc:docMk/>
            <pc:sldMk cId="1341103926" sldId="466"/>
            <ac:spMk id="2" creationId="{8966666B-A00D-5268-3EFA-729D033ED0B6}"/>
          </ac:spMkLst>
        </pc:spChg>
        <pc:spChg chg="mod">
          <ac:chgData name="Rajarajeshwari S" userId="e4d90711455572c4" providerId="LiveId" clId="{CCD4E902-00B9-4B30-B952-A9A7A2B9871A}" dt="2026-02-25T17:46:52.403" v="1173" actId="27636"/>
          <ac:spMkLst>
            <pc:docMk/>
            <pc:sldMk cId="1341103926" sldId="466"/>
            <ac:spMk id="3" creationId="{C9957311-FEF7-DC62-1FCC-B742BB166731}"/>
          </ac:spMkLst>
        </pc:spChg>
      </pc:sldChg>
      <pc:sldChg chg="modSp new mod">
        <pc:chgData name="Rajarajeshwari S" userId="e4d90711455572c4" providerId="LiveId" clId="{CCD4E902-00B9-4B30-B952-A9A7A2B9871A}" dt="2026-02-25T17:47:22.413" v="1184" actId="6549"/>
        <pc:sldMkLst>
          <pc:docMk/>
          <pc:sldMk cId="2534937689" sldId="467"/>
        </pc:sldMkLst>
        <pc:spChg chg="mod">
          <ac:chgData name="Rajarajeshwari S" userId="e4d90711455572c4" providerId="LiveId" clId="{CCD4E902-00B9-4B30-B952-A9A7A2B9871A}" dt="2026-02-25T16:30:16.762" v="251" actId="27636"/>
          <ac:spMkLst>
            <pc:docMk/>
            <pc:sldMk cId="2534937689" sldId="467"/>
            <ac:spMk id="2" creationId="{E0D636B4-0293-DB19-3508-1E963C9C8F61}"/>
          </ac:spMkLst>
        </pc:spChg>
        <pc:spChg chg="mod">
          <ac:chgData name="Rajarajeshwari S" userId="e4d90711455572c4" providerId="LiveId" clId="{CCD4E902-00B9-4B30-B952-A9A7A2B9871A}" dt="2026-02-25T17:47:22.413" v="1184" actId="6549"/>
          <ac:spMkLst>
            <pc:docMk/>
            <pc:sldMk cId="2534937689" sldId="467"/>
            <ac:spMk id="3" creationId="{C1AAA967-3EDC-E455-2D61-0C17E8D68729}"/>
          </ac:spMkLst>
        </pc:spChg>
      </pc:sldChg>
      <pc:sldChg chg="modSp new mod">
        <pc:chgData name="Rajarajeshwari S" userId="e4d90711455572c4" providerId="LiveId" clId="{CCD4E902-00B9-4B30-B952-A9A7A2B9871A}" dt="2026-02-25T17:47:55.736" v="1199" actId="6549"/>
        <pc:sldMkLst>
          <pc:docMk/>
          <pc:sldMk cId="2225029294" sldId="468"/>
        </pc:sldMkLst>
        <pc:spChg chg="mod">
          <ac:chgData name="Rajarajeshwari S" userId="e4d90711455572c4" providerId="LiveId" clId="{CCD4E902-00B9-4B30-B952-A9A7A2B9871A}" dt="2026-02-25T16:31:19.786" v="263" actId="27636"/>
          <ac:spMkLst>
            <pc:docMk/>
            <pc:sldMk cId="2225029294" sldId="468"/>
            <ac:spMk id="2" creationId="{F28FC573-E8A9-79B9-BF32-E5481C1ADAF8}"/>
          </ac:spMkLst>
        </pc:spChg>
        <pc:spChg chg="mod">
          <ac:chgData name="Rajarajeshwari S" userId="e4d90711455572c4" providerId="LiveId" clId="{CCD4E902-00B9-4B30-B952-A9A7A2B9871A}" dt="2026-02-25T17:47:55.736" v="1199" actId="6549"/>
          <ac:spMkLst>
            <pc:docMk/>
            <pc:sldMk cId="2225029294" sldId="468"/>
            <ac:spMk id="3" creationId="{D7D0CFC1-717E-1A34-1B56-FF9C72520FBD}"/>
          </ac:spMkLst>
        </pc:spChg>
      </pc:sldChg>
      <pc:sldChg chg="modSp new mod">
        <pc:chgData name="Rajarajeshwari S" userId="e4d90711455572c4" providerId="LiveId" clId="{CCD4E902-00B9-4B30-B952-A9A7A2B9871A}" dt="2026-03-02T04:28:28.806" v="1406" actId="27636"/>
        <pc:sldMkLst>
          <pc:docMk/>
          <pc:sldMk cId="3437627660" sldId="469"/>
        </pc:sldMkLst>
        <pc:spChg chg="mod">
          <ac:chgData name="Rajarajeshwari S" userId="e4d90711455572c4" providerId="LiveId" clId="{CCD4E902-00B9-4B30-B952-A9A7A2B9871A}" dt="2026-02-25T16:32:39.386" v="273" actId="27636"/>
          <ac:spMkLst>
            <pc:docMk/>
            <pc:sldMk cId="3437627660" sldId="469"/>
            <ac:spMk id="2" creationId="{AAA0B000-C3E1-6AEB-7DD6-997E2060A80F}"/>
          </ac:spMkLst>
        </pc:spChg>
        <pc:spChg chg="mod">
          <ac:chgData name="Rajarajeshwari S" userId="e4d90711455572c4" providerId="LiveId" clId="{CCD4E902-00B9-4B30-B952-A9A7A2B9871A}" dt="2026-03-02T04:28:28.806" v="1406" actId="27636"/>
          <ac:spMkLst>
            <pc:docMk/>
            <pc:sldMk cId="3437627660" sldId="469"/>
            <ac:spMk id="3" creationId="{ABD0BAC6-9B61-CDD4-13A3-CBE0A9F1E1A0}"/>
          </ac:spMkLst>
        </pc:spChg>
      </pc:sldChg>
      <pc:sldChg chg="modSp new mod">
        <pc:chgData name="Rajarajeshwari S" userId="e4d90711455572c4" providerId="LiveId" clId="{CCD4E902-00B9-4B30-B952-A9A7A2B9871A}" dt="2026-02-25T16:37:02.120" v="309" actId="27636"/>
        <pc:sldMkLst>
          <pc:docMk/>
          <pc:sldMk cId="336871332" sldId="470"/>
        </pc:sldMkLst>
        <pc:spChg chg="mod">
          <ac:chgData name="Rajarajeshwari S" userId="e4d90711455572c4" providerId="LiveId" clId="{CCD4E902-00B9-4B30-B952-A9A7A2B9871A}" dt="2026-02-25T16:36:59.766" v="306" actId="27636"/>
          <ac:spMkLst>
            <pc:docMk/>
            <pc:sldMk cId="336871332" sldId="470"/>
            <ac:spMk id="2" creationId="{0E6DE15E-551B-F493-6106-8551C236AAE2}"/>
          </ac:spMkLst>
        </pc:spChg>
        <pc:spChg chg="mod">
          <ac:chgData name="Rajarajeshwari S" userId="e4d90711455572c4" providerId="LiveId" clId="{CCD4E902-00B9-4B30-B952-A9A7A2B9871A}" dt="2026-02-25T16:37:02.120" v="309" actId="27636"/>
          <ac:spMkLst>
            <pc:docMk/>
            <pc:sldMk cId="336871332" sldId="470"/>
            <ac:spMk id="3" creationId="{47C37847-EE33-E44A-1A0D-9E7B0A92CDDC}"/>
          </ac:spMkLst>
        </pc:spChg>
      </pc:sldChg>
      <pc:sldChg chg="modSp new mod">
        <pc:chgData name="Rajarajeshwari S" userId="e4d90711455572c4" providerId="LiveId" clId="{CCD4E902-00B9-4B30-B952-A9A7A2B9871A}" dt="2026-02-25T16:37:30.245" v="325" actId="27636"/>
        <pc:sldMkLst>
          <pc:docMk/>
          <pc:sldMk cId="4098378099" sldId="471"/>
        </pc:sldMkLst>
        <pc:spChg chg="mod">
          <ac:chgData name="Rajarajeshwari S" userId="e4d90711455572c4" providerId="LiveId" clId="{CCD4E902-00B9-4B30-B952-A9A7A2B9871A}" dt="2026-02-25T16:37:15.040" v="312" actId="27636"/>
          <ac:spMkLst>
            <pc:docMk/>
            <pc:sldMk cId="4098378099" sldId="471"/>
            <ac:spMk id="2" creationId="{BDA63AED-A03E-2E96-7729-4259F69DF9AF}"/>
          </ac:spMkLst>
        </pc:spChg>
        <pc:spChg chg="mod">
          <ac:chgData name="Rajarajeshwari S" userId="e4d90711455572c4" providerId="LiveId" clId="{CCD4E902-00B9-4B30-B952-A9A7A2B9871A}" dt="2026-02-25T16:37:30.245" v="325" actId="27636"/>
          <ac:spMkLst>
            <pc:docMk/>
            <pc:sldMk cId="4098378099" sldId="471"/>
            <ac:spMk id="3" creationId="{5BDF0631-6CD1-7EA0-6D95-7784F3F61C7D}"/>
          </ac:spMkLst>
        </pc:spChg>
      </pc:sldChg>
      <pc:sldChg chg="modSp new mod">
        <pc:chgData name="Rajarajeshwari S" userId="e4d90711455572c4" providerId="LiveId" clId="{CCD4E902-00B9-4B30-B952-A9A7A2B9871A}" dt="2026-03-02T04:28:28.989" v="1407" actId="27636"/>
        <pc:sldMkLst>
          <pc:docMk/>
          <pc:sldMk cId="855405294" sldId="472"/>
        </pc:sldMkLst>
        <pc:spChg chg="mod">
          <ac:chgData name="Rajarajeshwari S" userId="e4d90711455572c4" providerId="LiveId" clId="{CCD4E902-00B9-4B30-B952-A9A7A2B9871A}" dt="2026-02-25T16:37:46.638" v="329" actId="27636"/>
          <ac:spMkLst>
            <pc:docMk/>
            <pc:sldMk cId="855405294" sldId="472"/>
            <ac:spMk id="2" creationId="{3A5BEAF0-2F0D-01F3-D904-6A11F3E9AB19}"/>
          </ac:spMkLst>
        </pc:spChg>
        <pc:spChg chg="mod">
          <ac:chgData name="Rajarajeshwari S" userId="e4d90711455572c4" providerId="LiveId" clId="{CCD4E902-00B9-4B30-B952-A9A7A2B9871A}" dt="2026-03-02T04:28:28.989" v="1407" actId="27636"/>
          <ac:spMkLst>
            <pc:docMk/>
            <pc:sldMk cId="855405294" sldId="472"/>
            <ac:spMk id="3" creationId="{8EF6D3D0-5110-791D-41E2-6E49812176ED}"/>
          </ac:spMkLst>
        </pc:spChg>
      </pc:sldChg>
      <pc:sldChg chg="modSp new mod">
        <pc:chgData name="Rajarajeshwari S" userId="e4d90711455572c4" providerId="LiveId" clId="{CCD4E902-00B9-4B30-B952-A9A7A2B9871A}" dt="2026-02-25T16:40:12.160" v="381"/>
        <pc:sldMkLst>
          <pc:docMk/>
          <pc:sldMk cId="1080547794" sldId="473"/>
        </pc:sldMkLst>
        <pc:spChg chg="mod">
          <ac:chgData name="Rajarajeshwari S" userId="e4d90711455572c4" providerId="LiveId" clId="{CCD4E902-00B9-4B30-B952-A9A7A2B9871A}" dt="2026-02-25T16:38:31.768" v="342" actId="27636"/>
          <ac:spMkLst>
            <pc:docMk/>
            <pc:sldMk cId="1080547794" sldId="473"/>
            <ac:spMk id="2" creationId="{7E2BF16F-2219-D360-649E-3180F82D4F35}"/>
          </ac:spMkLst>
        </pc:spChg>
        <pc:spChg chg="mod">
          <ac:chgData name="Rajarajeshwari S" userId="e4d90711455572c4" providerId="LiveId" clId="{CCD4E902-00B9-4B30-B952-A9A7A2B9871A}" dt="2026-02-25T16:40:12.160" v="381"/>
          <ac:spMkLst>
            <pc:docMk/>
            <pc:sldMk cId="1080547794" sldId="473"/>
            <ac:spMk id="3" creationId="{305D7C40-C6CE-863C-802C-8DE988AA6053}"/>
          </ac:spMkLst>
        </pc:spChg>
      </pc:sldChg>
      <pc:sldChg chg="addSp modSp new mod">
        <pc:chgData name="Rajarajeshwari S" userId="e4d90711455572c4" providerId="LiveId" clId="{CCD4E902-00B9-4B30-B952-A9A7A2B9871A}" dt="2026-03-02T04:28:29.451" v="1408" actId="27636"/>
        <pc:sldMkLst>
          <pc:docMk/>
          <pc:sldMk cId="32643078" sldId="474"/>
        </pc:sldMkLst>
        <pc:spChg chg="mod">
          <ac:chgData name="Rajarajeshwari S" userId="e4d90711455572c4" providerId="LiveId" clId="{CCD4E902-00B9-4B30-B952-A9A7A2B9871A}" dt="2026-02-25T16:40:29.767" v="385" actId="27636"/>
          <ac:spMkLst>
            <pc:docMk/>
            <pc:sldMk cId="32643078" sldId="474"/>
            <ac:spMk id="2" creationId="{3D21D057-97CC-F8CF-03CA-A61251BBA200}"/>
          </ac:spMkLst>
        </pc:spChg>
        <pc:spChg chg="mod">
          <ac:chgData name="Rajarajeshwari S" userId="e4d90711455572c4" providerId="LiveId" clId="{CCD4E902-00B9-4B30-B952-A9A7A2B9871A}" dt="2026-03-02T04:28:29.451" v="1408" actId="27636"/>
          <ac:spMkLst>
            <pc:docMk/>
            <pc:sldMk cId="32643078" sldId="474"/>
            <ac:spMk id="3" creationId="{647486DF-5396-02CE-4DA8-954FF9B13651}"/>
          </ac:spMkLst>
        </pc:spChg>
        <pc:spChg chg="add mod">
          <ac:chgData name="Rajarajeshwari S" userId="e4d90711455572c4" providerId="LiveId" clId="{CCD4E902-00B9-4B30-B952-A9A7A2B9871A}" dt="2026-02-25T17:50:08.734" v="1232" actId="20577"/>
          <ac:spMkLst>
            <pc:docMk/>
            <pc:sldMk cId="32643078" sldId="474"/>
            <ac:spMk id="5" creationId="{60B46947-3222-5FA3-3F21-970E496EEA58}"/>
          </ac:spMkLst>
        </pc:spChg>
      </pc:sldChg>
      <pc:sldChg chg="addSp modSp new mod">
        <pc:chgData name="Rajarajeshwari S" userId="e4d90711455572c4" providerId="LiveId" clId="{CCD4E902-00B9-4B30-B952-A9A7A2B9871A}" dt="2026-02-25T16:46:00.274" v="455" actId="20577"/>
        <pc:sldMkLst>
          <pc:docMk/>
          <pc:sldMk cId="1967701888" sldId="475"/>
        </pc:sldMkLst>
        <pc:spChg chg="mod">
          <ac:chgData name="Rajarajeshwari S" userId="e4d90711455572c4" providerId="LiveId" clId="{CCD4E902-00B9-4B30-B952-A9A7A2B9871A}" dt="2026-02-25T16:42:04.429" v="404" actId="27636"/>
          <ac:spMkLst>
            <pc:docMk/>
            <pc:sldMk cId="1967701888" sldId="475"/>
            <ac:spMk id="2" creationId="{ADD1F01A-476C-5255-1C42-86B31BD234C0}"/>
          </ac:spMkLst>
        </pc:spChg>
        <pc:spChg chg="mod">
          <ac:chgData name="Rajarajeshwari S" userId="e4d90711455572c4" providerId="LiveId" clId="{CCD4E902-00B9-4B30-B952-A9A7A2B9871A}" dt="2026-02-25T16:46:00.274" v="455" actId="20577"/>
          <ac:spMkLst>
            <pc:docMk/>
            <pc:sldMk cId="1967701888" sldId="475"/>
            <ac:spMk id="3" creationId="{85B30250-7F1F-C36D-78B4-F7D517C60AC7}"/>
          </ac:spMkLst>
        </pc:spChg>
        <pc:spChg chg="add mod">
          <ac:chgData name="Rajarajeshwari S" userId="e4d90711455572c4" providerId="LiveId" clId="{CCD4E902-00B9-4B30-B952-A9A7A2B9871A}" dt="2026-02-25T16:45:24.228" v="448"/>
          <ac:spMkLst>
            <pc:docMk/>
            <pc:sldMk cId="1967701888" sldId="475"/>
            <ac:spMk id="4" creationId="{6724674E-D8B9-02DB-029F-1407014A263F}"/>
          </ac:spMkLst>
        </pc:spChg>
      </pc:sldChg>
      <pc:sldChg chg="addSp delSp modSp new mod">
        <pc:chgData name="Rajarajeshwari S" userId="e4d90711455572c4" providerId="LiveId" clId="{CCD4E902-00B9-4B30-B952-A9A7A2B9871A}" dt="2026-02-25T16:49:22.418" v="502" actId="27636"/>
        <pc:sldMkLst>
          <pc:docMk/>
          <pc:sldMk cId="436648534" sldId="477"/>
        </pc:sldMkLst>
        <pc:spChg chg="mod">
          <ac:chgData name="Rajarajeshwari S" userId="e4d90711455572c4" providerId="LiveId" clId="{CCD4E902-00B9-4B30-B952-A9A7A2B9871A}" dt="2026-02-25T16:49:22.418" v="502" actId="27636"/>
          <ac:spMkLst>
            <pc:docMk/>
            <pc:sldMk cId="436648534" sldId="477"/>
            <ac:spMk id="2" creationId="{06E4239D-B189-DDA2-F5B5-5C00732C3F16}"/>
          </ac:spMkLst>
        </pc:spChg>
        <pc:spChg chg="add mod">
          <ac:chgData name="Rajarajeshwari S" userId="e4d90711455572c4" providerId="LiveId" clId="{CCD4E902-00B9-4B30-B952-A9A7A2B9871A}" dt="2026-02-25T16:48:53.609" v="498" actId="1076"/>
          <ac:spMkLst>
            <pc:docMk/>
            <pc:sldMk cId="436648534" sldId="477"/>
            <ac:spMk id="5" creationId="{E07C646D-50D4-AA86-685D-C37CF7CE8CCB}"/>
          </ac:spMkLst>
        </pc:spChg>
      </pc:sldChg>
      <pc:sldChg chg="modSp new mod">
        <pc:chgData name="Rajarajeshwari S" userId="e4d90711455572c4" providerId="LiveId" clId="{CCD4E902-00B9-4B30-B952-A9A7A2B9871A}" dt="2026-03-02T04:28:25.647" v="1403"/>
        <pc:sldMkLst>
          <pc:docMk/>
          <pc:sldMk cId="3060526856" sldId="478"/>
        </pc:sldMkLst>
        <pc:spChg chg="mod">
          <ac:chgData name="Rajarajeshwari S" userId="e4d90711455572c4" providerId="LiveId" clId="{CCD4E902-00B9-4B30-B952-A9A7A2B9871A}" dt="2026-03-02T04:28:25.647" v="1403"/>
          <ac:spMkLst>
            <pc:docMk/>
            <pc:sldMk cId="3060526856" sldId="478"/>
            <ac:spMk id="2" creationId="{0770A1FA-8A92-94A0-0323-B4E46A98C617}"/>
          </ac:spMkLst>
        </pc:spChg>
        <pc:spChg chg="mod">
          <ac:chgData name="Rajarajeshwari S" userId="e4d90711455572c4" providerId="LiveId" clId="{CCD4E902-00B9-4B30-B952-A9A7A2B9871A}" dt="2026-03-02T04:28:23.120" v="1402" actId="21"/>
          <ac:spMkLst>
            <pc:docMk/>
            <pc:sldMk cId="3060526856" sldId="478"/>
            <ac:spMk id="3" creationId="{524D1263-B726-777C-B25A-A845BC764655}"/>
          </ac:spMkLst>
        </pc:spChg>
      </pc:sldChg>
      <pc:sldChg chg="modSp new mod">
        <pc:chgData name="Rajarajeshwari S" userId="e4d90711455572c4" providerId="LiveId" clId="{CCD4E902-00B9-4B30-B952-A9A7A2B9871A}" dt="2026-02-25T16:53:49.074" v="524" actId="20577"/>
        <pc:sldMkLst>
          <pc:docMk/>
          <pc:sldMk cId="4264856338" sldId="479"/>
        </pc:sldMkLst>
        <pc:spChg chg="mod">
          <ac:chgData name="Rajarajeshwari S" userId="e4d90711455572c4" providerId="LiveId" clId="{CCD4E902-00B9-4B30-B952-A9A7A2B9871A}" dt="2026-02-25T16:53:45.330" v="523" actId="27636"/>
          <ac:spMkLst>
            <pc:docMk/>
            <pc:sldMk cId="4264856338" sldId="479"/>
            <ac:spMk id="2" creationId="{EF93976C-5A84-3A91-3958-86FFE8D25C6C}"/>
          </ac:spMkLst>
        </pc:spChg>
        <pc:spChg chg="mod">
          <ac:chgData name="Rajarajeshwari S" userId="e4d90711455572c4" providerId="LiveId" clId="{CCD4E902-00B9-4B30-B952-A9A7A2B9871A}" dt="2026-02-25T16:53:49.074" v="524" actId="20577"/>
          <ac:spMkLst>
            <pc:docMk/>
            <pc:sldMk cId="4264856338" sldId="479"/>
            <ac:spMk id="3" creationId="{8E8DBE6E-6DEB-AB7D-C6A5-FA38FE78D03E}"/>
          </ac:spMkLst>
        </pc:spChg>
      </pc:sldChg>
      <pc:sldChg chg="modSp new mod">
        <pc:chgData name="Rajarajeshwari S" userId="e4d90711455572c4" providerId="LiveId" clId="{CCD4E902-00B9-4B30-B952-A9A7A2B9871A}" dt="2026-02-25T16:54:21.464" v="530" actId="27636"/>
        <pc:sldMkLst>
          <pc:docMk/>
          <pc:sldMk cId="2220249828" sldId="480"/>
        </pc:sldMkLst>
        <pc:spChg chg="mod">
          <ac:chgData name="Rajarajeshwari S" userId="e4d90711455572c4" providerId="LiveId" clId="{CCD4E902-00B9-4B30-B952-A9A7A2B9871A}" dt="2026-02-25T16:54:08.593" v="527" actId="27636"/>
          <ac:spMkLst>
            <pc:docMk/>
            <pc:sldMk cId="2220249828" sldId="480"/>
            <ac:spMk id="2" creationId="{E902A8DA-29B0-5C9B-30EC-5EA71838D3D1}"/>
          </ac:spMkLst>
        </pc:spChg>
        <pc:spChg chg="mod">
          <ac:chgData name="Rajarajeshwari S" userId="e4d90711455572c4" providerId="LiveId" clId="{CCD4E902-00B9-4B30-B952-A9A7A2B9871A}" dt="2026-02-25T16:54:21.464" v="530" actId="27636"/>
          <ac:spMkLst>
            <pc:docMk/>
            <pc:sldMk cId="2220249828" sldId="480"/>
            <ac:spMk id="3" creationId="{04D889D2-AEC7-B90D-2EBF-AA79E4CCC69C}"/>
          </ac:spMkLst>
        </pc:spChg>
      </pc:sldChg>
      <pc:sldChg chg="modSp new mod">
        <pc:chgData name="Rajarajeshwari S" userId="e4d90711455572c4" providerId="LiveId" clId="{CCD4E902-00B9-4B30-B952-A9A7A2B9871A}" dt="2026-02-25T16:54:49.348" v="536" actId="5793"/>
        <pc:sldMkLst>
          <pc:docMk/>
          <pc:sldMk cId="1877438445" sldId="481"/>
        </pc:sldMkLst>
        <pc:spChg chg="mod">
          <ac:chgData name="Rajarajeshwari S" userId="e4d90711455572c4" providerId="LiveId" clId="{CCD4E902-00B9-4B30-B952-A9A7A2B9871A}" dt="2026-02-25T16:54:34.996" v="533" actId="27636"/>
          <ac:spMkLst>
            <pc:docMk/>
            <pc:sldMk cId="1877438445" sldId="481"/>
            <ac:spMk id="2" creationId="{4A57911F-2720-819C-9025-C2A3336D7C13}"/>
          </ac:spMkLst>
        </pc:spChg>
        <pc:spChg chg="mod">
          <ac:chgData name="Rajarajeshwari S" userId="e4d90711455572c4" providerId="LiveId" clId="{CCD4E902-00B9-4B30-B952-A9A7A2B9871A}" dt="2026-02-25T16:54:49.348" v="536" actId="5793"/>
          <ac:spMkLst>
            <pc:docMk/>
            <pc:sldMk cId="1877438445" sldId="481"/>
            <ac:spMk id="3" creationId="{B981FAA1-372F-6AF1-86F4-841960538EA7}"/>
          </ac:spMkLst>
        </pc:spChg>
      </pc:sldChg>
      <pc:sldChg chg="modSp new mod">
        <pc:chgData name="Rajarajeshwari S" userId="e4d90711455572c4" providerId="LiveId" clId="{CCD4E902-00B9-4B30-B952-A9A7A2B9871A}" dt="2026-02-25T16:55:57.965" v="549" actId="27636"/>
        <pc:sldMkLst>
          <pc:docMk/>
          <pc:sldMk cId="2682078679" sldId="482"/>
        </pc:sldMkLst>
        <pc:spChg chg="mod">
          <ac:chgData name="Rajarajeshwari S" userId="e4d90711455572c4" providerId="LiveId" clId="{CCD4E902-00B9-4B30-B952-A9A7A2B9871A}" dt="2026-02-25T16:55:11.485" v="540" actId="27636"/>
          <ac:spMkLst>
            <pc:docMk/>
            <pc:sldMk cId="2682078679" sldId="482"/>
            <ac:spMk id="2" creationId="{BEABF583-3908-C8E0-D6D1-66464E63357A}"/>
          </ac:spMkLst>
        </pc:spChg>
        <pc:spChg chg="mod">
          <ac:chgData name="Rajarajeshwari S" userId="e4d90711455572c4" providerId="LiveId" clId="{CCD4E902-00B9-4B30-B952-A9A7A2B9871A}" dt="2026-02-25T16:55:57.965" v="549" actId="27636"/>
          <ac:spMkLst>
            <pc:docMk/>
            <pc:sldMk cId="2682078679" sldId="482"/>
            <ac:spMk id="3" creationId="{75D149B3-DAB6-A683-D962-12C68449FEBF}"/>
          </ac:spMkLst>
        </pc:spChg>
      </pc:sldChg>
      <pc:sldChg chg="modSp new mod">
        <pc:chgData name="Rajarajeshwari S" userId="e4d90711455572c4" providerId="LiveId" clId="{CCD4E902-00B9-4B30-B952-A9A7A2B9871A}" dt="2026-03-02T04:28:25.949" v="1404" actId="27636"/>
        <pc:sldMkLst>
          <pc:docMk/>
          <pc:sldMk cId="3789234906" sldId="483"/>
        </pc:sldMkLst>
        <pc:spChg chg="mod">
          <ac:chgData name="Rajarajeshwari S" userId="e4d90711455572c4" providerId="LiveId" clId="{CCD4E902-00B9-4B30-B952-A9A7A2B9871A}" dt="2026-02-25T16:56:18.417" v="553" actId="27636"/>
          <ac:spMkLst>
            <pc:docMk/>
            <pc:sldMk cId="3789234906" sldId="483"/>
            <ac:spMk id="2" creationId="{A62527ED-92C4-6995-D3A6-85F075685677}"/>
          </ac:spMkLst>
        </pc:spChg>
        <pc:spChg chg="mod">
          <ac:chgData name="Rajarajeshwari S" userId="e4d90711455572c4" providerId="LiveId" clId="{CCD4E902-00B9-4B30-B952-A9A7A2B9871A}" dt="2026-03-02T04:28:25.949" v="1404" actId="27636"/>
          <ac:spMkLst>
            <pc:docMk/>
            <pc:sldMk cId="3789234906" sldId="483"/>
            <ac:spMk id="3" creationId="{302F33A4-04BC-2E49-73F1-61487B74E07C}"/>
          </ac:spMkLst>
        </pc:spChg>
      </pc:sldChg>
      <pc:sldChg chg="modSp new mod">
        <pc:chgData name="Rajarajeshwari S" userId="e4d90711455572c4" providerId="LiveId" clId="{CCD4E902-00B9-4B30-B952-A9A7A2B9871A}" dt="2026-02-25T16:57:22.204" v="567"/>
        <pc:sldMkLst>
          <pc:docMk/>
          <pc:sldMk cId="3328624624" sldId="484"/>
        </pc:sldMkLst>
        <pc:spChg chg="mod">
          <ac:chgData name="Rajarajeshwari S" userId="e4d90711455572c4" providerId="LiveId" clId="{CCD4E902-00B9-4B30-B952-A9A7A2B9871A}" dt="2026-02-25T16:57:01.045" v="565" actId="27636"/>
          <ac:spMkLst>
            <pc:docMk/>
            <pc:sldMk cId="3328624624" sldId="484"/>
            <ac:spMk id="2" creationId="{467742A1-0A21-78EE-9D8D-991B33E5C9D7}"/>
          </ac:spMkLst>
        </pc:spChg>
        <pc:spChg chg="mod">
          <ac:chgData name="Rajarajeshwari S" userId="e4d90711455572c4" providerId="LiveId" clId="{CCD4E902-00B9-4B30-B952-A9A7A2B9871A}" dt="2026-02-25T16:57:22.204" v="567"/>
          <ac:spMkLst>
            <pc:docMk/>
            <pc:sldMk cId="3328624624" sldId="484"/>
            <ac:spMk id="3" creationId="{3C3D27B1-5C92-985B-9EEC-04BB60A2C89F}"/>
          </ac:spMkLst>
        </pc:spChg>
      </pc:sldChg>
      <pc:sldChg chg="modSp new mod">
        <pc:chgData name="Rajarajeshwari S" userId="e4d90711455572c4" providerId="LiveId" clId="{CCD4E902-00B9-4B30-B952-A9A7A2B9871A}" dt="2026-02-25T17:52:44.132" v="1236" actId="27636"/>
        <pc:sldMkLst>
          <pc:docMk/>
          <pc:sldMk cId="102667185" sldId="485"/>
        </pc:sldMkLst>
        <pc:spChg chg="mod">
          <ac:chgData name="Rajarajeshwari S" userId="e4d90711455572c4" providerId="LiveId" clId="{CCD4E902-00B9-4B30-B952-A9A7A2B9871A}" dt="2026-02-25T16:57:42.836" v="570" actId="27636"/>
          <ac:spMkLst>
            <pc:docMk/>
            <pc:sldMk cId="102667185" sldId="485"/>
            <ac:spMk id="2" creationId="{2B05F9DC-9221-9263-6225-DCF1B03E1FFD}"/>
          </ac:spMkLst>
        </pc:spChg>
        <pc:spChg chg="mod">
          <ac:chgData name="Rajarajeshwari S" userId="e4d90711455572c4" providerId="LiveId" clId="{CCD4E902-00B9-4B30-B952-A9A7A2B9871A}" dt="2026-02-25T17:52:44.132" v="1236" actId="27636"/>
          <ac:spMkLst>
            <pc:docMk/>
            <pc:sldMk cId="102667185" sldId="485"/>
            <ac:spMk id="3" creationId="{7D55C37E-CC01-F4E1-D67C-FB326BEFE583}"/>
          </ac:spMkLst>
        </pc:spChg>
      </pc:sldChg>
      <pc:sldChg chg="modSp new mod">
        <pc:chgData name="Rajarajeshwari S" userId="e4d90711455572c4" providerId="LiveId" clId="{CCD4E902-00B9-4B30-B952-A9A7A2B9871A}" dt="2026-02-25T16:59:04.016" v="593" actId="27636"/>
        <pc:sldMkLst>
          <pc:docMk/>
          <pc:sldMk cId="1981249719" sldId="486"/>
        </pc:sldMkLst>
        <pc:spChg chg="mod">
          <ac:chgData name="Rajarajeshwari S" userId="e4d90711455572c4" providerId="LiveId" clId="{CCD4E902-00B9-4B30-B952-A9A7A2B9871A}" dt="2026-02-25T16:58:18.563" v="578" actId="27636"/>
          <ac:spMkLst>
            <pc:docMk/>
            <pc:sldMk cId="1981249719" sldId="486"/>
            <ac:spMk id="2" creationId="{727DECE3-5D13-7D53-C394-07380AD0444F}"/>
          </ac:spMkLst>
        </pc:spChg>
        <pc:spChg chg="mod">
          <ac:chgData name="Rajarajeshwari S" userId="e4d90711455572c4" providerId="LiveId" clId="{CCD4E902-00B9-4B30-B952-A9A7A2B9871A}" dt="2026-02-25T16:59:04.016" v="593" actId="27636"/>
          <ac:spMkLst>
            <pc:docMk/>
            <pc:sldMk cId="1981249719" sldId="486"/>
            <ac:spMk id="3" creationId="{97D5218E-4D43-BCB4-8A11-88EAA48707FC}"/>
          </ac:spMkLst>
        </pc:spChg>
      </pc:sldChg>
      <pc:sldChg chg="modSp new mod">
        <pc:chgData name="Rajarajeshwari S" userId="e4d90711455572c4" providerId="LiveId" clId="{CCD4E902-00B9-4B30-B952-A9A7A2B9871A}" dt="2026-02-25T16:59:46.355" v="608" actId="113"/>
        <pc:sldMkLst>
          <pc:docMk/>
          <pc:sldMk cId="2549789578" sldId="487"/>
        </pc:sldMkLst>
        <pc:spChg chg="mod">
          <ac:chgData name="Rajarajeshwari S" userId="e4d90711455572c4" providerId="LiveId" clId="{CCD4E902-00B9-4B30-B952-A9A7A2B9871A}" dt="2026-02-25T16:59:21.501" v="596" actId="27636"/>
          <ac:spMkLst>
            <pc:docMk/>
            <pc:sldMk cId="2549789578" sldId="487"/>
            <ac:spMk id="2" creationId="{E267D0F1-8031-78FF-6F75-4F763267A098}"/>
          </ac:spMkLst>
        </pc:spChg>
        <pc:spChg chg="mod">
          <ac:chgData name="Rajarajeshwari S" userId="e4d90711455572c4" providerId="LiveId" clId="{CCD4E902-00B9-4B30-B952-A9A7A2B9871A}" dt="2026-02-25T16:59:46.355" v="608" actId="113"/>
          <ac:spMkLst>
            <pc:docMk/>
            <pc:sldMk cId="2549789578" sldId="487"/>
            <ac:spMk id="3" creationId="{66C405BD-7595-319C-C120-09446FBFCE97}"/>
          </ac:spMkLst>
        </pc:spChg>
      </pc:sldChg>
      <pc:sldChg chg="modSp new mod">
        <pc:chgData name="Rajarajeshwari S" userId="e4d90711455572c4" providerId="LiveId" clId="{CCD4E902-00B9-4B30-B952-A9A7A2B9871A}" dt="2026-02-26T03:21:07.945" v="1330" actId="20577"/>
        <pc:sldMkLst>
          <pc:docMk/>
          <pc:sldMk cId="2679621997" sldId="488"/>
        </pc:sldMkLst>
        <pc:spChg chg="mod">
          <ac:chgData name="Rajarajeshwari S" userId="e4d90711455572c4" providerId="LiveId" clId="{CCD4E902-00B9-4B30-B952-A9A7A2B9871A}" dt="2026-02-26T03:21:07.945" v="1330" actId="20577"/>
          <ac:spMkLst>
            <pc:docMk/>
            <pc:sldMk cId="2679621997" sldId="488"/>
            <ac:spMk id="2" creationId="{9ADEB0DA-BAEE-3583-7A02-E9013E299AC6}"/>
          </ac:spMkLst>
        </pc:spChg>
        <pc:spChg chg="mod">
          <ac:chgData name="Rajarajeshwari S" userId="e4d90711455572c4" providerId="LiveId" clId="{CCD4E902-00B9-4B30-B952-A9A7A2B9871A}" dt="2026-02-25T17:53:43.783" v="1238" actId="6549"/>
          <ac:spMkLst>
            <pc:docMk/>
            <pc:sldMk cId="2679621997" sldId="488"/>
            <ac:spMk id="3" creationId="{11786C8C-0ADB-3300-726C-B2814E7E76AE}"/>
          </ac:spMkLst>
        </pc:spChg>
      </pc:sldChg>
      <pc:sldChg chg="modSp new mod">
        <pc:chgData name="Rajarajeshwari S" userId="e4d90711455572c4" providerId="LiveId" clId="{CCD4E902-00B9-4B30-B952-A9A7A2B9871A}" dt="2026-03-02T02:48:43.934" v="1338" actId="27636"/>
        <pc:sldMkLst>
          <pc:docMk/>
          <pc:sldMk cId="829706771" sldId="489"/>
        </pc:sldMkLst>
        <pc:spChg chg="mod">
          <ac:chgData name="Rajarajeshwari S" userId="e4d90711455572c4" providerId="LiveId" clId="{CCD4E902-00B9-4B30-B952-A9A7A2B9871A}" dt="2026-02-25T17:02:10.517" v="623" actId="27636"/>
          <ac:spMkLst>
            <pc:docMk/>
            <pc:sldMk cId="829706771" sldId="489"/>
            <ac:spMk id="2" creationId="{C3BB6475-E5FD-7B74-0550-EA3B13AD6F5A}"/>
          </ac:spMkLst>
        </pc:spChg>
        <pc:spChg chg="mod">
          <ac:chgData name="Rajarajeshwari S" userId="e4d90711455572c4" providerId="LiveId" clId="{CCD4E902-00B9-4B30-B952-A9A7A2B9871A}" dt="2026-03-02T02:48:43.934" v="1338" actId="27636"/>
          <ac:spMkLst>
            <pc:docMk/>
            <pc:sldMk cId="829706771" sldId="489"/>
            <ac:spMk id="3" creationId="{3BB78839-A6D0-19C5-B023-F6F396949523}"/>
          </ac:spMkLst>
        </pc:spChg>
      </pc:sldChg>
      <pc:sldChg chg="modSp new mod">
        <pc:chgData name="Rajarajeshwari S" userId="e4d90711455572c4" providerId="LiveId" clId="{CCD4E902-00B9-4B30-B952-A9A7A2B9871A}" dt="2026-02-25T17:54:41.337" v="1246" actId="27636"/>
        <pc:sldMkLst>
          <pc:docMk/>
          <pc:sldMk cId="632536875" sldId="490"/>
        </pc:sldMkLst>
        <pc:spChg chg="mod">
          <ac:chgData name="Rajarajeshwari S" userId="e4d90711455572c4" providerId="LiveId" clId="{CCD4E902-00B9-4B30-B952-A9A7A2B9871A}" dt="2026-02-25T17:02:57.583" v="642" actId="27636"/>
          <ac:spMkLst>
            <pc:docMk/>
            <pc:sldMk cId="632536875" sldId="490"/>
            <ac:spMk id="2" creationId="{E2CDDAF6-0422-3A82-5124-60CE0C2E261D}"/>
          </ac:spMkLst>
        </pc:spChg>
        <pc:spChg chg="mod">
          <ac:chgData name="Rajarajeshwari S" userId="e4d90711455572c4" providerId="LiveId" clId="{CCD4E902-00B9-4B30-B952-A9A7A2B9871A}" dt="2026-02-25T17:54:41.337" v="1246" actId="27636"/>
          <ac:spMkLst>
            <pc:docMk/>
            <pc:sldMk cId="632536875" sldId="490"/>
            <ac:spMk id="3" creationId="{3B9F3CE9-FAC7-8C39-7A52-D7B5960FF0ED}"/>
          </ac:spMkLst>
        </pc:spChg>
      </pc:sldChg>
      <pc:sldChg chg="addSp modSp new mod">
        <pc:chgData name="Rajarajeshwari S" userId="e4d90711455572c4" providerId="LiveId" clId="{CCD4E902-00B9-4B30-B952-A9A7A2B9871A}" dt="2026-03-02T03:12:09.593" v="1365" actId="14100"/>
        <pc:sldMkLst>
          <pc:docMk/>
          <pc:sldMk cId="1033867316" sldId="491"/>
        </pc:sldMkLst>
        <pc:spChg chg="mod">
          <ac:chgData name="Rajarajeshwari S" userId="e4d90711455572c4" providerId="LiveId" clId="{CCD4E902-00B9-4B30-B952-A9A7A2B9871A}" dt="2026-02-25T17:03:59.866" v="649" actId="27636"/>
          <ac:spMkLst>
            <pc:docMk/>
            <pc:sldMk cId="1033867316" sldId="491"/>
            <ac:spMk id="2" creationId="{5ED8ABF1-735A-E0B1-7A40-2E8F89187294}"/>
          </ac:spMkLst>
        </pc:spChg>
        <pc:spChg chg="mod">
          <ac:chgData name="Rajarajeshwari S" userId="e4d90711455572c4" providerId="LiveId" clId="{CCD4E902-00B9-4B30-B952-A9A7A2B9871A}" dt="2026-03-02T03:12:09.593" v="1365" actId="14100"/>
          <ac:spMkLst>
            <pc:docMk/>
            <pc:sldMk cId="1033867316" sldId="491"/>
            <ac:spMk id="3" creationId="{5346A264-7906-18D1-82D1-9F1D2E03F7BA}"/>
          </ac:spMkLst>
        </pc:spChg>
        <pc:spChg chg="add mod">
          <ac:chgData name="Rajarajeshwari S" userId="e4d90711455572c4" providerId="LiveId" clId="{CCD4E902-00B9-4B30-B952-A9A7A2B9871A}" dt="2026-02-25T17:05:54.727" v="682" actId="14100"/>
          <ac:spMkLst>
            <pc:docMk/>
            <pc:sldMk cId="1033867316" sldId="491"/>
            <ac:spMk id="4" creationId="{C63F615A-D857-BADB-C392-40A0B78473A3}"/>
          </ac:spMkLst>
        </pc:spChg>
        <pc:spChg chg="add mod">
          <ac:chgData name="Rajarajeshwari S" userId="e4d90711455572c4" providerId="LiveId" clId="{CCD4E902-00B9-4B30-B952-A9A7A2B9871A}" dt="2026-02-25T17:06:31.351" v="696" actId="6549"/>
          <ac:spMkLst>
            <pc:docMk/>
            <pc:sldMk cId="1033867316" sldId="491"/>
            <ac:spMk id="5" creationId="{CA0A5D96-6B5F-C667-3FAD-98DBD7560600}"/>
          </ac:spMkLst>
        </pc:spChg>
      </pc:sldChg>
      <pc:sldChg chg="modSp new mod">
        <pc:chgData name="Rajarajeshwari S" userId="e4d90711455572c4" providerId="LiveId" clId="{CCD4E902-00B9-4B30-B952-A9A7A2B9871A}" dt="2026-02-25T18:00:31.626" v="1291" actId="20577"/>
        <pc:sldMkLst>
          <pc:docMk/>
          <pc:sldMk cId="3312485927" sldId="492"/>
        </pc:sldMkLst>
        <pc:spChg chg="mod">
          <ac:chgData name="Rajarajeshwari S" userId="e4d90711455572c4" providerId="LiveId" clId="{CCD4E902-00B9-4B30-B952-A9A7A2B9871A}" dt="2026-02-25T17:06:51.454" v="699" actId="27636"/>
          <ac:spMkLst>
            <pc:docMk/>
            <pc:sldMk cId="3312485927" sldId="492"/>
            <ac:spMk id="2" creationId="{0052196A-7159-F77F-3C37-A0519E9C84C8}"/>
          </ac:spMkLst>
        </pc:spChg>
        <pc:spChg chg="mod">
          <ac:chgData name="Rajarajeshwari S" userId="e4d90711455572c4" providerId="LiveId" clId="{CCD4E902-00B9-4B30-B952-A9A7A2B9871A}" dt="2026-02-25T18:00:31.626" v="1291" actId="20577"/>
          <ac:spMkLst>
            <pc:docMk/>
            <pc:sldMk cId="3312485927" sldId="492"/>
            <ac:spMk id="3" creationId="{C23503E1-39D8-2431-5B0F-DC69550FBDE7}"/>
          </ac:spMkLst>
        </pc:spChg>
      </pc:sldChg>
      <pc:sldChg chg="addSp modSp new mod">
        <pc:chgData name="Rajarajeshwari S" userId="e4d90711455572c4" providerId="LiveId" clId="{CCD4E902-00B9-4B30-B952-A9A7A2B9871A}" dt="2026-02-25T17:56:02.334" v="1251" actId="14100"/>
        <pc:sldMkLst>
          <pc:docMk/>
          <pc:sldMk cId="2510236217" sldId="493"/>
        </pc:sldMkLst>
        <pc:spChg chg="mod">
          <ac:chgData name="Rajarajeshwari S" userId="e4d90711455572c4" providerId="LiveId" clId="{CCD4E902-00B9-4B30-B952-A9A7A2B9871A}" dt="2026-02-25T17:07:55.573" v="712" actId="27636"/>
          <ac:spMkLst>
            <pc:docMk/>
            <pc:sldMk cId="2510236217" sldId="493"/>
            <ac:spMk id="2" creationId="{83F0B76C-46D9-6ABD-98BD-ADB9A090A3FB}"/>
          </ac:spMkLst>
        </pc:spChg>
        <pc:spChg chg="mod">
          <ac:chgData name="Rajarajeshwari S" userId="e4d90711455572c4" providerId="LiveId" clId="{CCD4E902-00B9-4B30-B952-A9A7A2B9871A}" dt="2026-02-25T17:08:17.484" v="723" actId="27636"/>
          <ac:spMkLst>
            <pc:docMk/>
            <pc:sldMk cId="2510236217" sldId="493"/>
            <ac:spMk id="3" creationId="{06D14F8D-D18B-5F24-5E59-40D3C054AF26}"/>
          </ac:spMkLst>
        </pc:spChg>
        <pc:spChg chg="add mod">
          <ac:chgData name="Rajarajeshwari S" userId="e4d90711455572c4" providerId="LiveId" clId="{CCD4E902-00B9-4B30-B952-A9A7A2B9871A}" dt="2026-02-25T17:56:02.334" v="1251" actId="14100"/>
          <ac:spMkLst>
            <pc:docMk/>
            <pc:sldMk cId="2510236217" sldId="493"/>
            <ac:spMk id="4" creationId="{88E2547A-434A-2178-D731-3FED9FF29A38}"/>
          </ac:spMkLst>
        </pc:spChg>
      </pc:sldChg>
      <pc:sldChg chg="modSp new mod">
        <pc:chgData name="Rajarajeshwari S" userId="e4d90711455572c4" providerId="LiveId" clId="{CCD4E902-00B9-4B30-B952-A9A7A2B9871A}" dt="2026-02-25T17:08:46.571" v="734" actId="27636"/>
        <pc:sldMkLst>
          <pc:docMk/>
          <pc:sldMk cId="3806573901" sldId="494"/>
        </pc:sldMkLst>
        <pc:spChg chg="mod">
          <ac:chgData name="Rajarajeshwari S" userId="e4d90711455572c4" providerId="LiveId" clId="{CCD4E902-00B9-4B30-B952-A9A7A2B9871A}" dt="2026-02-25T17:08:43.407" v="731" actId="27636"/>
          <ac:spMkLst>
            <pc:docMk/>
            <pc:sldMk cId="3806573901" sldId="494"/>
            <ac:spMk id="2" creationId="{CEE95FC2-9991-4ED7-3813-21FBF6FBD80E}"/>
          </ac:spMkLst>
        </pc:spChg>
        <pc:spChg chg="mod">
          <ac:chgData name="Rajarajeshwari S" userId="e4d90711455572c4" providerId="LiveId" clId="{CCD4E902-00B9-4B30-B952-A9A7A2B9871A}" dt="2026-02-25T17:08:46.571" v="734" actId="27636"/>
          <ac:spMkLst>
            <pc:docMk/>
            <pc:sldMk cId="3806573901" sldId="494"/>
            <ac:spMk id="3" creationId="{E7A8D3A9-0697-F3F1-2956-D3465D649A7F}"/>
          </ac:spMkLst>
        </pc:spChg>
      </pc:sldChg>
      <pc:sldChg chg="modSp new mod">
        <pc:chgData name="Rajarajeshwari S" userId="e4d90711455572c4" providerId="LiveId" clId="{CCD4E902-00B9-4B30-B952-A9A7A2B9871A}" dt="2026-02-25T17:09:15.482" v="738" actId="14100"/>
        <pc:sldMkLst>
          <pc:docMk/>
          <pc:sldMk cId="1032105768" sldId="495"/>
        </pc:sldMkLst>
        <pc:spChg chg="mod">
          <ac:chgData name="Rajarajeshwari S" userId="e4d90711455572c4" providerId="LiveId" clId="{CCD4E902-00B9-4B30-B952-A9A7A2B9871A}" dt="2026-02-25T17:09:12.594" v="737" actId="27636"/>
          <ac:spMkLst>
            <pc:docMk/>
            <pc:sldMk cId="1032105768" sldId="495"/>
            <ac:spMk id="2" creationId="{AAC56AD3-95AA-7DCE-A8AD-7A9E31169DFD}"/>
          </ac:spMkLst>
        </pc:spChg>
        <pc:spChg chg="mod">
          <ac:chgData name="Rajarajeshwari S" userId="e4d90711455572c4" providerId="LiveId" clId="{CCD4E902-00B9-4B30-B952-A9A7A2B9871A}" dt="2026-02-25T17:09:15.482" v="738" actId="14100"/>
          <ac:spMkLst>
            <pc:docMk/>
            <pc:sldMk cId="1032105768" sldId="495"/>
            <ac:spMk id="3" creationId="{D146B4D1-E90F-5119-D77E-076BBEAA4596}"/>
          </ac:spMkLst>
        </pc:spChg>
      </pc:sldChg>
      <pc:sldChg chg="addSp modSp new mod">
        <pc:chgData name="Rajarajeshwari S" userId="e4d90711455572c4" providerId="LiveId" clId="{CCD4E902-00B9-4B30-B952-A9A7A2B9871A}" dt="2026-03-02T02:49:23.513" v="1342" actId="20577"/>
        <pc:sldMkLst>
          <pc:docMk/>
          <pc:sldMk cId="1332271177" sldId="496"/>
        </pc:sldMkLst>
        <pc:spChg chg="mod">
          <ac:chgData name="Rajarajeshwari S" userId="e4d90711455572c4" providerId="LiveId" clId="{CCD4E902-00B9-4B30-B952-A9A7A2B9871A}" dt="2026-02-25T17:11:40.189" v="745" actId="27636"/>
          <ac:spMkLst>
            <pc:docMk/>
            <pc:sldMk cId="1332271177" sldId="496"/>
            <ac:spMk id="2" creationId="{10739CB6-BD63-BBA7-C742-E9801EFA1A57}"/>
          </ac:spMkLst>
        </pc:spChg>
        <pc:spChg chg="mod">
          <ac:chgData name="Rajarajeshwari S" userId="e4d90711455572c4" providerId="LiveId" clId="{CCD4E902-00B9-4B30-B952-A9A7A2B9871A}" dt="2026-02-25T17:13:48.138" v="767" actId="27636"/>
          <ac:spMkLst>
            <pc:docMk/>
            <pc:sldMk cId="1332271177" sldId="496"/>
            <ac:spMk id="3" creationId="{6131B2E5-1269-8F23-87E1-30BFD4CB1E12}"/>
          </ac:spMkLst>
        </pc:spChg>
        <pc:spChg chg="add mod">
          <ac:chgData name="Rajarajeshwari S" userId="e4d90711455572c4" providerId="LiveId" clId="{CCD4E902-00B9-4B30-B952-A9A7A2B9871A}" dt="2026-03-02T02:49:23.513" v="1342" actId="20577"/>
          <ac:spMkLst>
            <pc:docMk/>
            <pc:sldMk cId="1332271177" sldId="496"/>
            <ac:spMk id="4" creationId="{E35E86E2-2B69-220D-58B9-13AF1BFBE409}"/>
          </ac:spMkLst>
        </pc:spChg>
      </pc:sldChg>
      <pc:sldChg chg="addSp modSp new mod">
        <pc:chgData name="Rajarajeshwari S" userId="e4d90711455572c4" providerId="LiveId" clId="{CCD4E902-00B9-4B30-B952-A9A7A2B9871A}" dt="2026-03-02T03:13:39.686" v="1371" actId="27636"/>
        <pc:sldMkLst>
          <pc:docMk/>
          <pc:sldMk cId="2947914064" sldId="497"/>
        </pc:sldMkLst>
        <pc:spChg chg="mod">
          <ac:chgData name="Rajarajeshwari S" userId="e4d90711455572c4" providerId="LiveId" clId="{CCD4E902-00B9-4B30-B952-A9A7A2B9871A}" dt="2026-02-25T17:14:14.089" v="771" actId="27636"/>
          <ac:spMkLst>
            <pc:docMk/>
            <pc:sldMk cId="2947914064" sldId="497"/>
            <ac:spMk id="2" creationId="{4A4EAAD9-8C43-48B6-ADA2-FAB9AFD28131}"/>
          </ac:spMkLst>
        </pc:spChg>
        <pc:spChg chg="mod">
          <ac:chgData name="Rajarajeshwari S" userId="e4d90711455572c4" providerId="LiveId" clId="{CCD4E902-00B9-4B30-B952-A9A7A2B9871A}" dt="2026-02-25T17:14:44.684" v="791" actId="27636"/>
          <ac:spMkLst>
            <pc:docMk/>
            <pc:sldMk cId="2947914064" sldId="497"/>
            <ac:spMk id="3" creationId="{60301C06-CC2B-9FB4-E2EB-A179A99FEFC8}"/>
          </ac:spMkLst>
        </pc:spChg>
        <pc:spChg chg="add mod">
          <ac:chgData name="Rajarajeshwari S" userId="e4d90711455572c4" providerId="LiveId" clId="{CCD4E902-00B9-4B30-B952-A9A7A2B9871A}" dt="2026-03-02T03:13:39.686" v="1371" actId="27636"/>
          <ac:spMkLst>
            <pc:docMk/>
            <pc:sldMk cId="2947914064" sldId="497"/>
            <ac:spMk id="4" creationId="{04652803-4324-8160-E926-3D6098D3304F}"/>
          </ac:spMkLst>
        </pc:spChg>
      </pc:sldChg>
      <pc:sldChg chg="addSp modSp new mod">
        <pc:chgData name="Rajarajeshwari S" userId="e4d90711455572c4" providerId="LiveId" clId="{CCD4E902-00B9-4B30-B952-A9A7A2B9871A}" dt="2026-03-02T03:13:55.984" v="1377" actId="27636"/>
        <pc:sldMkLst>
          <pc:docMk/>
          <pc:sldMk cId="1186656252" sldId="498"/>
        </pc:sldMkLst>
        <pc:spChg chg="mod">
          <ac:chgData name="Rajarajeshwari S" userId="e4d90711455572c4" providerId="LiveId" clId="{CCD4E902-00B9-4B30-B952-A9A7A2B9871A}" dt="2026-02-25T17:15:11.339" v="794" actId="27636"/>
          <ac:spMkLst>
            <pc:docMk/>
            <pc:sldMk cId="1186656252" sldId="498"/>
            <ac:spMk id="2" creationId="{00593A25-3F1D-79B6-283A-5A5E65626DB6}"/>
          </ac:spMkLst>
        </pc:spChg>
        <pc:spChg chg="mod">
          <ac:chgData name="Rajarajeshwari S" userId="e4d90711455572c4" providerId="LiveId" clId="{CCD4E902-00B9-4B30-B952-A9A7A2B9871A}" dt="2026-03-02T03:13:50.040" v="1372" actId="14100"/>
          <ac:spMkLst>
            <pc:docMk/>
            <pc:sldMk cId="1186656252" sldId="498"/>
            <ac:spMk id="3" creationId="{F6FB5FDE-9DE3-95C4-2E47-05E7D18CE63C}"/>
          </ac:spMkLst>
        </pc:spChg>
        <pc:spChg chg="add mod">
          <ac:chgData name="Rajarajeshwari S" userId="e4d90711455572c4" providerId="LiveId" clId="{CCD4E902-00B9-4B30-B952-A9A7A2B9871A}" dt="2026-03-02T03:13:55.984" v="1377" actId="27636"/>
          <ac:spMkLst>
            <pc:docMk/>
            <pc:sldMk cId="1186656252" sldId="498"/>
            <ac:spMk id="4" creationId="{27FDD719-F8BF-75EB-8C5A-B9E62C374EBC}"/>
          </ac:spMkLst>
        </pc:spChg>
      </pc:sldChg>
      <pc:sldChg chg="addSp modSp new mod">
        <pc:chgData name="Rajarajeshwari S" userId="e4d90711455572c4" providerId="LiveId" clId="{CCD4E902-00B9-4B30-B952-A9A7A2B9871A}" dt="2026-03-02T02:50:19.408" v="1353" actId="27636"/>
        <pc:sldMkLst>
          <pc:docMk/>
          <pc:sldMk cId="3940351492" sldId="499"/>
        </pc:sldMkLst>
        <pc:spChg chg="mod">
          <ac:chgData name="Rajarajeshwari S" userId="e4d90711455572c4" providerId="LiveId" clId="{CCD4E902-00B9-4B30-B952-A9A7A2B9871A}" dt="2026-02-25T17:16:24.805" v="824" actId="27636"/>
          <ac:spMkLst>
            <pc:docMk/>
            <pc:sldMk cId="3940351492" sldId="499"/>
            <ac:spMk id="2" creationId="{6268E009-0D30-A959-7E4A-B396E71F9EBF}"/>
          </ac:spMkLst>
        </pc:spChg>
        <pc:spChg chg="mod">
          <ac:chgData name="Rajarajeshwari S" userId="e4d90711455572c4" providerId="LiveId" clId="{CCD4E902-00B9-4B30-B952-A9A7A2B9871A}" dt="2026-03-02T02:50:14.070" v="1350" actId="27636"/>
          <ac:spMkLst>
            <pc:docMk/>
            <pc:sldMk cId="3940351492" sldId="499"/>
            <ac:spMk id="3" creationId="{FC6520C1-DB54-DFA5-875A-C11DC4B95837}"/>
          </ac:spMkLst>
        </pc:spChg>
        <pc:spChg chg="add mod">
          <ac:chgData name="Rajarajeshwari S" userId="e4d90711455572c4" providerId="LiveId" clId="{CCD4E902-00B9-4B30-B952-A9A7A2B9871A}" dt="2026-03-02T02:50:19.408" v="1353" actId="27636"/>
          <ac:spMkLst>
            <pc:docMk/>
            <pc:sldMk cId="3940351492" sldId="499"/>
            <ac:spMk id="4" creationId="{DA9D51AC-085C-98B9-7EEA-81B7105F9CDD}"/>
          </ac:spMkLst>
        </pc:spChg>
      </pc:sldChg>
      <pc:sldChg chg="addSp modSp new mod">
        <pc:chgData name="Rajarajeshwari S" userId="e4d90711455572c4" providerId="LiveId" clId="{CCD4E902-00B9-4B30-B952-A9A7A2B9871A}" dt="2026-03-02T03:32:46.893" v="1393" actId="20577"/>
        <pc:sldMkLst>
          <pc:docMk/>
          <pc:sldMk cId="1569165054" sldId="500"/>
        </pc:sldMkLst>
        <pc:spChg chg="mod">
          <ac:chgData name="Rajarajeshwari S" userId="e4d90711455572c4" providerId="LiveId" clId="{CCD4E902-00B9-4B30-B952-A9A7A2B9871A}" dt="2026-02-25T17:18:04.330" v="861" actId="27636"/>
          <ac:spMkLst>
            <pc:docMk/>
            <pc:sldMk cId="1569165054" sldId="500"/>
            <ac:spMk id="2" creationId="{8BADA8F0-8158-1B69-ECC9-D8293FA136C9}"/>
          </ac:spMkLst>
        </pc:spChg>
        <pc:spChg chg="mod">
          <ac:chgData name="Rajarajeshwari S" userId="e4d90711455572c4" providerId="LiveId" clId="{CCD4E902-00B9-4B30-B952-A9A7A2B9871A}" dt="2026-03-02T03:32:46.893" v="1393" actId="20577"/>
          <ac:spMkLst>
            <pc:docMk/>
            <pc:sldMk cId="1569165054" sldId="500"/>
            <ac:spMk id="3" creationId="{47D2B65A-3CDC-C80A-182B-9DF48D1C606C}"/>
          </ac:spMkLst>
        </pc:spChg>
        <pc:spChg chg="add mod">
          <ac:chgData name="Rajarajeshwari S" userId="e4d90711455572c4" providerId="LiveId" clId="{CCD4E902-00B9-4B30-B952-A9A7A2B9871A}" dt="2026-02-25T17:19:10.154" v="899" actId="1076"/>
          <ac:spMkLst>
            <pc:docMk/>
            <pc:sldMk cId="1569165054" sldId="500"/>
            <ac:spMk id="4" creationId="{AE1E2FC5-1222-2F86-DD93-00AEFE8BC8AE}"/>
          </ac:spMkLst>
        </pc:spChg>
      </pc:sldChg>
      <pc:sldChg chg="addSp modSp new mod">
        <pc:chgData name="Rajarajeshwari S" userId="e4d90711455572c4" providerId="LiveId" clId="{CCD4E902-00B9-4B30-B952-A9A7A2B9871A}" dt="2026-02-25T17:20:44.994" v="933" actId="27636"/>
        <pc:sldMkLst>
          <pc:docMk/>
          <pc:sldMk cId="829289211" sldId="501"/>
        </pc:sldMkLst>
        <pc:spChg chg="mod">
          <ac:chgData name="Rajarajeshwari S" userId="e4d90711455572c4" providerId="LiveId" clId="{CCD4E902-00B9-4B30-B952-A9A7A2B9871A}" dt="2026-02-25T17:19:32.693" v="903" actId="27636"/>
          <ac:spMkLst>
            <pc:docMk/>
            <pc:sldMk cId="829289211" sldId="501"/>
            <ac:spMk id="2" creationId="{AE6788E7-0EBD-D235-5F45-D89493021161}"/>
          </ac:spMkLst>
        </pc:spChg>
        <pc:spChg chg="mod">
          <ac:chgData name="Rajarajeshwari S" userId="e4d90711455572c4" providerId="LiveId" clId="{CCD4E902-00B9-4B30-B952-A9A7A2B9871A}" dt="2026-02-25T17:20:44.994" v="933" actId="27636"/>
          <ac:spMkLst>
            <pc:docMk/>
            <pc:sldMk cId="829289211" sldId="501"/>
            <ac:spMk id="3" creationId="{CDEDBC66-0C2B-FB9D-60EF-4545F3725177}"/>
          </ac:spMkLst>
        </pc:spChg>
        <pc:spChg chg="add mod">
          <ac:chgData name="Rajarajeshwari S" userId="e4d90711455572c4" providerId="LiveId" clId="{CCD4E902-00B9-4B30-B952-A9A7A2B9871A}" dt="2026-02-25T17:20:41.851" v="931" actId="14100"/>
          <ac:spMkLst>
            <pc:docMk/>
            <pc:sldMk cId="829289211" sldId="501"/>
            <ac:spMk id="4" creationId="{B969BE27-E54B-ABE0-FA0B-9FCE7862A17F}"/>
          </ac:spMkLst>
        </pc:spChg>
      </pc:sldChg>
      <pc:sldChg chg="modSp new mod">
        <pc:chgData name="Rajarajeshwari S" userId="e4d90711455572c4" providerId="LiveId" clId="{CCD4E902-00B9-4B30-B952-A9A7A2B9871A}" dt="2026-02-25T17:22:11.727" v="967" actId="14100"/>
        <pc:sldMkLst>
          <pc:docMk/>
          <pc:sldMk cId="2165752560" sldId="502"/>
        </pc:sldMkLst>
        <pc:spChg chg="mod">
          <ac:chgData name="Rajarajeshwari S" userId="e4d90711455572c4" providerId="LiveId" clId="{CCD4E902-00B9-4B30-B952-A9A7A2B9871A}" dt="2026-02-25T17:21:03.434" v="936" actId="27636"/>
          <ac:spMkLst>
            <pc:docMk/>
            <pc:sldMk cId="2165752560" sldId="502"/>
            <ac:spMk id="2" creationId="{A2D72649-82B2-A91B-EBA2-EAB04BDD2A95}"/>
          </ac:spMkLst>
        </pc:spChg>
        <pc:spChg chg="mod">
          <ac:chgData name="Rajarajeshwari S" userId="e4d90711455572c4" providerId="LiveId" clId="{CCD4E902-00B9-4B30-B952-A9A7A2B9871A}" dt="2026-02-25T17:22:11.727" v="967" actId="14100"/>
          <ac:spMkLst>
            <pc:docMk/>
            <pc:sldMk cId="2165752560" sldId="502"/>
            <ac:spMk id="3" creationId="{6696C981-1B11-0655-781B-AE836C41E532}"/>
          </ac:spMkLst>
        </pc:spChg>
      </pc:sldChg>
      <pc:sldChg chg="modSp new mod">
        <pc:chgData name="Rajarajeshwari S" userId="e4d90711455572c4" providerId="LiveId" clId="{CCD4E902-00B9-4B30-B952-A9A7A2B9871A}" dt="2026-02-25T17:23:34.835" v="975" actId="20577"/>
        <pc:sldMkLst>
          <pc:docMk/>
          <pc:sldMk cId="3086581422" sldId="503"/>
        </pc:sldMkLst>
        <pc:spChg chg="mod">
          <ac:chgData name="Rajarajeshwari S" userId="e4d90711455572c4" providerId="LiveId" clId="{CCD4E902-00B9-4B30-B952-A9A7A2B9871A}" dt="2026-02-25T17:23:31.912" v="973" actId="27636"/>
          <ac:spMkLst>
            <pc:docMk/>
            <pc:sldMk cId="3086581422" sldId="503"/>
            <ac:spMk id="2" creationId="{06FC676D-B5D1-BF44-0F78-198C09AD70A0}"/>
          </ac:spMkLst>
        </pc:spChg>
        <pc:spChg chg="mod">
          <ac:chgData name="Rajarajeshwari S" userId="e4d90711455572c4" providerId="LiveId" clId="{CCD4E902-00B9-4B30-B952-A9A7A2B9871A}" dt="2026-02-25T17:23:34.835" v="975" actId="20577"/>
          <ac:spMkLst>
            <pc:docMk/>
            <pc:sldMk cId="3086581422" sldId="503"/>
            <ac:spMk id="3" creationId="{9FB49B77-9019-9EA6-7193-50962ADEBEA6}"/>
          </ac:spMkLst>
        </pc:spChg>
      </pc:sldChg>
      <pc:sldChg chg="modSp new mod">
        <pc:chgData name="Rajarajeshwari S" userId="e4d90711455572c4" providerId="LiveId" clId="{CCD4E902-00B9-4B30-B952-A9A7A2B9871A}" dt="2026-02-25T17:24:04.298" v="979" actId="14100"/>
        <pc:sldMkLst>
          <pc:docMk/>
          <pc:sldMk cId="1750455864" sldId="504"/>
        </pc:sldMkLst>
        <pc:spChg chg="mod">
          <ac:chgData name="Rajarajeshwari S" userId="e4d90711455572c4" providerId="LiveId" clId="{CCD4E902-00B9-4B30-B952-A9A7A2B9871A}" dt="2026-02-25T17:24:02.136" v="978" actId="27636"/>
          <ac:spMkLst>
            <pc:docMk/>
            <pc:sldMk cId="1750455864" sldId="504"/>
            <ac:spMk id="2" creationId="{DFAB1039-45EC-99CF-A68D-269444950161}"/>
          </ac:spMkLst>
        </pc:spChg>
        <pc:spChg chg="mod">
          <ac:chgData name="Rajarajeshwari S" userId="e4d90711455572c4" providerId="LiveId" clId="{CCD4E902-00B9-4B30-B952-A9A7A2B9871A}" dt="2026-02-25T17:24:04.298" v="979" actId="14100"/>
          <ac:spMkLst>
            <pc:docMk/>
            <pc:sldMk cId="1750455864" sldId="504"/>
            <ac:spMk id="3" creationId="{76BD47E0-3CF3-1302-C1C5-6E70C71DAE75}"/>
          </ac:spMkLst>
        </pc:spChg>
      </pc:sldChg>
      <pc:sldChg chg="modSp new mod">
        <pc:chgData name="Rajarajeshwari S" userId="e4d90711455572c4" providerId="LiveId" clId="{CCD4E902-00B9-4B30-B952-A9A7A2B9871A}" dt="2026-02-25T17:24:24.720" v="984" actId="20577"/>
        <pc:sldMkLst>
          <pc:docMk/>
          <pc:sldMk cId="832291635" sldId="505"/>
        </pc:sldMkLst>
        <pc:spChg chg="mod">
          <ac:chgData name="Rajarajeshwari S" userId="e4d90711455572c4" providerId="LiveId" clId="{CCD4E902-00B9-4B30-B952-A9A7A2B9871A}" dt="2026-02-25T17:24:22.235" v="982" actId="27636"/>
          <ac:spMkLst>
            <pc:docMk/>
            <pc:sldMk cId="832291635" sldId="505"/>
            <ac:spMk id="2" creationId="{F643D1CA-5756-3444-C5D7-CBA1EF35A7CE}"/>
          </ac:spMkLst>
        </pc:spChg>
        <pc:spChg chg="mod">
          <ac:chgData name="Rajarajeshwari S" userId="e4d90711455572c4" providerId="LiveId" clId="{CCD4E902-00B9-4B30-B952-A9A7A2B9871A}" dt="2026-02-25T17:24:24.720" v="984" actId="20577"/>
          <ac:spMkLst>
            <pc:docMk/>
            <pc:sldMk cId="832291635" sldId="505"/>
            <ac:spMk id="3" creationId="{8EC6E8A9-BDB6-3D32-03CA-D007EF393B4F}"/>
          </ac:spMkLst>
        </pc:spChg>
      </pc:sldChg>
      <pc:sldChg chg="modSp new mod">
        <pc:chgData name="Rajarajeshwari S" userId="e4d90711455572c4" providerId="LiveId" clId="{CCD4E902-00B9-4B30-B952-A9A7A2B9871A}" dt="2026-02-25T17:24:57.989" v="1005" actId="27636"/>
        <pc:sldMkLst>
          <pc:docMk/>
          <pc:sldMk cId="3195684764" sldId="506"/>
        </pc:sldMkLst>
        <pc:spChg chg="mod">
          <ac:chgData name="Rajarajeshwari S" userId="e4d90711455572c4" providerId="LiveId" clId="{CCD4E902-00B9-4B30-B952-A9A7A2B9871A}" dt="2026-02-25T17:24:42.685" v="987" actId="27636"/>
          <ac:spMkLst>
            <pc:docMk/>
            <pc:sldMk cId="3195684764" sldId="506"/>
            <ac:spMk id="2" creationId="{723B272D-8B54-90C8-727E-683648DE5CA1}"/>
          </ac:spMkLst>
        </pc:spChg>
        <pc:spChg chg="mod">
          <ac:chgData name="Rajarajeshwari S" userId="e4d90711455572c4" providerId="LiveId" clId="{CCD4E902-00B9-4B30-B952-A9A7A2B9871A}" dt="2026-02-25T17:24:57.989" v="1005" actId="27636"/>
          <ac:spMkLst>
            <pc:docMk/>
            <pc:sldMk cId="3195684764" sldId="506"/>
            <ac:spMk id="3" creationId="{CB4989D6-A39B-D90B-6092-AE81F66DB8B0}"/>
          </ac:spMkLst>
        </pc:spChg>
      </pc:sldChg>
      <pc:sldChg chg="addSp modSp new mod">
        <pc:chgData name="Rajarajeshwari S" userId="e4d90711455572c4" providerId="LiveId" clId="{CCD4E902-00B9-4B30-B952-A9A7A2B9871A}" dt="2026-02-25T17:26:44.415" v="1036" actId="255"/>
        <pc:sldMkLst>
          <pc:docMk/>
          <pc:sldMk cId="3015065086" sldId="507"/>
        </pc:sldMkLst>
        <pc:spChg chg="mod">
          <ac:chgData name="Rajarajeshwari S" userId="e4d90711455572c4" providerId="LiveId" clId="{CCD4E902-00B9-4B30-B952-A9A7A2B9871A}" dt="2026-02-25T17:25:18.110" v="1008" actId="27636"/>
          <ac:spMkLst>
            <pc:docMk/>
            <pc:sldMk cId="3015065086" sldId="507"/>
            <ac:spMk id="2" creationId="{47AEDC52-3C8A-852F-D639-65B2B5177C35}"/>
          </ac:spMkLst>
        </pc:spChg>
        <pc:spChg chg="mod">
          <ac:chgData name="Rajarajeshwari S" userId="e4d90711455572c4" providerId="LiveId" clId="{CCD4E902-00B9-4B30-B952-A9A7A2B9871A}" dt="2026-02-25T17:26:34.030" v="1034" actId="14100"/>
          <ac:spMkLst>
            <pc:docMk/>
            <pc:sldMk cId="3015065086" sldId="507"/>
            <ac:spMk id="3" creationId="{96AD6BF2-5741-52CC-4E99-7BF1968BF6E1}"/>
          </ac:spMkLst>
        </pc:spChg>
        <pc:spChg chg="add mod">
          <ac:chgData name="Rajarajeshwari S" userId="e4d90711455572c4" providerId="LiveId" clId="{CCD4E902-00B9-4B30-B952-A9A7A2B9871A}" dt="2026-02-25T17:26:44.415" v="1036" actId="255"/>
          <ac:spMkLst>
            <pc:docMk/>
            <pc:sldMk cId="3015065086" sldId="507"/>
            <ac:spMk id="4" creationId="{036DDC89-ABC8-DCB2-5DBB-84F7ED09B590}"/>
          </ac:spMkLst>
        </pc:spChg>
      </pc:sldChg>
      <pc:sldChg chg="addSp modSp new mod">
        <pc:chgData name="Rajarajeshwari S" userId="e4d90711455572c4" providerId="LiveId" clId="{CCD4E902-00B9-4B30-B952-A9A7A2B9871A}" dt="2026-02-25T17:28:05.841" v="1059" actId="1076"/>
        <pc:sldMkLst>
          <pc:docMk/>
          <pc:sldMk cId="3394222848" sldId="508"/>
        </pc:sldMkLst>
        <pc:spChg chg="mod">
          <ac:chgData name="Rajarajeshwari S" userId="e4d90711455572c4" providerId="LiveId" clId="{CCD4E902-00B9-4B30-B952-A9A7A2B9871A}" dt="2026-02-25T17:27:04.944" v="1040" actId="27636"/>
          <ac:spMkLst>
            <pc:docMk/>
            <pc:sldMk cId="3394222848" sldId="508"/>
            <ac:spMk id="2" creationId="{0C58E11F-DCC1-DD86-EB1C-6518E5637DF8}"/>
          </ac:spMkLst>
        </pc:spChg>
        <pc:spChg chg="mod">
          <ac:chgData name="Rajarajeshwari S" userId="e4d90711455572c4" providerId="LiveId" clId="{CCD4E902-00B9-4B30-B952-A9A7A2B9871A}" dt="2026-02-25T17:27:51.577" v="1055" actId="27636"/>
          <ac:spMkLst>
            <pc:docMk/>
            <pc:sldMk cId="3394222848" sldId="508"/>
            <ac:spMk id="3" creationId="{DF614D07-F982-06F2-2220-A16FED92AA83}"/>
          </ac:spMkLst>
        </pc:spChg>
        <pc:spChg chg="add mod">
          <ac:chgData name="Rajarajeshwari S" userId="e4d90711455572c4" providerId="LiveId" clId="{CCD4E902-00B9-4B30-B952-A9A7A2B9871A}" dt="2026-02-25T17:28:05.841" v="1059" actId="1076"/>
          <ac:spMkLst>
            <pc:docMk/>
            <pc:sldMk cId="3394222848" sldId="508"/>
            <ac:spMk id="4" creationId="{4B4B8544-1424-1323-2357-CB431E173069}"/>
          </ac:spMkLst>
        </pc:spChg>
      </pc:sldChg>
      <pc:sldChg chg="modSp new mod">
        <pc:chgData name="Rajarajeshwari S" userId="e4d90711455572c4" providerId="LiveId" clId="{CCD4E902-00B9-4B30-B952-A9A7A2B9871A}" dt="2026-02-25T17:28:20.197" v="1062" actId="27636"/>
        <pc:sldMkLst>
          <pc:docMk/>
          <pc:sldMk cId="750537982" sldId="509"/>
        </pc:sldMkLst>
        <pc:spChg chg="mod">
          <ac:chgData name="Rajarajeshwari S" userId="e4d90711455572c4" providerId="LiveId" clId="{CCD4E902-00B9-4B30-B952-A9A7A2B9871A}" dt="2026-02-25T17:28:20.197" v="1062" actId="27636"/>
          <ac:spMkLst>
            <pc:docMk/>
            <pc:sldMk cId="750537982" sldId="509"/>
            <ac:spMk id="2" creationId="{C45E4586-3DEE-706A-AA16-180D9C8322B0}"/>
          </ac:spMkLst>
        </pc:spChg>
        <pc:spChg chg="mod">
          <ac:chgData name="Rajarajeshwari S" userId="e4d90711455572c4" providerId="LiveId" clId="{CCD4E902-00B9-4B30-B952-A9A7A2B9871A}" dt="2026-02-25T17:28:20.095" v="1061"/>
          <ac:spMkLst>
            <pc:docMk/>
            <pc:sldMk cId="750537982" sldId="509"/>
            <ac:spMk id="3" creationId="{C0791E06-369F-4820-814C-688B1D052EAF}"/>
          </ac:spMkLst>
        </pc:spChg>
      </pc:sldChg>
      <pc:sldChg chg="addSp modSp new mod">
        <pc:chgData name="Rajarajeshwari S" userId="e4d90711455572c4" providerId="LiveId" clId="{CCD4E902-00B9-4B30-B952-A9A7A2B9871A}" dt="2026-03-02T04:28:27.390" v="1405" actId="27636"/>
        <pc:sldMkLst>
          <pc:docMk/>
          <pc:sldMk cId="3852934825" sldId="510"/>
        </pc:sldMkLst>
        <pc:spChg chg="mod">
          <ac:chgData name="Rajarajeshwari S" userId="e4d90711455572c4" providerId="LiveId" clId="{CCD4E902-00B9-4B30-B952-A9A7A2B9871A}" dt="2026-02-25T17:28:33.198" v="1066" actId="27636"/>
          <ac:spMkLst>
            <pc:docMk/>
            <pc:sldMk cId="3852934825" sldId="510"/>
            <ac:spMk id="2" creationId="{84D24E40-D7A2-BCE2-7E96-4A67F184DD93}"/>
          </ac:spMkLst>
        </pc:spChg>
        <pc:spChg chg="mod">
          <ac:chgData name="Rajarajeshwari S" userId="e4d90711455572c4" providerId="LiveId" clId="{CCD4E902-00B9-4B30-B952-A9A7A2B9871A}" dt="2026-03-02T04:28:27.390" v="1405" actId="27636"/>
          <ac:spMkLst>
            <pc:docMk/>
            <pc:sldMk cId="3852934825" sldId="510"/>
            <ac:spMk id="3" creationId="{8F8E4821-A5C8-1202-C2C2-3791C8336EAE}"/>
          </ac:spMkLst>
        </pc:spChg>
        <pc:spChg chg="add mod">
          <ac:chgData name="Rajarajeshwari S" userId="e4d90711455572c4" providerId="LiveId" clId="{CCD4E902-00B9-4B30-B952-A9A7A2B9871A}" dt="2026-02-25T17:29:00.973" v="1074" actId="14100"/>
          <ac:spMkLst>
            <pc:docMk/>
            <pc:sldMk cId="3852934825" sldId="510"/>
            <ac:spMk id="5" creationId="{83E0D3DA-6245-39F6-2500-1E736175BEEF}"/>
          </ac:spMkLst>
        </pc:spChg>
      </pc:sldChg>
      <pc:sldChg chg="modSp new mod">
        <pc:chgData name="Rajarajeshwari S" userId="e4d90711455572c4" providerId="LiveId" clId="{CCD4E902-00B9-4B30-B952-A9A7A2B9871A}" dt="2026-02-25T17:29:36.006" v="1083" actId="27636"/>
        <pc:sldMkLst>
          <pc:docMk/>
          <pc:sldMk cId="409718841" sldId="511"/>
        </pc:sldMkLst>
        <pc:spChg chg="mod">
          <ac:chgData name="Rajarajeshwari S" userId="e4d90711455572c4" providerId="LiveId" clId="{CCD4E902-00B9-4B30-B952-A9A7A2B9871A}" dt="2026-02-25T17:29:22.073" v="1077" actId="27636"/>
          <ac:spMkLst>
            <pc:docMk/>
            <pc:sldMk cId="409718841" sldId="511"/>
            <ac:spMk id="2" creationId="{688F9ED2-43F4-F734-5396-CEA9DBB78D60}"/>
          </ac:spMkLst>
        </pc:spChg>
        <pc:spChg chg="mod">
          <ac:chgData name="Rajarajeshwari S" userId="e4d90711455572c4" providerId="LiveId" clId="{CCD4E902-00B9-4B30-B952-A9A7A2B9871A}" dt="2026-02-25T17:29:36.006" v="1083" actId="27636"/>
          <ac:spMkLst>
            <pc:docMk/>
            <pc:sldMk cId="409718841" sldId="511"/>
            <ac:spMk id="3" creationId="{FFA5E591-0FBB-931E-A32E-4538339F3D7E}"/>
          </ac:spMkLst>
        </pc:spChg>
      </pc:sldChg>
      <pc:sldChg chg="modSp new mod">
        <pc:chgData name="Rajarajeshwari S" userId="e4d90711455572c4" providerId="LiveId" clId="{CCD4E902-00B9-4B30-B952-A9A7A2B9871A}" dt="2026-02-25T17:48:16.511" v="1206" actId="6549"/>
        <pc:sldMkLst>
          <pc:docMk/>
          <pc:sldMk cId="3992543702" sldId="512"/>
        </pc:sldMkLst>
        <pc:spChg chg="mod">
          <ac:chgData name="Rajarajeshwari S" userId="e4d90711455572c4" providerId="LiveId" clId="{CCD4E902-00B9-4B30-B952-A9A7A2B9871A}" dt="2026-02-25T17:48:13.788" v="1203" actId="27636"/>
          <ac:spMkLst>
            <pc:docMk/>
            <pc:sldMk cId="3992543702" sldId="512"/>
            <ac:spMk id="2" creationId="{2E2C5848-C9CD-759A-3A10-4BF7A4552F54}"/>
          </ac:spMkLst>
        </pc:spChg>
        <pc:spChg chg="mod">
          <ac:chgData name="Rajarajeshwari S" userId="e4d90711455572c4" providerId="LiveId" clId="{CCD4E902-00B9-4B30-B952-A9A7A2B9871A}" dt="2026-02-25T17:48:16.511" v="1206" actId="6549"/>
          <ac:spMkLst>
            <pc:docMk/>
            <pc:sldMk cId="3992543702" sldId="512"/>
            <ac:spMk id="3" creationId="{2F15E7B3-5F9E-779D-F93B-E900AF9D74E2}"/>
          </ac:spMkLst>
        </pc:spChg>
      </pc:sldChg>
      <pc:sldChg chg="modSp new mod">
        <pc:chgData name="Rajarajeshwari S" userId="e4d90711455572c4" providerId="LiveId" clId="{CCD4E902-00B9-4B30-B952-A9A7A2B9871A}" dt="2026-02-25T17:48:44.712" v="1214" actId="27636"/>
        <pc:sldMkLst>
          <pc:docMk/>
          <pc:sldMk cId="1486761321" sldId="513"/>
        </pc:sldMkLst>
        <pc:spChg chg="mod">
          <ac:chgData name="Rajarajeshwari S" userId="e4d90711455572c4" providerId="LiveId" clId="{CCD4E902-00B9-4B30-B952-A9A7A2B9871A}" dt="2026-02-25T17:48:31.024" v="1209" actId="27636"/>
          <ac:spMkLst>
            <pc:docMk/>
            <pc:sldMk cId="1486761321" sldId="513"/>
            <ac:spMk id="2" creationId="{892DEFF6-D0A6-766A-7221-272B0169691B}"/>
          </ac:spMkLst>
        </pc:spChg>
        <pc:spChg chg="mod">
          <ac:chgData name="Rajarajeshwari S" userId="e4d90711455572c4" providerId="LiveId" clId="{CCD4E902-00B9-4B30-B952-A9A7A2B9871A}" dt="2026-02-25T17:48:44.712" v="1214" actId="27636"/>
          <ac:spMkLst>
            <pc:docMk/>
            <pc:sldMk cId="1486761321" sldId="513"/>
            <ac:spMk id="3" creationId="{CFCD9FFA-CAA3-C342-F919-4A71E4646ED2}"/>
          </ac:spMkLst>
        </pc:spChg>
      </pc:sldChg>
      <pc:sldChg chg="modSp new mod">
        <pc:chgData name="Rajarajeshwari S" userId="e4d90711455572c4" providerId="LiveId" clId="{CCD4E902-00B9-4B30-B952-A9A7A2B9871A}" dt="2026-02-25T17:49:03.539" v="1222" actId="6549"/>
        <pc:sldMkLst>
          <pc:docMk/>
          <pc:sldMk cId="3690816623" sldId="514"/>
        </pc:sldMkLst>
        <pc:spChg chg="mod">
          <ac:chgData name="Rajarajeshwari S" userId="e4d90711455572c4" providerId="LiveId" clId="{CCD4E902-00B9-4B30-B952-A9A7A2B9871A}" dt="2026-02-25T17:49:01.137" v="1217" actId="27636"/>
          <ac:spMkLst>
            <pc:docMk/>
            <pc:sldMk cId="3690816623" sldId="514"/>
            <ac:spMk id="2" creationId="{08A28A03-BE28-3D9D-C1E7-12A040BFC33E}"/>
          </ac:spMkLst>
        </pc:spChg>
        <pc:spChg chg="mod">
          <ac:chgData name="Rajarajeshwari S" userId="e4d90711455572c4" providerId="LiveId" clId="{CCD4E902-00B9-4B30-B952-A9A7A2B9871A}" dt="2026-02-25T17:49:03.539" v="1222" actId="6549"/>
          <ac:spMkLst>
            <pc:docMk/>
            <pc:sldMk cId="3690816623" sldId="514"/>
            <ac:spMk id="3" creationId="{D0DC0A64-0D0B-DABF-39EB-DF3E88D47319}"/>
          </ac:spMkLst>
        </pc:spChg>
      </pc:sldChg>
      <pc:sldChg chg="modSp new mod">
        <pc:chgData name="Rajarajeshwari S" userId="e4d90711455572c4" providerId="LiveId" clId="{CCD4E902-00B9-4B30-B952-A9A7A2B9871A}" dt="2026-02-25T17:49:19.098" v="1228" actId="27636"/>
        <pc:sldMkLst>
          <pc:docMk/>
          <pc:sldMk cId="2955031339" sldId="515"/>
        </pc:sldMkLst>
        <pc:spChg chg="mod">
          <ac:chgData name="Rajarajeshwari S" userId="e4d90711455572c4" providerId="LiveId" clId="{CCD4E902-00B9-4B30-B952-A9A7A2B9871A}" dt="2026-02-25T17:49:16.495" v="1225" actId="27636"/>
          <ac:spMkLst>
            <pc:docMk/>
            <pc:sldMk cId="2955031339" sldId="515"/>
            <ac:spMk id="2" creationId="{1EFBA179-12D3-5B1B-17AE-99705BB6D648}"/>
          </ac:spMkLst>
        </pc:spChg>
        <pc:spChg chg="mod">
          <ac:chgData name="Rajarajeshwari S" userId="e4d90711455572c4" providerId="LiveId" clId="{CCD4E902-00B9-4B30-B952-A9A7A2B9871A}" dt="2026-02-25T17:49:19.098" v="1228" actId="27636"/>
          <ac:spMkLst>
            <pc:docMk/>
            <pc:sldMk cId="2955031339" sldId="515"/>
            <ac:spMk id="3" creationId="{F0427103-1EDA-16B8-334C-D06FB9ADE54F}"/>
          </ac:spMkLst>
        </pc:spChg>
      </pc:sldChg>
      <pc:sldChg chg="modSp new mod">
        <pc:chgData name="Rajarajeshwari S" userId="e4d90711455572c4" providerId="LiveId" clId="{CCD4E902-00B9-4B30-B952-A9A7A2B9871A}" dt="2026-03-02T06:32:53.607" v="1422" actId="27636"/>
        <pc:sldMkLst>
          <pc:docMk/>
          <pc:sldMk cId="4064867320" sldId="516"/>
        </pc:sldMkLst>
        <pc:spChg chg="mod">
          <ac:chgData name="Rajarajeshwari S" userId="e4d90711455572c4" providerId="LiveId" clId="{CCD4E902-00B9-4B30-B952-A9A7A2B9871A}" dt="2026-03-02T06:32:42.525" v="1412" actId="27636"/>
          <ac:spMkLst>
            <pc:docMk/>
            <pc:sldMk cId="4064867320" sldId="516"/>
            <ac:spMk id="2" creationId="{B96271A5-E852-FC01-60AB-7421C1AD308E}"/>
          </ac:spMkLst>
        </pc:spChg>
        <pc:spChg chg="mod">
          <ac:chgData name="Rajarajeshwari S" userId="e4d90711455572c4" providerId="LiveId" clId="{CCD4E902-00B9-4B30-B952-A9A7A2B9871A}" dt="2026-03-02T06:32:53.607" v="1422" actId="27636"/>
          <ac:spMkLst>
            <pc:docMk/>
            <pc:sldMk cId="4064867320" sldId="516"/>
            <ac:spMk id="3" creationId="{C1F0A360-4A91-88FD-797D-429581D60ABF}"/>
          </ac:spMkLst>
        </pc:spChg>
      </pc:sldChg>
      <pc:sldChg chg="addSp delSp modSp new mod">
        <pc:chgData name="Rajarajeshwari S" userId="e4d90711455572c4" providerId="LiveId" clId="{CCD4E902-00B9-4B30-B952-A9A7A2B9871A}" dt="2026-03-02T06:36:09.319" v="1469" actId="6549"/>
        <pc:sldMkLst>
          <pc:docMk/>
          <pc:sldMk cId="1452787718" sldId="517"/>
        </pc:sldMkLst>
        <pc:spChg chg="mod">
          <ac:chgData name="Rajarajeshwari S" userId="e4d90711455572c4" providerId="LiveId" clId="{CCD4E902-00B9-4B30-B952-A9A7A2B9871A}" dt="2026-03-02T06:34:07.446" v="1425" actId="27636"/>
          <ac:spMkLst>
            <pc:docMk/>
            <pc:sldMk cId="1452787718" sldId="517"/>
            <ac:spMk id="2" creationId="{073781F4-F7AB-0938-F4F2-FFF93D66926D}"/>
          </ac:spMkLst>
        </pc:spChg>
        <pc:spChg chg="del mod">
          <ac:chgData name="Rajarajeshwari S" userId="e4d90711455572c4" providerId="LiveId" clId="{CCD4E902-00B9-4B30-B952-A9A7A2B9871A}" dt="2026-03-02T06:35:06.176" v="1437" actId="478"/>
          <ac:spMkLst>
            <pc:docMk/>
            <pc:sldMk cId="1452787718" sldId="517"/>
            <ac:spMk id="3" creationId="{3119F3D8-0983-0577-74E1-45E453F31F8D}"/>
          </ac:spMkLst>
        </pc:spChg>
        <pc:spChg chg="add mod">
          <ac:chgData name="Rajarajeshwari S" userId="e4d90711455572c4" providerId="LiveId" clId="{CCD4E902-00B9-4B30-B952-A9A7A2B9871A}" dt="2026-03-02T06:36:02.719" v="1465" actId="14100"/>
          <ac:spMkLst>
            <pc:docMk/>
            <pc:sldMk cId="1452787718" sldId="517"/>
            <ac:spMk id="4" creationId="{4F7B5947-C4B3-58A1-6999-8C58C36A1C24}"/>
          </ac:spMkLst>
        </pc:spChg>
        <pc:spChg chg="add del mod">
          <ac:chgData name="Rajarajeshwari S" userId="e4d90711455572c4" providerId="LiveId" clId="{CCD4E902-00B9-4B30-B952-A9A7A2B9871A}" dt="2026-03-02T06:34:50.234" v="1434" actId="478"/>
          <ac:spMkLst>
            <pc:docMk/>
            <pc:sldMk cId="1452787718" sldId="517"/>
            <ac:spMk id="5" creationId="{76535479-F52E-FBEC-2851-198E17C1835D}"/>
          </ac:spMkLst>
        </pc:spChg>
        <pc:spChg chg="add mod">
          <ac:chgData name="Rajarajeshwari S" userId="e4d90711455572c4" providerId="LiveId" clId="{CCD4E902-00B9-4B30-B952-A9A7A2B9871A}" dt="2026-03-02T06:36:09.319" v="1469" actId="6549"/>
          <ac:spMkLst>
            <pc:docMk/>
            <pc:sldMk cId="1452787718" sldId="517"/>
            <ac:spMk id="6" creationId="{62DB4880-C949-FB51-C4F1-2E7D88481064}"/>
          </ac:spMkLst>
        </pc:spChg>
        <pc:spChg chg="add del mod">
          <ac:chgData name="Rajarajeshwari S" userId="e4d90711455572c4" providerId="LiveId" clId="{CCD4E902-00B9-4B30-B952-A9A7A2B9871A}" dt="2026-03-02T06:35:10.815" v="1439" actId="478"/>
          <ac:spMkLst>
            <pc:docMk/>
            <pc:sldMk cId="1452787718" sldId="517"/>
            <ac:spMk id="8" creationId="{BD74F2C3-4444-823A-2B8B-8F9B19364BF4}"/>
          </ac:spMkLst>
        </pc:spChg>
      </pc:sldChg>
      <pc:sldChg chg="modSp new mod">
        <pc:chgData name="Rajarajeshwari S" userId="e4d90711455572c4" providerId="LiveId" clId="{CCD4E902-00B9-4B30-B952-A9A7A2B9871A}" dt="2026-03-02T06:36:36.632" v="1478" actId="6549"/>
        <pc:sldMkLst>
          <pc:docMk/>
          <pc:sldMk cId="1870247819" sldId="518"/>
        </pc:sldMkLst>
        <pc:spChg chg="mod">
          <ac:chgData name="Rajarajeshwari S" userId="e4d90711455572c4" providerId="LiveId" clId="{CCD4E902-00B9-4B30-B952-A9A7A2B9871A}" dt="2026-03-02T06:36:34.391" v="1473" actId="27636"/>
          <ac:spMkLst>
            <pc:docMk/>
            <pc:sldMk cId="1870247819" sldId="518"/>
            <ac:spMk id="2" creationId="{4808A6E2-EC4F-1682-A31D-9F24B9313FED}"/>
          </ac:spMkLst>
        </pc:spChg>
        <pc:spChg chg="mod">
          <ac:chgData name="Rajarajeshwari S" userId="e4d90711455572c4" providerId="LiveId" clId="{CCD4E902-00B9-4B30-B952-A9A7A2B9871A}" dt="2026-03-02T06:36:36.632" v="1478" actId="6549"/>
          <ac:spMkLst>
            <pc:docMk/>
            <pc:sldMk cId="1870247819" sldId="518"/>
            <ac:spMk id="3" creationId="{5863D227-8207-B763-E40A-813A4D9AD267}"/>
          </ac:spMkLst>
        </pc:spChg>
      </pc:sldChg>
      <pc:sldChg chg="addSp modSp new mod">
        <pc:chgData name="Rajarajeshwari S" userId="e4d90711455572c4" providerId="LiveId" clId="{CCD4E902-00B9-4B30-B952-A9A7A2B9871A}" dt="2026-03-02T06:38:06.426" v="1505" actId="27636"/>
        <pc:sldMkLst>
          <pc:docMk/>
          <pc:sldMk cId="2094996382" sldId="519"/>
        </pc:sldMkLst>
        <pc:spChg chg="mod">
          <ac:chgData name="Rajarajeshwari S" userId="e4d90711455572c4" providerId="LiveId" clId="{CCD4E902-00B9-4B30-B952-A9A7A2B9871A}" dt="2026-03-02T06:36:47.307" v="1481" actId="27636"/>
          <ac:spMkLst>
            <pc:docMk/>
            <pc:sldMk cId="2094996382" sldId="519"/>
            <ac:spMk id="2" creationId="{3C159C30-BAF0-91F8-93BE-DF4D45C8676B}"/>
          </ac:spMkLst>
        </pc:spChg>
        <pc:spChg chg="mod">
          <ac:chgData name="Rajarajeshwari S" userId="e4d90711455572c4" providerId="LiveId" clId="{CCD4E902-00B9-4B30-B952-A9A7A2B9871A}" dt="2026-03-02T06:37:59.917" v="1500" actId="14100"/>
          <ac:spMkLst>
            <pc:docMk/>
            <pc:sldMk cId="2094996382" sldId="519"/>
            <ac:spMk id="3" creationId="{573850AC-C3ED-4BA4-57D7-A437124F6297}"/>
          </ac:spMkLst>
        </pc:spChg>
        <pc:spChg chg="add mod">
          <ac:chgData name="Rajarajeshwari S" userId="e4d90711455572c4" providerId="LiveId" clId="{CCD4E902-00B9-4B30-B952-A9A7A2B9871A}" dt="2026-03-02T06:38:06.426" v="1505" actId="27636"/>
          <ac:spMkLst>
            <pc:docMk/>
            <pc:sldMk cId="2094996382" sldId="519"/>
            <ac:spMk id="4" creationId="{36C5FB01-34B3-E474-F9E4-702EE07B2BF0}"/>
          </ac:spMkLst>
        </pc:spChg>
      </pc:sldChg>
      <pc:sldChg chg="addSp modSp new mod">
        <pc:chgData name="Rajarajeshwari S" userId="e4d90711455572c4" providerId="LiveId" clId="{CCD4E902-00B9-4B30-B952-A9A7A2B9871A}" dt="2026-03-02T06:41:06.236" v="1547" actId="14100"/>
        <pc:sldMkLst>
          <pc:docMk/>
          <pc:sldMk cId="3033093010" sldId="520"/>
        </pc:sldMkLst>
        <pc:spChg chg="mod">
          <ac:chgData name="Rajarajeshwari S" userId="e4d90711455572c4" providerId="LiveId" clId="{CCD4E902-00B9-4B30-B952-A9A7A2B9871A}" dt="2026-03-02T06:38:38.933" v="1508" actId="27636"/>
          <ac:spMkLst>
            <pc:docMk/>
            <pc:sldMk cId="3033093010" sldId="520"/>
            <ac:spMk id="2" creationId="{D8ACC104-56FF-DCD1-4458-808DBC9A3A3B}"/>
          </ac:spMkLst>
        </pc:spChg>
        <pc:spChg chg="mod">
          <ac:chgData name="Rajarajeshwari S" userId="e4d90711455572c4" providerId="LiveId" clId="{CCD4E902-00B9-4B30-B952-A9A7A2B9871A}" dt="2026-03-02T06:40:17.523" v="1538" actId="27636"/>
          <ac:spMkLst>
            <pc:docMk/>
            <pc:sldMk cId="3033093010" sldId="520"/>
            <ac:spMk id="3" creationId="{FDFB0BBA-E383-0D08-B650-5C22A6EA6025}"/>
          </ac:spMkLst>
        </pc:spChg>
        <pc:spChg chg="add mod">
          <ac:chgData name="Rajarajeshwari S" userId="e4d90711455572c4" providerId="LiveId" clId="{CCD4E902-00B9-4B30-B952-A9A7A2B9871A}" dt="2026-03-02T06:41:06.236" v="1547" actId="14100"/>
          <ac:spMkLst>
            <pc:docMk/>
            <pc:sldMk cId="3033093010" sldId="520"/>
            <ac:spMk id="4" creationId="{A53EB1A8-4878-F1D7-FD64-B4611FAE1188}"/>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1367880-2DA9-4115-9868-BB222F67D15D}" type="datetimeFigureOut">
              <a:rPr lang="en-IN" smtClean="0"/>
              <a:t>26-04-2026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D1EF322-DE0A-4F8B-AB01-B8CD358240E9}" type="slidenum">
              <a:rPr lang="en-IN" smtClean="0"/>
              <a:t>‹#›</a:t>
            </a:fld>
            <a:endParaRPr lang="en-IN"/>
          </a:p>
        </p:txBody>
      </p:sp>
    </p:spTree>
    <p:extLst>
      <p:ext uri="{BB962C8B-B14F-4D97-AF65-F5344CB8AC3E}">
        <p14:creationId xmlns:p14="http://schemas.microsoft.com/office/powerpoint/2010/main" val="12349443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ctr">
              <a:lnSpc>
                <a:spcPct val="85000"/>
              </a:lnSpc>
              <a:defRPr sz="6600" b="1" spc="-50" baseline="0">
                <a:solidFill>
                  <a:schemeClr val="tx1">
                    <a:lumMod val="85000"/>
                    <a:lumOff val="15000"/>
                  </a:schemeClr>
                </a:solidFill>
              </a:defRPr>
            </a:lvl1pPr>
          </a:lstStyle>
          <a:p>
            <a:r>
              <a:rPr lang="en-US" dirty="0"/>
              <a:t>Click to edit Master title style</a:t>
            </a:r>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22B3854-2F0D-42E5-836C-999B4016D793}" type="datetimeFigureOut">
              <a:rPr lang="en-IN" smtClean="0"/>
              <a:t>26-04-2026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18325E4-7E4B-49F6-9E1B-931F0BCB2F99}"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858661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025842" y="370001"/>
            <a:ext cx="10058400" cy="677258"/>
          </a:xfrm>
        </p:spPr>
        <p:txBody>
          <a:bodyPr/>
          <a:lstStyle>
            <a:lvl1pPr marL="0">
              <a:defRPr b="1">
                <a:solidFill>
                  <a:schemeClr val="tx1"/>
                </a:solidFill>
              </a:defRPr>
            </a:lvl1pPr>
          </a:lstStyle>
          <a:p>
            <a:r>
              <a:rPr lang="en-US" dirty="0"/>
              <a:t>Click to edit Master title style</a:t>
            </a:r>
          </a:p>
        </p:txBody>
      </p:sp>
      <p:sp>
        <p:nvSpPr>
          <p:cNvPr id="3" name="Content Placeholder 2"/>
          <p:cNvSpPr>
            <a:spLocks noGrp="1"/>
          </p:cNvSpPr>
          <p:nvPr>
            <p:ph idx="1"/>
          </p:nvPr>
        </p:nvSpPr>
        <p:spPr>
          <a:xfrm>
            <a:off x="1168717" y="1908666"/>
            <a:ext cx="10058400" cy="4217604"/>
          </a:xfrm>
        </p:spPr>
        <p:txBody>
          <a:bodyPr/>
          <a:lstStyle>
            <a:lvl1pPr marL="361950" indent="-361950">
              <a:buFont typeface="Arial" panose="020B0604020202020204" pitchFamily="34" charset="0"/>
              <a:buChar char="•"/>
              <a:defRPr sz="2400">
                <a:solidFill>
                  <a:schemeClr val="tx1"/>
                </a:solidFill>
              </a:defRPr>
            </a:lvl1pPr>
            <a:lvl2pPr marL="542925" indent="-342900">
              <a:buFont typeface="Arial" panose="020B0604020202020204" pitchFamily="34" charset="0"/>
              <a:buChar char="•"/>
              <a:defRPr sz="2400">
                <a:solidFill>
                  <a:schemeClr val="tx1"/>
                </a:solidFill>
              </a:defRPr>
            </a:lvl2pPr>
            <a:lvl3pPr marL="714375" indent="-330200">
              <a:buFont typeface="Arial" panose="020B0604020202020204" pitchFamily="34" charset="0"/>
              <a:buChar char="•"/>
              <a:tabLst>
                <a:tab pos="714375" algn="l"/>
              </a:tabLst>
              <a:defRPr sz="2400">
                <a:solidFill>
                  <a:schemeClr val="tx1"/>
                </a:solidFill>
              </a:defRPr>
            </a:lvl3pPr>
            <a:lvl4pPr marL="895350" indent="-266700">
              <a:buFont typeface="Arial" panose="020B0604020202020204" pitchFamily="34" charset="0"/>
              <a:buChar char="•"/>
              <a:defRPr sz="2400">
                <a:solidFill>
                  <a:schemeClr val="tx1"/>
                </a:solidFill>
              </a:defRPr>
            </a:lvl4pPr>
            <a:lvl5pPr marL="1162050" indent="-352425">
              <a:buFont typeface="Arial" panose="020B0604020202020204" pitchFamily="34" charset="0"/>
              <a:buChar char="•"/>
              <a:defRPr sz="24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D22B3854-2F0D-42E5-836C-999B4016D793}" type="datetimeFigureOut">
              <a:rPr lang="en-IN" smtClean="0"/>
              <a:t>26-04-2026</a:t>
            </a:fld>
            <a:endParaRPr lang="en-IN"/>
          </a:p>
        </p:txBody>
      </p:sp>
      <p:sp>
        <p:nvSpPr>
          <p:cNvPr id="5" name="Footer Placeholder 4"/>
          <p:cNvSpPr>
            <a:spLocks noGrp="1"/>
          </p:cNvSpPr>
          <p:nvPr>
            <p:ph type="ftr" sz="quarter" idx="11"/>
          </p:nvPr>
        </p:nvSpPr>
        <p:spPr/>
        <p:txBody>
          <a:bodyPr/>
          <a:lstStyle/>
          <a:p>
            <a:r>
              <a:rPr lang="en-US" dirty="0"/>
              <a:t>Dr </a:t>
            </a:r>
            <a:r>
              <a:rPr lang="en-US" dirty="0" err="1"/>
              <a:t>s.rajarajeswari</a:t>
            </a:r>
            <a:endParaRPr lang="en-IN" dirty="0"/>
          </a:p>
        </p:txBody>
      </p:sp>
      <p:sp>
        <p:nvSpPr>
          <p:cNvPr id="6" name="Slide Number Placeholder 5"/>
          <p:cNvSpPr>
            <a:spLocks noGrp="1"/>
          </p:cNvSpPr>
          <p:nvPr>
            <p:ph type="sldNum" sz="quarter" idx="12"/>
          </p:nvPr>
        </p:nvSpPr>
        <p:spPr/>
        <p:txBody>
          <a:bodyPr/>
          <a:lstStyle/>
          <a:p>
            <a:fld id="{518325E4-7E4B-49F6-9E1B-931F0BCB2F99}" type="slidenum">
              <a:rPr lang="en-IN" smtClean="0"/>
              <a:t>‹#›</a:t>
            </a:fld>
            <a:endParaRPr lang="en-IN" dirty="0"/>
          </a:p>
        </p:txBody>
      </p:sp>
      <p:sp>
        <p:nvSpPr>
          <p:cNvPr id="8" name="Rectangle 7">
            <a:extLst>
              <a:ext uri="{FF2B5EF4-FFF2-40B4-BE49-F238E27FC236}">
                <a16:creationId xmlns:a16="http://schemas.microsoft.com/office/drawing/2014/main" id="{395C9C08-912F-9753-A37D-05162F3F7943}"/>
              </a:ext>
            </a:extLst>
          </p:cNvPr>
          <p:cNvSpPr/>
          <p:nvPr userDrawn="1"/>
        </p:nvSpPr>
        <p:spPr>
          <a:xfrm>
            <a:off x="1025842" y="1569483"/>
            <a:ext cx="10563225" cy="172425"/>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cxnSp>
        <p:nvCxnSpPr>
          <p:cNvPr id="10" name="Straight Connector 9">
            <a:extLst>
              <a:ext uri="{FF2B5EF4-FFF2-40B4-BE49-F238E27FC236}">
                <a16:creationId xmlns:a16="http://schemas.microsoft.com/office/drawing/2014/main" id="{EB51CC6F-C1BB-D139-AAC2-815E43055820}"/>
              </a:ext>
            </a:extLst>
          </p:cNvPr>
          <p:cNvCxnSpPr/>
          <p:nvPr userDrawn="1"/>
        </p:nvCxnSpPr>
        <p:spPr>
          <a:xfrm>
            <a:off x="1025842" y="1295400"/>
            <a:ext cx="10201275" cy="0"/>
          </a:xfrm>
          <a:prstGeom prst="line">
            <a:avLst/>
          </a:prstGeom>
          <a:ln w="381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490690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22B3854-2F0D-42E5-836C-999B4016D793}" type="datetimeFigureOut">
              <a:rPr lang="en-IN" smtClean="0"/>
              <a:t>26-04-2026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18325E4-7E4B-49F6-9E1B-931F0BCB2F99}"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777687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22B3854-2F0D-42E5-836C-999B4016D793}" type="datetimeFigureOut">
              <a:rPr lang="en-IN" smtClean="0"/>
              <a:t>26-04-2026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18325E4-7E4B-49F6-9E1B-931F0BCB2F99}" type="slidenum">
              <a:rPr lang="en-IN" smtClean="0"/>
              <a:t>‹#›</a:t>
            </a:fld>
            <a:endParaRPr lang="en-IN"/>
          </a:p>
        </p:txBody>
      </p:sp>
    </p:spTree>
    <p:extLst>
      <p:ext uri="{BB962C8B-B14F-4D97-AF65-F5344CB8AC3E}">
        <p14:creationId xmlns:p14="http://schemas.microsoft.com/office/powerpoint/2010/main" val="3163785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22B3854-2F0D-42E5-836C-999B4016D793}" type="datetimeFigureOut">
              <a:rPr lang="en-IN" smtClean="0"/>
              <a:t>26-04-2026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518325E4-7E4B-49F6-9E1B-931F0BCB2F99}" type="slidenum">
              <a:rPr lang="en-IN" smtClean="0"/>
              <a:t>‹#›</a:t>
            </a:fld>
            <a:endParaRPr lang="en-IN"/>
          </a:p>
        </p:txBody>
      </p:sp>
    </p:spTree>
    <p:extLst>
      <p:ext uri="{BB962C8B-B14F-4D97-AF65-F5344CB8AC3E}">
        <p14:creationId xmlns:p14="http://schemas.microsoft.com/office/powerpoint/2010/main" val="32740947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22B3854-2F0D-42E5-836C-999B4016D793}" type="datetimeFigureOut">
              <a:rPr lang="en-IN" smtClean="0"/>
              <a:t>26-04-2026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518325E4-7E4B-49F6-9E1B-931F0BCB2F99}" type="slidenum">
              <a:rPr lang="en-IN" smtClean="0"/>
              <a:t>‹#›</a:t>
            </a:fld>
            <a:endParaRPr lang="en-IN"/>
          </a:p>
        </p:txBody>
      </p:sp>
    </p:spTree>
    <p:extLst>
      <p:ext uri="{BB962C8B-B14F-4D97-AF65-F5344CB8AC3E}">
        <p14:creationId xmlns:p14="http://schemas.microsoft.com/office/powerpoint/2010/main" val="42074157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D22B3854-2F0D-42E5-836C-999B4016D793}" type="datetimeFigureOut">
              <a:rPr lang="en-IN" smtClean="0"/>
              <a:t>26-04-2026</a:t>
            </a:fld>
            <a:endParaRPr lang="en-IN"/>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IN"/>
          </a:p>
        </p:txBody>
      </p:sp>
      <p:sp>
        <p:nvSpPr>
          <p:cNvPr id="9" name="Slide Number Placeholder 8"/>
          <p:cNvSpPr>
            <a:spLocks noGrp="1"/>
          </p:cNvSpPr>
          <p:nvPr>
            <p:ph type="sldNum" sz="quarter" idx="12"/>
          </p:nvPr>
        </p:nvSpPr>
        <p:spPr/>
        <p:txBody>
          <a:bodyPr/>
          <a:lstStyle/>
          <a:p>
            <a:fld id="{518325E4-7E4B-49F6-9E1B-931F0BCB2F99}" type="slidenum">
              <a:rPr lang="en-IN" smtClean="0"/>
              <a:t>‹#›</a:t>
            </a:fld>
            <a:endParaRPr lang="en-IN"/>
          </a:p>
        </p:txBody>
      </p:sp>
    </p:spTree>
    <p:extLst>
      <p:ext uri="{BB962C8B-B14F-4D97-AF65-F5344CB8AC3E}">
        <p14:creationId xmlns:p14="http://schemas.microsoft.com/office/powerpoint/2010/main" val="14333241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D22B3854-2F0D-42E5-836C-999B4016D793}" type="datetimeFigureOut">
              <a:rPr lang="en-IN" smtClean="0"/>
              <a:t>26-04-2026</a:t>
            </a:fld>
            <a:endParaRPr lang="en-IN"/>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IN"/>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518325E4-7E4B-49F6-9E1B-931F0BCB2F99}" type="slidenum">
              <a:rPr lang="en-IN" smtClean="0"/>
              <a:t>‹#›</a:t>
            </a:fld>
            <a:endParaRPr lang="en-IN"/>
          </a:p>
        </p:txBody>
      </p:sp>
    </p:spTree>
    <p:extLst>
      <p:ext uri="{BB962C8B-B14F-4D97-AF65-F5344CB8AC3E}">
        <p14:creationId xmlns:p14="http://schemas.microsoft.com/office/powerpoint/2010/main" val="37638852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22B3854-2F0D-42E5-836C-999B4016D793}" type="datetimeFigureOut">
              <a:rPr lang="en-IN" smtClean="0"/>
              <a:t>26-04-2026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18325E4-7E4B-49F6-9E1B-931F0BCB2F99}" type="slidenum">
              <a:rPr lang="en-IN" smtClean="0"/>
              <a:t>‹#›</a:t>
            </a:fld>
            <a:endParaRPr lang="en-IN"/>
          </a:p>
        </p:txBody>
      </p:sp>
    </p:spTree>
    <p:extLst>
      <p:ext uri="{BB962C8B-B14F-4D97-AF65-F5344CB8AC3E}">
        <p14:creationId xmlns:p14="http://schemas.microsoft.com/office/powerpoint/2010/main" val="5305774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22B3854-2F0D-42E5-836C-999B4016D793}" type="datetimeFigureOut">
              <a:rPr lang="en-IN" smtClean="0"/>
              <a:t>26-04-2026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18325E4-7E4B-49F6-9E1B-931F0BCB2F99}" type="slidenum">
              <a:rPr lang="en-IN" smtClean="0"/>
              <a:t>‹#›</a:t>
            </a:fld>
            <a:endParaRPr lang="en-IN"/>
          </a:p>
        </p:txBody>
      </p:sp>
    </p:spTree>
    <p:extLst>
      <p:ext uri="{BB962C8B-B14F-4D97-AF65-F5344CB8AC3E}">
        <p14:creationId xmlns:p14="http://schemas.microsoft.com/office/powerpoint/2010/main" val="24218006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22B3854-2F0D-42E5-836C-999B4016D793}" type="datetimeFigureOut">
              <a:rPr lang="en-IN" smtClean="0"/>
              <a:t>26-04-2026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18325E4-7E4B-49F6-9E1B-931F0BCB2F99}" type="slidenum">
              <a:rPr lang="en-IN" smtClean="0"/>
              <a:t>‹#›</a:t>
            </a:fld>
            <a:endParaRPr lang="en-IN"/>
          </a:p>
        </p:txBody>
      </p:sp>
    </p:spTree>
    <p:extLst>
      <p:ext uri="{BB962C8B-B14F-4D97-AF65-F5344CB8AC3E}">
        <p14:creationId xmlns:p14="http://schemas.microsoft.com/office/powerpoint/2010/main" val="420342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D22B3854-2F0D-42E5-836C-999B4016D793}" type="datetimeFigureOut">
              <a:rPr lang="en-IN" smtClean="0"/>
              <a:t>26-04-2026</a:t>
            </a:fld>
            <a:endParaRPr lang="en-IN"/>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IN"/>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518325E4-7E4B-49F6-9E1B-931F0BCB2F99}" type="slidenum">
              <a:rPr lang="en-IN" smtClean="0"/>
              <a:t>‹#›</a:t>
            </a:fld>
            <a:endParaRPr lang="en-IN"/>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06532491"/>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1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2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3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5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6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8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44.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hyperlink" Target="https://developer.ibm.com/articles/generative-adversarial-networks-explained/"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330AB0-E2A7-A94E-073C-A411BCE69B37}"/>
              </a:ext>
            </a:extLst>
          </p:cNvPr>
          <p:cNvSpPr>
            <a:spLocks noGrp="1"/>
          </p:cNvSpPr>
          <p:nvPr>
            <p:ph type="ctrTitle"/>
          </p:nvPr>
        </p:nvSpPr>
        <p:spPr>
          <a:xfrm>
            <a:off x="1097280" y="758952"/>
            <a:ext cx="10058400" cy="2797048"/>
          </a:xfrm>
        </p:spPr>
        <p:txBody>
          <a:bodyPr/>
          <a:lstStyle/>
          <a:p>
            <a:pPr algn="ctr"/>
            <a:r>
              <a:rPr lang="en-US" sz="6600" b="1" dirty="0"/>
              <a:t>Autoencoders- Variants</a:t>
            </a:r>
            <a:endParaRPr lang="en-IN" sz="6600" b="1" dirty="0"/>
          </a:p>
        </p:txBody>
      </p:sp>
      <p:sp>
        <p:nvSpPr>
          <p:cNvPr id="3" name="Subtitle 2">
            <a:extLst>
              <a:ext uri="{FF2B5EF4-FFF2-40B4-BE49-F238E27FC236}">
                <a16:creationId xmlns:a16="http://schemas.microsoft.com/office/drawing/2014/main" id="{EAF87500-0C3E-CFCE-5683-C0C03EBB0BEB}"/>
              </a:ext>
            </a:extLst>
          </p:cNvPr>
          <p:cNvSpPr>
            <a:spLocks noGrp="1"/>
          </p:cNvSpPr>
          <p:nvPr>
            <p:ph type="subTitle" idx="1"/>
          </p:nvPr>
        </p:nvSpPr>
        <p:spPr/>
        <p:txBody>
          <a:bodyPr/>
          <a:lstStyle/>
          <a:p>
            <a:r>
              <a:rPr lang="en-US" dirty="0"/>
              <a:t>Dr </a:t>
            </a:r>
            <a:r>
              <a:rPr lang="en-US" dirty="0" err="1"/>
              <a:t>S.Rajarajeswari</a:t>
            </a:r>
            <a:endParaRPr lang="en-IN" dirty="0"/>
          </a:p>
        </p:txBody>
      </p:sp>
    </p:spTree>
    <p:extLst>
      <p:ext uri="{BB962C8B-B14F-4D97-AF65-F5344CB8AC3E}">
        <p14:creationId xmlns:p14="http://schemas.microsoft.com/office/powerpoint/2010/main" val="17312497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8C43A4-56B7-4EF0-4B5B-60872B1AF7BA}"/>
              </a:ext>
            </a:extLst>
          </p:cNvPr>
          <p:cNvSpPr>
            <a:spLocks noGrp="1"/>
          </p:cNvSpPr>
          <p:nvPr>
            <p:ph type="title"/>
          </p:nvPr>
        </p:nvSpPr>
        <p:spPr>
          <a:xfrm>
            <a:off x="741680" y="370001"/>
            <a:ext cx="10342562" cy="677258"/>
          </a:xfrm>
        </p:spPr>
        <p:txBody>
          <a:bodyPr>
            <a:normAutofit fontScale="90000"/>
          </a:bodyPr>
          <a:lstStyle/>
          <a:p>
            <a:r>
              <a:rPr lang="en-IN" dirty="0"/>
              <a:t>Sparse Autoencoder</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F159B50-5A96-A62A-53BC-3F0E5E1BF640}"/>
                  </a:ext>
                </a:extLst>
              </p:cNvPr>
              <p:cNvSpPr>
                <a:spLocks noGrp="1"/>
              </p:cNvSpPr>
              <p:nvPr>
                <p:ph idx="1"/>
              </p:nvPr>
            </p:nvSpPr>
            <p:spPr>
              <a:xfrm>
                <a:off x="629920" y="1371600"/>
                <a:ext cx="10627677" cy="4744510"/>
              </a:xfrm>
            </p:spPr>
            <p:txBody>
              <a:bodyPr>
                <a:normAutofit fontScale="77500" lnSpcReduction="20000"/>
              </a:bodyPr>
              <a:lstStyle/>
              <a:p>
                <a:pPr>
                  <a:lnSpc>
                    <a:spcPct val="120000"/>
                  </a:lnSpc>
                  <a:spcBef>
                    <a:spcPts val="0"/>
                  </a:spcBef>
                  <a:spcAft>
                    <a:spcPts val="0"/>
                  </a:spcAft>
                </a:pPr>
                <a:r>
                  <a:rPr lang="en-IN" dirty="0"/>
                  <a:t>Encourages most neurons to remain inactive, forcing the model to learn </a:t>
                </a:r>
                <a:r>
                  <a:rPr lang="en-IN" b="1" dirty="0"/>
                  <a:t>important features only</a:t>
                </a:r>
                <a:r>
                  <a:rPr lang="en-IN" dirty="0"/>
                  <a:t>.</a:t>
                </a:r>
              </a:p>
              <a:p>
                <a:pPr marL="0" indent="0">
                  <a:lnSpc>
                    <a:spcPct val="120000"/>
                  </a:lnSpc>
                  <a:spcBef>
                    <a:spcPts val="0"/>
                  </a:spcBef>
                  <a:spcAft>
                    <a:spcPts val="0"/>
                  </a:spcAft>
                  <a:buNone/>
                </a:pPr>
                <a:r>
                  <a:rPr lang="en-IN" b="1" dirty="0"/>
                  <a:t>How it works</a:t>
                </a:r>
              </a:p>
              <a:p>
                <a:pPr marL="0" indent="0">
                  <a:lnSpc>
                    <a:spcPct val="120000"/>
                  </a:lnSpc>
                  <a:spcBef>
                    <a:spcPts val="0"/>
                  </a:spcBef>
                  <a:spcAft>
                    <a:spcPts val="0"/>
                  </a:spcAft>
                  <a:buNone/>
                </a:pPr>
                <a:r>
                  <a:rPr lang="en-IN" dirty="0"/>
                  <a:t>Adds sparsity penalty:</a:t>
                </a:r>
              </a:p>
              <a:p>
                <a:pPr marL="0" indent="0">
                  <a:lnSpc>
                    <a:spcPct val="120000"/>
                  </a:lnSpc>
                  <a:spcBef>
                    <a:spcPts val="0"/>
                  </a:spcBef>
                  <a:spcAft>
                    <a:spcPts val="0"/>
                  </a:spcAft>
                  <a:buNone/>
                </a:pPr>
                <a14:m>
                  <m:oMathPara xmlns:m="http://schemas.openxmlformats.org/officeDocument/2006/math">
                    <m:oMathParaPr>
                      <m:jc m:val="centerGroup"/>
                    </m:oMathParaPr>
                    <m:oMath xmlns:m="http://schemas.openxmlformats.org/officeDocument/2006/math">
                      <m:r>
                        <a:rPr lang="en-IN" i="1">
                          <a:latin typeface="Cambria Math" panose="02040503050406030204" pitchFamily="18" charset="0"/>
                        </a:rPr>
                        <m:t>𝐿</m:t>
                      </m:r>
                      <m:r>
                        <a:rPr lang="en-IN">
                          <a:latin typeface="Cambria Math" panose="02040503050406030204" pitchFamily="18" charset="0"/>
                        </a:rPr>
                        <m:t>=</m:t>
                      </m:r>
                      <m:r>
                        <m:rPr>
                          <m:nor/>
                        </m:rPr>
                        <a:rPr lang="en-IN" i="1"/>
                        <m:t>Reconstruction</m:t>
                      </m:r>
                      <m:r>
                        <m:rPr>
                          <m:nor/>
                        </m:rPr>
                        <a:rPr lang="en-IN" i="1"/>
                        <m:t> </m:t>
                      </m:r>
                      <m:r>
                        <m:rPr>
                          <m:nor/>
                        </m:rPr>
                        <a:rPr lang="en-IN" i="1"/>
                        <m:t>Loss</m:t>
                      </m:r>
                      <m:r>
                        <a:rPr lang="en-IN">
                          <a:latin typeface="Cambria Math" panose="02040503050406030204" pitchFamily="18" charset="0"/>
                        </a:rPr>
                        <m:t>+</m:t>
                      </m:r>
                      <m:r>
                        <a:rPr lang="en-IN" i="1">
                          <a:latin typeface="Cambria Math" panose="02040503050406030204" pitchFamily="18" charset="0"/>
                        </a:rPr>
                        <m:t>𝜆</m:t>
                      </m:r>
                      <m:nary>
                        <m:naryPr>
                          <m:chr m:val="∑"/>
                          <m:grow m:val="on"/>
                          <m:subHide m:val="on"/>
                          <m:supHide m:val="on"/>
                          <m:ctrlPr>
                            <a:rPr lang="ar-AE" i="1">
                              <a:latin typeface="Cambria Math" panose="02040503050406030204" pitchFamily="18" charset="0"/>
                            </a:rPr>
                          </m:ctrlPr>
                        </m:naryPr>
                        <m:sub/>
                        <m:sup/>
                        <m:e>
                          <m:r>
                            <a:rPr lang="ar-AE" i="1">
                              <a:latin typeface="Cambria Math" panose="02040503050406030204" pitchFamily="18" charset="0"/>
                            </a:rPr>
                            <m:t>𝐾</m:t>
                          </m:r>
                        </m:e>
                      </m:nary>
                      <m:r>
                        <a:rPr lang="ar-AE" i="1">
                          <a:latin typeface="Cambria Math" panose="02040503050406030204" pitchFamily="18" charset="0"/>
                        </a:rPr>
                        <m:t>𝐿</m:t>
                      </m:r>
                      <m:d>
                        <m:dPr>
                          <m:ctrlPr>
                            <a:rPr lang="ar-AE" i="1">
                              <a:latin typeface="Cambria Math" panose="02040503050406030204" pitchFamily="18" charset="0"/>
                            </a:rPr>
                          </m:ctrlPr>
                        </m:dPr>
                        <m:e>
                          <m:r>
                            <a:rPr lang="ar-AE" i="1">
                              <a:latin typeface="Cambria Math" panose="02040503050406030204" pitchFamily="18" charset="0"/>
                            </a:rPr>
                            <m:t>𝜌</m:t>
                          </m:r>
                          <m:r>
                            <a:rPr lang="ar-AE">
                              <a:latin typeface="Cambria Math" panose="02040503050406030204" pitchFamily="18" charset="0"/>
                            </a:rPr>
                            <m:t>∣∣</m:t>
                          </m:r>
                          <m:acc>
                            <m:accPr>
                              <m:chr m:val="̂"/>
                              <m:ctrlPr>
                                <a:rPr lang="ar-AE" i="1">
                                  <a:latin typeface="Cambria Math" panose="02040503050406030204" pitchFamily="18" charset="0"/>
                                </a:rPr>
                              </m:ctrlPr>
                            </m:accPr>
                            <m:e>
                              <m:r>
                                <a:rPr lang="ar-AE" i="1">
                                  <a:latin typeface="Cambria Math" panose="02040503050406030204" pitchFamily="18" charset="0"/>
                                </a:rPr>
                                <m:t>𝜌</m:t>
                              </m:r>
                            </m:e>
                          </m:acc>
                        </m:e>
                      </m:d>
                    </m:oMath>
                  </m:oMathPara>
                </a14:m>
                <a:endParaRPr lang="ar-AE" b="0" dirty="0"/>
              </a:p>
              <a:p>
                <a:pPr marL="0" indent="0">
                  <a:lnSpc>
                    <a:spcPct val="120000"/>
                  </a:lnSpc>
                  <a:spcBef>
                    <a:spcPts val="0"/>
                  </a:spcBef>
                  <a:spcAft>
                    <a:spcPts val="0"/>
                  </a:spcAft>
                  <a:buNone/>
                </a:pPr>
                <a:r>
                  <a:rPr lang="en-IN" dirty="0"/>
                  <a:t>Where:</a:t>
                </a:r>
              </a:p>
              <a:p>
                <a:pPr marL="0" indent="0">
                  <a:lnSpc>
                    <a:spcPct val="120000"/>
                  </a:lnSpc>
                  <a:spcBef>
                    <a:spcPts val="0"/>
                  </a:spcBef>
                  <a:spcAft>
                    <a:spcPts val="0"/>
                  </a:spcAft>
                  <a:buNone/>
                </a:pPr>
                <a14:m>
                  <m:oMath xmlns:m="http://schemas.openxmlformats.org/officeDocument/2006/math">
                    <m:r>
                      <a:rPr lang="en-IN" i="1">
                        <a:latin typeface="Cambria Math" panose="02040503050406030204" pitchFamily="18" charset="0"/>
                      </a:rPr>
                      <m:t>𝜌</m:t>
                    </m:r>
                  </m:oMath>
                </a14:m>
                <a:r>
                  <a:rPr lang="en-IN" dirty="0"/>
                  <a:t>= desired sparsity</a:t>
                </a:r>
              </a:p>
              <a:p>
                <a:pPr marL="0" indent="0">
                  <a:lnSpc>
                    <a:spcPct val="120000"/>
                  </a:lnSpc>
                  <a:spcBef>
                    <a:spcPts val="0"/>
                  </a:spcBef>
                  <a:spcAft>
                    <a:spcPts val="0"/>
                  </a:spcAft>
                  <a:buNone/>
                </a:pPr>
                <a14:m>
                  <m:oMath xmlns:m="http://schemas.openxmlformats.org/officeDocument/2006/math">
                    <m:acc>
                      <m:accPr>
                        <m:chr m:val="̂"/>
                        <m:ctrlPr>
                          <a:rPr lang="ar-AE" i="1">
                            <a:latin typeface="Cambria Math" panose="02040503050406030204" pitchFamily="18" charset="0"/>
                          </a:rPr>
                        </m:ctrlPr>
                      </m:accPr>
                      <m:e>
                        <m:r>
                          <a:rPr lang="ar-AE" i="1">
                            <a:latin typeface="Cambria Math" panose="02040503050406030204" pitchFamily="18" charset="0"/>
                          </a:rPr>
                          <m:t>𝜌</m:t>
                        </m:r>
                      </m:e>
                    </m:acc>
                  </m:oMath>
                </a14:m>
                <a:r>
                  <a:rPr lang="ar-AE" dirty="0"/>
                  <a:t>= </a:t>
                </a:r>
                <a:r>
                  <a:rPr lang="en-IN" dirty="0"/>
                  <a:t>average activation</a:t>
                </a:r>
              </a:p>
              <a:p>
                <a:pPr>
                  <a:lnSpc>
                    <a:spcPct val="120000"/>
                  </a:lnSpc>
                  <a:spcBef>
                    <a:spcPts val="0"/>
                  </a:spcBef>
                  <a:spcAft>
                    <a:spcPts val="0"/>
                  </a:spcAft>
                </a:pPr>
                <a:r>
                  <a:rPr lang="en-IN" b="1" dirty="0"/>
                  <a:t>Why important?</a:t>
                </a:r>
              </a:p>
              <a:p>
                <a:pPr marL="0" indent="0">
                  <a:lnSpc>
                    <a:spcPct val="120000"/>
                  </a:lnSpc>
                  <a:spcBef>
                    <a:spcPts val="0"/>
                  </a:spcBef>
                  <a:spcAft>
                    <a:spcPts val="0"/>
                  </a:spcAft>
                  <a:buNone/>
                </a:pPr>
                <a:r>
                  <a:rPr lang="en-IN" dirty="0"/>
                  <a:t> avoids trivial copying</a:t>
                </a:r>
              </a:p>
              <a:p>
                <a:pPr marL="0" indent="0">
                  <a:lnSpc>
                    <a:spcPct val="120000"/>
                  </a:lnSpc>
                  <a:spcBef>
                    <a:spcPts val="0"/>
                  </a:spcBef>
                  <a:spcAft>
                    <a:spcPts val="0"/>
                  </a:spcAft>
                  <a:buNone/>
                </a:pPr>
                <a:r>
                  <a:rPr lang="en-IN" dirty="0"/>
                  <a:t> selects essential features</a:t>
                </a:r>
              </a:p>
              <a:p>
                <a:pPr>
                  <a:lnSpc>
                    <a:spcPct val="120000"/>
                  </a:lnSpc>
                  <a:spcBef>
                    <a:spcPts val="0"/>
                  </a:spcBef>
                  <a:spcAft>
                    <a:spcPts val="0"/>
                  </a:spcAft>
                </a:pPr>
                <a:r>
                  <a:rPr lang="en-IN" b="1" dirty="0"/>
                  <a:t>Applications</a:t>
                </a:r>
              </a:p>
              <a:p>
                <a:pPr marL="0" indent="0">
                  <a:lnSpc>
                    <a:spcPct val="120000"/>
                  </a:lnSpc>
                  <a:spcBef>
                    <a:spcPts val="0"/>
                  </a:spcBef>
                  <a:spcAft>
                    <a:spcPts val="0"/>
                  </a:spcAft>
                  <a:buNone/>
                </a:pPr>
                <a:r>
                  <a:rPr lang="en-IN" dirty="0"/>
                  <a:t>feature selection</a:t>
                </a:r>
              </a:p>
              <a:p>
                <a:pPr marL="0" indent="0">
                  <a:lnSpc>
                    <a:spcPct val="120000"/>
                  </a:lnSpc>
                  <a:spcBef>
                    <a:spcPts val="0"/>
                  </a:spcBef>
                  <a:spcAft>
                    <a:spcPts val="0"/>
                  </a:spcAft>
                  <a:buNone/>
                </a:pPr>
                <a:r>
                  <a:rPr lang="en-IN" dirty="0"/>
                  <a:t>anomaly detection</a:t>
                </a:r>
              </a:p>
              <a:p>
                <a:pPr marL="0" indent="0">
                  <a:lnSpc>
                    <a:spcPct val="120000"/>
                  </a:lnSpc>
                  <a:spcBef>
                    <a:spcPts val="0"/>
                  </a:spcBef>
                  <a:spcAft>
                    <a:spcPts val="0"/>
                  </a:spcAft>
                  <a:buNone/>
                </a:pPr>
                <a:r>
                  <a:rPr lang="en-IN" dirty="0"/>
                  <a:t>pattern recognition</a:t>
                </a:r>
              </a:p>
              <a:p>
                <a:pPr>
                  <a:lnSpc>
                    <a:spcPct val="120000"/>
                  </a:lnSpc>
                  <a:spcBef>
                    <a:spcPts val="0"/>
                  </a:spcBef>
                  <a:spcAft>
                    <a:spcPts val="0"/>
                  </a:spcAft>
                </a:pPr>
                <a:endParaRPr lang="en-IN" dirty="0"/>
              </a:p>
            </p:txBody>
          </p:sp>
        </mc:Choice>
        <mc:Fallback xmlns="">
          <p:sp>
            <p:nvSpPr>
              <p:cNvPr id="3" name="Content Placeholder 2">
                <a:extLst>
                  <a:ext uri="{FF2B5EF4-FFF2-40B4-BE49-F238E27FC236}">
                    <a16:creationId xmlns:a16="http://schemas.microsoft.com/office/drawing/2014/main" id="{5F159B50-5A96-A62A-53BC-3F0E5E1BF640}"/>
                  </a:ext>
                </a:extLst>
              </p:cNvPr>
              <p:cNvSpPr>
                <a:spLocks noGrp="1" noRot="1" noChangeAspect="1" noMove="1" noResize="1" noEditPoints="1" noAdjustHandles="1" noChangeArrowheads="1" noChangeShapeType="1" noTextEdit="1"/>
              </p:cNvSpPr>
              <p:nvPr>
                <p:ph idx="1"/>
              </p:nvPr>
            </p:nvSpPr>
            <p:spPr>
              <a:xfrm>
                <a:off x="629920" y="1371600"/>
                <a:ext cx="10627677" cy="4744510"/>
              </a:xfrm>
              <a:blipFill>
                <a:blip r:embed="rId2"/>
                <a:stretch>
                  <a:fillRect l="-1376" t="-643" b="-1285"/>
                </a:stretch>
              </a:blipFill>
            </p:spPr>
            <p:txBody>
              <a:bodyPr/>
              <a:lstStyle/>
              <a:p>
                <a:r>
                  <a:rPr lang="en-IN">
                    <a:noFill/>
                  </a:rPr>
                  <a:t> </a:t>
                </a:r>
              </a:p>
            </p:txBody>
          </p:sp>
        </mc:Fallback>
      </mc:AlternateContent>
    </p:spTree>
    <p:extLst>
      <p:ext uri="{BB962C8B-B14F-4D97-AF65-F5344CB8AC3E}">
        <p14:creationId xmlns:p14="http://schemas.microsoft.com/office/powerpoint/2010/main" val="38859852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0C44BE-D490-AD6F-BEF5-07210B5DEE7A}"/>
              </a:ext>
            </a:extLst>
          </p:cNvPr>
          <p:cNvSpPr>
            <a:spLocks noGrp="1"/>
          </p:cNvSpPr>
          <p:nvPr>
            <p:ph type="title"/>
          </p:nvPr>
        </p:nvSpPr>
        <p:spPr/>
        <p:txBody>
          <a:bodyPr>
            <a:normAutofit fontScale="90000"/>
          </a:bodyPr>
          <a:lstStyle/>
          <a:p>
            <a:endParaRPr lang="en-IN"/>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EBAC2D4-74DA-609A-1BC4-28F17742617A}"/>
                  </a:ext>
                </a:extLst>
              </p:cNvPr>
              <p:cNvSpPr>
                <a:spLocks noGrp="1"/>
              </p:cNvSpPr>
              <p:nvPr>
                <p:ph idx="1"/>
              </p:nvPr>
            </p:nvSpPr>
            <p:spPr>
              <a:xfrm>
                <a:off x="904240" y="1564640"/>
                <a:ext cx="10322877" cy="4561630"/>
              </a:xfrm>
            </p:spPr>
            <p:txBody>
              <a:bodyPr/>
              <a:lstStyle/>
              <a:p>
                <a:r>
                  <a:rPr lang="en-IN" dirty="0"/>
                  <a:t>Sparsity is enforced via a penalty term added to the loss function. Common methods include:</a:t>
                </a:r>
              </a:p>
              <a:p>
                <a:r>
                  <a:rPr lang="en-IN" b="1" dirty="0"/>
                  <a:t>L1 regularization</a:t>
                </a:r>
                <a:r>
                  <a:rPr lang="en-IN" dirty="0"/>
                  <a:t> on activations: Penalizes the absolute values of </a:t>
                </a:r>
                <a14:m>
                  <m:oMath xmlns:m="http://schemas.openxmlformats.org/officeDocument/2006/math">
                    <m:r>
                      <a:rPr lang="en-IN" i="1">
                        <a:latin typeface="Cambria Math" panose="02040503050406030204" pitchFamily="18" charset="0"/>
                      </a:rPr>
                      <m:t>h</m:t>
                    </m:r>
                  </m:oMath>
                </a14:m>
                <a:r>
                  <a:rPr lang="en-IN" dirty="0"/>
                  <a:t>.</a:t>
                </a:r>
              </a:p>
              <a:p>
                <a:r>
                  <a:rPr lang="en-IN" b="1" dirty="0"/>
                  <a:t>KL-divergence penalty</a:t>
                </a:r>
                <a:r>
                  <a:rPr lang="en-IN" dirty="0"/>
                  <a:t>: Measures how much the average activation of each hidden neuron deviates from a target sparsity level </a:t>
                </a:r>
                <a14:m>
                  <m:oMath xmlns:m="http://schemas.openxmlformats.org/officeDocument/2006/math">
                    <m:r>
                      <a:rPr lang="en-IN" i="1">
                        <a:latin typeface="Cambria Math" panose="02040503050406030204" pitchFamily="18" charset="0"/>
                      </a:rPr>
                      <m:t>𝜌</m:t>
                    </m:r>
                  </m:oMath>
                </a14:m>
                <a:r>
                  <a:rPr lang="en-IN" dirty="0"/>
                  <a:t>(e.g., 0.05, meaning only 5% activation on average).</a:t>
                </a:r>
              </a:p>
              <a:p>
                <a:r>
                  <a:rPr lang="en-IN" dirty="0">
                    <a:effectLst/>
                  </a:rPr>
                  <a:t>The total loss becomes: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𝐿</m:t>
                        </m:r>
                      </m:e>
                      <m:sub>
                        <m:r>
                          <m:rPr>
                            <m:nor/>
                          </m:rPr>
                          <a:rPr lang="en-IN" i="1"/>
                          <m:t>total</m:t>
                        </m:r>
                      </m:sub>
                    </m:sSub>
                    <m:r>
                      <a:rPr lang="ar-AE">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𝐿</m:t>
                        </m:r>
                      </m:e>
                      <m:sub>
                        <m:r>
                          <m:rPr>
                            <m:nor/>
                          </m:rPr>
                          <a:rPr lang="en-IN" i="1"/>
                          <m:t>reconstruction</m:t>
                        </m:r>
                      </m:sub>
                    </m:sSub>
                    <m:r>
                      <a:rPr lang="ar-AE">
                        <a:latin typeface="Cambria Math" panose="02040503050406030204" pitchFamily="18" charset="0"/>
                      </a:rPr>
                      <m:t>+</m:t>
                    </m:r>
                    <m:r>
                      <a:rPr lang="ar-AE" i="1">
                        <a:latin typeface="Cambria Math" panose="02040503050406030204" pitchFamily="18" charset="0"/>
                      </a:rPr>
                      <m:t>𝛽</m:t>
                    </m:r>
                    <m:r>
                      <a:rPr lang="ar-AE">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𝐿</m:t>
                        </m:r>
                      </m:e>
                      <m:sub>
                        <m:r>
                          <m:rPr>
                            <m:nor/>
                          </m:rPr>
                          <a:rPr lang="en-IN" i="1"/>
                          <m:t>sparsity</m:t>
                        </m:r>
                      </m:sub>
                    </m:sSub>
                  </m:oMath>
                </a14:m>
                <a:endParaRPr lang="en-IN" dirty="0">
                  <a:effectLst/>
                </a:endParaRPr>
              </a:p>
              <a:p>
                <a:r>
                  <a:rPr lang="en-IN" dirty="0">
                    <a:effectLst/>
                  </a:rPr>
                  <a:t>where </a:t>
                </a:r>
                <a14:m>
                  <m:oMath xmlns:m="http://schemas.openxmlformats.org/officeDocument/2006/math">
                    <m:r>
                      <a:rPr lang="en-IN" i="1">
                        <a:latin typeface="Cambria Math" panose="02040503050406030204" pitchFamily="18" charset="0"/>
                      </a:rPr>
                      <m:t>𝛽</m:t>
                    </m:r>
                  </m:oMath>
                </a14:m>
                <a:r>
                  <a:rPr lang="en-IN" dirty="0">
                    <a:effectLst/>
                  </a:rPr>
                  <a:t>is a hyperparameter controlling the sparsity weight.</a:t>
                </a:r>
              </a:p>
              <a:p>
                <a:r>
                  <a:rPr lang="en-IN" dirty="0">
                    <a:effectLst/>
                  </a:rPr>
                  <a:t>We'll focus on the KL-divergence approach, as it's popular (e.g., in Andrew Ng's tutorials).</a:t>
                </a:r>
              </a:p>
              <a:p>
                <a:endParaRPr lang="en-IN" dirty="0"/>
              </a:p>
            </p:txBody>
          </p:sp>
        </mc:Choice>
        <mc:Fallback xmlns="">
          <p:sp>
            <p:nvSpPr>
              <p:cNvPr id="3" name="Content Placeholder 2">
                <a:extLst>
                  <a:ext uri="{FF2B5EF4-FFF2-40B4-BE49-F238E27FC236}">
                    <a16:creationId xmlns:a16="http://schemas.microsoft.com/office/drawing/2014/main" id="{AEBAC2D4-74DA-609A-1BC4-28F17742617A}"/>
                  </a:ext>
                </a:extLst>
              </p:cNvPr>
              <p:cNvSpPr>
                <a:spLocks noGrp="1" noRot="1" noChangeAspect="1" noMove="1" noResize="1" noEditPoints="1" noAdjustHandles="1" noChangeArrowheads="1" noChangeShapeType="1" noTextEdit="1"/>
              </p:cNvSpPr>
              <p:nvPr>
                <p:ph idx="1"/>
              </p:nvPr>
            </p:nvSpPr>
            <p:spPr>
              <a:xfrm>
                <a:off x="904240" y="1564640"/>
                <a:ext cx="10322877" cy="4561630"/>
              </a:xfrm>
              <a:blipFill>
                <a:blip r:embed="rId2"/>
                <a:stretch>
                  <a:fillRect l="-1653" t="-1872" r="-236"/>
                </a:stretch>
              </a:blipFill>
            </p:spPr>
            <p:txBody>
              <a:bodyPr/>
              <a:lstStyle/>
              <a:p>
                <a:r>
                  <a:rPr lang="en-IN">
                    <a:noFill/>
                  </a:rPr>
                  <a:t> </a:t>
                </a:r>
              </a:p>
            </p:txBody>
          </p:sp>
        </mc:Fallback>
      </mc:AlternateContent>
    </p:spTree>
    <p:extLst>
      <p:ext uri="{BB962C8B-B14F-4D97-AF65-F5344CB8AC3E}">
        <p14:creationId xmlns:p14="http://schemas.microsoft.com/office/powerpoint/2010/main" val="8788549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003385-205E-41F3-9B3B-D34F71085551}"/>
              </a:ext>
            </a:extLst>
          </p:cNvPr>
          <p:cNvSpPr>
            <a:spLocks noGrp="1"/>
          </p:cNvSpPr>
          <p:nvPr>
            <p:ph type="title"/>
          </p:nvPr>
        </p:nvSpPr>
        <p:spPr/>
        <p:txBody>
          <a:bodyPr>
            <a:normAutofit fontScale="90000"/>
          </a:bodyPr>
          <a:lstStyle/>
          <a:p>
            <a:endParaRPr lang="en-IN"/>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E2A1464-B96A-4CEB-2CF7-534EE352AA8E}"/>
                  </a:ext>
                </a:extLst>
              </p:cNvPr>
              <p:cNvSpPr>
                <a:spLocks noGrp="1"/>
              </p:cNvSpPr>
              <p:nvPr>
                <p:ph idx="1"/>
              </p:nvPr>
            </p:nvSpPr>
            <p:spPr>
              <a:xfrm>
                <a:off x="812800" y="1391920"/>
                <a:ext cx="11043920" cy="4785360"/>
              </a:xfrm>
            </p:spPr>
            <p:txBody>
              <a:bodyPr>
                <a:normAutofit fontScale="85000" lnSpcReduction="10000"/>
              </a:bodyPr>
              <a:lstStyle/>
              <a:p>
                <a:r>
                  <a:rPr lang="en-IN" b="1" dirty="0"/>
                  <a:t>Mathematical Formulation</a:t>
                </a:r>
              </a:p>
              <a:p>
                <a:r>
                  <a:rPr lang="en-IN" dirty="0">
                    <a:effectLst/>
                  </a:rPr>
                  <a:t>Assume a single-layer autoencoder for simplicity:</a:t>
                </a:r>
              </a:p>
              <a:p>
                <a:r>
                  <a:rPr lang="en-IN" b="1" dirty="0"/>
                  <a:t>Input: </a:t>
                </a:r>
                <a14:m>
                  <m:oMath xmlns:m="http://schemas.openxmlformats.org/officeDocument/2006/math">
                    <m:r>
                      <a:rPr lang="en-IN" i="1">
                        <a:latin typeface="Cambria Math" panose="02040503050406030204" pitchFamily="18" charset="0"/>
                      </a:rPr>
                      <m:t>𝑥</m:t>
                    </m:r>
                    <m:r>
                      <a:rPr lang="en-IN">
                        <a:latin typeface="Cambria Math" panose="02040503050406030204" pitchFamily="18" charset="0"/>
                      </a:rPr>
                      <m:t>∈</m:t>
                    </m:r>
                    <m:sSup>
                      <m:sSupPr>
                        <m:ctrlPr>
                          <a:rPr lang="ar-AE" i="1">
                            <a:latin typeface="Cambria Math" panose="02040503050406030204" pitchFamily="18" charset="0"/>
                          </a:rPr>
                        </m:ctrlPr>
                      </m:sSupPr>
                      <m:e>
                        <m:r>
                          <a:rPr lang="ar-AE">
                            <a:latin typeface="Cambria Math" panose="02040503050406030204" pitchFamily="18" charset="0"/>
                          </a:rPr>
                          <m:t>ℝ</m:t>
                        </m:r>
                      </m:e>
                      <m:sup>
                        <m:r>
                          <a:rPr lang="ar-AE" i="1">
                            <a:latin typeface="Cambria Math" panose="02040503050406030204" pitchFamily="18" charset="0"/>
                          </a:rPr>
                          <m:t>𝑑</m:t>
                        </m:r>
                      </m:sup>
                    </m:sSup>
                  </m:oMath>
                </a14:m>
                <a:endParaRPr lang="ar-AE" dirty="0"/>
              </a:p>
              <a:p>
                <a:r>
                  <a:rPr lang="en-IN" b="1" dirty="0"/>
                  <a:t>Encoder:</a:t>
                </a:r>
                <a:r>
                  <a:rPr lang="en-IN" dirty="0"/>
                  <a:t> </a:t>
                </a:r>
                <a14:m>
                  <m:oMath xmlns:m="http://schemas.openxmlformats.org/officeDocument/2006/math">
                    <m:r>
                      <a:rPr lang="en-IN" i="1">
                        <a:latin typeface="Cambria Math" panose="02040503050406030204" pitchFamily="18" charset="0"/>
                      </a:rPr>
                      <m:t>h</m:t>
                    </m:r>
                    <m:r>
                      <a:rPr lang="en-IN">
                        <a:latin typeface="Cambria Math" panose="02040503050406030204" pitchFamily="18" charset="0"/>
                      </a:rPr>
                      <m:t>=</m:t>
                    </m:r>
                    <m:r>
                      <a:rPr lang="en-IN" i="1">
                        <a:latin typeface="Cambria Math" panose="02040503050406030204" pitchFamily="18" charset="0"/>
                      </a:rPr>
                      <m:t>𝑓</m:t>
                    </m:r>
                    <m:d>
                      <m:dPr>
                        <m:ctrlPr>
                          <a:rPr lang="ar-AE" i="1">
                            <a:latin typeface="Cambria Math" panose="02040503050406030204" pitchFamily="18" charset="0"/>
                          </a:rPr>
                        </m:ctrlPr>
                      </m:dPr>
                      <m:e>
                        <m:sSub>
                          <m:sSubPr>
                            <m:ctrlPr>
                              <a:rPr lang="ar-AE" i="1">
                                <a:latin typeface="Cambria Math" panose="02040503050406030204" pitchFamily="18" charset="0"/>
                              </a:rPr>
                            </m:ctrlPr>
                          </m:sSubPr>
                          <m:e>
                            <m:r>
                              <a:rPr lang="ar-AE" i="1">
                                <a:latin typeface="Cambria Math" panose="02040503050406030204" pitchFamily="18" charset="0"/>
                              </a:rPr>
                              <m:t>𝑊</m:t>
                            </m:r>
                          </m:e>
                          <m:sub>
                            <m:r>
                              <a:rPr lang="ar-AE">
                                <a:latin typeface="Cambria Math" panose="02040503050406030204" pitchFamily="18" charset="0"/>
                              </a:rPr>
                              <m:t>1</m:t>
                            </m:r>
                          </m:sub>
                        </m:sSub>
                        <m:r>
                          <a:rPr lang="ar-AE" i="1">
                            <a:latin typeface="Cambria Math" panose="02040503050406030204" pitchFamily="18" charset="0"/>
                          </a:rPr>
                          <m:t>𝑥</m:t>
                        </m:r>
                        <m:r>
                          <a:rPr lang="ar-AE">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𝑏</m:t>
                            </m:r>
                          </m:e>
                          <m:sub>
                            <m:r>
                              <a:rPr lang="ar-AE">
                                <a:latin typeface="Cambria Math" panose="02040503050406030204" pitchFamily="18" charset="0"/>
                              </a:rPr>
                              <m:t>1</m:t>
                            </m:r>
                          </m:sub>
                        </m:sSub>
                      </m:e>
                    </m:d>
                  </m:oMath>
                </a14:m>
                <a:r>
                  <a:rPr lang="ar-AE" dirty="0"/>
                  <a:t>, </a:t>
                </a:r>
                <a:r>
                  <a:rPr lang="en-IN" dirty="0"/>
                  <a:t>where </a:t>
                </a:r>
                <a14:m>
                  <m:oMath xmlns:m="http://schemas.openxmlformats.org/officeDocument/2006/math">
                    <m:r>
                      <a:rPr lang="en-IN" i="1">
                        <a:latin typeface="Cambria Math" panose="02040503050406030204" pitchFamily="18" charset="0"/>
                      </a:rPr>
                      <m:t>𝑓</m:t>
                    </m:r>
                  </m:oMath>
                </a14:m>
                <a:r>
                  <a:rPr lang="en-IN" dirty="0"/>
                  <a:t>is sigmoid activation (to bound </a:t>
                </a:r>
                <a14:m>
                  <m:oMath xmlns:m="http://schemas.openxmlformats.org/officeDocument/2006/math">
                    <m:r>
                      <a:rPr lang="en-IN" i="1">
                        <a:latin typeface="Cambria Math" panose="02040503050406030204" pitchFamily="18" charset="0"/>
                      </a:rPr>
                      <m:t>h</m:t>
                    </m:r>
                  </m:oMath>
                </a14:m>
                <a:r>
                  <a:rPr lang="en-IN" dirty="0"/>
                  <a:t>between 0 and 1 for sparsity).</a:t>
                </a:r>
              </a:p>
              <a:p>
                <a:r>
                  <a:rPr lang="en-IN" b="1" dirty="0"/>
                  <a:t>Decoder: </a:t>
                </a:r>
                <a14:m>
                  <m:oMath xmlns:m="http://schemas.openxmlformats.org/officeDocument/2006/math">
                    <m:acc>
                      <m:accPr>
                        <m:chr m:val="̂"/>
                        <m:ctrlPr>
                          <a:rPr lang="ar-AE" b="1" i="1">
                            <a:latin typeface="Cambria Math" panose="02040503050406030204" pitchFamily="18" charset="0"/>
                          </a:rPr>
                        </m:ctrlPr>
                      </m:accPr>
                      <m:e>
                        <m:r>
                          <a:rPr lang="ar-AE" b="1" i="1">
                            <a:latin typeface="Cambria Math" panose="02040503050406030204" pitchFamily="18" charset="0"/>
                          </a:rPr>
                          <m:t>𝒙</m:t>
                        </m:r>
                      </m:e>
                    </m:acc>
                    <m:r>
                      <a:rPr lang="ar-AE">
                        <a:latin typeface="Cambria Math" panose="02040503050406030204" pitchFamily="18" charset="0"/>
                      </a:rPr>
                      <m:t>=</m:t>
                    </m:r>
                    <m:r>
                      <a:rPr lang="ar-AE" i="1">
                        <a:latin typeface="Cambria Math" panose="02040503050406030204" pitchFamily="18" charset="0"/>
                      </a:rPr>
                      <m:t>𝑔</m:t>
                    </m:r>
                    <m:d>
                      <m:dPr>
                        <m:ctrlPr>
                          <a:rPr lang="ar-AE" i="1">
                            <a:latin typeface="Cambria Math" panose="02040503050406030204" pitchFamily="18" charset="0"/>
                          </a:rPr>
                        </m:ctrlPr>
                      </m:dPr>
                      <m:e>
                        <m:sSub>
                          <m:sSubPr>
                            <m:ctrlPr>
                              <a:rPr lang="ar-AE" i="1">
                                <a:latin typeface="Cambria Math" panose="02040503050406030204" pitchFamily="18" charset="0"/>
                              </a:rPr>
                            </m:ctrlPr>
                          </m:sSubPr>
                          <m:e>
                            <m:r>
                              <a:rPr lang="ar-AE" i="1">
                                <a:latin typeface="Cambria Math" panose="02040503050406030204" pitchFamily="18" charset="0"/>
                              </a:rPr>
                              <m:t>𝑊</m:t>
                            </m:r>
                          </m:e>
                          <m:sub>
                            <m:r>
                              <a:rPr lang="ar-AE">
                                <a:latin typeface="Cambria Math" panose="02040503050406030204" pitchFamily="18" charset="0"/>
                              </a:rPr>
                              <m:t>2</m:t>
                            </m:r>
                          </m:sub>
                        </m:sSub>
                        <m:r>
                          <a:rPr lang="ar-AE" i="1">
                            <a:latin typeface="Cambria Math" panose="02040503050406030204" pitchFamily="18" charset="0"/>
                          </a:rPr>
                          <m:t>h</m:t>
                        </m:r>
                        <m:r>
                          <a:rPr lang="ar-AE">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𝑏</m:t>
                            </m:r>
                          </m:e>
                          <m:sub>
                            <m:r>
                              <a:rPr lang="ar-AE">
                                <a:latin typeface="Cambria Math" panose="02040503050406030204" pitchFamily="18" charset="0"/>
                              </a:rPr>
                              <m:t>2</m:t>
                            </m:r>
                          </m:sub>
                        </m:sSub>
                      </m:e>
                    </m:d>
                  </m:oMath>
                </a14:m>
                <a:r>
                  <a:rPr lang="ar-AE" dirty="0"/>
                  <a:t>, </a:t>
                </a:r>
                <a:r>
                  <a:rPr lang="en-IN" dirty="0"/>
                  <a:t>where </a:t>
                </a:r>
                <a14:m>
                  <m:oMath xmlns:m="http://schemas.openxmlformats.org/officeDocument/2006/math">
                    <m:r>
                      <a:rPr lang="en-IN" i="1">
                        <a:latin typeface="Cambria Math" panose="02040503050406030204" pitchFamily="18" charset="0"/>
                      </a:rPr>
                      <m:t>𝑔</m:t>
                    </m:r>
                  </m:oMath>
                </a14:m>
                <a:r>
                  <a:rPr lang="en-IN" dirty="0"/>
                  <a:t>is often linear or sigmoid.</a:t>
                </a:r>
              </a:p>
              <a:p>
                <a:r>
                  <a:rPr lang="en-IN" b="1" dirty="0">
                    <a:effectLst/>
                  </a:rPr>
                  <a:t>Reconstruction loss</a:t>
                </a:r>
                <a:r>
                  <a:rPr lang="en-IN" dirty="0">
                    <a:effectLst/>
                  </a:rPr>
                  <a:t>: MSE as above.</a:t>
                </a:r>
              </a:p>
              <a:p>
                <a:r>
                  <a:rPr lang="en-IN" b="1" dirty="0">
                    <a:effectLst/>
                  </a:rPr>
                  <a:t>For sparsity</a:t>
                </a:r>
                <a:r>
                  <a:rPr lang="en-IN" dirty="0">
                    <a:effectLst/>
                  </a:rPr>
                  <a:t>: Let </a:t>
                </a:r>
                <a14:m>
                  <m:oMath xmlns:m="http://schemas.openxmlformats.org/officeDocument/2006/math">
                    <m:sSub>
                      <m:sSubPr>
                        <m:ctrlPr>
                          <a:rPr lang="ar-AE" i="1">
                            <a:latin typeface="Cambria Math" panose="02040503050406030204" pitchFamily="18" charset="0"/>
                          </a:rPr>
                        </m:ctrlPr>
                      </m:sSubPr>
                      <m:e>
                        <m:acc>
                          <m:accPr>
                            <m:chr m:val="̂"/>
                            <m:ctrlPr>
                              <a:rPr lang="ar-AE" i="1">
                                <a:latin typeface="Cambria Math" panose="02040503050406030204" pitchFamily="18" charset="0"/>
                              </a:rPr>
                            </m:ctrlPr>
                          </m:accPr>
                          <m:e>
                            <m:r>
                              <a:rPr lang="ar-AE" i="1">
                                <a:latin typeface="Cambria Math" panose="02040503050406030204" pitchFamily="18" charset="0"/>
                              </a:rPr>
                              <m:t>𝜌</m:t>
                            </m:r>
                          </m:e>
                        </m:acc>
                      </m:e>
                      <m:sub>
                        <m:r>
                          <a:rPr lang="ar-AE" i="1">
                            <a:latin typeface="Cambria Math" panose="02040503050406030204" pitchFamily="18" charset="0"/>
                          </a:rPr>
                          <m:t>𝑗</m:t>
                        </m:r>
                      </m:sub>
                    </m:sSub>
                    <m:r>
                      <a:rPr lang="ar-AE">
                        <a:latin typeface="Cambria Math" panose="02040503050406030204" pitchFamily="18" charset="0"/>
                      </a:rPr>
                      <m:t>=</m:t>
                    </m:r>
                    <m:f>
                      <m:fPr>
                        <m:ctrlPr>
                          <a:rPr lang="ar-AE" i="1">
                            <a:latin typeface="Cambria Math" panose="02040503050406030204" pitchFamily="18" charset="0"/>
                          </a:rPr>
                        </m:ctrlPr>
                      </m:fPr>
                      <m:num>
                        <m:r>
                          <a:rPr lang="ar-AE">
                            <a:latin typeface="Cambria Math" panose="02040503050406030204" pitchFamily="18" charset="0"/>
                          </a:rPr>
                          <m:t>1</m:t>
                        </m:r>
                      </m:num>
                      <m:den>
                        <m:r>
                          <a:rPr lang="ar-AE" i="1">
                            <a:latin typeface="Cambria Math" panose="02040503050406030204" pitchFamily="18" charset="0"/>
                          </a:rPr>
                          <m:t>𝑛</m:t>
                        </m:r>
                      </m:den>
                    </m:f>
                    <m:nary>
                      <m:naryPr>
                        <m:chr m:val="∑"/>
                        <m:limLoc m:val="subSup"/>
                        <m:grow m:val="on"/>
                        <m:ctrlPr>
                          <a:rPr lang="ar-AE" i="1">
                            <a:latin typeface="Cambria Math" panose="02040503050406030204" pitchFamily="18" charset="0"/>
                          </a:rPr>
                        </m:ctrlPr>
                      </m:naryPr>
                      <m:sub>
                        <m:r>
                          <a:rPr lang="ar-AE" i="1">
                            <a:latin typeface="Cambria Math" panose="02040503050406030204" pitchFamily="18" charset="0"/>
                          </a:rPr>
                          <m:t>𝑖</m:t>
                        </m:r>
                        <m:r>
                          <a:rPr lang="ar-AE">
                            <a:latin typeface="Cambria Math" panose="02040503050406030204" pitchFamily="18" charset="0"/>
                          </a:rPr>
                          <m:t>=</m:t>
                        </m:r>
                        <m:r>
                          <a:rPr lang="ar-AE">
                            <a:latin typeface="Cambria Math" panose="02040503050406030204" pitchFamily="18" charset="0"/>
                          </a:rPr>
                          <m:t>1</m:t>
                        </m:r>
                      </m:sub>
                      <m:sup>
                        <m:r>
                          <a:rPr lang="ar-AE" i="1">
                            <a:latin typeface="Cambria Math" panose="02040503050406030204" pitchFamily="18" charset="0"/>
                          </a:rPr>
                          <m:t>𝑛</m:t>
                        </m:r>
                      </m:sup>
                      <m:e>
                        <m:sSub>
                          <m:sSubPr>
                            <m:ctrlPr>
                              <a:rPr lang="ar-AE" i="1">
                                <a:latin typeface="Cambria Math" panose="02040503050406030204" pitchFamily="18" charset="0"/>
                              </a:rPr>
                            </m:ctrlPr>
                          </m:sSubPr>
                          <m:e>
                            <m:r>
                              <a:rPr lang="ar-AE" i="1">
                                <a:latin typeface="Cambria Math" panose="02040503050406030204" pitchFamily="18" charset="0"/>
                              </a:rPr>
                              <m:t>h</m:t>
                            </m:r>
                          </m:e>
                          <m:sub>
                            <m:r>
                              <a:rPr lang="ar-AE" i="1">
                                <a:latin typeface="Cambria Math" panose="02040503050406030204" pitchFamily="18" charset="0"/>
                              </a:rPr>
                              <m:t>𝑗</m:t>
                            </m:r>
                          </m:sub>
                        </m:sSub>
                      </m:e>
                    </m:nary>
                    <m:d>
                      <m:dPr>
                        <m:ctrlPr>
                          <a:rPr lang="ar-AE" i="1">
                            <a:latin typeface="Cambria Math" panose="02040503050406030204" pitchFamily="18" charset="0"/>
                          </a:rPr>
                        </m:ctrlPr>
                      </m:dPr>
                      <m:e>
                        <m:sSub>
                          <m:sSubPr>
                            <m:ctrlPr>
                              <a:rPr lang="ar-AE" i="1">
                                <a:latin typeface="Cambria Math" panose="02040503050406030204" pitchFamily="18" charset="0"/>
                              </a:rPr>
                            </m:ctrlPr>
                          </m:sSubPr>
                          <m:e>
                            <m:r>
                              <a:rPr lang="ar-AE" i="1">
                                <a:latin typeface="Cambria Math" panose="02040503050406030204" pitchFamily="18" charset="0"/>
                              </a:rPr>
                              <m:t>𝑥</m:t>
                            </m:r>
                          </m:e>
                          <m:sub>
                            <m:r>
                              <a:rPr lang="ar-AE" i="1">
                                <a:latin typeface="Cambria Math" panose="02040503050406030204" pitchFamily="18" charset="0"/>
                              </a:rPr>
                              <m:t>𝑖</m:t>
                            </m:r>
                          </m:sub>
                        </m:sSub>
                      </m:e>
                    </m:d>
                  </m:oMath>
                </a14:m>
                <a:r>
                  <a:rPr lang="en-IN" dirty="0">
                    <a:effectLst/>
                  </a:rPr>
                  <a:t>be the average activation of hidden neuron </a:t>
                </a:r>
                <a14:m>
                  <m:oMath xmlns:m="http://schemas.openxmlformats.org/officeDocument/2006/math">
                    <m:r>
                      <a:rPr lang="en-IN" i="1">
                        <a:latin typeface="Cambria Math" panose="02040503050406030204" pitchFamily="18" charset="0"/>
                      </a:rPr>
                      <m:t>𝑗</m:t>
                    </m:r>
                  </m:oMath>
                </a14:m>
                <a:r>
                  <a:rPr lang="en-IN" dirty="0">
                    <a:effectLst/>
                  </a:rPr>
                  <a:t>over the dataset.</a:t>
                </a:r>
              </a:p>
              <a:p>
                <a:r>
                  <a:rPr lang="en-IN" dirty="0">
                    <a:effectLst/>
                  </a:rPr>
                  <a:t>The KL-divergence penalty for each neuron </a:t>
                </a:r>
                <a14:m>
                  <m:oMath xmlns:m="http://schemas.openxmlformats.org/officeDocument/2006/math">
                    <m:r>
                      <a:rPr lang="en-IN" i="1">
                        <a:latin typeface="Cambria Math" panose="02040503050406030204" pitchFamily="18" charset="0"/>
                      </a:rPr>
                      <m:t>𝑗</m:t>
                    </m:r>
                  </m:oMath>
                </a14:m>
                <a:r>
                  <a:rPr lang="en-IN" dirty="0">
                    <a:effectLst/>
                  </a:rPr>
                  <a:t>is: </a:t>
                </a:r>
                <a14:m>
                  <m:oMath xmlns:m="http://schemas.openxmlformats.org/officeDocument/2006/math">
                    <m:r>
                      <m:rPr>
                        <m:nor/>
                      </m:rPr>
                      <a:rPr lang="en-IN" b="0"/>
                      <m:t>KL</m:t>
                    </m:r>
                    <m:d>
                      <m:dPr>
                        <m:ctrlPr>
                          <a:rPr lang="ar-AE" i="1">
                            <a:latin typeface="Cambria Math" panose="02040503050406030204" pitchFamily="18" charset="0"/>
                          </a:rPr>
                        </m:ctrlPr>
                      </m:dPr>
                      <m:e>
                        <m:r>
                          <a:rPr lang="ar-AE" b="0" i="1">
                            <a:latin typeface="Cambria Math" panose="02040503050406030204" pitchFamily="18" charset="0"/>
                          </a:rPr>
                          <m:t>𝜌</m:t>
                        </m:r>
                        <m:r>
                          <a:rPr lang="ar-AE">
                            <a:latin typeface="Cambria Math" panose="02040503050406030204" pitchFamily="18" charset="0"/>
                          </a:rPr>
                          <m:t>∥</m:t>
                        </m:r>
                        <m:sSub>
                          <m:sSubPr>
                            <m:ctrlPr>
                              <a:rPr lang="ar-AE" i="1">
                                <a:latin typeface="Cambria Math" panose="02040503050406030204" pitchFamily="18" charset="0"/>
                              </a:rPr>
                            </m:ctrlPr>
                          </m:sSubPr>
                          <m:e>
                            <m:acc>
                              <m:accPr>
                                <m:chr m:val="̂"/>
                                <m:ctrlPr>
                                  <a:rPr lang="ar-AE" i="1">
                                    <a:latin typeface="Cambria Math" panose="02040503050406030204" pitchFamily="18" charset="0"/>
                                  </a:rPr>
                                </m:ctrlPr>
                              </m:accPr>
                              <m:e>
                                <m:r>
                                  <a:rPr lang="ar-AE" i="1">
                                    <a:latin typeface="Cambria Math" panose="02040503050406030204" pitchFamily="18" charset="0"/>
                                  </a:rPr>
                                  <m:t>𝜌</m:t>
                                </m:r>
                              </m:e>
                            </m:acc>
                          </m:e>
                          <m:sub>
                            <m:r>
                              <a:rPr lang="ar-AE" i="1">
                                <a:latin typeface="Cambria Math" panose="02040503050406030204" pitchFamily="18" charset="0"/>
                              </a:rPr>
                              <m:t>𝑗</m:t>
                            </m:r>
                          </m:sub>
                        </m:sSub>
                      </m:e>
                    </m:d>
                    <m:r>
                      <a:rPr lang="ar-AE">
                        <a:latin typeface="Cambria Math" panose="02040503050406030204" pitchFamily="18" charset="0"/>
                      </a:rPr>
                      <m:t>=</m:t>
                    </m:r>
                    <m:r>
                      <a:rPr lang="ar-AE" i="1">
                        <a:latin typeface="Cambria Math" panose="02040503050406030204" pitchFamily="18" charset="0"/>
                      </a:rPr>
                      <m:t>𝜌</m:t>
                    </m:r>
                    <m:func>
                      <m:funcPr>
                        <m:ctrlPr>
                          <a:rPr lang="ar-AE" i="1">
                            <a:latin typeface="Cambria Math" panose="02040503050406030204" pitchFamily="18" charset="0"/>
                          </a:rPr>
                        </m:ctrlPr>
                      </m:funcPr>
                      <m:fName>
                        <m:r>
                          <m:rPr>
                            <m:sty m:val="p"/>
                          </m:rPr>
                          <a:rPr lang="en-IN">
                            <a:latin typeface="Cambria Math" panose="02040503050406030204" pitchFamily="18" charset="0"/>
                          </a:rPr>
                          <m:t>log</m:t>
                        </m:r>
                      </m:fName>
                      <m:e>
                        <m:f>
                          <m:fPr>
                            <m:ctrlPr>
                              <a:rPr lang="ar-AE" i="1">
                                <a:latin typeface="Cambria Math" panose="02040503050406030204" pitchFamily="18" charset="0"/>
                              </a:rPr>
                            </m:ctrlPr>
                          </m:fPr>
                          <m:num>
                            <m:r>
                              <a:rPr lang="ar-AE" i="1">
                                <a:latin typeface="Cambria Math" panose="02040503050406030204" pitchFamily="18" charset="0"/>
                              </a:rPr>
                              <m:t>𝜌</m:t>
                            </m:r>
                          </m:num>
                          <m:den>
                            <m:sSub>
                              <m:sSubPr>
                                <m:ctrlPr>
                                  <a:rPr lang="ar-AE" i="1">
                                    <a:latin typeface="Cambria Math" panose="02040503050406030204" pitchFamily="18" charset="0"/>
                                  </a:rPr>
                                </m:ctrlPr>
                              </m:sSubPr>
                              <m:e>
                                <m:acc>
                                  <m:accPr>
                                    <m:chr m:val="̂"/>
                                    <m:ctrlPr>
                                      <a:rPr lang="ar-AE" i="1">
                                        <a:latin typeface="Cambria Math" panose="02040503050406030204" pitchFamily="18" charset="0"/>
                                      </a:rPr>
                                    </m:ctrlPr>
                                  </m:accPr>
                                  <m:e>
                                    <m:r>
                                      <a:rPr lang="ar-AE" i="1">
                                        <a:latin typeface="Cambria Math" panose="02040503050406030204" pitchFamily="18" charset="0"/>
                                      </a:rPr>
                                      <m:t>𝜌</m:t>
                                    </m:r>
                                  </m:e>
                                </m:acc>
                              </m:e>
                              <m:sub>
                                <m:r>
                                  <a:rPr lang="ar-AE" i="1">
                                    <a:latin typeface="Cambria Math" panose="02040503050406030204" pitchFamily="18" charset="0"/>
                                  </a:rPr>
                                  <m:t>𝑗</m:t>
                                </m:r>
                              </m:sub>
                            </m:sSub>
                          </m:den>
                        </m:f>
                      </m:e>
                    </m:func>
                    <m:r>
                      <a:rPr lang="ar-AE">
                        <a:latin typeface="Cambria Math" panose="02040503050406030204" pitchFamily="18" charset="0"/>
                      </a:rPr>
                      <m:t>+</m:t>
                    </m:r>
                    <m:d>
                      <m:dPr>
                        <m:ctrlPr>
                          <a:rPr lang="ar-AE" i="1">
                            <a:latin typeface="Cambria Math" panose="02040503050406030204" pitchFamily="18" charset="0"/>
                          </a:rPr>
                        </m:ctrlPr>
                      </m:dPr>
                      <m:e>
                        <m:r>
                          <a:rPr lang="ar-AE">
                            <a:latin typeface="Cambria Math" panose="02040503050406030204" pitchFamily="18" charset="0"/>
                          </a:rPr>
                          <m:t>1</m:t>
                        </m:r>
                        <m:r>
                          <a:rPr lang="ar-AE">
                            <a:latin typeface="Cambria Math" panose="02040503050406030204" pitchFamily="18" charset="0"/>
                          </a:rPr>
                          <m:t>−</m:t>
                        </m:r>
                        <m:r>
                          <a:rPr lang="ar-AE" i="1">
                            <a:latin typeface="Cambria Math" panose="02040503050406030204" pitchFamily="18" charset="0"/>
                          </a:rPr>
                          <m:t>𝜌</m:t>
                        </m:r>
                      </m:e>
                    </m:d>
                    <m:func>
                      <m:funcPr>
                        <m:ctrlPr>
                          <a:rPr lang="ar-AE" i="1">
                            <a:latin typeface="Cambria Math" panose="02040503050406030204" pitchFamily="18" charset="0"/>
                          </a:rPr>
                        </m:ctrlPr>
                      </m:funcPr>
                      <m:fName>
                        <m:r>
                          <m:rPr>
                            <m:sty m:val="p"/>
                          </m:rPr>
                          <a:rPr lang="en-IN">
                            <a:latin typeface="Cambria Math" panose="02040503050406030204" pitchFamily="18" charset="0"/>
                          </a:rPr>
                          <m:t>log</m:t>
                        </m:r>
                      </m:fName>
                      <m:e>
                        <m:f>
                          <m:fPr>
                            <m:ctrlPr>
                              <a:rPr lang="ar-AE" i="1">
                                <a:latin typeface="Cambria Math" panose="02040503050406030204" pitchFamily="18" charset="0"/>
                              </a:rPr>
                            </m:ctrlPr>
                          </m:fPr>
                          <m:num>
                            <m:r>
                              <a:rPr lang="ar-AE">
                                <a:latin typeface="Cambria Math" panose="02040503050406030204" pitchFamily="18" charset="0"/>
                              </a:rPr>
                              <m:t>1</m:t>
                            </m:r>
                            <m:r>
                              <a:rPr lang="ar-AE">
                                <a:latin typeface="Cambria Math" panose="02040503050406030204" pitchFamily="18" charset="0"/>
                              </a:rPr>
                              <m:t>−</m:t>
                            </m:r>
                            <m:r>
                              <a:rPr lang="ar-AE" i="1">
                                <a:latin typeface="Cambria Math" panose="02040503050406030204" pitchFamily="18" charset="0"/>
                              </a:rPr>
                              <m:t>𝜌</m:t>
                            </m:r>
                          </m:num>
                          <m:den>
                            <m:r>
                              <a:rPr lang="ar-AE">
                                <a:latin typeface="Cambria Math" panose="02040503050406030204" pitchFamily="18" charset="0"/>
                              </a:rPr>
                              <m:t>1</m:t>
                            </m:r>
                            <m:r>
                              <a:rPr lang="ar-AE">
                                <a:latin typeface="Cambria Math" panose="02040503050406030204" pitchFamily="18" charset="0"/>
                              </a:rPr>
                              <m:t>−</m:t>
                            </m:r>
                            <m:sSub>
                              <m:sSubPr>
                                <m:ctrlPr>
                                  <a:rPr lang="ar-AE" i="1">
                                    <a:latin typeface="Cambria Math" panose="02040503050406030204" pitchFamily="18" charset="0"/>
                                  </a:rPr>
                                </m:ctrlPr>
                              </m:sSubPr>
                              <m:e>
                                <m:acc>
                                  <m:accPr>
                                    <m:chr m:val="̂"/>
                                    <m:ctrlPr>
                                      <a:rPr lang="ar-AE" i="1">
                                        <a:latin typeface="Cambria Math" panose="02040503050406030204" pitchFamily="18" charset="0"/>
                                      </a:rPr>
                                    </m:ctrlPr>
                                  </m:accPr>
                                  <m:e>
                                    <m:r>
                                      <a:rPr lang="ar-AE" i="1">
                                        <a:latin typeface="Cambria Math" panose="02040503050406030204" pitchFamily="18" charset="0"/>
                                      </a:rPr>
                                      <m:t>𝜌</m:t>
                                    </m:r>
                                  </m:e>
                                </m:acc>
                              </m:e>
                              <m:sub>
                                <m:r>
                                  <a:rPr lang="ar-AE" i="1">
                                    <a:latin typeface="Cambria Math" panose="02040503050406030204" pitchFamily="18" charset="0"/>
                                  </a:rPr>
                                  <m:t>𝑗</m:t>
                                </m:r>
                              </m:sub>
                            </m:sSub>
                          </m:den>
                        </m:f>
                      </m:e>
                    </m:func>
                  </m:oMath>
                </a14:m>
                <a:endParaRPr lang="ar-AE" dirty="0">
                  <a:effectLst/>
                </a:endParaRPr>
              </a:p>
              <a:p>
                <a:r>
                  <a:rPr lang="en-IN" b="1" dirty="0">
                    <a:effectLst/>
                  </a:rPr>
                  <a:t>Total sparsity loss: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𝐿</m:t>
                        </m:r>
                      </m:e>
                      <m:sub>
                        <m:r>
                          <m:rPr>
                            <m:nor/>
                          </m:rPr>
                          <a:rPr lang="en-IN" i="1"/>
                          <m:t>sparsity</m:t>
                        </m:r>
                      </m:sub>
                    </m:sSub>
                    <m:r>
                      <a:rPr lang="ar-AE">
                        <a:latin typeface="Cambria Math" panose="02040503050406030204" pitchFamily="18" charset="0"/>
                      </a:rPr>
                      <m:t>=</m:t>
                    </m:r>
                    <m:nary>
                      <m:naryPr>
                        <m:chr m:val="∑"/>
                        <m:limLoc m:val="subSup"/>
                        <m:grow m:val="on"/>
                        <m:ctrlPr>
                          <a:rPr lang="ar-AE" i="1">
                            <a:latin typeface="Cambria Math" panose="02040503050406030204" pitchFamily="18" charset="0"/>
                          </a:rPr>
                        </m:ctrlPr>
                      </m:naryPr>
                      <m:sub>
                        <m:r>
                          <a:rPr lang="ar-AE" i="1">
                            <a:latin typeface="Cambria Math" panose="02040503050406030204" pitchFamily="18" charset="0"/>
                          </a:rPr>
                          <m:t>𝑗</m:t>
                        </m:r>
                        <m:r>
                          <a:rPr lang="ar-AE">
                            <a:latin typeface="Cambria Math" panose="02040503050406030204" pitchFamily="18" charset="0"/>
                          </a:rPr>
                          <m:t>=</m:t>
                        </m:r>
                        <m:r>
                          <a:rPr lang="ar-AE">
                            <a:latin typeface="Cambria Math" panose="02040503050406030204" pitchFamily="18" charset="0"/>
                          </a:rPr>
                          <m:t>1</m:t>
                        </m:r>
                      </m:sub>
                      <m:sup>
                        <m:r>
                          <a:rPr lang="ar-AE" i="1">
                            <a:latin typeface="Cambria Math" panose="02040503050406030204" pitchFamily="18" charset="0"/>
                          </a:rPr>
                          <m:t>𝑚</m:t>
                        </m:r>
                      </m:sup>
                      <m:e>
                        <m:r>
                          <m:rPr>
                            <m:nor/>
                          </m:rPr>
                          <a:rPr lang="en-IN" i="1"/>
                          <m:t>KL</m:t>
                        </m:r>
                      </m:e>
                    </m:nary>
                    <m:d>
                      <m:dPr>
                        <m:ctrlPr>
                          <a:rPr lang="ar-AE" i="1">
                            <a:latin typeface="Cambria Math" panose="02040503050406030204" pitchFamily="18" charset="0"/>
                          </a:rPr>
                        </m:ctrlPr>
                      </m:dPr>
                      <m:e>
                        <m:r>
                          <a:rPr lang="ar-AE" i="1">
                            <a:latin typeface="Cambria Math" panose="02040503050406030204" pitchFamily="18" charset="0"/>
                          </a:rPr>
                          <m:t>𝜌</m:t>
                        </m:r>
                        <m:r>
                          <a:rPr lang="ar-AE">
                            <a:latin typeface="Cambria Math" panose="02040503050406030204" pitchFamily="18" charset="0"/>
                          </a:rPr>
                          <m:t>∥</m:t>
                        </m:r>
                        <m:sSub>
                          <m:sSubPr>
                            <m:ctrlPr>
                              <a:rPr lang="ar-AE" i="1">
                                <a:latin typeface="Cambria Math" panose="02040503050406030204" pitchFamily="18" charset="0"/>
                              </a:rPr>
                            </m:ctrlPr>
                          </m:sSubPr>
                          <m:e>
                            <m:acc>
                              <m:accPr>
                                <m:chr m:val="̂"/>
                                <m:ctrlPr>
                                  <a:rPr lang="ar-AE" i="1">
                                    <a:latin typeface="Cambria Math" panose="02040503050406030204" pitchFamily="18" charset="0"/>
                                  </a:rPr>
                                </m:ctrlPr>
                              </m:accPr>
                              <m:e>
                                <m:r>
                                  <a:rPr lang="ar-AE" i="1">
                                    <a:latin typeface="Cambria Math" panose="02040503050406030204" pitchFamily="18" charset="0"/>
                                  </a:rPr>
                                  <m:t>𝜌</m:t>
                                </m:r>
                              </m:e>
                            </m:acc>
                          </m:e>
                          <m:sub>
                            <m:r>
                              <a:rPr lang="ar-AE" i="1">
                                <a:latin typeface="Cambria Math" panose="02040503050406030204" pitchFamily="18" charset="0"/>
                              </a:rPr>
                              <m:t>𝑗</m:t>
                            </m:r>
                          </m:sub>
                        </m:sSub>
                      </m:e>
                    </m:d>
                  </m:oMath>
                </a14:m>
                <a:endParaRPr lang="ar-AE" dirty="0">
                  <a:effectLst/>
                </a:endParaRPr>
              </a:p>
              <a:p>
                <a:r>
                  <a:rPr lang="en-IN" dirty="0">
                    <a:effectLst/>
                  </a:rPr>
                  <a:t>During training (e.g., via gradient descent), the network learns weights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𝑊</m:t>
                        </m:r>
                      </m:e>
                      <m:sub>
                        <m:r>
                          <a:rPr lang="ar-AE">
                            <a:latin typeface="Cambria Math" panose="02040503050406030204" pitchFamily="18" charset="0"/>
                          </a:rPr>
                          <m:t>1</m:t>
                        </m:r>
                      </m:sub>
                    </m:sSub>
                    <m:r>
                      <a:rPr lang="ar-AE">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𝑊</m:t>
                        </m:r>
                      </m:e>
                      <m:sub>
                        <m:r>
                          <a:rPr lang="ar-AE">
                            <a:latin typeface="Cambria Math" panose="02040503050406030204" pitchFamily="18" charset="0"/>
                          </a:rPr>
                          <m:t>2</m:t>
                        </m:r>
                      </m:sub>
                    </m:sSub>
                    <m:r>
                      <a:rPr lang="ar-AE">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𝑏</m:t>
                        </m:r>
                      </m:e>
                      <m:sub>
                        <m:r>
                          <a:rPr lang="ar-AE">
                            <a:latin typeface="Cambria Math" panose="02040503050406030204" pitchFamily="18" charset="0"/>
                          </a:rPr>
                          <m:t>1</m:t>
                        </m:r>
                      </m:sub>
                    </m:sSub>
                    <m:r>
                      <a:rPr lang="ar-AE">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𝑏</m:t>
                        </m:r>
                      </m:e>
                      <m:sub>
                        <m:r>
                          <a:rPr lang="ar-AE">
                            <a:latin typeface="Cambria Math" panose="02040503050406030204" pitchFamily="18" charset="0"/>
                          </a:rPr>
                          <m:t>2</m:t>
                        </m:r>
                      </m:sub>
                    </m:sSub>
                  </m:oMath>
                </a14:m>
                <a:r>
                  <a:rPr lang="en-IN" dirty="0">
                    <a:effectLst/>
                  </a:rPr>
                  <a:t>to minimize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𝐿</m:t>
                        </m:r>
                      </m:e>
                      <m:sub>
                        <m:r>
                          <m:rPr>
                            <m:nor/>
                          </m:rPr>
                          <a:rPr lang="en-IN" i="1"/>
                          <m:t>total</m:t>
                        </m:r>
                      </m:sub>
                    </m:sSub>
                  </m:oMath>
                </a14:m>
                <a:endParaRPr lang="ar-AE" dirty="0">
                  <a:effectLst/>
                </a:endParaRPr>
              </a:p>
              <a:p>
                <a:endParaRPr lang="en-IN" dirty="0"/>
              </a:p>
            </p:txBody>
          </p:sp>
        </mc:Choice>
        <mc:Fallback xmlns="">
          <p:sp>
            <p:nvSpPr>
              <p:cNvPr id="3" name="Content Placeholder 2">
                <a:extLst>
                  <a:ext uri="{FF2B5EF4-FFF2-40B4-BE49-F238E27FC236}">
                    <a16:creationId xmlns:a16="http://schemas.microsoft.com/office/drawing/2014/main" id="{AE2A1464-B96A-4CEB-2CF7-534EE352AA8E}"/>
                  </a:ext>
                </a:extLst>
              </p:cNvPr>
              <p:cNvSpPr>
                <a:spLocks noGrp="1" noRot="1" noChangeAspect="1" noMove="1" noResize="1" noEditPoints="1" noAdjustHandles="1" noChangeArrowheads="1" noChangeShapeType="1" noTextEdit="1"/>
              </p:cNvSpPr>
              <p:nvPr>
                <p:ph idx="1"/>
              </p:nvPr>
            </p:nvSpPr>
            <p:spPr>
              <a:xfrm>
                <a:off x="812800" y="1391920"/>
                <a:ext cx="11043920" cy="4785360"/>
              </a:xfrm>
              <a:blipFill>
                <a:blip r:embed="rId2"/>
                <a:stretch>
                  <a:fillRect l="-1325" t="-1783" r="-386" b="-4586"/>
                </a:stretch>
              </a:blipFill>
            </p:spPr>
            <p:txBody>
              <a:bodyPr/>
              <a:lstStyle/>
              <a:p>
                <a:r>
                  <a:rPr lang="en-IN">
                    <a:noFill/>
                  </a:rPr>
                  <a:t> </a:t>
                </a:r>
              </a:p>
            </p:txBody>
          </p:sp>
        </mc:Fallback>
      </mc:AlternateContent>
    </p:spTree>
    <p:extLst>
      <p:ext uri="{BB962C8B-B14F-4D97-AF65-F5344CB8AC3E}">
        <p14:creationId xmlns:p14="http://schemas.microsoft.com/office/powerpoint/2010/main" val="5700429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495D13-DF60-81BB-3449-EDAADFB73B58}"/>
              </a:ext>
            </a:extLst>
          </p:cNvPr>
          <p:cNvSpPr>
            <a:spLocks noGrp="1"/>
          </p:cNvSpPr>
          <p:nvPr>
            <p:ph type="title"/>
          </p:nvPr>
        </p:nvSpPr>
        <p:spPr/>
        <p:txBody>
          <a:bodyPr>
            <a:normAutofit fontScale="90000"/>
          </a:bodyPr>
          <a:lstStyle/>
          <a:p>
            <a:endParaRPr lang="en-IN"/>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0AF69C3-2DFA-8BF1-0679-C71DA334B484}"/>
                  </a:ext>
                </a:extLst>
              </p:cNvPr>
              <p:cNvSpPr>
                <a:spLocks noGrp="1"/>
              </p:cNvSpPr>
              <p:nvPr>
                <p:ph idx="1"/>
              </p:nvPr>
            </p:nvSpPr>
            <p:spPr>
              <a:xfrm>
                <a:off x="1168717" y="1605280"/>
                <a:ext cx="10058400" cy="4520990"/>
              </a:xfrm>
            </p:spPr>
            <p:txBody>
              <a:bodyPr/>
              <a:lstStyle/>
              <a:p>
                <a:r>
                  <a:rPr lang="en-IN" dirty="0"/>
                  <a:t>Let's walk through a simple numerical example with a tiny dataset to illustrate. Suppose we have:</a:t>
                </a:r>
              </a:p>
              <a:p>
                <a:r>
                  <a:rPr lang="en-IN" dirty="0"/>
                  <a:t>Input dimension </a:t>
                </a:r>
                <a14:m>
                  <m:oMath xmlns:m="http://schemas.openxmlformats.org/officeDocument/2006/math">
                    <m:r>
                      <a:rPr lang="en-IN" i="1">
                        <a:latin typeface="Cambria Math" panose="02040503050406030204" pitchFamily="18" charset="0"/>
                      </a:rPr>
                      <m:t>𝑑</m:t>
                    </m:r>
                    <m:r>
                      <a:rPr lang="en-IN">
                        <a:latin typeface="Cambria Math" panose="02040503050406030204" pitchFamily="18" charset="0"/>
                      </a:rPr>
                      <m:t>=</m:t>
                    </m:r>
                    <m:r>
                      <a:rPr lang="en-IN">
                        <a:latin typeface="Cambria Math" panose="02040503050406030204" pitchFamily="18" charset="0"/>
                      </a:rPr>
                      <m:t>3</m:t>
                    </m:r>
                  </m:oMath>
                </a14:m>
                <a:endParaRPr lang="en-IN" dirty="0"/>
              </a:p>
              <a:p>
                <a:r>
                  <a:rPr lang="en-IN" dirty="0"/>
                  <a:t>Hidden dimension </a:t>
                </a:r>
                <a14:m>
                  <m:oMath xmlns:m="http://schemas.openxmlformats.org/officeDocument/2006/math">
                    <m:r>
                      <a:rPr lang="en-IN" i="1">
                        <a:latin typeface="Cambria Math" panose="02040503050406030204" pitchFamily="18" charset="0"/>
                      </a:rPr>
                      <m:t>𝑚</m:t>
                    </m:r>
                    <m:r>
                      <a:rPr lang="en-IN">
                        <a:latin typeface="Cambria Math" panose="02040503050406030204" pitchFamily="18" charset="0"/>
                      </a:rPr>
                      <m:t>=</m:t>
                    </m:r>
                    <m:r>
                      <a:rPr lang="en-IN">
                        <a:latin typeface="Cambria Math" panose="02040503050406030204" pitchFamily="18" charset="0"/>
                      </a:rPr>
                      <m:t>2</m:t>
                    </m:r>
                  </m:oMath>
                </a14:m>
                <a:endParaRPr lang="en-IN" dirty="0"/>
              </a:p>
              <a:p>
                <a:r>
                  <a:rPr lang="en-IN" dirty="0"/>
                  <a:t>Target sparsity </a:t>
                </a:r>
                <a14:m>
                  <m:oMath xmlns:m="http://schemas.openxmlformats.org/officeDocument/2006/math">
                    <m:r>
                      <a:rPr lang="en-IN" i="1">
                        <a:latin typeface="Cambria Math" panose="02040503050406030204" pitchFamily="18" charset="0"/>
                      </a:rPr>
                      <m:t>𝜌</m:t>
                    </m:r>
                    <m:r>
                      <a:rPr lang="en-IN">
                        <a:latin typeface="Cambria Math" panose="02040503050406030204" pitchFamily="18" charset="0"/>
                      </a:rPr>
                      <m:t>=</m:t>
                    </m:r>
                    <m:r>
                      <a:rPr lang="en-IN">
                        <a:latin typeface="Cambria Math" panose="02040503050406030204" pitchFamily="18" charset="0"/>
                      </a:rPr>
                      <m:t>0</m:t>
                    </m:r>
                    <m:r>
                      <a:rPr lang="en-IN">
                        <a:latin typeface="Cambria Math" panose="02040503050406030204" pitchFamily="18" charset="0"/>
                      </a:rPr>
                      <m:t>.</m:t>
                    </m:r>
                    <m:r>
                      <a:rPr lang="en-IN">
                        <a:latin typeface="Cambria Math" panose="02040503050406030204" pitchFamily="18" charset="0"/>
                      </a:rPr>
                      <m:t>05</m:t>
                    </m:r>
                  </m:oMath>
                </a14:m>
                <a:endParaRPr lang="en-IN" dirty="0"/>
              </a:p>
              <a:p>
                <a:r>
                  <a:rPr lang="en-IN" dirty="0"/>
                  <a:t>Sparsity weight </a:t>
                </a:r>
                <a14:m>
                  <m:oMath xmlns:m="http://schemas.openxmlformats.org/officeDocument/2006/math">
                    <m:r>
                      <a:rPr lang="en-IN" i="1">
                        <a:latin typeface="Cambria Math" panose="02040503050406030204" pitchFamily="18" charset="0"/>
                      </a:rPr>
                      <m:t>𝛽</m:t>
                    </m:r>
                    <m:r>
                      <a:rPr lang="en-IN">
                        <a:latin typeface="Cambria Math" panose="02040503050406030204" pitchFamily="18" charset="0"/>
                      </a:rPr>
                      <m:t>=</m:t>
                    </m:r>
                    <m:r>
                      <a:rPr lang="en-IN">
                        <a:latin typeface="Cambria Math" panose="02040503050406030204" pitchFamily="18" charset="0"/>
                      </a:rPr>
                      <m:t>1</m:t>
                    </m:r>
                  </m:oMath>
                </a14:m>
                <a:endParaRPr lang="en-IN" dirty="0"/>
              </a:p>
              <a:p>
                <a:r>
                  <a:rPr lang="en-IN" dirty="0"/>
                  <a:t>Activation: Sigmoid </a:t>
                </a:r>
                <a14:m>
                  <m:oMath xmlns:m="http://schemas.openxmlformats.org/officeDocument/2006/math">
                    <m:r>
                      <a:rPr lang="en-IN" i="1">
                        <a:latin typeface="Cambria Math" panose="02040503050406030204" pitchFamily="18" charset="0"/>
                      </a:rPr>
                      <m:t>𝑓</m:t>
                    </m:r>
                    <m:d>
                      <m:dPr>
                        <m:ctrlPr>
                          <a:rPr lang="ar-AE" i="1">
                            <a:latin typeface="Cambria Math" panose="02040503050406030204" pitchFamily="18" charset="0"/>
                          </a:rPr>
                        </m:ctrlPr>
                      </m:dPr>
                      <m:e>
                        <m:r>
                          <a:rPr lang="ar-AE" i="1">
                            <a:latin typeface="Cambria Math" panose="02040503050406030204" pitchFamily="18" charset="0"/>
                          </a:rPr>
                          <m:t>𝑧</m:t>
                        </m:r>
                      </m:e>
                    </m:d>
                    <m:r>
                      <a:rPr lang="ar-AE">
                        <a:latin typeface="Cambria Math" panose="02040503050406030204" pitchFamily="18" charset="0"/>
                      </a:rPr>
                      <m:t>=</m:t>
                    </m:r>
                    <m:f>
                      <m:fPr>
                        <m:ctrlPr>
                          <a:rPr lang="ar-AE" i="1">
                            <a:latin typeface="Cambria Math" panose="02040503050406030204" pitchFamily="18" charset="0"/>
                          </a:rPr>
                        </m:ctrlPr>
                      </m:fPr>
                      <m:num>
                        <m:r>
                          <a:rPr lang="ar-AE">
                            <a:latin typeface="Cambria Math" panose="02040503050406030204" pitchFamily="18" charset="0"/>
                          </a:rPr>
                          <m:t>1</m:t>
                        </m:r>
                      </m:num>
                      <m:den>
                        <m:r>
                          <a:rPr lang="ar-AE">
                            <a:latin typeface="Cambria Math" panose="02040503050406030204" pitchFamily="18" charset="0"/>
                          </a:rPr>
                          <m:t>1</m:t>
                        </m:r>
                        <m:r>
                          <a:rPr lang="ar-AE">
                            <a:latin typeface="Cambria Math" panose="02040503050406030204" pitchFamily="18" charset="0"/>
                          </a:rPr>
                          <m:t>+</m:t>
                        </m:r>
                        <m:sSup>
                          <m:sSupPr>
                            <m:ctrlPr>
                              <a:rPr lang="ar-AE" i="1">
                                <a:latin typeface="Cambria Math" panose="02040503050406030204" pitchFamily="18" charset="0"/>
                              </a:rPr>
                            </m:ctrlPr>
                          </m:sSupPr>
                          <m:e>
                            <m:r>
                              <a:rPr lang="ar-AE" i="1">
                                <a:latin typeface="Cambria Math" panose="02040503050406030204" pitchFamily="18" charset="0"/>
                              </a:rPr>
                              <m:t>𝑒</m:t>
                            </m:r>
                          </m:e>
                          <m:sup>
                            <m:r>
                              <a:rPr lang="ar-AE">
                                <a:latin typeface="Cambria Math" panose="02040503050406030204" pitchFamily="18" charset="0"/>
                              </a:rPr>
                              <m:t>−</m:t>
                            </m:r>
                            <m:r>
                              <a:rPr lang="ar-AE" i="1">
                                <a:latin typeface="Cambria Math" panose="02040503050406030204" pitchFamily="18" charset="0"/>
                              </a:rPr>
                              <m:t>𝑧</m:t>
                            </m:r>
                          </m:sup>
                        </m:sSup>
                      </m:den>
                    </m:f>
                  </m:oMath>
                </a14:m>
                <a:endParaRPr lang="ar-AE" dirty="0"/>
              </a:p>
              <a:p>
                <a:r>
                  <a:rPr lang="en-IN" dirty="0"/>
                  <a:t>Dataset: Two samples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𝑥</m:t>
                        </m:r>
                      </m:e>
                      <m:sub>
                        <m:r>
                          <a:rPr lang="ar-AE">
                            <a:latin typeface="Cambria Math" panose="02040503050406030204" pitchFamily="18" charset="0"/>
                          </a:rPr>
                          <m:t>1</m:t>
                        </m:r>
                      </m:sub>
                    </m:sSub>
                    <m:r>
                      <a:rPr lang="ar-AE">
                        <a:latin typeface="Cambria Math" panose="02040503050406030204" pitchFamily="18" charset="0"/>
                      </a:rPr>
                      <m:t>=</m:t>
                    </m:r>
                    <m:r>
                      <a:rPr lang="en-US" b="0" i="1" smtClean="0">
                        <a:latin typeface="Cambria Math" panose="02040503050406030204" pitchFamily="18" charset="0"/>
                      </a:rPr>
                      <m:t>[</m:t>
                    </m:r>
                    <m:r>
                      <a:rPr lang="en-US" b="0" i="1" smtClean="0">
                        <a:latin typeface="Cambria Math" panose="02040503050406030204" pitchFamily="18" charset="0"/>
                      </a:rPr>
                      <m:t>1</m:t>
                    </m:r>
                    <m:r>
                      <a:rPr lang="en-US" b="0" i="1" smtClean="0">
                        <a:latin typeface="Cambria Math" panose="02040503050406030204" pitchFamily="18" charset="0"/>
                      </a:rPr>
                      <m:t>,</m:t>
                    </m:r>
                    <m:r>
                      <a:rPr lang="en-US" b="0" i="1" smtClean="0">
                        <a:latin typeface="Cambria Math" panose="02040503050406030204" pitchFamily="18" charset="0"/>
                      </a:rPr>
                      <m:t>0</m:t>
                    </m:r>
                    <m:r>
                      <a:rPr lang="en-US" b="0" i="1" smtClean="0">
                        <a:latin typeface="Cambria Math" panose="02040503050406030204" pitchFamily="18" charset="0"/>
                      </a:rPr>
                      <m:t>,</m:t>
                    </m:r>
                    <m:r>
                      <a:rPr lang="en-US" b="0" i="1" smtClean="0">
                        <a:latin typeface="Cambria Math" panose="02040503050406030204" pitchFamily="18" charset="0"/>
                      </a:rPr>
                      <m:t>0</m:t>
                    </m:r>
                    <m:r>
                      <a:rPr lang="en-US" b="0" i="1" smtClean="0">
                        <a:latin typeface="Cambria Math" panose="02040503050406030204" pitchFamily="18" charset="0"/>
                      </a:rPr>
                      <m:t>]</m:t>
                    </m:r>
                  </m:oMath>
                </a14:m>
                <a:r>
                  <a:rPr lang="ar-AE" dirty="0"/>
                  <a:t>,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𝑥</m:t>
                        </m:r>
                      </m:e>
                      <m:sub>
                        <m:r>
                          <a:rPr lang="ar-AE">
                            <a:latin typeface="Cambria Math" panose="02040503050406030204" pitchFamily="18" charset="0"/>
                          </a:rPr>
                          <m:t>2</m:t>
                        </m:r>
                      </m:sub>
                    </m:sSub>
                    <m:r>
                      <a:rPr lang="en-IN" i="1">
                        <a:latin typeface="Cambria Math" panose="02040503050406030204" pitchFamily="18" charset="0"/>
                      </a:rPr>
                      <m:t>=</m:t>
                    </m:r>
                    <m:sSup>
                      <m:sSupPr>
                        <m:ctrlPr>
                          <a:rPr lang="en-IN" i="1">
                            <a:latin typeface="Cambria Math" panose="02040503050406030204" pitchFamily="18" charset="0"/>
                          </a:rPr>
                        </m:ctrlPr>
                      </m:sSupPr>
                      <m:e>
                        <m:d>
                          <m:dPr>
                            <m:begChr m:val="["/>
                            <m:endChr m:val="]"/>
                            <m:ctrlPr>
                              <a:rPr lang="en-IN" i="1">
                                <a:latin typeface="Cambria Math" panose="02040503050406030204" pitchFamily="18" charset="0"/>
                              </a:rPr>
                            </m:ctrlPr>
                          </m:dPr>
                          <m:e>
                            <m:r>
                              <a:rPr lang="en-IN" i="1">
                                <a:latin typeface="Cambria Math" panose="02040503050406030204" pitchFamily="18" charset="0"/>
                              </a:rPr>
                              <m:t>0</m:t>
                            </m:r>
                            <m:r>
                              <a:rPr lang="en-IN" i="1">
                                <a:latin typeface="Cambria Math" panose="02040503050406030204" pitchFamily="18" charset="0"/>
                              </a:rPr>
                              <m:t>,</m:t>
                            </m:r>
                            <m:r>
                              <a:rPr lang="en-IN" i="1">
                                <a:latin typeface="Cambria Math" panose="02040503050406030204" pitchFamily="18" charset="0"/>
                              </a:rPr>
                              <m:t>1</m:t>
                            </m:r>
                            <m:r>
                              <a:rPr lang="en-IN" i="1">
                                <a:latin typeface="Cambria Math" panose="02040503050406030204" pitchFamily="18" charset="0"/>
                              </a:rPr>
                              <m:t>,</m:t>
                            </m:r>
                            <m:r>
                              <a:rPr lang="en-IN" i="1">
                                <a:latin typeface="Cambria Math" panose="02040503050406030204" pitchFamily="18" charset="0"/>
                              </a:rPr>
                              <m:t>0</m:t>
                            </m:r>
                          </m:e>
                        </m:d>
                      </m:e>
                      <m:sup/>
                    </m:sSup>
                  </m:oMath>
                </a14:m>
                <a:endParaRPr lang="ar-AE" dirty="0"/>
              </a:p>
              <a:p>
                <a:endParaRPr lang="en-IN" dirty="0"/>
              </a:p>
            </p:txBody>
          </p:sp>
        </mc:Choice>
        <mc:Fallback xmlns="">
          <p:sp>
            <p:nvSpPr>
              <p:cNvPr id="3" name="Content Placeholder 2">
                <a:extLst>
                  <a:ext uri="{FF2B5EF4-FFF2-40B4-BE49-F238E27FC236}">
                    <a16:creationId xmlns:a16="http://schemas.microsoft.com/office/drawing/2014/main" id="{90AF69C3-2DFA-8BF1-0679-C71DA334B484}"/>
                  </a:ext>
                </a:extLst>
              </p:cNvPr>
              <p:cNvSpPr>
                <a:spLocks noGrp="1" noRot="1" noChangeAspect="1" noMove="1" noResize="1" noEditPoints="1" noAdjustHandles="1" noChangeArrowheads="1" noChangeShapeType="1" noTextEdit="1"/>
              </p:cNvSpPr>
              <p:nvPr>
                <p:ph idx="1"/>
              </p:nvPr>
            </p:nvSpPr>
            <p:spPr>
              <a:xfrm>
                <a:off x="1168717" y="1605280"/>
                <a:ext cx="10058400" cy="4520990"/>
              </a:xfrm>
              <a:blipFill>
                <a:blip r:embed="rId2"/>
                <a:stretch>
                  <a:fillRect l="-1758" t="-1887" r="-2242"/>
                </a:stretch>
              </a:blipFill>
            </p:spPr>
            <p:txBody>
              <a:bodyPr/>
              <a:lstStyle/>
              <a:p>
                <a:r>
                  <a:rPr lang="en-IN">
                    <a:noFill/>
                  </a:rPr>
                  <a:t> </a:t>
                </a:r>
              </a:p>
            </p:txBody>
          </p:sp>
        </mc:Fallback>
      </mc:AlternateContent>
    </p:spTree>
    <p:extLst>
      <p:ext uri="{BB962C8B-B14F-4D97-AF65-F5344CB8AC3E}">
        <p14:creationId xmlns:p14="http://schemas.microsoft.com/office/powerpoint/2010/main" val="34843862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FC5378-20D0-E9E9-D901-2C9BC3E2F5CF}"/>
              </a:ext>
            </a:extLst>
          </p:cNvPr>
          <p:cNvSpPr>
            <a:spLocks noGrp="1"/>
          </p:cNvSpPr>
          <p:nvPr>
            <p:ph type="title"/>
          </p:nvPr>
        </p:nvSpPr>
        <p:spPr/>
        <p:txBody>
          <a:bodyPr>
            <a:normAutofit fontScale="90000"/>
          </a:bodyPr>
          <a:lstStyle/>
          <a:p>
            <a:endParaRPr lang="en-IN"/>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DFD0CAF-3204-3136-CB3C-2733FD40C5D8}"/>
                  </a:ext>
                </a:extLst>
              </p:cNvPr>
              <p:cNvSpPr>
                <a:spLocks noGrp="1"/>
              </p:cNvSpPr>
              <p:nvPr>
                <p:ph idx="1"/>
              </p:nvPr>
            </p:nvSpPr>
            <p:spPr/>
            <p:txBody>
              <a:bodyPr>
                <a:normAutofit fontScale="92500" lnSpcReduction="20000"/>
              </a:bodyPr>
              <a:lstStyle/>
              <a:p>
                <a:r>
                  <a:rPr lang="en-IN" dirty="0"/>
                  <a:t>We'll assume initial weights (for demonstration; in practice, these are learned):</a:t>
                </a:r>
              </a:p>
              <a:p>
                <a:r>
                  <a:rPr lang="en-IN" b="1" dirty="0"/>
                  <a:t>Encoder weights</a:t>
                </a:r>
              </a:p>
              <a:p>
                <a14:m>
                  <m:oMath xmlns:m="http://schemas.openxmlformats.org/officeDocument/2006/math">
                    <m:r>
                      <a:rPr lang="en-IN" i="1">
                        <a:latin typeface="Cambria Math" panose="02040503050406030204" pitchFamily="18" charset="0"/>
                      </a:rPr>
                      <m:t>𝑊</m:t>
                    </m:r>
                    <m:r>
                      <a:rPr lang="en-IN">
                        <a:latin typeface="Cambria Math" panose="02040503050406030204" pitchFamily="18" charset="0"/>
                      </a:rPr>
                      <m:t>=</m:t>
                    </m:r>
                    <m:d>
                      <m:dPr>
                        <m:begChr m:val="["/>
                        <m:endChr m:val="]"/>
                        <m:ctrlPr>
                          <a:rPr lang="ar-AE" i="1">
                            <a:latin typeface="Cambria Math" panose="02040503050406030204" pitchFamily="18" charset="0"/>
                          </a:rPr>
                        </m:ctrlPr>
                      </m:dPr>
                      <m:e>
                        <m:m>
                          <m:mPr>
                            <m:plcHide m:val="on"/>
                            <m:mcs>
                              <m:mc>
                                <m:mcPr>
                                  <m:count m:val="3"/>
                                  <m:mcJc m:val="center"/>
                                </m:mcPr>
                              </m:mc>
                            </m:mcs>
                            <m:ctrlPr>
                              <a:rPr lang="ar-AE" i="1">
                                <a:latin typeface="Cambria Math" panose="02040503050406030204" pitchFamily="18" charset="0"/>
                              </a:rPr>
                            </m:ctrlPr>
                          </m:mPr>
                          <m:m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2</m:t>
                              </m:r>
                            </m:e>
                            <m:e>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3</m:t>
                              </m:r>
                            </m:e>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4</m:t>
                              </m:r>
                            </m:e>
                          </m:mr>
                          <m:m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1</m:t>
                              </m:r>
                            </m:e>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2</m:t>
                              </m:r>
                            </m:e>
                            <m:e>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5</m:t>
                              </m:r>
                            </m:e>
                          </m:mr>
                        </m:m>
                      </m:e>
                    </m:d>
                  </m:oMath>
                </a14:m>
                <a:endParaRPr lang="ar-AE" dirty="0"/>
              </a:p>
              <a:p>
                <a:r>
                  <a:rPr lang="en-IN" dirty="0"/>
                  <a:t>Bias:</a:t>
                </a:r>
              </a:p>
              <a:p>
                <a14:m>
                  <m:oMath xmlns:m="http://schemas.openxmlformats.org/officeDocument/2006/math">
                    <m:r>
                      <a:rPr lang="en-IN" i="1">
                        <a:latin typeface="Cambria Math" panose="02040503050406030204" pitchFamily="18" charset="0"/>
                      </a:rPr>
                      <m:t>𝑏</m:t>
                    </m:r>
                    <m:r>
                      <a:rPr lang="en-IN">
                        <a:latin typeface="Cambria Math" panose="02040503050406030204" pitchFamily="18" charset="0"/>
                      </a:rPr>
                      <m:t>=</m:t>
                    </m:r>
                    <m:d>
                      <m:dPr>
                        <m:begChr m:val="["/>
                        <m:endChr m:val="]"/>
                        <m:sepChr m:val=","/>
                        <m:ctrlPr>
                          <a:rPr lang="ar-AE" i="1">
                            <a:latin typeface="Cambria Math" panose="02040503050406030204" pitchFamily="18" charset="0"/>
                          </a:rPr>
                        </m:ctrlPr>
                      </m:dPr>
                      <m:e>
                        <m:r>
                          <a:rPr lang="ar-AE">
                            <a:latin typeface="Cambria Math" panose="02040503050406030204" pitchFamily="18" charset="0"/>
                          </a:rPr>
                          <m:t>0</m:t>
                        </m:r>
                      </m:e>
                      <m:e>
                        <m:r>
                          <a:rPr lang="ar-AE">
                            <a:latin typeface="Cambria Math" panose="02040503050406030204" pitchFamily="18" charset="0"/>
                          </a:rPr>
                          <m:t>0</m:t>
                        </m:r>
                      </m:e>
                    </m:d>
                  </m:oMath>
                </a14:m>
                <a:endParaRPr lang="ar-AE" dirty="0"/>
              </a:p>
              <a:p>
                <a:r>
                  <a:rPr lang="en-IN" b="1" dirty="0"/>
                  <a:t>STEP 1: Hidden Activations</a:t>
                </a:r>
              </a:p>
              <a:p>
                <a:r>
                  <a:rPr lang="en-IN" dirty="0"/>
                  <a:t>Hidden layer output:</a:t>
                </a:r>
              </a:p>
              <a:p>
                <a14:m>
                  <m:oMath xmlns:m="http://schemas.openxmlformats.org/officeDocument/2006/math">
                    <m:r>
                      <a:rPr lang="en-IN" i="1">
                        <a:latin typeface="Cambria Math" panose="02040503050406030204" pitchFamily="18" charset="0"/>
                      </a:rPr>
                      <m:t>𝑧</m:t>
                    </m:r>
                    <m:r>
                      <a:rPr lang="en-IN">
                        <a:latin typeface="Cambria Math" panose="02040503050406030204" pitchFamily="18" charset="0"/>
                      </a:rPr>
                      <m:t>=</m:t>
                    </m:r>
                    <m:r>
                      <a:rPr lang="en-IN" i="1">
                        <a:latin typeface="Cambria Math" panose="02040503050406030204" pitchFamily="18" charset="0"/>
                      </a:rPr>
                      <m:t>𝑊𝑥</m:t>
                    </m:r>
                    <m:r>
                      <a:rPr lang="en-IN">
                        <a:latin typeface="Cambria Math" panose="02040503050406030204" pitchFamily="18" charset="0"/>
                      </a:rPr>
                      <m:t>+</m:t>
                    </m:r>
                    <m:r>
                      <a:rPr lang="en-IN" i="1">
                        <a:latin typeface="Cambria Math" panose="02040503050406030204" pitchFamily="18" charset="0"/>
                      </a:rPr>
                      <m:t>𝑏</m:t>
                    </m:r>
                  </m:oMath>
                </a14:m>
                <a:endParaRPr lang="en-IN" dirty="0"/>
              </a:p>
              <a:p>
                <a14:m>
                  <m:oMath xmlns:m="http://schemas.openxmlformats.org/officeDocument/2006/math">
                    <m:r>
                      <a:rPr lang="en-IN" i="1">
                        <a:latin typeface="Cambria Math" panose="02040503050406030204" pitchFamily="18" charset="0"/>
                      </a:rPr>
                      <m:t>h</m:t>
                    </m:r>
                    <m:r>
                      <a:rPr lang="en-IN">
                        <a:latin typeface="Cambria Math" panose="02040503050406030204" pitchFamily="18" charset="0"/>
                      </a:rPr>
                      <m:t>=</m:t>
                    </m:r>
                    <m:r>
                      <a:rPr lang="en-IN" i="1">
                        <a:latin typeface="Cambria Math" panose="02040503050406030204" pitchFamily="18" charset="0"/>
                      </a:rPr>
                      <m:t>𝜎</m:t>
                    </m:r>
                    <m:d>
                      <m:dPr>
                        <m:ctrlPr>
                          <a:rPr lang="ar-AE" i="1">
                            <a:latin typeface="Cambria Math" panose="02040503050406030204" pitchFamily="18" charset="0"/>
                          </a:rPr>
                        </m:ctrlPr>
                      </m:dPr>
                      <m:e>
                        <m:r>
                          <a:rPr lang="ar-AE" i="1">
                            <a:latin typeface="Cambria Math" panose="02040503050406030204" pitchFamily="18" charset="0"/>
                          </a:rPr>
                          <m:t>𝑧</m:t>
                        </m:r>
                      </m:e>
                    </m:d>
                  </m:oMath>
                </a14:m>
                <a:endParaRPr lang="ar-AE" dirty="0"/>
              </a:p>
              <a:p>
                <a:endParaRPr lang="en-IN" dirty="0"/>
              </a:p>
            </p:txBody>
          </p:sp>
        </mc:Choice>
        <mc:Fallback xmlns="">
          <p:sp>
            <p:nvSpPr>
              <p:cNvPr id="3" name="Content Placeholder 2">
                <a:extLst>
                  <a:ext uri="{FF2B5EF4-FFF2-40B4-BE49-F238E27FC236}">
                    <a16:creationId xmlns:a16="http://schemas.microsoft.com/office/drawing/2014/main" id="{1DFD0CAF-3204-3136-CB3C-2733FD40C5D8}"/>
                  </a:ext>
                </a:extLst>
              </p:cNvPr>
              <p:cNvSpPr>
                <a:spLocks noGrp="1" noRot="1" noChangeAspect="1" noMove="1" noResize="1" noEditPoints="1" noAdjustHandles="1" noChangeArrowheads="1" noChangeShapeType="1" noTextEdit="1"/>
              </p:cNvSpPr>
              <p:nvPr>
                <p:ph idx="1"/>
              </p:nvPr>
            </p:nvSpPr>
            <p:spPr>
              <a:blipFill>
                <a:blip r:embed="rId2"/>
                <a:stretch>
                  <a:fillRect l="-1636" t="-3035"/>
                </a:stretch>
              </a:blipFill>
            </p:spPr>
            <p:txBody>
              <a:bodyPr/>
              <a:lstStyle/>
              <a:p>
                <a:r>
                  <a:rPr lang="en-IN">
                    <a:noFill/>
                  </a:rPr>
                  <a:t> </a:t>
                </a:r>
              </a:p>
            </p:txBody>
          </p:sp>
        </mc:Fallback>
      </mc:AlternateContent>
    </p:spTree>
    <p:extLst>
      <p:ext uri="{BB962C8B-B14F-4D97-AF65-F5344CB8AC3E}">
        <p14:creationId xmlns:p14="http://schemas.microsoft.com/office/powerpoint/2010/main" val="3258300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66666B-A00D-5268-3EFA-729D033ED0B6}"/>
              </a:ext>
            </a:extLst>
          </p:cNvPr>
          <p:cNvSpPr>
            <a:spLocks noGrp="1"/>
          </p:cNvSpPr>
          <p:nvPr>
            <p:ph type="title"/>
          </p:nvPr>
        </p:nvSpPr>
        <p:spPr/>
        <p:txBody>
          <a:bodyPr>
            <a:normAutofit fontScale="90000"/>
          </a:bodyPr>
          <a:lstStyle/>
          <a:p>
            <a:endParaRPr lang="en-IN"/>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9957311-FEF7-DC62-1FCC-B742BB166731}"/>
                  </a:ext>
                </a:extLst>
              </p:cNvPr>
              <p:cNvSpPr>
                <a:spLocks noGrp="1"/>
              </p:cNvSpPr>
              <p:nvPr>
                <p:ph idx="1"/>
              </p:nvPr>
            </p:nvSpPr>
            <p:spPr>
              <a:xfrm>
                <a:off x="1025842" y="1300480"/>
                <a:ext cx="10201275" cy="4825790"/>
              </a:xfrm>
            </p:spPr>
            <p:txBody>
              <a:bodyPr>
                <a:normAutofit/>
              </a:bodyPr>
              <a:lstStyle/>
              <a:p>
                <a:r>
                  <a:rPr lang="en-IN" b="1" dirty="0"/>
                  <a:t>For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𝑥</m:t>
                        </m:r>
                      </m:e>
                      <m:sub>
                        <m:r>
                          <a:rPr lang="ar-AE">
                            <a:latin typeface="Cambria Math" panose="02040503050406030204" pitchFamily="18" charset="0"/>
                          </a:rPr>
                          <m:t>1</m:t>
                        </m:r>
                      </m:sub>
                    </m:sSub>
                    <m:r>
                      <a:rPr lang="ar-AE">
                        <a:latin typeface="Cambria Math" panose="02040503050406030204" pitchFamily="18" charset="0"/>
                      </a:rPr>
                      <m:t>=</m:t>
                    </m:r>
                    <m:d>
                      <m:dPr>
                        <m:begChr m:val="["/>
                        <m:endChr m:val="]"/>
                        <m:sepChr m:val=","/>
                        <m:ctrlPr>
                          <a:rPr lang="ar-AE" i="1">
                            <a:latin typeface="Cambria Math" panose="02040503050406030204" pitchFamily="18" charset="0"/>
                          </a:rPr>
                        </m:ctrlPr>
                      </m:dPr>
                      <m:e>
                        <m:r>
                          <a:rPr lang="ar-AE">
                            <a:latin typeface="Cambria Math" panose="02040503050406030204" pitchFamily="18" charset="0"/>
                          </a:rPr>
                          <m:t>1</m:t>
                        </m:r>
                      </m:e>
                      <m:e>
                        <m:r>
                          <a:rPr lang="ar-AE">
                            <a:latin typeface="Cambria Math" panose="02040503050406030204" pitchFamily="18" charset="0"/>
                          </a:rPr>
                          <m:t>0</m:t>
                        </m:r>
                      </m:e>
                      <m:e>
                        <m:r>
                          <a:rPr lang="ar-AE">
                            <a:latin typeface="Cambria Math" panose="02040503050406030204" pitchFamily="18" charset="0"/>
                          </a:rPr>
                          <m:t>0</m:t>
                        </m:r>
                      </m:e>
                    </m:d>
                  </m:oMath>
                </a14:m>
                <a:endParaRPr lang="ar-AE" b="1" dirty="0"/>
              </a:p>
              <a:p>
                <a:r>
                  <a:rPr lang="en-IN" b="1" dirty="0"/>
                  <a:t>neuron 1:</a:t>
                </a:r>
              </a:p>
              <a:p>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𝑧</m:t>
                        </m:r>
                      </m:e>
                      <m:sub>
                        <m:r>
                          <a:rPr lang="ar-AE">
                            <a:latin typeface="Cambria Math" panose="02040503050406030204" pitchFamily="18" charset="0"/>
                          </a:rPr>
                          <m:t>1</m:t>
                        </m:r>
                      </m:sub>
                    </m:sSub>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2</m:t>
                    </m:r>
                    <m:d>
                      <m:dPr>
                        <m:ctrlPr>
                          <a:rPr lang="ar-AE" i="1">
                            <a:latin typeface="Cambria Math" panose="02040503050406030204" pitchFamily="18" charset="0"/>
                          </a:rPr>
                        </m:ctrlPr>
                      </m:dPr>
                      <m:e>
                        <m:r>
                          <a:rPr lang="ar-AE">
                            <a:latin typeface="Cambria Math" panose="02040503050406030204" pitchFamily="18" charset="0"/>
                          </a:rPr>
                          <m:t>1</m:t>
                        </m:r>
                      </m:e>
                    </m:d>
                    <m:r>
                      <a:rPr lang="ar-AE">
                        <a:latin typeface="Cambria Math" panose="02040503050406030204" pitchFamily="18" charset="0"/>
                      </a:rPr>
                      <m:t>+</m:t>
                    </m:r>
                    <m:d>
                      <m:dPr>
                        <m:ctrlPr>
                          <a:rPr lang="ar-AE" i="1">
                            <a:latin typeface="Cambria Math" panose="02040503050406030204" pitchFamily="18" charset="0"/>
                          </a:rPr>
                        </m:ctrlPr>
                      </m:dPr>
                      <m:e>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3</m:t>
                        </m:r>
                      </m:e>
                    </m:d>
                    <m:d>
                      <m:dPr>
                        <m:ctrlPr>
                          <a:rPr lang="ar-AE" i="1">
                            <a:latin typeface="Cambria Math" panose="02040503050406030204" pitchFamily="18" charset="0"/>
                          </a:rPr>
                        </m:ctrlPr>
                      </m:dPr>
                      <m:e>
                        <m:r>
                          <a:rPr lang="ar-AE">
                            <a:latin typeface="Cambria Math" panose="02040503050406030204" pitchFamily="18" charset="0"/>
                          </a:rPr>
                          <m:t>0</m:t>
                        </m:r>
                      </m:e>
                    </m:d>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4</m:t>
                    </m:r>
                    <m:d>
                      <m:dPr>
                        <m:ctrlPr>
                          <a:rPr lang="ar-AE" i="1">
                            <a:latin typeface="Cambria Math" panose="02040503050406030204" pitchFamily="18" charset="0"/>
                          </a:rPr>
                        </m:ctrlPr>
                      </m:dPr>
                      <m:e>
                        <m:r>
                          <a:rPr lang="ar-AE">
                            <a:latin typeface="Cambria Math" panose="02040503050406030204" pitchFamily="18" charset="0"/>
                          </a:rPr>
                          <m:t>0</m:t>
                        </m:r>
                      </m:e>
                    </m:d>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2</m:t>
                    </m:r>
                  </m:oMath>
                </a14:m>
                <a:endParaRPr lang="ar-AE" dirty="0"/>
              </a:p>
              <a:p>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h</m:t>
                        </m:r>
                      </m:e>
                      <m:sub>
                        <m:r>
                          <a:rPr lang="ar-AE">
                            <a:latin typeface="Cambria Math" panose="02040503050406030204" pitchFamily="18" charset="0"/>
                          </a:rPr>
                          <m:t>1</m:t>
                        </m:r>
                      </m:sub>
                    </m:sSub>
                    <m:r>
                      <a:rPr lang="ar-AE">
                        <a:latin typeface="Cambria Math" panose="02040503050406030204" pitchFamily="18" charset="0"/>
                      </a:rPr>
                      <m:t>=</m:t>
                    </m:r>
                    <m:r>
                      <a:rPr lang="ar-AE" i="1">
                        <a:latin typeface="Cambria Math" panose="02040503050406030204" pitchFamily="18" charset="0"/>
                      </a:rPr>
                      <m:t>𝜎</m:t>
                    </m:r>
                    <m:d>
                      <m:dPr>
                        <m:ctrlPr>
                          <a:rPr lang="ar-AE" i="1">
                            <a:latin typeface="Cambria Math" panose="02040503050406030204" pitchFamily="18" charset="0"/>
                          </a:rPr>
                        </m:ctrlPr>
                      </m:dP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2</m:t>
                        </m:r>
                      </m:e>
                    </m:d>
                    <m:r>
                      <a:rPr lang="ar-AE">
                        <a:latin typeface="Cambria Math" panose="02040503050406030204" pitchFamily="18" charset="0"/>
                      </a:rPr>
                      <m:t>=</m:t>
                    </m:r>
                    <m:f>
                      <m:fPr>
                        <m:ctrlPr>
                          <a:rPr lang="ar-AE" i="1">
                            <a:latin typeface="Cambria Math" panose="02040503050406030204" pitchFamily="18" charset="0"/>
                          </a:rPr>
                        </m:ctrlPr>
                      </m:fPr>
                      <m:num>
                        <m:r>
                          <a:rPr lang="ar-AE">
                            <a:latin typeface="Cambria Math" panose="02040503050406030204" pitchFamily="18" charset="0"/>
                          </a:rPr>
                          <m:t>1</m:t>
                        </m:r>
                      </m:num>
                      <m:den>
                        <m:r>
                          <a:rPr lang="ar-AE">
                            <a:latin typeface="Cambria Math" panose="02040503050406030204" pitchFamily="18" charset="0"/>
                          </a:rPr>
                          <m:t>1</m:t>
                        </m:r>
                        <m:r>
                          <a:rPr lang="ar-AE">
                            <a:latin typeface="Cambria Math" panose="02040503050406030204" pitchFamily="18" charset="0"/>
                          </a:rPr>
                          <m:t>+</m:t>
                        </m:r>
                        <m:sSup>
                          <m:sSupPr>
                            <m:ctrlPr>
                              <a:rPr lang="ar-AE" i="1">
                                <a:latin typeface="Cambria Math" panose="02040503050406030204" pitchFamily="18" charset="0"/>
                              </a:rPr>
                            </m:ctrlPr>
                          </m:sSupPr>
                          <m:e>
                            <m:r>
                              <a:rPr lang="ar-AE" i="1">
                                <a:latin typeface="Cambria Math" panose="02040503050406030204" pitchFamily="18" charset="0"/>
                              </a:rPr>
                              <m:t>𝑒</m:t>
                            </m:r>
                          </m:e>
                          <m:sup>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2</m:t>
                            </m:r>
                          </m:sup>
                        </m:sSup>
                      </m:den>
                    </m:f>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5498</m:t>
                    </m:r>
                  </m:oMath>
                </a14:m>
                <a:endParaRPr lang="ar-AE" dirty="0"/>
              </a:p>
              <a:p>
                <a:r>
                  <a:rPr lang="en-IN" b="1" dirty="0"/>
                  <a:t>neuron 2:</a:t>
                </a:r>
              </a:p>
              <a:p>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𝑧</m:t>
                        </m:r>
                      </m:e>
                      <m:sub>
                        <m:r>
                          <a:rPr lang="ar-AE">
                            <a:latin typeface="Cambria Math" panose="02040503050406030204" pitchFamily="18" charset="0"/>
                          </a:rPr>
                          <m:t>2</m:t>
                        </m:r>
                      </m:sub>
                    </m:sSub>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1</m:t>
                    </m:r>
                    <m:d>
                      <m:dPr>
                        <m:ctrlPr>
                          <a:rPr lang="ar-AE" i="1">
                            <a:latin typeface="Cambria Math" panose="02040503050406030204" pitchFamily="18" charset="0"/>
                          </a:rPr>
                        </m:ctrlPr>
                      </m:dPr>
                      <m:e>
                        <m:r>
                          <a:rPr lang="ar-AE">
                            <a:latin typeface="Cambria Math" panose="02040503050406030204" pitchFamily="18" charset="0"/>
                          </a:rPr>
                          <m:t>1</m:t>
                        </m:r>
                      </m:e>
                    </m:d>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2</m:t>
                    </m:r>
                    <m:d>
                      <m:dPr>
                        <m:ctrlPr>
                          <a:rPr lang="ar-AE" i="1">
                            <a:latin typeface="Cambria Math" panose="02040503050406030204" pitchFamily="18" charset="0"/>
                          </a:rPr>
                        </m:ctrlPr>
                      </m:dPr>
                      <m:e>
                        <m:r>
                          <a:rPr lang="ar-AE">
                            <a:latin typeface="Cambria Math" panose="02040503050406030204" pitchFamily="18" charset="0"/>
                          </a:rPr>
                          <m:t>0</m:t>
                        </m:r>
                      </m:e>
                    </m:d>
                    <m:r>
                      <a:rPr lang="ar-AE">
                        <a:latin typeface="Cambria Math" panose="02040503050406030204" pitchFamily="18" charset="0"/>
                      </a:rPr>
                      <m:t>+</m:t>
                    </m:r>
                    <m:d>
                      <m:dPr>
                        <m:ctrlPr>
                          <a:rPr lang="ar-AE" i="1">
                            <a:latin typeface="Cambria Math" panose="02040503050406030204" pitchFamily="18" charset="0"/>
                          </a:rPr>
                        </m:ctrlPr>
                      </m:dPr>
                      <m:e>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5</m:t>
                        </m:r>
                      </m:e>
                    </m:d>
                    <m:d>
                      <m:dPr>
                        <m:ctrlPr>
                          <a:rPr lang="ar-AE" i="1">
                            <a:latin typeface="Cambria Math" panose="02040503050406030204" pitchFamily="18" charset="0"/>
                          </a:rPr>
                        </m:ctrlPr>
                      </m:dPr>
                      <m:e>
                        <m:r>
                          <a:rPr lang="ar-AE">
                            <a:latin typeface="Cambria Math" panose="02040503050406030204" pitchFamily="18" charset="0"/>
                          </a:rPr>
                          <m:t>0</m:t>
                        </m:r>
                      </m:e>
                    </m:d>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1</m:t>
                    </m:r>
                  </m:oMath>
                </a14:m>
                <a:endParaRPr lang="ar-AE" dirty="0"/>
              </a:p>
              <a:p>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h</m:t>
                        </m:r>
                      </m:e>
                      <m:sub>
                        <m:r>
                          <a:rPr lang="ar-AE">
                            <a:latin typeface="Cambria Math" panose="02040503050406030204" pitchFamily="18" charset="0"/>
                          </a:rPr>
                          <m:t>2</m:t>
                        </m:r>
                      </m:sub>
                    </m:sSub>
                    <m:r>
                      <a:rPr lang="ar-AE">
                        <a:latin typeface="Cambria Math" panose="02040503050406030204" pitchFamily="18" charset="0"/>
                      </a:rPr>
                      <m:t>=</m:t>
                    </m:r>
                    <m:r>
                      <a:rPr lang="ar-AE" i="1">
                        <a:latin typeface="Cambria Math" panose="02040503050406030204" pitchFamily="18" charset="0"/>
                      </a:rPr>
                      <m:t>𝜎</m:t>
                    </m:r>
                    <m:d>
                      <m:dPr>
                        <m:ctrlPr>
                          <a:rPr lang="ar-AE" i="1">
                            <a:latin typeface="Cambria Math" panose="02040503050406030204" pitchFamily="18" charset="0"/>
                          </a:rPr>
                        </m:ctrlPr>
                      </m:dP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1</m:t>
                        </m:r>
                      </m:e>
                    </m:d>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5250</m:t>
                    </m:r>
                  </m:oMath>
                </a14:m>
                <a:endParaRPr lang="ar-AE" dirty="0"/>
              </a:p>
              <a:p>
                <a:r>
                  <a:rPr lang="en-IN" dirty="0"/>
                  <a:t> Hidden representation:</a:t>
                </a:r>
              </a:p>
              <a:p>
                <a14:m>
                  <m:oMath xmlns:m="http://schemas.openxmlformats.org/officeDocument/2006/math">
                    <m:r>
                      <a:rPr lang="en-IN" i="1">
                        <a:latin typeface="Cambria Math" panose="02040503050406030204" pitchFamily="18" charset="0"/>
                      </a:rPr>
                      <m:t>h</m:t>
                    </m:r>
                    <m:d>
                      <m:dPr>
                        <m:ctrlPr>
                          <a:rPr lang="ar-AE" i="1">
                            <a:latin typeface="Cambria Math" panose="02040503050406030204" pitchFamily="18" charset="0"/>
                          </a:rPr>
                        </m:ctrlPr>
                      </m:dPr>
                      <m:e>
                        <m:sSub>
                          <m:sSubPr>
                            <m:ctrlPr>
                              <a:rPr lang="ar-AE" i="1">
                                <a:latin typeface="Cambria Math" panose="02040503050406030204" pitchFamily="18" charset="0"/>
                              </a:rPr>
                            </m:ctrlPr>
                          </m:sSubPr>
                          <m:e>
                            <m:r>
                              <a:rPr lang="ar-AE" i="1">
                                <a:latin typeface="Cambria Math" panose="02040503050406030204" pitchFamily="18" charset="0"/>
                              </a:rPr>
                              <m:t>𝑥</m:t>
                            </m:r>
                          </m:e>
                          <m:sub>
                            <m:r>
                              <a:rPr lang="ar-AE">
                                <a:latin typeface="Cambria Math" panose="02040503050406030204" pitchFamily="18" charset="0"/>
                              </a:rPr>
                              <m:t>1</m:t>
                            </m:r>
                          </m:sub>
                        </m:sSub>
                      </m:e>
                    </m:d>
                    <m:r>
                      <a:rPr lang="ar-AE">
                        <a:latin typeface="Cambria Math" panose="02040503050406030204" pitchFamily="18" charset="0"/>
                      </a:rPr>
                      <m:t>=</m:t>
                    </m:r>
                    <m:d>
                      <m:dPr>
                        <m:begChr m:val="["/>
                        <m:endChr m:val="]"/>
                        <m:sepChr m:val=","/>
                        <m:ctrlPr>
                          <a:rPr lang="ar-AE" i="1">
                            <a:latin typeface="Cambria Math" panose="02040503050406030204" pitchFamily="18" charset="0"/>
                          </a:rPr>
                        </m:ctrlPr>
                      </m:dP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5498</m:t>
                        </m:r>
                      </m:e>
                      <m:e>
                        <m:r>
                          <m:rPr>
                            <m:nor/>
                          </m:rPr>
                          <a:rPr lang="ar-AE" i="1"/>
                          <m:t>  </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5250</m:t>
                        </m:r>
                      </m:e>
                    </m:d>
                  </m:oMath>
                </a14:m>
                <a:endParaRPr lang="ar-AE" b="0" dirty="0"/>
              </a:p>
              <a:p>
                <a:endParaRPr lang="en-IN" dirty="0"/>
              </a:p>
            </p:txBody>
          </p:sp>
        </mc:Choice>
        <mc:Fallback xmlns="">
          <p:sp>
            <p:nvSpPr>
              <p:cNvPr id="3" name="Content Placeholder 2">
                <a:extLst>
                  <a:ext uri="{FF2B5EF4-FFF2-40B4-BE49-F238E27FC236}">
                    <a16:creationId xmlns:a16="http://schemas.microsoft.com/office/drawing/2014/main" id="{C9957311-FEF7-DC62-1FCC-B742BB166731}"/>
                  </a:ext>
                </a:extLst>
              </p:cNvPr>
              <p:cNvSpPr>
                <a:spLocks noGrp="1" noRot="1" noChangeAspect="1" noMove="1" noResize="1" noEditPoints="1" noAdjustHandles="1" noChangeArrowheads="1" noChangeShapeType="1" noTextEdit="1"/>
              </p:cNvSpPr>
              <p:nvPr>
                <p:ph idx="1"/>
              </p:nvPr>
            </p:nvSpPr>
            <p:spPr>
              <a:xfrm>
                <a:off x="1025842" y="1300480"/>
                <a:ext cx="10201275" cy="4825790"/>
              </a:xfrm>
              <a:blipFill>
                <a:blip r:embed="rId2"/>
                <a:stretch>
                  <a:fillRect l="-1673" t="-1768" b="-126"/>
                </a:stretch>
              </a:blipFill>
            </p:spPr>
            <p:txBody>
              <a:bodyPr/>
              <a:lstStyle/>
              <a:p>
                <a:r>
                  <a:rPr lang="en-IN">
                    <a:noFill/>
                  </a:rPr>
                  <a:t> </a:t>
                </a:r>
              </a:p>
            </p:txBody>
          </p:sp>
        </mc:Fallback>
      </mc:AlternateContent>
    </p:spTree>
    <p:extLst>
      <p:ext uri="{BB962C8B-B14F-4D97-AF65-F5344CB8AC3E}">
        <p14:creationId xmlns:p14="http://schemas.microsoft.com/office/powerpoint/2010/main" val="13411039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D636B4-0293-DB19-3508-1E963C9C8F61}"/>
              </a:ext>
            </a:extLst>
          </p:cNvPr>
          <p:cNvSpPr>
            <a:spLocks noGrp="1"/>
          </p:cNvSpPr>
          <p:nvPr>
            <p:ph type="title"/>
          </p:nvPr>
        </p:nvSpPr>
        <p:spPr/>
        <p:txBody>
          <a:bodyPr>
            <a:normAutofit fontScale="90000"/>
          </a:bodyPr>
          <a:lstStyle/>
          <a:p>
            <a:endParaRPr lang="en-IN"/>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1AAA967-3EDC-E455-2D61-0C17E8D68729}"/>
                  </a:ext>
                </a:extLst>
              </p:cNvPr>
              <p:cNvSpPr>
                <a:spLocks noGrp="1"/>
              </p:cNvSpPr>
              <p:nvPr>
                <p:ph idx="1"/>
              </p:nvPr>
            </p:nvSpPr>
            <p:spPr>
              <a:xfrm>
                <a:off x="1025842" y="1361440"/>
                <a:ext cx="10201275" cy="4764830"/>
              </a:xfrm>
            </p:spPr>
            <p:txBody>
              <a:bodyPr>
                <a:normAutofit/>
              </a:bodyPr>
              <a:lstStyle/>
              <a:p>
                <a:r>
                  <a:rPr lang="en-IN" b="1" dirty="0"/>
                  <a:t>For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𝑥</m:t>
                        </m:r>
                      </m:e>
                      <m:sub>
                        <m:r>
                          <a:rPr lang="ar-AE">
                            <a:latin typeface="Cambria Math" panose="02040503050406030204" pitchFamily="18" charset="0"/>
                          </a:rPr>
                          <m:t>2</m:t>
                        </m:r>
                      </m:sub>
                    </m:sSub>
                    <m:r>
                      <a:rPr lang="ar-AE">
                        <a:latin typeface="Cambria Math" panose="02040503050406030204" pitchFamily="18" charset="0"/>
                      </a:rPr>
                      <m:t>=</m:t>
                    </m:r>
                    <m:d>
                      <m:dPr>
                        <m:begChr m:val="["/>
                        <m:endChr m:val="]"/>
                        <m:sepChr m:val=","/>
                        <m:ctrlPr>
                          <a:rPr lang="ar-AE" i="1">
                            <a:latin typeface="Cambria Math" panose="02040503050406030204" pitchFamily="18" charset="0"/>
                          </a:rPr>
                        </m:ctrlPr>
                      </m:dPr>
                      <m:e>
                        <m:r>
                          <a:rPr lang="ar-AE">
                            <a:latin typeface="Cambria Math" panose="02040503050406030204" pitchFamily="18" charset="0"/>
                          </a:rPr>
                          <m:t>0</m:t>
                        </m:r>
                      </m:e>
                      <m:e>
                        <m:r>
                          <a:rPr lang="ar-AE">
                            <a:latin typeface="Cambria Math" panose="02040503050406030204" pitchFamily="18" charset="0"/>
                          </a:rPr>
                          <m:t>1</m:t>
                        </m:r>
                      </m:e>
                      <m:e>
                        <m:r>
                          <a:rPr lang="ar-AE">
                            <a:latin typeface="Cambria Math" panose="02040503050406030204" pitchFamily="18" charset="0"/>
                          </a:rPr>
                          <m:t>0</m:t>
                        </m:r>
                      </m:e>
                    </m:d>
                  </m:oMath>
                </a14:m>
                <a:endParaRPr lang="ar-AE" b="1" dirty="0"/>
              </a:p>
              <a:p>
                <a:r>
                  <a:rPr lang="en-IN" b="1" dirty="0"/>
                  <a:t>neuron 1:</a:t>
                </a:r>
              </a:p>
              <a:p>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𝑧</m:t>
                        </m:r>
                      </m:e>
                      <m:sub>
                        <m:r>
                          <a:rPr lang="ar-AE">
                            <a:latin typeface="Cambria Math" panose="02040503050406030204" pitchFamily="18" charset="0"/>
                          </a:rPr>
                          <m:t>1</m:t>
                        </m:r>
                      </m:sub>
                    </m:sSub>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2</m:t>
                    </m:r>
                    <m:d>
                      <m:dPr>
                        <m:ctrlPr>
                          <a:rPr lang="ar-AE" i="1">
                            <a:latin typeface="Cambria Math" panose="02040503050406030204" pitchFamily="18" charset="0"/>
                          </a:rPr>
                        </m:ctrlPr>
                      </m:dPr>
                      <m:e>
                        <m:r>
                          <a:rPr lang="ar-AE">
                            <a:latin typeface="Cambria Math" panose="02040503050406030204" pitchFamily="18" charset="0"/>
                          </a:rPr>
                          <m:t>0</m:t>
                        </m:r>
                      </m:e>
                    </m:d>
                    <m:r>
                      <a:rPr lang="ar-AE">
                        <a:latin typeface="Cambria Math" panose="02040503050406030204" pitchFamily="18" charset="0"/>
                      </a:rPr>
                      <m:t>+</m:t>
                    </m:r>
                    <m:d>
                      <m:dPr>
                        <m:ctrlPr>
                          <a:rPr lang="ar-AE" i="1">
                            <a:latin typeface="Cambria Math" panose="02040503050406030204" pitchFamily="18" charset="0"/>
                          </a:rPr>
                        </m:ctrlPr>
                      </m:dPr>
                      <m:e>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3</m:t>
                        </m:r>
                      </m:e>
                    </m:d>
                    <m:d>
                      <m:dPr>
                        <m:ctrlPr>
                          <a:rPr lang="ar-AE" i="1">
                            <a:latin typeface="Cambria Math" panose="02040503050406030204" pitchFamily="18" charset="0"/>
                          </a:rPr>
                        </m:ctrlPr>
                      </m:dPr>
                      <m:e>
                        <m:r>
                          <a:rPr lang="ar-AE">
                            <a:latin typeface="Cambria Math" panose="02040503050406030204" pitchFamily="18" charset="0"/>
                          </a:rPr>
                          <m:t>1</m:t>
                        </m:r>
                      </m:e>
                    </m:d>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4</m:t>
                    </m:r>
                    <m:d>
                      <m:dPr>
                        <m:ctrlPr>
                          <a:rPr lang="ar-AE" i="1">
                            <a:latin typeface="Cambria Math" panose="02040503050406030204" pitchFamily="18" charset="0"/>
                          </a:rPr>
                        </m:ctrlPr>
                      </m:dPr>
                      <m:e>
                        <m:r>
                          <a:rPr lang="ar-AE">
                            <a:latin typeface="Cambria Math" panose="02040503050406030204" pitchFamily="18" charset="0"/>
                          </a:rPr>
                          <m:t>0</m:t>
                        </m:r>
                      </m:e>
                    </m:d>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3</m:t>
                    </m:r>
                  </m:oMath>
                </a14:m>
                <a:endParaRPr lang="ar-AE" dirty="0"/>
              </a:p>
              <a:p>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h</m:t>
                        </m:r>
                      </m:e>
                      <m:sub>
                        <m:r>
                          <a:rPr lang="ar-AE">
                            <a:latin typeface="Cambria Math" panose="02040503050406030204" pitchFamily="18" charset="0"/>
                          </a:rPr>
                          <m:t>1</m:t>
                        </m:r>
                      </m:sub>
                    </m:sSub>
                    <m:r>
                      <a:rPr lang="ar-AE">
                        <a:latin typeface="Cambria Math" panose="02040503050406030204" pitchFamily="18" charset="0"/>
                      </a:rPr>
                      <m:t>=</m:t>
                    </m:r>
                    <m:r>
                      <a:rPr lang="ar-AE" i="1">
                        <a:latin typeface="Cambria Math" panose="02040503050406030204" pitchFamily="18" charset="0"/>
                      </a:rPr>
                      <m:t>𝜎</m:t>
                    </m:r>
                    <m:d>
                      <m:dPr>
                        <m:ctrlPr>
                          <a:rPr lang="ar-AE" i="1">
                            <a:latin typeface="Cambria Math" panose="02040503050406030204" pitchFamily="18" charset="0"/>
                          </a:rPr>
                        </m:ctrlPr>
                      </m:dPr>
                      <m:e>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3</m:t>
                        </m:r>
                      </m:e>
                    </m:d>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4256</m:t>
                    </m:r>
                  </m:oMath>
                </a14:m>
                <a:endParaRPr lang="ar-AE" dirty="0"/>
              </a:p>
              <a:p>
                <a:r>
                  <a:rPr lang="en-IN" b="1" dirty="0"/>
                  <a:t>neuron 2:</a:t>
                </a:r>
              </a:p>
              <a:p>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𝑧</m:t>
                        </m:r>
                      </m:e>
                      <m:sub>
                        <m:r>
                          <a:rPr lang="ar-AE">
                            <a:latin typeface="Cambria Math" panose="02040503050406030204" pitchFamily="18" charset="0"/>
                          </a:rPr>
                          <m:t>2</m:t>
                        </m:r>
                      </m:sub>
                    </m:sSub>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1</m:t>
                    </m:r>
                    <m:d>
                      <m:dPr>
                        <m:ctrlPr>
                          <a:rPr lang="ar-AE" i="1">
                            <a:latin typeface="Cambria Math" panose="02040503050406030204" pitchFamily="18" charset="0"/>
                          </a:rPr>
                        </m:ctrlPr>
                      </m:dPr>
                      <m:e>
                        <m:r>
                          <a:rPr lang="ar-AE">
                            <a:latin typeface="Cambria Math" panose="02040503050406030204" pitchFamily="18" charset="0"/>
                          </a:rPr>
                          <m:t>0</m:t>
                        </m:r>
                      </m:e>
                    </m:d>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2</m:t>
                    </m:r>
                    <m:d>
                      <m:dPr>
                        <m:ctrlPr>
                          <a:rPr lang="ar-AE" i="1">
                            <a:latin typeface="Cambria Math" panose="02040503050406030204" pitchFamily="18" charset="0"/>
                          </a:rPr>
                        </m:ctrlPr>
                      </m:dPr>
                      <m:e>
                        <m:r>
                          <a:rPr lang="ar-AE">
                            <a:latin typeface="Cambria Math" panose="02040503050406030204" pitchFamily="18" charset="0"/>
                          </a:rPr>
                          <m:t>1</m:t>
                        </m:r>
                      </m:e>
                    </m:d>
                    <m:r>
                      <a:rPr lang="ar-AE">
                        <a:latin typeface="Cambria Math" panose="02040503050406030204" pitchFamily="18" charset="0"/>
                      </a:rPr>
                      <m:t>+</m:t>
                    </m:r>
                    <m:d>
                      <m:dPr>
                        <m:ctrlPr>
                          <a:rPr lang="ar-AE" i="1">
                            <a:latin typeface="Cambria Math" panose="02040503050406030204" pitchFamily="18" charset="0"/>
                          </a:rPr>
                        </m:ctrlPr>
                      </m:dPr>
                      <m:e>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5</m:t>
                        </m:r>
                      </m:e>
                    </m:d>
                    <m:d>
                      <m:dPr>
                        <m:ctrlPr>
                          <a:rPr lang="ar-AE" i="1">
                            <a:latin typeface="Cambria Math" panose="02040503050406030204" pitchFamily="18" charset="0"/>
                          </a:rPr>
                        </m:ctrlPr>
                      </m:dPr>
                      <m:e>
                        <m:r>
                          <a:rPr lang="ar-AE">
                            <a:latin typeface="Cambria Math" panose="02040503050406030204" pitchFamily="18" charset="0"/>
                          </a:rPr>
                          <m:t>0</m:t>
                        </m:r>
                      </m:e>
                    </m:d>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2</m:t>
                    </m:r>
                  </m:oMath>
                </a14:m>
                <a:endParaRPr lang="ar-AE" dirty="0"/>
              </a:p>
              <a:p>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h</m:t>
                        </m:r>
                      </m:e>
                      <m:sub>
                        <m:r>
                          <a:rPr lang="ar-AE">
                            <a:latin typeface="Cambria Math" panose="02040503050406030204" pitchFamily="18" charset="0"/>
                          </a:rPr>
                          <m:t>2</m:t>
                        </m:r>
                      </m:sub>
                    </m:sSub>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5498</m:t>
                    </m:r>
                  </m:oMath>
                </a14:m>
                <a:endParaRPr lang="ar-AE" dirty="0"/>
              </a:p>
              <a:p>
                <a:r>
                  <a:rPr lang="en-IN" dirty="0"/>
                  <a:t> Hidden representation:</a:t>
                </a:r>
              </a:p>
              <a:p>
                <a14:m>
                  <m:oMath xmlns:m="http://schemas.openxmlformats.org/officeDocument/2006/math">
                    <m:r>
                      <a:rPr lang="en-IN" i="1">
                        <a:latin typeface="Cambria Math" panose="02040503050406030204" pitchFamily="18" charset="0"/>
                      </a:rPr>
                      <m:t>h</m:t>
                    </m:r>
                    <m:d>
                      <m:dPr>
                        <m:ctrlPr>
                          <a:rPr lang="ar-AE" i="1">
                            <a:latin typeface="Cambria Math" panose="02040503050406030204" pitchFamily="18" charset="0"/>
                          </a:rPr>
                        </m:ctrlPr>
                      </m:dPr>
                      <m:e>
                        <m:sSub>
                          <m:sSubPr>
                            <m:ctrlPr>
                              <a:rPr lang="ar-AE" i="1">
                                <a:latin typeface="Cambria Math" panose="02040503050406030204" pitchFamily="18" charset="0"/>
                              </a:rPr>
                            </m:ctrlPr>
                          </m:sSubPr>
                          <m:e>
                            <m:r>
                              <a:rPr lang="ar-AE" i="1">
                                <a:latin typeface="Cambria Math" panose="02040503050406030204" pitchFamily="18" charset="0"/>
                              </a:rPr>
                              <m:t>𝑥</m:t>
                            </m:r>
                          </m:e>
                          <m:sub>
                            <m:r>
                              <a:rPr lang="ar-AE">
                                <a:latin typeface="Cambria Math" panose="02040503050406030204" pitchFamily="18" charset="0"/>
                              </a:rPr>
                              <m:t>2</m:t>
                            </m:r>
                          </m:sub>
                        </m:sSub>
                      </m:e>
                    </m:d>
                    <m:r>
                      <a:rPr lang="ar-AE">
                        <a:latin typeface="Cambria Math" panose="02040503050406030204" pitchFamily="18" charset="0"/>
                      </a:rPr>
                      <m:t>=</m:t>
                    </m:r>
                    <m:d>
                      <m:dPr>
                        <m:begChr m:val="["/>
                        <m:endChr m:val="]"/>
                        <m:sepChr m:val=","/>
                        <m:ctrlPr>
                          <a:rPr lang="ar-AE" i="1">
                            <a:latin typeface="Cambria Math" panose="02040503050406030204" pitchFamily="18" charset="0"/>
                          </a:rPr>
                        </m:ctrlPr>
                      </m:dP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4256</m:t>
                        </m:r>
                      </m:e>
                      <m:e>
                        <m:r>
                          <m:rPr>
                            <m:nor/>
                          </m:rPr>
                          <a:rPr lang="ar-AE" i="1"/>
                          <m:t>  </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5498</m:t>
                        </m:r>
                      </m:e>
                    </m:d>
                  </m:oMath>
                </a14:m>
                <a:endParaRPr lang="ar-AE" b="0" dirty="0"/>
              </a:p>
              <a:p>
                <a:endParaRPr lang="en-IN" dirty="0"/>
              </a:p>
            </p:txBody>
          </p:sp>
        </mc:Choice>
        <mc:Fallback xmlns="">
          <p:sp>
            <p:nvSpPr>
              <p:cNvPr id="3" name="Content Placeholder 2">
                <a:extLst>
                  <a:ext uri="{FF2B5EF4-FFF2-40B4-BE49-F238E27FC236}">
                    <a16:creationId xmlns:a16="http://schemas.microsoft.com/office/drawing/2014/main" id="{C1AAA967-3EDC-E455-2D61-0C17E8D68729}"/>
                  </a:ext>
                </a:extLst>
              </p:cNvPr>
              <p:cNvSpPr>
                <a:spLocks noGrp="1" noRot="1" noChangeAspect="1" noMove="1" noResize="1" noEditPoints="1" noAdjustHandles="1" noChangeArrowheads="1" noChangeShapeType="1" noTextEdit="1"/>
              </p:cNvSpPr>
              <p:nvPr>
                <p:ph idx="1"/>
              </p:nvPr>
            </p:nvSpPr>
            <p:spPr>
              <a:xfrm>
                <a:off x="1025842" y="1361440"/>
                <a:ext cx="10201275" cy="4764830"/>
              </a:xfrm>
              <a:blipFill>
                <a:blip r:embed="rId2"/>
                <a:stretch>
                  <a:fillRect l="-1673" t="-1790"/>
                </a:stretch>
              </a:blipFill>
            </p:spPr>
            <p:txBody>
              <a:bodyPr/>
              <a:lstStyle/>
              <a:p>
                <a:r>
                  <a:rPr lang="en-IN">
                    <a:noFill/>
                  </a:rPr>
                  <a:t> </a:t>
                </a:r>
              </a:p>
            </p:txBody>
          </p:sp>
        </mc:Fallback>
      </mc:AlternateContent>
    </p:spTree>
    <p:extLst>
      <p:ext uri="{BB962C8B-B14F-4D97-AF65-F5344CB8AC3E}">
        <p14:creationId xmlns:p14="http://schemas.microsoft.com/office/powerpoint/2010/main" val="25349376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6271A5-E852-FC01-60AB-7421C1AD308E}"/>
              </a:ext>
            </a:extLst>
          </p:cNvPr>
          <p:cNvSpPr>
            <a:spLocks noGrp="1"/>
          </p:cNvSpPr>
          <p:nvPr>
            <p:ph type="title"/>
          </p:nvPr>
        </p:nvSpPr>
        <p:spPr/>
        <p:txBody>
          <a:bodyPr>
            <a:normAutofit fontScale="90000"/>
          </a:bodyPr>
          <a:lstStyle/>
          <a:p>
            <a:endParaRPr lang="en-IN"/>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C1F0A360-4A91-88FD-797D-429581D60ABF}"/>
                  </a:ext>
                </a:extLst>
              </p:cNvPr>
              <p:cNvSpPr>
                <a:spLocks noGrp="1"/>
              </p:cNvSpPr>
              <p:nvPr>
                <p:ph idx="1"/>
              </p:nvPr>
            </p:nvSpPr>
            <p:spPr>
              <a:xfrm>
                <a:off x="904240" y="1483360"/>
                <a:ext cx="10322877" cy="4642910"/>
              </a:xfrm>
            </p:spPr>
            <p:txBody>
              <a:bodyPr>
                <a:normAutofit fontScale="77500" lnSpcReduction="20000"/>
              </a:bodyPr>
              <a:lstStyle/>
              <a:p>
                <a:r>
                  <a:rPr lang="en-IN" dirty="0"/>
                  <a:t>Hidden activations:</a:t>
                </a:r>
              </a:p>
              <a:p>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h</m:t>
                        </m:r>
                      </m:e>
                      <m:sub>
                        <m:r>
                          <a:rPr lang="ar-AE">
                            <a:latin typeface="Cambria Math" panose="02040503050406030204" pitchFamily="18" charset="0"/>
                          </a:rPr>
                          <m:t>1</m:t>
                        </m:r>
                      </m:sub>
                    </m:sSub>
                    <m:r>
                      <a:rPr lang="ar-AE">
                        <a:latin typeface="Cambria Math" panose="02040503050406030204" pitchFamily="18" charset="0"/>
                      </a:rPr>
                      <m:t>=</m:t>
                    </m:r>
                    <m:d>
                      <m:dPr>
                        <m:begChr m:val="["/>
                        <m:endChr m:val="]"/>
                        <m:sepChr m:val=","/>
                        <m:ctrlPr>
                          <a:rPr lang="ar-AE" i="1">
                            <a:latin typeface="Cambria Math" panose="02040503050406030204" pitchFamily="18" charset="0"/>
                          </a:rPr>
                        </m:ctrlPr>
                      </m:dP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5498</m:t>
                        </m:r>
                      </m:e>
                      <m:e>
                        <m:r>
                          <m:rPr>
                            <m:nor/>
                          </m:rPr>
                          <a:rPr lang="ar-AE" i="1"/>
                          <m:t>  </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5250</m:t>
                        </m:r>
                      </m:e>
                    </m:d>
                  </m:oMath>
                </a14:m>
                <a:endParaRPr lang="ar-AE" b="0" dirty="0"/>
              </a:p>
              <a:p>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h</m:t>
                        </m:r>
                      </m:e>
                      <m:sub>
                        <m:r>
                          <a:rPr lang="ar-AE">
                            <a:latin typeface="Cambria Math" panose="02040503050406030204" pitchFamily="18" charset="0"/>
                          </a:rPr>
                          <m:t>2</m:t>
                        </m:r>
                      </m:sub>
                    </m:sSub>
                    <m:r>
                      <a:rPr lang="ar-AE">
                        <a:latin typeface="Cambria Math" panose="02040503050406030204" pitchFamily="18" charset="0"/>
                      </a:rPr>
                      <m:t>=</m:t>
                    </m:r>
                    <m:d>
                      <m:dPr>
                        <m:begChr m:val="["/>
                        <m:endChr m:val="]"/>
                        <m:sepChr m:val=","/>
                        <m:ctrlPr>
                          <a:rPr lang="ar-AE" i="1">
                            <a:latin typeface="Cambria Math" panose="02040503050406030204" pitchFamily="18" charset="0"/>
                          </a:rPr>
                        </m:ctrlPr>
                      </m:dP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4256</m:t>
                        </m:r>
                      </m:e>
                      <m:e>
                        <m:r>
                          <m:rPr>
                            <m:nor/>
                          </m:rPr>
                          <a:rPr lang="ar-AE" i="1"/>
                          <m:t>  </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5498</m:t>
                        </m:r>
                      </m:e>
                    </m:d>
                  </m:oMath>
                </a14:m>
                <a:endParaRPr lang="ar-AE" b="0" dirty="0"/>
              </a:p>
              <a:p>
                <a:br>
                  <a:rPr lang="ar-AE" dirty="0"/>
                </a:br>
                <a:r>
                  <a:rPr lang="en-IN" b="1" dirty="0"/>
                  <a:t> Assume Decoder Weights</a:t>
                </a:r>
              </a:p>
              <a:p>
                <a:r>
                  <a:rPr lang="en-IN" dirty="0"/>
                  <a:t>(Since not given, we must define them to proceed numerically)</a:t>
                </a:r>
              </a:p>
              <a:p>
                <a:r>
                  <a:rPr lang="en-IN" dirty="0"/>
                  <a:t>Let:</a:t>
                </a:r>
              </a:p>
              <a:p>
                <a14:m>
                  <m:oMath xmlns:m="http://schemas.openxmlformats.org/officeDocument/2006/math">
                    <m:sSup>
                      <m:sSupPr>
                        <m:ctrlPr>
                          <a:rPr lang="ar-AE" i="1">
                            <a:latin typeface="Cambria Math" panose="02040503050406030204" pitchFamily="18" charset="0"/>
                          </a:rPr>
                        </m:ctrlPr>
                      </m:sSupPr>
                      <m:e>
                        <m:r>
                          <a:rPr lang="ar-AE" i="1">
                            <a:latin typeface="Cambria Math" panose="02040503050406030204" pitchFamily="18" charset="0"/>
                          </a:rPr>
                          <m:t>𝑊</m:t>
                        </m:r>
                      </m:e>
                      <m:sup>
                        <m:r>
                          <a:rPr lang="ar-AE">
                            <a:latin typeface="Cambria Math" panose="02040503050406030204" pitchFamily="18" charset="0"/>
                          </a:rPr>
                          <m:t>′</m:t>
                        </m:r>
                      </m:sup>
                    </m:sSup>
                    <m:r>
                      <a:rPr lang="ar-AE">
                        <a:latin typeface="Cambria Math" panose="02040503050406030204" pitchFamily="18" charset="0"/>
                      </a:rPr>
                      <m:t>=</m:t>
                    </m:r>
                    <m:d>
                      <m:dPr>
                        <m:begChr m:val="["/>
                        <m:endChr m:val="]"/>
                        <m:ctrlPr>
                          <a:rPr lang="ar-AE" i="1">
                            <a:latin typeface="Cambria Math" panose="02040503050406030204" pitchFamily="18" charset="0"/>
                          </a:rPr>
                        </m:ctrlPr>
                      </m:dPr>
                      <m:e>
                        <m:m>
                          <m:mPr>
                            <m:plcHide m:val="on"/>
                            <m:mcs>
                              <m:mc>
                                <m:mcPr>
                                  <m:count m:val="2"/>
                                  <m:mcJc m:val="center"/>
                                </m:mcPr>
                              </m:mc>
                            </m:mcs>
                            <m:ctrlPr>
                              <a:rPr lang="ar-AE" i="1">
                                <a:latin typeface="Cambria Math" panose="02040503050406030204" pitchFamily="18" charset="0"/>
                              </a:rPr>
                            </m:ctrlPr>
                          </m:mPr>
                          <m:m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3</m:t>
                              </m:r>
                            </m:e>
                            <m:e>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2</m:t>
                              </m:r>
                            </m:e>
                          </m:mr>
                          <m:m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4</m:t>
                              </m:r>
                            </m:e>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1</m:t>
                              </m:r>
                            </m:e>
                          </m:mr>
                          <m:mr>
                            <m:e>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3</m:t>
                              </m:r>
                            </m:e>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2</m:t>
                              </m:r>
                            </m:e>
                          </m:mr>
                        </m:m>
                      </m:e>
                    </m:d>
                  </m:oMath>
                </a14:m>
                <a:endParaRPr lang="ar-AE" dirty="0"/>
              </a:p>
              <a:p>
                <a:r>
                  <a:rPr lang="en-IN" dirty="0"/>
                  <a:t>Bias:</a:t>
                </a:r>
              </a:p>
              <a:p>
                <a14:m>
                  <m:oMath xmlns:m="http://schemas.openxmlformats.org/officeDocument/2006/math">
                    <m:sSup>
                      <m:sSupPr>
                        <m:ctrlPr>
                          <a:rPr lang="ar-AE" i="1">
                            <a:latin typeface="Cambria Math" panose="02040503050406030204" pitchFamily="18" charset="0"/>
                          </a:rPr>
                        </m:ctrlPr>
                      </m:sSupPr>
                      <m:e>
                        <m:r>
                          <a:rPr lang="ar-AE" i="1">
                            <a:latin typeface="Cambria Math" panose="02040503050406030204" pitchFamily="18" charset="0"/>
                          </a:rPr>
                          <m:t>𝑏</m:t>
                        </m:r>
                      </m:e>
                      <m:sup>
                        <m:r>
                          <a:rPr lang="ar-AE">
                            <a:latin typeface="Cambria Math" panose="02040503050406030204" pitchFamily="18" charset="0"/>
                          </a:rPr>
                          <m:t>′</m:t>
                        </m:r>
                      </m:sup>
                    </m:sSup>
                    <m:r>
                      <a:rPr lang="ar-AE">
                        <a:latin typeface="Cambria Math" panose="02040503050406030204" pitchFamily="18" charset="0"/>
                      </a:rPr>
                      <m:t>=</m:t>
                    </m:r>
                    <m:d>
                      <m:dPr>
                        <m:begChr m:val="["/>
                        <m:endChr m:val="]"/>
                        <m:sepChr m:val=","/>
                        <m:ctrlPr>
                          <a:rPr lang="ar-AE" i="1">
                            <a:latin typeface="Cambria Math" panose="02040503050406030204" pitchFamily="18" charset="0"/>
                          </a:rPr>
                        </m:ctrlPr>
                      </m:dPr>
                      <m:e>
                        <m:r>
                          <a:rPr lang="ar-AE">
                            <a:latin typeface="Cambria Math" panose="02040503050406030204" pitchFamily="18" charset="0"/>
                          </a:rPr>
                          <m:t>0</m:t>
                        </m:r>
                      </m:e>
                      <m:e>
                        <m:r>
                          <a:rPr lang="ar-AE">
                            <a:latin typeface="Cambria Math" panose="02040503050406030204" pitchFamily="18" charset="0"/>
                          </a:rPr>
                          <m:t>0</m:t>
                        </m:r>
                      </m:e>
                      <m:e>
                        <m:r>
                          <a:rPr lang="ar-AE">
                            <a:latin typeface="Cambria Math" panose="02040503050406030204" pitchFamily="18" charset="0"/>
                          </a:rPr>
                          <m:t>0</m:t>
                        </m:r>
                      </m:e>
                    </m:d>
                  </m:oMath>
                </a14:m>
                <a:endParaRPr lang="ar-AE" dirty="0"/>
              </a:p>
              <a:p>
                <a:r>
                  <a:rPr lang="en-IN" dirty="0"/>
                  <a:t>Output activation: Sigmoid</a:t>
                </a:r>
              </a:p>
              <a:p>
                <a:endParaRPr lang="en-IN" dirty="0"/>
              </a:p>
            </p:txBody>
          </p:sp>
        </mc:Choice>
        <mc:Fallback>
          <p:sp>
            <p:nvSpPr>
              <p:cNvPr id="3" name="Content Placeholder 2">
                <a:extLst>
                  <a:ext uri="{FF2B5EF4-FFF2-40B4-BE49-F238E27FC236}">
                    <a16:creationId xmlns:a16="http://schemas.microsoft.com/office/drawing/2014/main" id="{C1F0A360-4A91-88FD-797D-429581D60ABF}"/>
                  </a:ext>
                </a:extLst>
              </p:cNvPr>
              <p:cNvSpPr>
                <a:spLocks noGrp="1" noRot="1" noChangeAspect="1" noMove="1" noResize="1" noEditPoints="1" noAdjustHandles="1" noChangeArrowheads="1" noChangeShapeType="1" noTextEdit="1"/>
              </p:cNvSpPr>
              <p:nvPr>
                <p:ph idx="1"/>
              </p:nvPr>
            </p:nvSpPr>
            <p:spPr>
              <a:xfrm>
                <a:off x="904240" y="1483360"/>
                <a:ext cx="10322877" cy="4642910"/>
              </a:xfrm>
              <a:blipFill>
                <a:blip r:embed="rId2"/>
                <a:stretch>
                  <a:fillRect l="-1299" t="-2231" b="-1181"/>
                </a:stretch>
              </a:blipFill>
            </p:spPr>
            <p:txBody>
              <a:bodyPr/>
              <a:lstStyle/>
              <a:p>
                <a:r>
                  <a:rPr lang="en-IN">
                    <a:noFill/>
                  </a:rPr>
                  <a:t> </a:t>
                </a:r>
              </a:p>
            </p:txBody>
          </p:sp>
        </mc:Fallback>
      </mc:AlternateContent>
    </p:spTree>
    <p:extLst>
      <p:ext uri="{BB962C8B-B14F-4D97-AF65-F5344CB8AC3E}">
        <p14:creationId xmlns:p14="http://schemas.microsoft.com/office/powerpoint/2010/main" val="40648673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3781F4-F7AB-0938-F4F2-FFF93D66926D}"/>
              </a:ext>
            </a:extLst>
          </p:cNvPr>
          <p:cNvSpPr>
            <a:spLocks noGrp="1"/>
          </p:cNvSpPr>
          <p:nvPr>
            <p:ph type="title"/>
          </p:nvPr>
        </p:nvSpPr>
        <p:spPr/>
        <p:txBody>
          <a:bodyPr>
            <a:normAutofit fontScale="90000"/>
          </a:bodyPr>
          <a:lstStyle/>
          <a:p>
            <a:endParaRPr lang="en-IN"/>
          </a:p>
        </p:txBody>
      </p:sp>
      <mc:AlternateContent xmlns:mc="http://schemas.openxmlformats.org/markup-compatibility/2006" xmlns:a14="http://schemas.microsoft.com/office/drawing/2010/main">
        <mc:Choice Requires="a14">
          <p:sp>
            <p:nvSpPr>
              <p:cNvPr id="4" name="Content Placeholder 2">
                <a:extLst>
                  <a:ext uri="{FF2B5EF4-FFF2-40B4-BE49-F238E27FC236}">
                    <a16:creationId xmlns:a16="http://schemas.microsoft.com/office/drawing/2014/main" id="{4F7B5947-C4B3-58A1-6999-8C58C36A1C24}"/>
                  </a:ext>
                </a:extLst>
              </p:cNvPr>
              <p:cNvSpPr txBox="1">
                <a:spLocks/>
              </p:cNvSpPr>
              <p:nvPr/>
            </p:nvSpPr>
            <p:spPr>
              <a:xfrm>
                <a:off x="690881" y="1705466"/>
                <a:ext cx="5557520" cy="4217604"/>
              </a:xfrm>
              <a:prstGeom prst="rect">
                <a:avLst/>
              </a:prstGeom>
            </p:spPr>
            <p:txBody>
              <a:bodyPr vert="horz" lIns="0" tIns="45720" rIns="0" bIns="45720" rtlCol="0">
                <a:normAutofit fontScale="70000" lnSpcReduction="20000"/>
              </a:bodyPr>
              <a:lstStyle>
                <a:lvl1pPr marL="361950" indent="-361950" algn="l" defTabSz="914400" rtl="0" eaLnBrk="1" latinLnBrk="0" hangingPunct="1">
                  <a:lnSpc>
                    <a:spcPct val="90000"/>
                  </a:lnSpc>
                  <a:spcBef>
                    <a:spcPts val="1200"/>
                  </a:spcBef>
                  <a:spcAft>
                    <a:spcPts val="200"/>
                  </a:spcAft>
                  <a:buClr>
                    <a:schemeClr val="accent1"/>
                  </a:buClr>
                  <a:buSzPct val="100000"/>
                  <a:buFont typeface="Arial" panose="020B0604020202020204" pitchFamily="34" charset="0"/>
                  <a:buChar char="•"/>
                  <a:defRPr sz="2400" kern="1200">
                    <a:solidFill>
                      <a:schemeClr val="tx1"/>
                    </a:solidFill>
                    <a:latin typeface="+mn-lt"/>
                    <a:ea typeface="+mn-ea"/>
                    <a:cs typeface="+mn-cs"/>
                  </a:defRPr>
                </a:lvl1pPr>
                <a:lvl2pPr marL="542925" indent="-3429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2400" kern="1200">
                    <a:solidFill>
                      <a:schemeClr val="tx1"/>
                    </a:solidFill>
                    <a:latin typeface="+mn-lt"/>
                    <a:ea typeface="+mn-ea"/>
                    <a:cs typeface="+mn-cs"/>
                  </a:defRPr>
                </a:lvl2pPr>
                <a:lvl3pPr marL="714375" indent="-330200" algn="l" defTabSz="914400" rtl="0" eaLnBrk="1" latinLnBrk="0" hangingPunct="1">
                  <a:lnSpc>
                    <a:spcPct val="90000"/>
                  </a:lnSpc>
                  <a:spcBef>
                    <a:spcPts val="200"/>
                  </a:spcBef>
                  <a:spcAft>
                    <a:spcPts val="400"/>
                  </a:spcAft>
                  <a:buClr>
                    <a:schemeClr val="accent1"/>
                  </a:buClr>
                  <a:buFont typeface="Arial" panose="020B0604020202020204" pitchFamily="34" charset="0"/>
                  <a:buChar char="•"/>
                  <a:tabLst>
                    <a:tab pos="714375" algn="l"/>
                  </a:tabLst>
                  <a:defRPr sz="2400" kern="1200">
                    <a:solidFill>
                      <a:schemeClr val="tx1"/>
                    </a:solidFill>
                    <a:latin typeface="+mn-lt"/>
                    <a:ea typeface="+mn-ea"/>
                    <a:cs typeface="+mn-cs"/>
                  </a:defRPr>
                </a:lvl3pPr>
                <a:lvl4pPr marL="895350" indent="-2667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2400" kern="1200">
                    <a:solidFill>
                      <a:schemeClr val="tx1"/>
                    </a:solidFill>
                    <a:latin typeface="+mn-lt"/>
                    <a:ea typeface="+mn-ea"/>
                    <a:cs typeface="+mn-cs"/>
                  </a:defRPr>
                </a:lvl4pPr>
                <a:lvl5pPr marL="1162050" indent="-352425"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2400" kern="1200">
                    <a:solidFill>
                      <a:schemeClr val="tx1"/>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nSpc>
                    <a:spcPct val="120000"/>
                  </a:lnSpc>
                  <a:spcBef>
                    <a:spcPts val="0"/>
                  </a:spcBef>
                  <a:spcAft>
                    <a:spcPts val="0"/>
                  </a:spcAft>
                </a:pPr>
                <a:r>
                  <a:rPr lang="en-IN" b="1" dirty="0"/>
                  <a:t>Reconstruction of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𝑥</m:t>
                        </m:r>
                      </m:e>
                      <m:sub>
                        <m:r>
                          <a:rPr lang="ar-AE">
                            <a:latin typeface="Cambria Math" panose="02040503050406030204" pitchFamily="18" charset="0"/>
                          </a:rPr>
                          <m:t>1</m:t>
                        </m:r>
                      </m:sub>
                    </m:sSub>
                    <m:r>
                      <a:rPr lang="ar-AE">
                        <a:latin typeface="Cambria Math" panose="02040503050406030204" pitchFamily="18" charset="0"/>
                      </a:rPr>
                      <m:t>=</m:t>
                    </m:r>
                    <m:d>
                      <m:dPr>
                        <m:begChr m:val="["/>
                        <m:endChr m:val="]"/>
                        <m:sepChr m:val=","/>
                        <m:ctrlPr>
                          <a:rPr lang="ar-AE" i="1">
                            <a:latin typeface="Cambria Math" panose="02040503050406030204" pitchFamily="18" charset="0"/>
                          </a:rPr>
                        </m:ctrlPr>
                      </m:dPr>
                      <m:e>
                        <m:r>
                          <a:rPr lang="ar-AE">
                            <a:latin typeface="Cambria Math" panose="02040503050406030204" pitchFamily="18" charset="0"/>
                          </a:rPr>
                          <m:t>1</m:t>
                        </m:r>
                      </m:e>
                      <m:e>
                        <m:r>
                          <a:rPr lang="ar-AE">
                            <a:latin typeface="Cambria Math" panose="02040503050406030204" pitchFamily="18" charset="0"/>
                          </a:rPr>
                          <m:t>0</m:t>
                        </m:r>
                      </m:e>
                      <m:e>
                        <m:r>
                          <a:rPr lang="ar-AE">
                            <a:latin typeface="Cambria Math" panose="02040503050406030204" pitchFamily="18" charset="0"/>
                          </a:rPr>
                          <m:t>0</m:t>
                        </m:r>
                      </m:e>
                    </m:d>
                  </m:oMath>
                </a14:m>
                <a:endParaRPr lang="ar-AE" b="1" dirty="0"/>
              </a:p>
              <a:p>
                <a:pPr>
                  <a:lnSpc>
                    <a:spcPct val="120000"/>
                  </a:lnSpc>
                  <a:spcBef>
                    <a:spcPts val="0"/>
                  </a:spcBef>
                  <a:spcAft>
                    <a:spcPts val="0"/>
                  </a:spcAft>
                </a:pPr>
                <a:r>
                  <a:rPr lang="en-IN" dirty="0"/>
                  <a:t>Hidden:</a:t>
                </a:r>
              </a:p>
              <a:p>
                <a:pPr>
                  <a:lnSpc>
                    <a:spcPct val="120000"/>
                  </a:lnSpc>
                  <a:spcBef>
                    <a:spcPts val="0"/>
                  </a:spcBef>
                  <a:spcAft>
                    <a:spcPts val="0"/>
                  </a:spcAft>
                </a:pP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h</m:t>
                        </m:r>
                      </m:e>
                      <m:sub>
                        <m:r>
                          <a:rPr lang="ar-AE">
                            <a:latin typeface="Cambria Math" panose="02040503050406030204" pitchFamily="18" charset="0"/>
                          </a:rPr>
                          <m:t>1</m:t>
                        </m:r>
                      </m:sub>
                    </m:sSub>
                    <m:r>
                      <a:rPr lang="ar-AE">
                        <a:latin typeface="Cambria Math" panose="02040503050406030204" pitchFamily="18" charset="0"/>
                      </a:rPr>
                      <m:t>=</m:t>
                    </m:r>
                    <m:d>
                      <m:dPr>
                        <m:begChr m:val="["/>
                        <m:endChr m:val="]"/>
                        <m:ctrlPr>
                          <a:rPr lang="ar-AE" i="1">
                            <a:latin typeface="Cambria Math" panose="02040503050406030204" pitchFamily="18" charset="0"/>
                          </a:rPr>
                        </m:ctrlPr>
                      </m:dPr>
                      <m:e>
                        <m:m>
                          <m:mPr>
                            <m:plcHide m:val="on"/>
                            <m:mcs>
                              <m:mc>
                                <m:mcPr>
                                  <m:count m:val="1"/>
                                  <m:mcJc m:val="center"/>
                                </m:mcPr>
                              </m:mc>
                            </m:mcs>
                            <m:ctrlPr>
                              <a:rPr lang="ar-AE" i="1">
                                <a:latin typeface="Cambria Math" panose="02040503050406030204" pitchFamily="18" charset="0"/>
                              </a:rPr>
                            </m:ctrlPr>
                          </m:mPr>
                          <m:m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5498</m:t>
                              </m:r>
                            </m:e>
                          </m:mr>
                          <m:m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5250</m:t>
                              </m:r>
                            </m:e>
                          </m:mr>
                        </m:m>
                      </m:e>
                    </m:d>
                  </m:oMath>
                </a14:m>
                <a:endParaRPr lang="ar-AE" dirty="0"/>
              </a:p>
              <a:p>
                <a:pPr>
                  <a:lnSpc>
                    <a:spcPct val="120000"/>
                  </a:lnSpc>
                  <a:spcBef>
                    <a:spcPts val="0"/>
                  </a:spcBef>
                  <a:spcAft>
                    <a:spcPts val="0"/>
                  </a:spcAft>
                </a:pPr>
                <a:r>
                  <a:rPr lang="en-IN" b="1" dirty="0"/>
                  <a:t>Step 1: Linear combination</a:t>
                </a:r>
              </a:p>
              <a:p>
                <a:pPr>
                  <a:lnSpc>
                    <a:spcPct val="120000"/>
                  </a:lnSpc>
                  <a:spcBef>
                    <a:spcPts val="0"/>
                  </a:spcBef>
                  <a:spcAft>
                    <a:spcPts val="0"/>
                  </a:spcAft>
                </a:pPr>
                <a14:m>
                  <m:oMath xmlns:m="http://schemas.openxmlformats.org/officeDocument/2006/math">
                    <m:sSubSup>
                      <m:sSubSupPr>
                        <m:ctrlPr>
                          <a:rPr lang="ar-AE" i="1">
                            <a:latin typeface="Cambria Math" panose="02040503050406030204" pitchFamily="18" charset="0"/>
                          </a:rPr>
                        </m:ctrlPr>
                      </m:sSubSupPr>
                      <m:e>
                        <m:r>
                          <a:rPr lang="ar-AE" i="1">
                            <a:latin typeface="Cambria Math" panose="02040503050406030204" pitchFamily="18" charset="0"/>
                          </a:rPr>
                          <m:t>𝑧</m:t>
                        </m:r>
                      </m:e>
                      <m:sub>
                        <m:r>
                          <a:rPr lang="ar-AE">
                            <a:latin typeface="Cambria Math" panose="02040503050406030204" pitchFamily="18" charset="0"/>
                          </a:rPr>
                          <m:t>1</m:t>
                        </m:r>
                      </m:sub>
                      <m:sup>
                        <m:r>
                          <a:rPr lang="ar-AE">
                            <a:latin typeface="Cambria Math" panose="02040503050406030204" pitchFamily="18" charset="0"/>
                          </a:rPr>
                          <m:t>′</m:t>
                        </m:r>
                      </m:sup>
                    </m:sSubSup>
                    <m:r>
                      <a:rPr lang="ar-AE">
                        <a:latin typeface="Cambria Math" panose="02040503050406030204" pitchFamily="18" charset="0"/>
                      </a:rPr>
                      <m:t>=</m:t>
                    </m:r>
                    <m:sSup>
                      <m:sSupPr>
                        <m:ctrlPr>
                          <a:rPr lang="ar-AE" i="1">
                            <a:latin typeface="Cambria Math" panose="02040503050406030204" pitchFamily="18" charset="0"/>
                          </a:rPr>
                        </m:ctrlPr>
                      </m:sSupPr>
                      <m:e>
                        <m:r>
                          <a:rPr lang="ar-AE" i="1">
                            <a:latin typeface="Cambria Math" panose="02040503050406030204" pitchFamily="18" charset="0"/>
                          </a:rPr>
                          <m:t>𝑊</m:t>
                        </m:r>
                      </m:e>
                      <m:sup>
                        <m:r>
                          <a:rPr lang="ar-AE">
                            <a:latin typeface="Cambria Math" panose="02040503050406030204" pitchFamily="18" charset="0"/>
                          </a:rPr>
                          <m:t>′</m:t>
                        </m:r>
                      </m:sup>
                    </m:sSup>
                    <m:sSub>
                      <m:sSubPr>
                        <m:ctrlPr>
                          <a:rPr lang="ar-AE" i="1">
                            <a:latin typeface="Cambria Math" panose="02040503050406030204" pitchFamily="18" charset="0"/>
                          </a:rPr>
                        </m:ctrlPr>
                      </m:sSubPr>
                      <m:e>
                        <m:r>
                          <a:rPr lang="ar-AE" i="1">
                            <a:latin typeface="Cambria Math" panose="02040503050406030204" pitchFamily="18" charset="0"/>
                          </a:rPr>
                          <m:t>h</m:t>
                        </m:r>
                      </m:e>
                      <m:sub>
                        <m:r>
                          <a:rPr lang="ar-AE">
                            <a:latin typeface="Cambria Math" panose="02040503050406030204" pitchFamily="18" charset="0"/>
                          </a:rPr>
                          <m:t>1</m:t>
                        </m:r>
                      </m:sub>
                    </m:sSub>
                  </m:oMath>
                </a14:m>
                <a:endParaRPr lang="ar-AE" dirty="0"/>
              </a:p>
              <a:p>
                <a:pPr>
                  <a:lnSpc>
                    <a:spcPct val="120000"/>
                  </a:lnSpc>
                  <a:spcBef>
                    <a:spcPts val="0"/>
                  </a:spcBef>
                  <a:spcAft>
                    <a:spcPts val="0"/>
                  </a:spcAft>
                </a:pPr>
                <a:r>
                  <a:rPr lang="en-IN" b="1" dirty="0"/>
                  <a:t>Neuron 1</a:t>
                </a:r>
              </a:p>
              <a:p>
                <a:pPr>
                  <a:lnSpc>
                    <a:spcPct val="120000"/>
                  </a:lnSpc>
                  <a:spcBef>
                    <a:spcPts val="0"/>
                  </a:spcBef>
                  <a:spcAft>
                    <a:spcPts val="0"/>
                  </a:spcAft>
                </a:pPr>
                <a14:m>
                  <m:oMath xmlns:m="http://schemas.openxmlformats.org/officeDocument/2006/math">
                    <m:r>
                      <a:rPr lang="en-IN">
                        <a:latin typeface="Cambria Math" panose="02040503050406030204" pitchFamily="18" charset="0"/>
                      </a:rPr>
                      <m:t>0</m:t>
                    </m:r>
                    <m:r>
                      <a:rPr lang="en-IN">
                        <a:latin typeface="Cambria Math" panose="02040503050406030204" pitchFamily="18" charset="0"/>
                      </a:rPr>
                      <m:t>.</m:t>
                    </m:r>
                    <m:r>
                      <a:rPr lang="en-IN">
                        <a:latin typeface="Cambria Math" panose="02040503050406030204" pitchFamily="18" charset="0"/>
                      </a:rPr>
                      <m:t>3</m:t>
                    </m:r>
                    <m:d>
                      <m:dPr>
                        <m:ctrlPr>
                          <a:rPr lang="ar-AE" i="1">
                            <a:latin typeface="Cambria Math" panose="02040503050406030204" pitchFamily="18" charset="0"/>
                          </a:rPr>
                        </m:ctrlPr>
                      </m:dP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5498</m:t>
                        </m:r>
                      </m:e>
                    </m:d>
                    <m:r>
                      <a:rPr lang="ar-AE">
                        <a:latin typeface="Cambria Math" panose="02040503050406030204" pitchFamily="18" charset="0"/>
                      </a:rPr>
                      <m:t>+</m:t>
                    </m:r>
                    <m:d>
                      <m:dPr>
                        <m:ctrlPr>
                          <a:rPr lang="ar-AE" i="1">
                            <a:latin typeface="Cambria Math" panose="02040503050406030204" pitchFamily="18" charset="0"/>
                          </a:rPr>
                        </m:ctrlPr>
                      </m:dPr>
                      <m:e>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2</m:t>
                        </m:r>
                      </m:e>
                    </m:d>
                    <m:d>
                      <m:dPr>
                        <m:ctrlPr>
                          <a:rPr lang="ar-AE" i="1">
                            <a:latin typeface="Cambria Math" panose="02040503050406030204" pitchFamily="18" charset="0"/>
                          </a:rPr>
                        </m:ctrlPr>
                      </m:dP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5250</m:t>
                        </m:r>
                      </m:e>
                    </m:d>
                  </m:oMath>
                </a14:m>
                <a:endParaRPr lang="ar-AE" dirty="0"/>
              </a:p>
              <a:p>
                <a:pPr>
                  <a:lnSpc>
                    <a:spcPct val="120000"/>
                  </a:lnSpc>
                  <a:spcBef>
                    <a:spcPts val="0"/>
                  </a:spcBef>
                  <a:spcAft>
                    <a:spcPts val="0"/>
                  </a:spcAft>
                </a:pPr>
                <a14:m>
                  <m:oMath xmlns:m="http://schemas.openxmlformats.org/officeDocument/2006/math">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1649</m:t>
                    </m:r>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1050</m:t>
                    </m:r>
                  </m:oMath>
                </a14:m>
                <a:endParaRPr lang="ar-AE" dirty="0"/>
              </a:p>
              <a:p>
                <a:pPr>
                  <a:lnSpc>
                    <a:spcPct val="120000"/>
                  </a:lnSpc>
                  <a:spcBef>
                    <a:spcPts val="0"/>
                  </a:spcBef>
                  <a:spcAft>
                    <a:spcPts val="0"/>
                  </a:spcAft>
                </a:pPr>
                <a14:m>
                  <m:oMath xmlns:m="http://schemas.openxmlformats.org/officeDocument/2006/math">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0599</m:t>
                    </m:r>
                  </m:oMath>
                </a14:m>
                <a:endParaRPr lang="ar-AE" dirty="0"/>
              </a:p>
              <a:p>
                <a:pPr>
                  <a:lnSpc>
                    <a:spcPct val="120000"/>
                  </a:lnSpc>
                  <a:spcBef>
                    <a:spcPts val="0"/>
                  </a:spcBef>
                  <a:spcAft>
                    <a:spcPts val="0"/>
                  </a:spcAft>
                </a:pPr>
                <a:r>
                  <a:rPr lang="en-IN" b="1" dirty="0"/>
                  <a:t>Neuron 2</a:t>
                </a:r>
              </a:p>
              <a:p>
                <a:pPr>
                  <a:lnSpc>
                    <a:spcPct val="120000"/>
                  </a:lnSpc>
                  <a:spcBef>
                    <a:spcPts val="0"/>
                  </a:spcBef>
                  <a:spcAft>
                    <a:spcPts val="0"/>
                  </a:spcAft>
                </a:pPr>
                <a14:m>
                  <m:oMath xmlns:m="http://schemas.openxmlformats.org/officeDocument/2006/math">
                    <m:r>
                      <a:rPr lang="en-IN">
                        <a:latin typeface="Cambria Math" panose="02040503050406030204" pitchFamily="18" charset="0"/>
                      </a:rPr>
                      <m:t>0</m:t>
                    </m:r>
                    <m:r>
                      <a:rPr lang="en-IN">
                        <a:latin typeface="Cambria Math" panose="02040503050406030204" pitchFamily="18" charset="0"/>
                      </a:rPr>
                      <m:t>.</m:t>
                    </m:r>
                    <m:r>
                      <a:rPr lang="en-IN">
                        <a:latin typeface="Cambria Math" panose="02040503050406030204" pitchFamily="18" charset="0"/>
                      </a:rPr>
                      <m:t>4</m:t>
                    </m:r>
                    <m:d>
                      <m:dPr>
                        <m:ctrlPr>
                          <a:rPr lang="ar-AE" i="1">
                            <a:latin typeface="Cambria Math" panose="02040503050406030204" pitchFamily="18" charset="0"/>
                          </a:rPr>
                        </m:ctrlPr>
                      </m:dP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5498</m:t>
                        </m:r>
                      </m:e>
                    </m:d>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1</m:t>
                    </m:r>
                    <m:d>
                      <m:dPr>
                        <m:ctrlPr>
                          <a:rPr lang="ar-AE" i="1">
                            <a:latin typeface="Cambria Math" panose="02040503050406030204" pitchFamily="18" charset="0"/>
                          </a:rPr>
                        </m:ctrlPr>
                      </m:dP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5250</m:t>
                        </m:r>
                      </m:e>
                    </m:d>
                  </m:oMath>
                </a14:m>
                <a:endParaRPr lang="ar-AE" dirty="0"/>
              </a:p>
              <a:p>
                <a:pPr>
                  <a:lnSpc>
                    <a:spcPct val="120000"/>
                  </a:lnSpc>
                  <a:spcBef>
                    <a:spcPts val="0"/>
                  </a:spcBef>
                  <a:spcAft>
                    <a:spcPts val="0"/>
                  </a:spcAft>
                </a:pPr>
                <a14:m>
                  <m:oMath xmlns:m="http://schemas.openxmlformats.org/officeDocument/2006/math">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2199</m:t>
                    </m:r>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0525</m:t>
                    </m:r>
                  </m:oMath>
                </a14:m>
                <a:endParaRPr lang="ar-AE" dirty="0"/>
              </a:p>
              <a:p>
                <a:pPr>
                  <a:lnSpc>
                    <a:spcPct val="120000"/>
                  </a:lnSpc>
                  <a:spcBef>
                    <a:spcPts val="0"/>
                  </a:spcBef>
                  <a:spcAft>
                    <a:spcPts val="0"/>
                  </a:spcAft>
                </a:pPr>
                <a14:m>
                  <m:oMath xmlns:m="http://schemas.openxmlformats.org/officeDocument/2006/math">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2724</m:t>
                    </m:r>
                  </m:oMath>
                </a14:m>
                <a:endParaRPr lang="ar-AE" dirty="0"/>
              </a:p>
              <a:p>
                <a:pPr>
                  <a:lnSpc>
                    <a:spcPct val="120000"/>
                  </a:lnSpc>
                  <a:spcBef>
                    <a:spcPts val="0"/>
                  </a:spcBef>
                  <a:spcAft>
                    <a:spcPts val="0"/>
                  </a:spcAft>
                </a:pPr>
                <a:endParaRPr lang="en-IN" dirty="0"/>
              </a:p>
              <a:p>
                <a:pPr>
                  <a:lnSpc>
                    <a:spcPct val="120000"/>
                  </a:lnSpc>
                  <a:spcBef>
                    <a:spcPts val="0"/>
                  </a:spcBef>
                  <a:spcAft>
                    <a:spcPts val="0"/>
                  </a:spcAft>
                </a:pPr>
                <a:endParaRPr lang="en-IN" dirty="0"/>
              </a:p>
              <a:p>
                <a:pPr>
                  <a:lnSpc>
                    <a:spcPct val="120000"/>
                  </a:lnSpc>
                  <a:spcBef>
                    <a:spcPts val="0"/>
                  </a:spcBef>
                  <a:spcAft>
                    <a:spcPts val="0"/>
                  </a:spcAft>
                </a:pPr>
                <a:endParaRPr lang="en-IN" dirty="0"/>
              </a:p>
              <a:p>
                <a:pPr>
                  <a:lnSpc>
                    <a:spcPct val="120000"/>
                  </a:lnSpc>
                  <a:spcBef>
                    <a:spcPts val="0"/>
                  </a:spcBef>
                  <a:spcAft>
                    <a:spcPts val="0"/>
                  </a:spcAft>
                </a:pPr>
                <a:endParaRPr lang="en-IN" dirty="0"/>
              </a:p>
            </p:txBody>
          </p:sp>
        </mc:Choice>
        <mc:Fallback xmlns="">
          <p:sp>
            <p:nvSpPr>
              <p:cNvPr id="4" name="Content Placeholder 2">
                <a:extLst>
                  <a:ext uri="{FF2B5EF4-FFF2-40B4-BE49-F238E27FC236}">
                    <a16:creationId xmlns:a16="http://schemas.microsoft.com/office/drawing/2014/main" id="{4F7B5947-C4B3-58A1-6999-8C58C36A1C24}"/>
                  </a:ext>
                </a:extLst>
              </p:cNvPr>
              <p:cNvSpPr txBox="1">
                <a:spLocks noRot="1" noChangeAspect="1" noMove="1" noResize="1" noEditPoints="1" noAdjustHandles="1" noChangeArrowheads="1" noChangeShapeType="1" noTextEdit="1"/>
              </p:cNvSpPr>
              <p:nvPr/>
            </p:nvSpPr>
            <p:spPr>
              <a:xfrm>
                <a:off x="690881" y="1705466"/>
                <a:ext cx="5557520" cy="4217604"/>
              </a:xfrm>
              <a:prstGeom prst="rect">
                <a:avLst/>
              </a:prstGeom>
              <a:blipFill>
                <a:blip r:embed="rId2"/>
                <a:stretch>
                  <a:fillRect l="-2193" t="-57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 name="Content Placeholder 2">
                <a:extLst>
                  <a:ext uri="{FF2B5EF4-FFF2-40B4-BE49-F238E27FC236}">
                    <a16:creationId xmlns:a16="http://schemas.microsoft.com/office/drawing/2014/main" id="{62DB4880-C949-FB51-C4F1-2E7D88481064}"/>
                  </a:ext>
                </a:extLst>
              </p:cNvPr>
              <p:cNvSpPr txBox="1">
                <a:spLocks/>
              </p:cNvSpPr>
              <p:nvPr/>
            </p:nvSpPr>
            <p:spPr>
              <a:xfrm>
                <a:off x="6594157" y="1553066"/>
                <a:ext cx="4490085" cy="4217604"/>
              </a:xfrm>
              <a:prstGeom prst="rect">
                <a:avLst/>
              </a:prstGeom>
            </p:spPr>
            <p:txBody>
              <a:bodyPr vert="horz" lIns="0" tIns="45720" rIns="0" bIns="45720" rtlCol="0">
                <a:normAutofit/>
              </a:bodyPr>
              <a:lstStyle>
                <a:lvl1pPr marL="361950" indent="-361950" algn="l" defTabSz="914400" rtl="0" eaLnBrk="1" latinLnBrk="0" hangingPunct="1">
                  <a:lnSpc>
                    <a:spcPct val="90000"/>
                  </a:lnSpc>
                  <a:spcBef>
                    <a:spcPts val="1200"/>
                  </a:spcBef>
                  <a:spcAft>
                    <a:spcPts val="200"/>
                  </a:spcAft>
                  <a:buClr>
                    <a:schemeClr val="accent1"/>
                  </a:buClr>
                  <a:buSzPct val="100000"/>
                  <a:buFont typeface="Arial" panose="020B0604020202020204" pitchFamily="34" charset="0"/>
                  <a:buChar char="•"/>
                  <a:defRPr sz="2400" kern="1200">
                    <a:solidFill>
                      <a:schemeClr val="tx1"/>
                    </a:solidFill>
                    <a:latin typeface="+mn-lt"/>
                    <a:ea typeface="+mn-ea"/>
                    <a:cs typeface="+mn-cs"/>
                  </a:defRPr>
                </a:lvl1pPr>
                <a:lvl2pPr marL="542925" indent="-3429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2400" kern="1200">
                    <a:solidFill>
                      <a:schemeClr val="tx1"/>
                    </a:solidFill>
                    <a:latin typeface="+mn-lt"/>
                    <a:ea typeface="+mn-ea"/>
                    <a:cs typeface="+mn-cs"/>
                  </a:defRPr>
                </a:lvl2pPr>
                <a:lvl3pPr marL="714375" indent="-330200" algn="l" defTabSz="914400" rtl="0" eaLnBrk="1" latinLnBrk="0" hangingPunct="1">
                  <a:lnSpc>
                    <a:spcPct val="90000"/>
                  </a:lnSpc>
                  <a:spcBef>
                    <a:spcPts val="200"/>
                  </a:spcBef>
                  <a:spcAft>
                    <a:spcPts val="400"/>
                  </a:spcAft>
                  <a:buClr>
                    <a:schemeClr val="accent1"/>
                  </a:buClr>
                  <a:buFont typeface="Arial" panose="020B0604020202020204" pitchFamily="34" charset="0"/>
                  <a:buChar char="•"/>
                  <a:tabLst>
                    <a:tab pos="714375" algn="l"/>
                  </a:tabLst>
                  <a:defRPr sz="2400" kern="1200">
                    <a:solidFill>
                      <a:schemeClr val="tx1"/>
                    </a:solidFill>
                    <a:latin typeface="+mn-lt"/>
                    <a:ea typeface="+mn-ea"/>
                    <a:cs typeface="+mn-cs"/>
                  </a:defRPr>
                </a:lvl3pPr>
                <a:lvl4pPr marL="895350" indent="-2667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2400" kern="1200">
                    <a:solidFill>
                      <a:schemeClr val="tx1"/>
                    </a:solidFill>
                    <a:latin typeface="+mn-lt"/>
                    <a:ea typeface="+mn-ea"/>
                    <a:cs typeface="+mn-cs"/>
                  </a:defRPr>
                </a:lvl4pPr>
                <a:lvl5pPr marL="1162050" indent="-352425"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2400" kern="1200">
                    <a:solidFill>
                      <a:schemeClr val="tx1"/>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nSpc>
                    <a:spcPct val="120000"/>
                  </a:lnSpc>
                  <a:spcBef>
                    <a:spcPts val="0"/>
                  </a:spcBef>
                  <a:spcAft>
                    <a:spcPts val="0"/>
                  </a:spcAft>
                </a:pPr>
                <a:r>
                  <a:rPr lang="en-IN" b="1" dirty="0"/>
                  <a:t>Neuron 3</a:t>
                </a:r>
              </a:p>
              <a:p>
                <a:pPr>
                  <a:lnSpc>
                    <a:spcPct val="120000"/>
                  </a:lnSpc>
                  <a:spcBef>
                    <a:spcPts val="0"/>
                  </a:spcBef>
                  <a:spcAft>
                    <a:spcPts val="0"/>
                  </a:spcAft>
                </a:pPr>
                <a14:m>
                  <m:oMath xmlns:m="http://schemas.openxmlformats.org/officeDocument/2006/math">
                    <m:r>
                      <a:rPr lang="en-IN">
                        <a:latin typeface="Cambria Math" panose="02040503050406030204" pitchFamily="18" charset="0"/>
                      </a:rPr>
                      <m:t>−</m:t>
                    </m:r>
                    <m:r>
                      <a:rPr lang="en-IN">
                        <a:latin typeface="Cambria Math" panose="02040503050406030204" pitchFamily="18" charset="0"/>
                      </a:rPr>
                      <m:t>0</m:t>
                    </m:r>
                    <m:r>
                      <a:rPr lang="en-IN">
                        <a:latin typeface="Cambria Math" panose="02040503050406030204" pitchFamily="18" charset="0"/>
                      </a:rPr>
                      <m:t>.</m:t>
                    </m:r>
                    <m:r>
                      <a:rPr lang="en-IN">
                        <a:latin typeface="Cambria Math" panose="02040503050406030204" pitchFamily="18" charset="0"/>
                      </a:rPr>
                      <m:t>3</m:t>
                    </m:r>
                    <m:d>
                      <m:dPr>
                        <m:ctrlPr>
                          <a:rPr lang="ar-AE" i="1">
                            <a:latin typeface="Cambria Math" panose="02040503050406030204" pitchFamily="18" charset="0"/>
                          </a:rPr>
                        </m:ctrlPr>
                      </m:dP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5498</m:t>
                        </m:r>
                      </m:e>
                    </m:d>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2</m:t>
                    </m:r>
                    <m:d>
                      <m:dPr>
                        <m:ctrlPr>
                          <a:rPr lang="ar-AE" i="1">
                            <a:latin typeface="Cambria Math" panose="02040503050406030204" pitchFamily="18" charset="0"/>
                          </a:rPr>
                        </m:ctrlPr>
                      </m:dP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5250</m:t>
                        </m:r>
                      </m:e>
                    </m:d>
                  </m:oMath>
                </a14:m>
                <a:endParaRPr lang="ar-AE" dirty="0"/>
              </a:p>
              <a:p>
                <a:pPr>
                  <a:lnSpc>
                    <a:spcPct val="120000"/>
                  </a:lnSpc>
                  <a:spcBef>
                    <a:spcPts val="0"/>
                  </a:spcBef>
                  <a:spcAft>
                    <a:spcPts val="0"/>
                  </a:spcAft>
                </a:pPr>
                <a14:m>
                  <m:oMath xmlns:m="http://schemas.openxmlformats.org/officeDocument/2006/math">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1649</m:t>
                    </m:r>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1050</m:t>
                    </m:r>
                  </m:oMath>
                </a14:m>
                <a:endParaRPr lang="ar-AE" dirty="0"/>
              </a:p>
              <a:p>
                <a:pPr>
                  <a:lnSpc>
                    <a:spcPct val="120000"/>
                  </a:lnSpc>
                  <a:spcBef>
                    <a:spcPts val="0"/>
                  </a:spcBef>
                  <a:spcAft>
                    <a:spcPts val="0"/>
                  </a:spcAft>
                </a:pPr>
                <a14:m>
                  <m:oMath xmlns:m="http://schemas.openxmlformats.org/officeDocument/2006/math">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0599</m:t>
                    </m:r>
                  </m:oMath>
                </a14:m>
                <a:endParaRPr lang="ar-AE" dirty="0"/>
              </a:p>
              <a:p>
                <a:pPr>
                  <a:lnSpc>
                    <a:spcPct val="120000"/>
                  </a:lnSpc>
                  <a:spcBef>
                    <a:spcPts val="0"/>
                  </a:spcBef>
                  <a:spcAft>
                    <a:spcPts val="0"/>
                  </a:spcAft>
                </a:pPr>
                <a:endParaRPr lang="ar-AE" dirty="0"/>
              </a:p>
              <a:p>
                <a:pPr>
                  <a:lnSpc>
                    <a:spcPct val="120000"/>
                  </a:lnSpc>
                  <a:spcBef>
                    <a:spcPts val="0"/>
                  </a:spcBef>
                  <a:spcAft>
                    <a:spcPts val="0"/>
                  </a:spcAft>
                </a:pPr>
                <a14:m>
                  <m:oMath xmlns:m="http://schemas.openxmlformats.org/officeDocument/2006/math">
                    <m:sSubSup>
                      <m:sSubSupPr>
                        <m:ctrlPr>
                          <a:rPr lang="ar-AE" i="1">
                            <a:latin typeface="Cambria Math" panose="02040503050406030204" pitchFamily="18" charset="0"/>
                          </a:rPr>
                        </m:ctrlPr>
                      </m:sSubSupPr>
                      <m:e>
                        <m:r>
                          <a:rPr lang="ar-AE" i="1">
                            <a:latin typeface="Cambria Math" panose="02040503050406030204" pitchFamily="18" charset="0"/>
                          </a:rPr>
                          <m:t>𝑧</m:t>
                        </m:r>
                      </m:e>
                      <m:sub>
                        <m:r>
                          <a:rPr lang="ar-AE">
                            <a:latin typeface="Cambria Math" panose="02040503050406030204" pitchFamily="18" charset="0"/>
                          </a:rPr>
                          <m:t>1</m:t>
                        </m:r>
                      </m:sub>
                      <m:sup>
                        <m:r>
                          <a:rPr lang="ar-AE">
                            <a:latin typeface="Cambria Math" panose="02040503050406030204" pitchFamily="18" charset="0"/>
                          </a:rPr>
                          <m:t>′</m:t>
                        </m:r>
                      </m:sup>
                    </m:sSubSup>
                    <m:r>
                      <a:rPr lang="ar-AE">
                        <a:latin typeface="Cambria Math" panose="02040503050406030204" pitchFamily="18" charset="0"/>
                      </a:rPr>
                      <m:t>=</m:t>
                    </m:r>
                    <m:d>
                      <m:dPr>
                        <m:begChr m:val="["/>
                        <m:endChr m:val="]"/>
                        <m:sepChr m:val=","/>
                        <m:ctrlPr>
                          <a:rPr lang="ar-AE" i="1">
                            <a:latin typeface="Cambria Math" panose="02040503050406030204" pitchFamily="18" charset="0"/>
                          </a:rPr>
                        </m:ctrlPr>
                      </m:dP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0599</m:t>
                        </m:r>
                      </m:e>
                      <m:e>
                        <m:r>
                          <m:rPr>
                            <m:nor/>
                          </m:rPr>
                          <a:rPr lang="ar-AE" i="1"/>
                          <m:t>  </m:t>
                        </m:r>
                      </m:e>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2724</m:t>
                        </m:r>
                        <m:r>
                          <m:rPr>
                            <m:nor/>
                          </m:rPr>
                          <a:rPr lang="ar-AE" i="1"/>
                          <m:t>  </m:t>
                        </m:r>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0599</m:t>
                        </m:r>
                      </m:e>
                    </m:d>
                  </m:oMath>
                </a14:m>
                <a:endParaRPr lang="ar-AE" dirty="0"/>
              </a:p>
              <a:p>
                <a:pPr>
                  <a:lnSpc>
                    <a:spcPct val="120000"/>
                  </a:lnSpc>
                  <a:spcBef>
                    <a:spcPts val="0"/>
                  </a:spcBef>
                  <a:spcAft>
                    <a:spcPts val="0"/>
                  </a:spcAft>
                </a:pPr>
                <a:endParaRPr lang="en-IN" dirty="0"/>
              </a:p>
            </p:txBody>
          </p:sp>
        </mc:Choice>
        <mc:Fallback xmlns="">
          <p:sp>
            <p:nvSpPr>
              <p:cNvPr id="6" name="Content Placeholder 2">
                <a:extLst>
                  <a:ext uri="{FF2B5EF4-FFF2-40B4-BE49-F238E27FC236}">
                    <a16:creationId xmlns:a16="http://schemas.microsoft.com/office/drawing/2014/main" id="{62DB4880-C949-FB51-C4F1-2E7D88481064}"/>
                  </a:ext>
                </a:extLst>
              </p:cNvPr>
              <p:cNvSpPr txBox="1">
                <a:spLocks noRot="1" noChangeAspect="1" noMove="1" noResize="1" noEditPoints="1" noAdjustHandles="1" noChangeArrowheads="1" noChangeShapeType="1" noTextEdit="1"/>
              </p:cNvSpPr>
              <p:nvPr/>
            </p:nvSpPr>
            <p:spPr>
              <a:xfrm>
                <a:off x="6594157" y="1553066"/>
                <a:ext cx="4490085" cy="4217604"/>
              </a:xfrm>
              <a:prstGeom prst="rect">
                <a:avLst/>
              </a:prstGeom>
              <a:blipFill>
                <a:blip r:embed="rId3"/>
                <a:stretch>
                  <a:fillRect l="-3940" t="-145"/>
                </a:stretch>
              </a:blipFill>
            </p:spPr>
            <p:txBody>
              <a:bodyPr/>
              <a:lstStyle/>
              <a:p>
                <a:r>
                  <a:rPr lang="en-IN">
                    <a:noFill/>
                  </a:rPr>
                  <a:t> </a:t>
                </a:r>
              </a:p>
            </p:txBody>
          </p:sp>
        </mc:Fallback>
      </mc:AlternateContent>
    </p:spTree>
    <p:extLst>
      <p:ext uri="{BB962C8B-B14F-4D97-AF65-F5344CB8AC3E}">
        <p14:creationId xmlns:p14="http://schemas.microsoft.com/office/powerpoint/2010/main" val="14527877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08A6E2-EC4F-1682-A31D-9F24B9313FED}"/>
              </a:ext>
            </a:extLst>
          </p:cNvPr>
          <p:cNvSpPr>
            <a:spLocks noGrp="1"/>
          </p:cNvSpPr>
          <p:nvPr>
            <p:ph type="title"/>
          </p:nvPr>
        </p:nvSpPr>
        <p:spPr/>
        <p:txBody>
          <a:bodyPr>
            <a:normAutofit fontScale="90000"/>
          </a:bodyPr>
          <a:lstStyle/>
          <a:p>
            <a:endParaRPr lang="en-IN"/>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863D227-8207-B763-E40A-813A4D9AD267}"/>
                  </a:ext>
                </a:extLst>
              </p:cNvPr>
              <p:cNvSpPr>
                <a:spLocks noGrp="1"/>
              </p:cNvSpPr>
              <p:nvPr>
                <p:ph idx="1"/>
              </p:nvPr>
            </p:nvSpPr>
            <p:spPr/>
            <p:txBody>
              <a:bodyPr>
                <a:normAutofit/>
              </a:bodyPr>
              <a:lstStyle/>
              <a:p>
                <a:r>
                  <a:rPr lang="en-IN" b="1" dirty="0"/>
                  <a:t>Apply sigmoid</a:t>
                </a:r>
              </a:p>
              <a:p>
                <a14:m>
                  <m:oMath xmlns:m="http://schemas.openxmlformats.org/officeDocument/2006/math">
                    <m:r>
                      <a:rPr lang="en-IN" i="1">
                        <a:latin typeface="Cambria Math" panose="02040503050406030204" pitchFamily="18" charset="0"/>
                      </a:rPr>
                      <m:t>𝜎</m:t>
                    </m:r>
                    <m:d>
                      <m:dPr>
                        <m:ctrlPr>
                          <a:rPr lang="ar-AE" i="1">
                            <a:latin typeface="Cambria Math" panose="02040503050406030204" pitchFamily="18" charset="0"/>
                          </a:rPr>
                        </m:ctrlPr>
                      </m:dP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0599</m:t>
                        </m:r>
                      </m:e>
                    </m:d>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5150</m:t>
                    </m:r>
                  </m:oMath>
                </a14:m>
                <a:endParaRPr lang="ar-AE" dirty="0"/>
              </a:p>
              <a:p>
                <a14:m>
                  <m:oMath xmlns:m="http://schemas.openxmlformats.org/officeDocument/2006/math">
                    <m:r>
                      <a:rPr lang="ar-AE" i="1">
                        <a:latin typeface="Cambria Math" panose="02040503050406030204" pitchFamily="18" charset="0"/>
                      </a:rPr>
                      <m:t>𝜎</m:t>
                    </m:r>
                    <m:d>
                      <m:dPr>
                        <m:ctrlPr>
                          <a:rPr lang="ar-AE" i="1">
                            <a:latin typeface="Cambria Math" panose="02040503050406030204" pitchFamily="18" charset="0"/>
                          </a:rPr>
                        </m:ctrlPr>
                      </m:dP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2724</m:t>
                        </m:r>
                      </m:e>
                    </m:d>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5677</m:t>
                    </m:r>
                  </m:oMath>
                </a14:m>
                <a:endParaRPr lang="ar-AE" dirty="0"/>
              </a:p>
              <a:p>
                <a14:m>
                  <m:oMath xmlns:m="http://schemas.openxmlformats.org/officeDocument/2006/math">
                    <m:r>
                      <a:rPr lang="ar-AE" i="1">
                        <a:latin typeface="Cambria Math" panose="02040503050406030204" pitchFamily="18" charset="0"/>
                      </a:rPr>
                      <m:t>𝜎</m:t>
                    </m:r>
                    <m:d>
                      <m:dPr>
                        <m:ctrlPr>
                          <a:rPr lang="ar-AE" i="1">
                            <a:latin typeface="Cambria Math" panose="02040503050406030204" pitchFamily="18" charset="0"/>
                          </a:rPr>
                        </m:ctrlPr>
                      </m:dPr>
                      <m:e>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0599</m:t>
                        </m:r>
                      </m:e>
                    </m:d>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4850</m:t>
                    </m:r>
                  </m:oMath>
                </a14:m>
                <a:endParaRPr lang="ar-AE" dirty="0"/>
              </a:p>
              <a:p>
                <a:r>
                  <a:rPr lang="en-IN" b="1" dirty="0"/>
                  <a:t> Reconstruction</a:t>
                </a:r>
              </a:p>
              <a:p>
                <a14:m>
                  <m:oMath xmlns:m="http://schemas.openxmlformats.org/officeDocument/2006/math">
                    <m:sSub>
                      <m:sSubPr>
                        <m:ctrlPr>
                          <a:rPr lang="ar-AE" i="1">
                            <a:latin typeface="Cambria Math" panose="02040503050406030204" pitchFamily="18" charset="0"/>
                          </a:rPr>
                        </m:ctrlPr>
                      </m:sSubPr>
                      <m:e>
                        <m:acc>
                          <m:accPr>
                            <m:chr m:val="̂"/>
                            <m:ctrlPr>
                              <a:rPr lang="ar-AE" i="1">
                                <a:latin typeface="Cambria Math" panose="02040503050406030204" pitchFamily="18" charset="0"/>
                              </a:rPr>
                            </m:ctrlPr>
                          </m:accPr>
                          <m:e>
                            <m:r>
                              <a:rPr lang="ar-AE" i="1">
                                <a:latin typeface="Cambria Math" panose="02040503050406030204" pitchFamily="18" charset="0"/>
                              </a:rPr>
                              <m:t>𝑥</m:t>
                            </m:r>
                          </m:e>
                        </m:acc>
                      </m:e>
                      <m:sub>
                        <m:r>
                          <a:rPr lang="ar-AE">
                            <a:latin typeface="Cambria Math" panose="02040503050406030204" pitchFamily="18" charset="0"/>
                          </a:rPr>
                          <m:t>1</m:t>
                        </m:r>
                      </m:sub>
                    </m:sSub>
                    <m:r>
                      <a:rPr lang="ar-AE">
                        <a:latin typeface="Cambria Math" panose="02040503050406030204" pitchFamily="18" charset="0"/>
                      </a:rPr>
                      <m:t>=</m:t>
                    </m:r>
                    <m:d>
                      <m:dPr>
                        <m:begChr m:val="["/>
                        <m:endChr m:val="]"/>
                        <m:sepChr m:val=","/>
                        <m:ctrlPr>
                          <a:rPr lang="ar-AE" i="1">
                            <a:latin typeface="Cambria Math" panose="02040503050406030204" pitchFamily="18" charset="0"/>
                          </a:rPr>
                        </m:ctrlPr>
                      </m:dP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5150</m:t>
                        </m:r>
                      </m:e>
                      <m:e>
                        <m:r>
                          <m:rPr>
                            <m:nor/>
                          </m:rPr>
                          <a:rPr lang="ar-AE" i="1"/>
                          <m:t>  </m:t>
                        </m:r>
                      </m:e>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5677</m:t>
                        </m:r>
                        <m:r>
                          <m:rPr>
                            <m:nor/>
                          </m:rPr>
                          <a:rPr lang="ar-AE" i="1"/>
                          <m:t>  </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4850</m:t>
                        </m:r>
                      </m:e>
                    </m:d>
                  </m:oMath>
                </a14:m>
                <a:endParaRPr lang="ar-AE" b="0" dirty="0"/>
              </a:p>
              <a:p>
                <a:r>
                  <a:rPr lang="en-IN" dirty="0"/>
                  <a:t>Original:</a:t>
                </a:r>
              </a:p>
              <a:p>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𝑥</m:t>
                        </m:r>
                      </m:e>
                      <m:sub>
                        <m:r>
                          <a:rPr lang="ar-AE">
                            <a:latin typeface="Cambria Math" panose="02040503050406030204" pitchFamily="18" charset="0"/>
                          </a:rPr>
                          <m:t>1</m:t>
                        </m:r>
                      </m:sub>
                    </m:sSub>
                    <m:r>
                      <a:rPr lang="ar-AE">
                        <a:latin typeface="Cambria Math" panose="02040503050406030204" pitchFamily="18" charset="0"/>
                      </a:rPr>
                      <m:t>=</m:t>
                    </m:r>
                    <m:d>
                      <m:dPr>
                        <m:begChr m:val="["/>
                        <m:endChr m:val="]"/>
                        <m:sepChr m:val=","/>
                        <m:ctrlPr>
                          <a:rPr lang="ar-AE" i="1">
                            <a:latin typeface="Cambria Math" panose="02040503050406030204" pitchFamily="18" charset="0"/>
                          </a:rPr>
                        </m:ctrlPr>
                      </m:dPr>
                      <m:e>
                        <m:r>
                          <a:rPr lang="ar-AE">
                            <a:latin typeface="Cambria Math" panose="02040503050406030204" pitchFamily="18" charset="0"/>
                          </a:rPr>
                          <m:t>1</m:t>
                        </m:r>
                      </m:e>
                      <m:e>
                        <m:r>
                          <a:rPr lang="ar-AE">
                            <a:latin typeface="Cambria Math" panose="02040503050406030204" pitchFamily="18" charset="0"/>
                          </a:rPr>
                          <m:t>0</m:t>
                        </m:r>
                      </m:e>
                      <m:e>
                        <m:r>
                          <a:rPr lang="ar-AE">
                            <a:latin typeface="Cambria Math" panose="02040503050406030204" pitchFamily="18" charset="0"/>
                          </a:rPr>
                          <m:t>0</m:t>
                        </m:r>
                      </m:e>
                    </m:d>
                  </m:oMath>
                </a14:m>
                <a:endParaRPr lang="ar-AE" dirty="0"/>
              </a:p>
              <a:p>
                <a:endParaRPr lang="en-IN" dirty="0"/>
              </a:p>
            </p:txBody>
          </p:sp>
        </mc:Choice>
        <mc:Fallback xmlns="">
          <p:sp>
            <p:nvSpPr>
              <p:cNvPr id="3" name="Content Placeholder 2">
                <a:extLst>
                  <a:ext uri="{FF2B5EF4-FFF2-40B4-BE49-F238E27FC236}">
                    <a16:creationId xmlns:a16="http://schemas.microsoft.com/office/drawing/2014/main" id="{5863D227-8207-B763-E40A-813A4D9AD267}"/>
                  </a:ext>
                </a:extLst>
              </p:cNvPr>
              <p:cNvSpPr>
                <a:spLocks noGrp="1" noRot="1" noChangeAspect="1" noMove="1" noResize="1" noEditPoints="1" noAdjustHandles="1" noChangeArrowheads="1" noChangeShapeType="1" noTextEdit="1"/>
              </p:cNvSpPr>
              <p:nvPr>
                <p:ph idx="1"/>
              </p:nvPr>
            </p:nvSpPr>
            <p:spPr>
              <a:blipFill>
                <a:blip r:embed="rId2"/>
                <a:stretch>
                  <a:fillRect l="-1758" t="-2023"/>
                </a:stretch>
              </a:blipFill>
            </p:spPr>
            <p:txBody>
              <a:bodyPr/>
              <a:lstStyle/>
              <a:p>
                <a:r>
                  <a:rPr lang="en-IN">
                    <a:noFill/>
                  </a:rPr>
                  <a:t> </a:t>
                </a:r>
              </a:p>
            </p:txBody>
          </p:sp>
        </mc:Fallback>
      </mc:AlternateContent>
    </p:spTree>
    <p:extLst>
      <p:ext uri="{BB962C8B-B14F-4D97-AF65-F5344CB8AC3E}">
        <p14:creationId xmlns:p14="http://schemas.microsoft.com/office/powerpoint/2010/main" val="18702478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159C30-BAF0-91F8-93BE-DF4D45C8676B}"/>
              </a:ext>
            </a:extLst>
          </p:cNvPr>
          <p:cNvSpPr>
            <a:spLocks noGrp="1"/>
          </p:cNvSpPr>
          <p:nvPr>
            <p:ph type="title"/>
          </p:nvPr>
        </p:nvSpPr>
        <p:spPr/>
        <p:txBody>
          <a:bodyPr>
            <a:normAutofit fontScale="90000"/>
          </a:bodyPr>
          <a:lstStyle/>
          <a:p>
            <a:endParaRPr lang="en-IN"/>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73850AC-C3ED-4BA4-57D7-A437124F6297}"/>
                  </a:ext>
                </a:extLst>
              </p:cNvPr>
              <p:cNvSpPr>
                <a:spLocks noGrp="1"/>
              </p:cNvSpPr>
              <p:nvPr>
                <p:ph idx="1"/>
              </p:nvPr>
            </p:nvSpPr>
            <p:spPr>
              <a:xfrm>
                <a:off x="1168717" y="1908666"/>
                <a:ext cx="4490403" cy="4217604"/>
              </a:xfrm>
            </p:spPr>
            <p:txBody>
              <a:bodyPr>
                <a:normAutofit fontScale="62500" lnSpcReduction="20000"/>
              </a:bodyPr>
              <a:lstStyle/>
              <a:p>
                <a:r>
                  <a:rPr lang="en-IN" b="1" dirty="0"/>
                  <a:t>Reconstruction of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𝑥</m:t>
                        </m:r>
                      </m:e>
                      <m:sub>
                        <m:r>
                          <a:rPr lang="ar-AE">
                            <a:latin typeface="Cambria Math" panose="02040503050406030204" pitchFamily="18" charset="0"/>
                          </a:rPr>
                          <m:t>2</m:t>
                        </m:r>
                      </m:sub>
                    </m:sSub>
                    <m:r>
                      <a:rPr lang="ar-AE">
                        <a:latin typeface="Cambria Math" panose="02040503050406030204" pitchFamily="18" charset="0"/>
                      </a:rPr>
                      <m:t>=</m:t>
                    </m:r>
                    <m:d>
                      <m:dPr>
                        <m:begChr m:val="["/>
                        <m:endChr m:val="]"/>
                        <m:sepChr m:val=","/>
                        <m:ctrlPr>
                          <a:rPr lang="ar-AE" i="1">
                            <a:latin typeface="Cambria Math" panose="02040503050406030204" pitchFamily="18" charset="0"/>
                          </a:rPr>
                        </m:ctrlPr>
                      </m:dPr>
                      <m:e>
                        <m:r>
                          <a:rPr lang="ar-AE">
                            <a:latin typeface="Cambria Math" panose="02040503050406030204" pitchFamily="18" charset="0"/>
                          </a:rPr>
                          <m:t>0</m:t>
                        </m:r>
                      </m:e>
                      <m:e>
                        <m:r>
                          <a:rPr lang="ar-AE">
                            <a:latin typeface="Cambria Math" panose="02040503050406030204" pitchFamily="18" charset="0"/>
                          </a:rPr>
                          <m:t>1</m:t>
                        </m:r>
                      </m:e>
                      <m:e>
                        <m:r>
                          <a:rPr lang="ar-AE">
                            <a:latin typeface="Cambria Math" panose="02040503050406030204" pitchFamily="18" charset="0"/>
                          </a:rPr>
                          <m:t>0</m:t>
                        </m:r>
                      </m:e>
                    </m:d>
                  </m:oMath>
                </a14:m>
                <a:endParaRPr lang="ar-AE" b="1" dirty="0"/>
              </a:p>
              <a:p>
                <a:r>
                  <a:rPr lang="en-IN" dirty="0"/>
                  <a:t>Hidden:</a:t>
                </a:r>
              </a:p>
              <a:p>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h</m:t>
                        </m:r>
                      </m:e>
                      <m:sub>
                        <m:r>
                          <a:rPr lang="ar-AE">
                            <a:latin typeface="Cambria Math" panose="02040503050406030204" pitchFamily="18" charset="0"/>
                          </a:rPr>
                          <m:t>2</m:t>
                        </m:r>
                      </m:sub>
                    </m:sSub>
                    <m:r>
                      <a:rPr lang="ar-AE">
                        <a:latin typeface="Cambria Math" panose="02040503050406030204" pitchFamily="18" charset="0"/>
                      </a:rPr>
                      <m:t>=</m:t>
                    </m:r>
                    <m:d>
                      <m:dPr>
                        <m:begChr m:val="["/>
                        <m:endChr m:val="]"/>
                        <m:ctrlPr>
                          <a:rPr lang="ar-AE" i="1">
                            <a:latin typeface="Cambria Math" panose="02040503050406030204" pitchFamily="18" charset="0"/>
                          </a:rPr>
                        </m:ctrlPr>
                      </m:dPr>
                      <m:e>
                        <m:m>
                          <m:mPr>
                            <m:plcHide m:val="on"/>
                            <m:mcs>
                              <m:mc>
                                <m:mcPr>
                                  <m:count m:val="1"/>
                                  <m:mcJc m:val="center"/>
                                </m:mcPr>
                              </m:mc>
                            </m:mcs>
                            <m:ctrlPr>
                              <a:rPr lang="ar-AE" i="1">
                                <a:latin typeface="Cambria Math" panose="02040503050406030204" pitchFamily="18" charset="0"/>
                              </a:rPr>
                            </m:ctrlPr>
                          </m:mPr>
                          <m:m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4256</m:t>
                              </m:r>
                            </m:e>
                          </m:mr>
                          <m:m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5498</m:t>
                              </m:r>
                            </m:e>
                          </m:mr>
                        </m:m>
                      </m:e>
                    </m:d>
                  </m:oMath>
                </a14:m>
                <a:endParaRPr lang="ar-AE" dirty="0"/>
              </a:p>
              <a:p>
                <a:r>
                  <a:rPr lang="en-IN" b="1" dirty="0"/>
                  <a:t>Neuron 1</a:t>
                </a:r>
              </a:p>
              <a:p>
                <a14:m>
                  <m:oMath xmlns:m="http://schemas.openxmlformats.org/officeDocument/2006/math">
                    <m:r>
                      <a:rPr lang="en-IN">
                        <a:latin typeface="Cambria Math" panose="02040503050406030204" pitchFamily="18" charset="0"/>
                      </a:rPr>
                      <m:t>0</m:t>
                    </m:r>
                    <m:r>
                      <a:rPr lang="en-IN">
                        <a:latin typeface="Cambria Math" panose="02040503050406030204" pitchFamily="18" charset="0"/>
                      </a:rPr>
                      <m:t>.</m:t>
                    </m:r>
                    <m:r>
                      <a:rPr lang="en-IN">
                        <a:latin typeface="Cambria Math" panose="02040503050406030204" pitchFamily="18" charset="0"/>
                      </a:rPr>
                      <m:t>3</m:t>
                    </m:r>
                    <m:d>
                      <m:dPr>
                        <m:ctrlPr>
                          <a:rPr lang="ar-AE" i="1">
                            <a:latin typeface="Cambria Math" panose="02040503050406030204" pitchFamily="18" charset="0"/>
                          </a:rPr>
                        </m:ctrlPr>
                      </m:dP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4256</m:t>
                        </m:r>
                      </m:e>
                    </m:d>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2</m:t>
                    </m:r>
                    <m:d>
                      <m:dPr>
                        <m:ctrlPr>
                          <a:rPr lang="ar-AE" i="1">
                            <a:latin typeface="Cambria Math" panose="02040503050406030204" pitchFamily="18" charset="0"/>
                          </a:rPr>
                        </m:ctrlPr>
                      </m:dP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5498</m:t>
                        </m:r>
                      </m:e>
                    </m:d>
                  </m:oMath>
                </a14:m>
                <a:endParaRPr lang="ar-AE" dirty="0"/>
              </a:p>
              <a:p>
                <a14:m>
                  <m:oMath xmlns:m="http://schemas.openxmlformats.org/officeDocument/2006/math">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1277</m:t>
                    </m:r>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1099</m:t>
                    </m:r>
                  </m:oMath>
                </a14:m>
                <a:endParaRPr lang="ar-AE" dirty="0"/>
              </a:p>
              <a:p>
                <a14:m>
                  <m:oMath xmlns:m="http://schemas.openxmlformats.org/officeDocument/2006/math">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0178</m:t>
                    </m:r>
                  </m:oMath>
                </a14:m>
                <a:endParaRPr lang="ar-AE" dirty="0"/>
              </a:p>
              <a:p>
                <a:r>
                  <a:rPr lang="en-IN" b="1" dirty="0"/>
                  <a:t>Neuron 2</a:t>
                </a:r>
              </a:p>
              <a:p>
                <a14:m>
                  <m:oMath xmlns:m="http://schemas.openxmlformats.org/officeDocument/2006/math">
                    <m:r>
                      <a:rPr lang="en-IN">
                        <a:latin typeface="Cambria Math" panose="02040503050406030204" pitchFamily="18" charset="0"/>
                      </a:rPr>
                      <m:t>0</m:t>
                    </m:r>
                    <m:r>
                      <a:rPr lang="en-IN">
                        <a:latin typeface="Cambria Math" panose="02040503050406030204" pitchFamily="18" charset="0"/>
                      </a:rPr>
                      <m:t>.</m:t>
                    </m:r>
                    <m:r>
                      <a:rPr lang="en-IN">
                        <a:latin typeface="Cambria Math" panose="02040503050406030204" pitchFamily="18" charset="0"/>
                      </a:rPr>
                      <m:t>4</m:t>
                    </m:r>
                    <m:d>
                      <m:dPr>
                        <m:ctrlPr>
                          <a:rPr lang="ar-AE" i="1">
                            <a:latin typeface="Cambria Math" panose="02040503050406030204" pitchFamily="18" charset="0"/>
                          </a:rPr>
                        </m:ctrlPr>
                      </m:dP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4256</m:t>
                        </m:r>
                      </m:e>
                    </m:d>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1</m:t>
                    </m:r>
                    <m:d>
                      <m:dPr>
                        <m:ctrlPr>
                          <a:rPr lang="ar-AE" i="1">
                            <a:latin typeface="Cambria Math" panose="02040503050406030204" pitchFamily="18" charset="0"/>
                          </a:rPr>
                        </m:ctrlPr>
                      </m:dP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5498</m:t>
                        </m:r>
                      </m:e>
                    </m:d>
                  </m:oMath>
                </a14:m>
                <a:endParaRPr lang="ar-AE" dirty="0"/>
              </a:p>
              <a:p>
                <a14:m>
                  <m:oMath xmlns:m="http://schemas.openxmlformats.org/officeDocument/2006/math">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1702</m:t>
                    </m:r>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0549</m:t>
                    </m:r>
                  </m:oMath>
                </a14:m>
                <a:endParaRPr lang="ar-AE" dirty="0"/>
              </a:p>
              <a:p>
                <a14:m>
                  <m:oMath xmlns:m="http://schemas.openxmlformats.org/officeDocument/2006/math">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2251</m:t>
                    </m:r>
                  </m:oMath>
                </a14:m>
                <a:endParaRPr lang="ar-AE" dirty="0"/>
              </a:p>
              <a:p>
                <a:endParaRPr lang="en-IN" dirty="0"/>
              </a:p>
            </p:txBody>
          </p:sp>
        </mc:Choice>
        <mc:Fallback xmlns="">
          <p:sp>
            <p:nvSpPr>
              <p:cNvPr id="3" name="Content Placeholder 2">
                <a:extLst>
                  <a:ext uri="{FF2B5EF4-FFF2-40B4-BE49-F238E27FC236}">
                    <a16:creationId xmlns:a16="http://schemas.microsoft.com/office/drawing/2014/main" id="{573850AC-C3ED-4BA4-57D7-A437124F6297}"/>
                  </a:ext>
                </a:extLst>
              </p:cNvPr>
              <p:cNvSpPr>
                <a:spLocks noGrp="1" noRot="1" noChangeAspect="1" noMove="1" noResize="1" noEditPoints="1" noAdjustHandles="1" noChangeArrowheads="1" noChangeShapeType="1" noTextEdit="1"/>
              </p:cNvSpPr>
              <p:nvPr>
                <p:ph idx="1"/>
              </p:nvPr>
            </p:nvSpPr>
            <p:spPr>
              <a:xfrm>
                <a:off x="1168717" y="1908666"/>
                <a:ext cx="4490403" cy="4217604"/>
              </a:xfrm>
              <a:blipFill>
                <a:blip r:embed="rId2"/>
                <a:stretch>
                  <a:fillRect l="-2446" t="-1590"/>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 name="Content Placeholder 2">
                <a:extLst>
                  <a:ext uri="{FF2B5EF4-FFF2-40B4-BE49-F238E27FC236}">
                    <a16:creationId xmlns:a16="http://schemas.microsoft.com/office/drawing/2014/main" id="{36C5FB01-34B3-E474-F9E4-702EE07B2BF0}"/>
                  </a:ext>
                </a:extLst>
              </p:cNvPr>
              <p:cNvSpPr txBox="1">
                <a:spLocks/>
              </p:cNvSpPr>
              <p:nvPr/>
            </p:nvSpPr>
            <p:spPr>
              <a:xfrm>
                <a:off x="7162800" y="1908666"/>
                <a:ext cx="4145280" cy="4217604"/>
              </a:xfrm>
              <a:prstGeom prst="rect">
                <a:avLst/>
              </a:prstGeom>
            </p:spPr>
            <p:txBody>
              <a:bodyPr vert="horz" lIns="0" tIns="45720" rIns="0" bIns="45720" rtlCol="0">
                <a:normAutofit/>
              </a:bodyPr>
              <a:lstStyle>
                <a:lvl1pPr marL="361950" indent="-361950" algn="l" defTabSz="914400" rtl="0" eaLnBrk="1" latinLnBrk="0" hangingPunct="1">
                  <a:lnSpc>
                    <a:spcPct val="90000"/>
                  </a:lnSpc>
                  <a:spcBef>
                    <a:spcPts val="1200"/>
                  </a:spcBef>
                  <a:spcAft>
                    <a:spcPts val="200"/>
                  </a:spcAft>
                  <a:buClr>
                    <a:schemeClr val="accent1"/>
                  </a:buClr>
                  <a:buSzPct val="100000"/>
                  <a:buFont typeface="Arial" panose="020B0604020202020204" pitchFamily="34" charset="0"/>
                  <a:buChar char="•"/>
                  <a:defRPr sz="2400" kern="1200">
                    <a:solidFill>
                      <a:schemeClr val="tx1"/>
                    </a:solidFill>
                    <a:latin typeface="+mn-lt"/>
                    <a:ea typeface="+mn-ea"/>
                    <a:cs typeface="+mn-cs"/>
                  </a:defRPr>
                </a:lvl1pPr>
                <a:lvl2pPr marL="542925" indent="-3429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2400" kern="1200">
                    <a:solidFill>
                      <a:schemeClr val="tx1"/>
                    </a:solidFill>
                    <a:latin typeface="+mn-lt"/>
                    <a:ea typeface="+mn-ea"/>
                    <a:cs typeface="+mn-cs"/>
                  </a:defRPr>
                </a:lvl2pPr>
                <a:lvl3pPr marL="714375" indent="-330200" algn="l" defTabSz="914400" rtl="0" eaLnBrk="1" latinLnBrk="0" hangingPunct="1">
                  <a:lnSpc>
                    <a:spcPct val="90000"/>
                  </a:lnSpc>
                  <a:spcBef>
                    <a:spcPts val="200"/>
                  </a:spcBef>
                  <a:spcAft>
                    <a:spcPts val="400"/>
                  </a:spcAft>
                  <a:buClr>
                    <a:schemeClr val="accent1"/>
                  </a:buClr>
                  <a:buFont typeface="Arial" panose="020B0604020202020204" pitchFamily="34" charset="0"/>
                  <a:buChar char="•"/>
                  <a:tabLst>
                    <a:tab pos="714375" algn="l"/>
                  </a:tabLst>
                  <a:defRPr sz="2400" kern="1200">
                    <a:solidFill>
                      <a:schemeClr val="tx1"/>
                    </a:solidFill>
                    <a:latin typeface="+mn-lt"/>
                    <a:ea typeface="+mn-ea"/>
                    <a:cs typeface="+mn-cs"/>
                  </a:defRPr>
                </a:lvl3pPr>
                <a:lvl4pPr marL="895350" indent="-2667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2400" kern="1200">
                    <a:solidFill>
                      <a:schemeClr val="tx1"/>
                    </a:solidFill>
                    <a:latin typeface="+mn-lt"/>
                    <a:ea typeface="+mn-ea"/>
                    <a:cs typeface="+mn-cs"/>
                  </a:defRPr>
                </a:lvl4pPr>
                <a:lvl5pPr marL="1162050" indent="-352425"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2400" kern="1200">
                    <a:solidFill>
                      <a:schemeClr val="tx1"/>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endParaRPr lang="ar-AE" dirty="0"/>
              </a:p>
              <a:p>
                <a:r>
                  <a:rPr lang="en-IN" b="1" dirty="0"/>
                  <a:t>Neuron 3</a:t>
                </a:r>
              </a:p>
              <a:p>
                <a14:m>
                  <m:oMath xmlns:m="http://schemas.openxmlformats.org/officeDocument/2006/math">
                    <m:r>
                      <a:rPr lang="en-IN">
                        <a:latin typeface="Cambria Math" panose="02040503050406030204" pitchFamily="18" charset="0"/>
                      </a:rPr>
                      <m:t>−</m:t>
                    </m:r>
                    <m:r>
                      <a:rPr lang="en-IN">
                        <a:latin typeface="Cambria Math" panose="02040503050406030204" pitchFamily="18" charset="0"/>
                      </a:rPr>
                      <m:t>0</m:t>
                    </m:r>
                    <m:r>
                      <a:rPr lang="en-IN">
                        <a:latin typeface="Cambria Math" panose="02040503050406030204" pitchFamily="18" charset="0"/>
                      </a:rPr>
                      <m:t>.</m:t>
                    </m:r>
                    <m:r>
                      <a:rPr lang="en-IN">
                        <a:latin typeface="Cambria Math" panose="02040503050406030204" pitchFamily="18" charset="0"/>
                      </a:rPr>
                      <m:t>3</m:t>
                    </m:r>
                    <m:d>
                      <m:dPr>
                        <m:ctrlPr>
                          <a:rPr lang="ar-AE" i="1">
                            <a:latin typeface="Cambria Math" panose="02040503050406030204" pitchFamily="18" charset="0"/>
                          </a:rPr>
                        </m:ctrlPr>
                      </m:dP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4256</m:t>
                        </m:r>
                      </m:e>
                    </m:d>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2</m:t>
                    </m:r>
                    <m:d>
                      <m:dPr>
                        <m:ctrlPr>
                          <a:rPr lang="ar-AE" i="1">
                            <a:latin typeface="Cambria Math" panose="02040503050406030204" pitchFamily="18" charset="0"/>
                          </a:rPr>
                        </m:ctrlPr>
                      </m:dP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5498</m:t>
                        </m:r>
                      </m:e>
                    </m:d>
                  </m:oMath>
                </a14:m>
                <a:endParaRPr lang="ar-AE" dirty="0"/>
              </a:p>
              <a:p>
                <a14:m>
                  <m:oMath xmlns:m="http://schemas.openxmlformats.org/officeDocument/2006/math">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1277</m:t>
                    </m:r>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1099</m:t>
                    </m:r>
                  </m:oMath>
                </a14:m>
                <a:endParaRPr lang="ar-AE" dirty="0"/>
              </a:p>
              <a:p>
                <a14:m>
                  <m:oMath xmlns:m="http://schemas.openxmlformats.org/officeDocument/2006/math">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0178</m:t>
                    </m:r>
                  </m:oMath>
                </a14:m>
                <a:endParaRPr lang="ar-AE" dirty="0"/>
              </a:p>
              <a:p>
                <a:br>
                  <a:rPr lang="ar-AE" dirty="0"/>
                </a:br>
                <a:endParaRPr lang="ar-AE" dirty="0"/>
              </a:p>
              <a:p>
                <a14:m>
                  <m:oMath xmlns:m="http://schemas.openxmlformats.org/officeDocument/2006/math">
                    <m:sSubSup>
                      <m:sSubSupPr>
                        <m:ctrlPr>
                          <a:rPr lang="ar-AE" i="1">
                            <a:latin typeface="Cambria Math" panose="02040503050406030204" pitchFamily="18" charset="0"/>
                          </a:rPr>
                        </m:ctrlPr>
                      </m:sSubSupPr>
                      <m:e>
                        <m:r>
                          <a:rPr lang="ar-AE" i="1">
                            <a:latin typeface="Cambria Math" panose="02040503050406030204" pitchFamily="18" charset="0"/>
                          </a:rPr>
                          <m:t>𝑧</m:t>
                        </m:r>
                      </m:e>
                      <m:sub>
                        <m:r>
                          <a:rPr lang="ar-AE">
                            <a:latin typeface="Cambria Math" panose="02040503050406030204" pitchFamily="18" charset="0"/>
                          </a:rPr>
                          <m:t>2</m:t>
                        </m:r>
                      </m:sub>
                      <m:sup>
                        <m:r>
                          <a:rPr lang="ar-AE">
                            <a:latin typeface="Cambria Math" panose="02040503050406030204" pitchFamily="18" charset="0"/>
                          </a:rPr>
                          <m:t>′</m:t>
                        </m:r>
                      </m:sup>
                    </m:sSubSup>
                    <m:r>
                      <a:rPr lang="ar-AE">
                        <a:latin typeface="Cambria Math" panose="02040503050406030204" pitchFamily="18" charset="0"/>
                      </a:rPr>
                      <m:t>=</m:t>
                    </m:r>
                    <m:d>
                      <m:dPr>
                        <m:begChr m:val="["/>
                        <m:endChr m:val="]"/>
                        <m:sepChr m:val=","/>
                        <m:ctrlPr>
                          <a:rPr lang="ar-AE" i="1">
                            <a:latin typeface="Cambria Math" panose="02040503050406030204" pitchFamily="18" charset="0"/>
                          </a:rPr>
                        </m:ctrlPr>
                      </m:dP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0178</m:t>
                        </m:r>
                      </m:e>
                      <m:e>
                        <m:r>
                          <m:rPr>
                            <m:nor/>
                          </m:rPr>
                          <a:rPr lang="ar-AE" i="1"/>
                          <m:t>  </m:t>
                        </m:r>
                      </m:e>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2251</m:t>
                        </m:r>
                        <m:r>
                          <m:rPr>
                            <m:nor/>
                          </m:rPr>
                          <a:rPr lang="ar-AE" i="1"/>
                          <m:t>  </m:t>
                        </m:r>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0178</m:t>
                        </m:r>
                      </m:e>
                    </m:d>
                  </m:oMath>
                </a14:m>
                <a:endParaRPr lang="ar-AE" dirty="0"/>
              </a:p>
              <a:p>
                <a:endParaRPr lang="en-IN" dirty="0"/>
              </a:p>
            </p:txBody>
          </p:sp>
        </mc:Choice>
        <mc:Fallback xmlns="">
          <p:sp>
            <p:nvSpPr>
              <p:cNvPr id="4" name="Content Placeholder 2">
                <a:extLst>
                  <a:ext uri="{FF2B5EF4-FFF2-40B4-BE49-F238E27FC236}">
                    <a16:creationId xmlns:a16="http://schemas.microsoft.com/office/drawing/2014/main" id="{36C5FB01-34B3-E474-F9E4-702EE07B2BF0}"/>
                  </a:ext>
                </a:extLst>
              </p:cNvPr>
              <p:cNvSpPr txBox="1">
                <a:spLocks noRot="1" noChangeAspect="1" noMove="1" noResize="1" noEditPoints="1" noAdjustHandles="1" noChangeArrowheads="1" noChangeShapeType="1" noTextEdit="1"/>
              </p:cNvSpPr>
              <p:nvPr/>
            </p:nvSpPr>
            <p:spPr>
              <a:xfrm>
                <a:off x="7162800" y="1908666"/>
                <a:ext cx="4145280" cy="4217604"/>
              </a:xfrm>
              <a:prstGeom prst="rect">
                <a:avLst/>
              </a:prstGeom>
              <a:blipFill>
                <a:blip r:embed="rId3"/>
                <a:stretch>
                  <a:fillRect l="-4118" r="-6471"/>
                </a:stretch>
              </a:blipFill>
            </p:spPr>
            <p:txBody>
              <a:bodyPr/>
              <a:lstStyle/>
              <a:p>
                <a:r>
                  <a:rPr lang="en-IN">
                    <a:noFill/>
                  </a:rPr>
                  <a:t> </a:t>
                </a:r>
              </a:p>
            </p:txBody>
          </p:sp>
        </mc:Fallback>
      </mc:AlternateContent>
    </p:spTree>
    <p:extLst>
      <p:ext uri="{BB962C8B-B14F-4D97-AF65-F5344CB8AC3E}">
        <p14:creationId xmlns:p14="http://schemas.microsoft.com/office/powerpoint/2010/main" val="20949963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ACC104-56FF-DCD1-4458-808DBC9A3A3B}"/>
              </a:ext>
            </a:extLst>
          </p:cNvPr>
          <p:cNvSpPr>
            <a:spLocks noGrp="1"/>
          </p:cNvSpPr>
          <p:nvPr>
            <p:ph type="title"/>
          </p:nvPr>
        </p:nvSpPr>
        <p:spPr/>
        <p:txBody>
          <a:bodyPr>
            <a:normAutofit fontScale="90000"/>
          </a:bodyPr>
          <a:lstStyle/>
          <a:p>
            <a:endParaRPr lang="en-IN"/>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DFB0BBA-E383-0D08-B650-5C22A6EA6025}"/>
                  </a:ext>
                </a:extLst>
              </p:cNvPr>
              <p:cNvSpPr>
                <a:spLocks noGrp="1"/>
              </p:cNvSpPr>
              <p:nvPr>
                <p:ph idx="1"/>
              </p:nvPr>
            </p:nvSpPr>
            <p:spPr>
              <a:xfrm>
                <a:off x="802641" y="1391920"/>
                <a:ext cx="4165600" cy="4734350"/>
              </a:xfrm>
            </p:spPr>
            <p:txBody>
              <a:bodyPr>
                <a:normAutofit fontScale="70000" lnSpcReduction="20000"/>
              </a:bodyPr>
              <a:lstStyle/>
              <a:p>
                <a:r>
                  <a:rPr lang="en-IN" b="1" dirty="0"/>
                  <a:t>Sigmoid</a:t>
                </a:r>
              </a:p>
              <a:p>
                <a14:m>
                  <m:oMath xmlns:m="http://schemas.openxmlformats.org/officeDocument/2006/math">
                    <m:r>
                      <a:rPr lang="en-IN" i="1">
                        <a:latin typeface="Cambria Math" panose="02040503050406030204" pitchFamily="18" charset="0"/>
                      </a:rPr>
                      <m:t>𝜎</m:t>
                    </m:r>
                    <m:d>
                      <m:dPr>
                        <m:ctrlPr>
                          <a:rPr lang="ar-AE" i="1">
                            <a:latin typeface="Cambria Math" panose="02040503050406030204" pitchFamily="18" charset="0"/>
                          </a:rPr>
                        </m:ctrlPr>
                      </m:dP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0178</m:t>
                        </m:r>
                      </m:e>
                    </m:d>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5044</m:t>
                    </m:r>
                  </m:oMath>
                </a14:m>
                <a:endParaRPr lang="ar-AE" dirty="0"/>
              </a:p>
              <a:p>
                <a14:m>
                  <m:oMath xmlns:m="http://schemas.openxmlformats.org/officeDocument/2006/math">
                    <m:r>
                      <a:rPr lang="ar-AE" i="1">
                        <a:latin typeface="Cambria Math" panose="02040503050406030204" pitchFamily="18" charset="0"/>
                      </a:rPr>
                      <m:t>𝜎</m:t>
                    </m:r>
                    <m:d>
                      <m:dPr>
                        <m:ctrlPr>
                          <a:rPr lang="ar-AE" i="1">
                            <a:latin typeface="Cambria Math" panose="02040503050406030204" pitchFamily="18" charset="0"/>
                          </a:rPr>
                        </m:ctrlPr>
                      </m:dP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2251</m:t>
                        </m:r>
                      </m:e>
                    </m:d>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5561</m:t>
                    </m:r>
                  </m:oMath>
                </a14:m>
                <a:endParaRPr lang="ar-AE" dirty="0"/>
              </a:p>
              <a:p>
                <a14:m>
                  <m:oMath xmlns:m="http://schemas.openxmlformats.org/officeDocument/2006/math">
                    <m:r>
                      <a:rPr lang="ar-AE" i="1">
                        <a:latin typeface="Cambria Math" panose="02040503050406030204" pitchFamily="18" charset="0"/>
                      </a:rPr>
                      <m:t>𝜎</m:t>
                    </m:r>
                    <m:d>
                      <m:dPr>
                        <m:ctrlPr>
                          <a:rPr lang="ar-AE" i="1">
                            <a:latin typeface="Cambria Math" panose="02040503050406030204" pitchFamily="18" charset="0"/>
                          </a:rPr>
                        </m:ctrlPr>
                      </m:dPr>
                      <m:e>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0178</m:t>
                        </m:r>
                      </m:e>
                    </m:d>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4956</m:t>
                    </m:r>
                  </m:oMath>
                </a14:m>
                <a:endParaRPr lang="ar-AE" dirty="0"/>
              </a:p>
              <a:p>
                <a:br>
                  <a:rPr lang="ar-AE" dirty="0"/>
                </a:br>
                <a:r>
                  <a:rPr lang="en-IN" b="1" dirty="0"/>
                  <a:t> Reconstruction</a:t>
                </a:r>
              </a:p>
              <a:p>
                <a14:m>
                  <m:oMath xmlns:m="http://schemas.openxmlformats.org/officeDocument/2006/math">
                    <m:sSub>
                      <m:sSubPr>
                        <m:ctrlPr>
                          <a:rPr lang="ar-AE" i="1">
                            <a:latin typeface="Cambria Math" panose="02040503050406030204" pitchFamily="18" charset="0"/>
                          </a:rPr>
                        </m:ctrlPr>
                      </m:sSubPr>
                      <m:e>
                        <m:acc>
                          <m:accPr>
                            <m:chr m:val="̂"/>
                            <m:ctrlPr>
                              <a:rPr lang="ar-AE" i="1">
                                <a:latin typeface="Cambria Math" panose="02040503050406030204" pitchFamily="18" charset="0"/>
                              </a:rPr>
                            </m:ctrlPr>
                          </m:accPr>
                          <m:e>
                            <m:r>
                              <a:rPr lang="ar-AE" i="1">
                                <a:latin typeface="Cambria Math" panose="02040503050406030204" pitchFamily="18" charset="0"/>
                              </a:rPr>
                              <m:t>𝑥</m:t>
                            </m:r>
                          </m:e>
                        </m:acc>
                      </m:e>
                      <m:sub>
                        <m:r>
                          <a:rPr lang="ar-AE">
                            <a:latin typeface="Cambria Math" panose="02040503050406030204" pitchFamily="18" charset="0"/>
                          </a:rPr>
                          <m:t>2</m:t>
                        </m:r>
                      </m:sub>
                    </m:sSub>
                    <m:r>
                      <a:rPr lang="ar-AE">
                        <a:latin typeface="Cambria Math" panose="02040503050406030204" pitchFamily="18" charset="0"/>
                      </a:rPr>
                      <m:t>=</m:t>
                    </m:r>
                    <m:d>
                      <m:dPr>
                        <m:begChr m:val="["/>
                        <m:endChr m:val="]"/>
                        <m:sepChr m:val=","/>
                        <m:ctrlPr>
                          <a:rPr lang="ar-AE" i="1">
                            <a:latin typeface="Cambria Math" panose="02040503050406030204" pitchFamily="18" charset="0"/>
                          </a:rPr>
                        </m:ctrlPr>
                      </m:dP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5044</m:t>
                        </m:r>
                      </m:e>
                      <m:e>
                        <m:r>
                          <m:rPr>
                            <m:nor/>
                          </m:rPr>
                          <a:rPr lang="ar-AE" i="1"/>
                          <m:t>  </m:t>
                        </m:r>
                      </m:e>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5561</m:t>
                        </m:r>
                        <m:r>
                          <m:rPr>
                            <m:nor/>
                          </m:rPr>
                          <a:rPr lang="ar-AE" i="1"/>
                          <m:t>  </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4956</m:t>
                        </m:r>
                      </m:e>
                    </m:d>
                  </m:oMath>
                </a14:m>
                <a:endParaRPr lang="ar-AE" b="0" dirty="0"/>
              </a:p>
              <a:p>
                <a:r>
                  <a:rPr lang="en-IN" dirty="0"/>
                  <a:t>Original:</a:t>
                </a:r>
              </a:p>
              <a:p>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𝑥</m:t>
                        </m:r>
                      </m:e>
                      <m:sub>
                        <m:r>
                          <a:rPr lang="ar-AE">
                            <a:latin typeface="Cambria Math" panose="02040503050406030204" pitchFamily="18" charset="0"/>
                          </a:rPr>
                          <m:t>2</m:t>
                        </m:r>
                      </m:sub>
                    </m:sSub>
                    <m:r>
                      <a:rPr lang="ar-AE">
                        <a:latin typeface="Cambria Math" panose="02040503050406030204" pitchFamily="18" charset="0"/>
                      </a:rPr>
                      <m:t>=</m:t>
                    </m:r>
                    <m:d>
                      <m:dPr>
                        <m:begChr m:val="["/>
                        <m:endChr m:val="]"/>
                        <m:sepChr m:val=","/>
                        <m:ctrlPr>
                          <a:rPr lang="ar-AE" i="1">
                            <a:latin typeface="Cambria Math" panose="02040503050406030204" pitchFamily="18" charset="0"/>
                          </a:rPr>
                        </m:ctrlPr>
                      </m:dPr>
                      <m:e>
                        <m:r>
                          <a:rPr lang="ar-AE">
                            <a:latin typeface="Cambria Math" panose="02040503050406030204" pitchFamily="18" charset="0"/>
                          </a:rPr>
                          <m:t>0</m:t>
                        </m:r>
                      </m:e>
                      <m:e>
                        <m:r>
                          <a:rPr lang="ar-AE">
                            <a:latin typeface="Cambria Math" panose="02040503050406030204" pitchFamily="18" charset="0"/>
                          </a:rPr>
                          <m:t>1</m:t>
                        </m:r>
                      </m:e>
                      <m:e>
                        <m:r>
                          <a:rPr lang="ar-AE">
                            <a:latin typeface="Cambria Math" panose="02040503050406030204" pitchFamily="18" charset="0"/>
                          </a:rPr>
                          <m:t>0</m:t>
                        </m:r>
                      </m:e>
                    </m:d>
                  </m:oMath>
                </a14:m>
                <a:endParaRPr lang="ar-AE" dirty="0"/>
              </a:p>
              <a:p>
                <a:r>
                  <a:rPr lang="en-IN" b="1" dirty="0"/>
                  <a:t> PART 3 — Reconstruction Loss (MSE)</a:t>
                </a:r>
              </a:p>
              <a:p>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𝐽</m:t>
                        </m:r>
                      </m:e>
                      <m:sub>
                        <m:r>
                          <a:rPr lang="ar-AE" i="1">
                            <a:latin typeface="Cambria Math" panose="02040503050406030204" pitchFamily="18" charset="0"/>
                          </a:rPr>
                          <m:t>𝑟𝑒𝑐</m:t>
                        </m:r>
                      </m:sub>
                    </m:sSub>
                    <m:r>
                      <a:rPr lang="ar-AE">
                        <a:latin typeface="Cambria Math" panose="02040503050406030204" pitchFamily="18" charset="0"/>
                      </a:rPr>
                      <m:t>=</m:t>
                    </m:r>
                    <m:f>
                      <m:fPr>
                        <m:ctrlPr>
                          <a:rPr lang="ar-AE" i="1">
                            <a:latin typeface="Cambria Math" panose="02040503050406030204" pitchFamily="18" charset="0"/>
                          </a:rPr>
                        </m:ctrlPr>
                      </m:fPr>
                      <m:num>
                        <m:r>
                          <a:rPr lang="ar-AE">
                            <a:latin typeface="Cambria Math" panose="02040503050406030204" pitchFamily="18" charset="0"/>
                          </a:rPr>
                          <m:t>1</m:t>
                        </m:r>
                      </m:num>
                      <m:den>
                        <m:r>
                          <a:rPr lang="ar-AE">
                            <a:latin typeface="Cambria Math" panose="02040503050406030204" pitchFamily="18" charset="0"/>
                          </a:rPr>
                          <m:t>2</m:t>
                        </m:r>
                        <m:r>
                          <a:rPr lang="ar-AE" i="1">
                            <a:latin typeface="Cambria Math" panose="02040503050406030204" pitchFamily="18" charset="0"/>
                          </a:rPr>
                          <m:t>𝑁</m:t>
                        </m:r>
                      </m:den>
                    </m:f>
                    <m:nary>
                      <m:naryPr>
                        <m:chr m:val="∑"/>
                        <m:grow m:val="on"/>
                        <m:subHide m:val="on"/>
                        <m:supHide m:val="on"/>
                        <m:ctrlPr>
                          <a:rPr lang="ar-AE" i="1">
                            <a:latin typeface="Cambria Math" panose="02040503050406030204" pitchFamily="18" charset="0"/>
                          </a:rPr>
                        </m:ctrlPr>
                      </m:naryPr>
                      <m:sub/>
                      <m:sup/>
                      <m:e>
                        <m:r>
                          <a:rPr lang="ar-AE">
                            <a:latin typeface="Cambria Math" panose="02040503050406030204" pitchFamily="18" charset="0"/>
                          </a:rPr>
                          <m:t>∣</m:t>
                        </m:r>
                      </m:e>
                    </m:nary>
                    <m:r>
                      <a:rPr lang="ar-AE">
                        <a:latin typeface="Cambria Math" panose="02040503050406030204" pitchFamily="18" charset="0"/>
                      </a:rPr>
                      <m:t>∣</m:t>
                    </m:r>
                    <m:r>
                      <a:rPr lang="ar-AE" i="1">
                        <a:latin typeface="Cambria Math" panose="02040503050406030204" pitchFamily="18" charset="0"/>
                      </a:rPr>
                      <m:t>𝑥</m:t>
                    </m:r>
                    <m:r>
                      <a:rPr lang="ar-AE">
                        <a:latin typeface="Cambria Math" panose="02040503050406030204" pitchFamily="18" charset="0"/>
                      </a:rPr>
                      <m:t>−</m:t>
                    </m:r>
                    <m:acc>
                      <m:accPr>
                        <m:chr m:val="̂"/>
                        <m:ctrlPr>
                          <a:rPr lang="ar-AE" i="1">
                            <a:latin typeface="Cambria Math" panose="02040503050406030204" pitchFamily="18" charset="0"/>
                          </a:rPr>
                        </m:ctrlPr>
                      </m:accPr>
                      <m:e>
                        <m:r>
                          <a:rPr lang="ar-AE" i="1">
                            <a:latin typeface="Cambria Math" panose="02040503050406030204" pitchFamily="18" charset="0"/>
                          </a:rPr>
                          <m:t>𝑥</m:t>
                        </m:r>
                      </m:e>
                    </m:acc>
                    <m:r>
                      <a:rPr lang="ar-AE">
                        <a:latin typeface="Cambria Math" panose="02040503050406030204" pitchFamily="18" charset="0"/>
                      </a:rPr>
                      <m:t>∣</m:t>
                    </m:r>
                    <m:sSup>
                      <m:sSupPr>
                        <m:ctrlPr>
                          <a:rPr lang="ar-AE" i="1">
                            <a:latin typeface="Cambria Math" panose="02040503050406030204" pitchFamily="18" charset="0"/>
                          </a:rPr>
                        </m:ctrlPr>
                      </m:sSupPr>
                      <m:e>
                        <m:r>
                          <a:rPr lang="ar-AE">
                            <a:latin typeface="Cambria Math" panose="02040503050406030204" pitchFamily="18" charset="0"/>
                          </a:rPr>
                          <m:t>∣</m:t>
                        </m:r>
                      </m:e>
                      <m:sup>
                        <m:r>
                          <a:rPr lang="ar-AE">
                            <a:latin typeface="Cambria Math" panose="02040503050406030204" pitchFamily="18" charset="0"/>
                          </a:rPr>
                          <m:t>2</m:t>
                        </m:r>
                      </m:sup>
                    </m:sSup>
                  </m:oMath>
                </a14:m>
                <a:endParaRPr lang="ar-AE" dirty="0"/>
              </a:p>
              <a:p>
                <a:r>
                  <a:rPr lang="en-IN" dirty="0"/>
                  <a:t>Here </a:t>
                </a:r>
                <a14:m>
                  <m:oMath xmlns:m="http://schemas.openxmlformats.org/officeDocument/2006/math">
                    <m:r>
                      <a:rPr lang="en-IN" i="1">
                        <a:latin typeface="Cambria Math" panose="02040503050406030204" pitchFamily="18" charset="0"/>
                      </a:rPr>
                      <m:t>𝑁</m:t>
                    </m:r>
                    <m:r>
                      <a:rPr lang="en-IN">
                        <a:latin typeface="Cambria Math" panose="02040503050406030204" pitchFamily="18" charset="0"/>
                      </a:rPr>
                      <m:t>=</m:t>
                    </m:r>
                    <m:r>
                      <a:rPr lang="en-IN">
                        <a:latin typeface="Cambria Math" panose="02040503050406030204" pitchFamily="18" charset="0"/>
                      </a:rPr>
                      <m:t>2</m:t>
                    </m:r>
                  </m:oMath>
                </a14:m>
                <a:endParaRPr lang="en-IN" dirty="0"/>
              </a:p>
              <a:p>
                <a:pPr marL="0" indent="0">
                  <a:buNone/>
                </a:pPr>
                <a:endParaRPr lang="en-IN" dirty="0"/>
              </a:p>
              <a:p>
                <a:endParaRPr lang="en-IN" dirty="0"/>
              </a:p>
            </p:txBody>
          </p:sp>
        </mc:Choice>
        <mc:Fallback xmlns="">
          <p:sp>
            <p:nvSpPr>
              <p:cNvPr id="3" name="Content Placeholder 2">
                <a:extLst>
                  <a:ext uri="{FF2B5EF4-FFF2-40B4-BE49-F238E27FC236}">
                    <a16:creationId xmlns:a16="http://schemas.microsoft.com/office/drawing/2014/main" id="{FDFB0BBA-E383-0D08-B650-5C22A6EA6025}"/>
                  </a:ext>
                </a:extLst>
              </p:cNvPr>
              <p:cNvSpPr>
                <a:spLocks noGrp="1" noRot="1" noChangeAspect="1" noMove="1" noResize="1" noEditPoints="1" noAdjustHandles="1" noChangeArrowheads="1" noChangeShapeType="1" noTextEdit="1"/>
              </p:cNvSpPr>
              <p:nvPr>
                <p:ph idx="1"/>
              </p:nvPr>
            </p:nvSpPr>
            <p:spPr>
              <a:xfrm>
                <a:off x="802641" y="1391920"/>
                <a:ext cx="4165600" cy="4734350"/>
              </a:xfrm>
              <a:blipFill>
                <a:blip r:embed="rId2"/>
                <a:stretch>
                  <a:fillRect l="-2928" t="-1802"/>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 name="Content Placeholder 2">
                <a:extLst>
                  <a:ext uri="{FF2B5EF4-FFF2-40B4-BE49-F238E27FC236}">
                    <a16:creationId xmlns:a16="http://schemas.microsoft.com/office/drawing/2014/main" id="{A53EB1A8-4878-F1D7-FD64-B4611FAE1188}"/>
                  </a:ext>
                </a:extLst>
              </p:cNvPr>
              <p:cNvSpPr txBox="1">
                <a:spLocks/>
              </p:cNvSpPr>
              <p:nvPr/>
            </p:nvSpPr>
            <p:spPr>
              <a:xfrm>
                <a:off x="6095999" y="1391920"/>
                <a:ext cx="4754881" cy="4571790"/>
              </a:xfrm>
              <a:prstGeom prst="rect">
                <a:avLst/>
              </a:prstGeom>
            </p:spPr>
            <p:txBody>
              <a:bodyPr vert="horz" lIns="0" tIns="45720" rIns="0" bIns="45720" rtlCol="0">
                <a:noAutofit/>
              </a:bodyPr>
              <a:lstStyle>
                <a:lvl1pPr marL="361950" indent="-361950" algn="l" defTabSz="914400" rtl="0" eaLnBrk="1" latinLnBrk="0" hangingPunct="1">
                  <a:lnSpc>
                    <a:spcPct val="90000"/>
                  </a:lnSpc>
                  <a:spcBef>
                    <a:spcPts val="1200"/>
                  </a:spcBef>
                  <a:spcAft>
                    <a:spcPts val="200"/>
                  </a:spcAft>
                  <a:buClr>
                    <a:schemeClr val="accent1"/>
                  </a:buClr>
                  <a:buSzPct val="100000"/>
                  <a:buFont typeface="Arial" panose="020B0604020202020204" pitchFamily="34" charset="0"/>
                  <a:buChar char="•"/>
                  <a:defRPr sz="2400" kern="1200">
                    <a:solidFill>
                      <a:schemeClr val="tx1"/>
                    </a:solidFill>
                    <a:latin typeface="+mn-lt"/>
                    <a:ea typeface="+mn-ea"/>
                    <a:cs typeface="+mn-cs"/>
                  </a:defRPr>
                </a:lvl1pPr>
                <a:lvl2pPr marL="542925" indent="-3429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2400" kern="1200">
                    <a:solidFill>
                      <a:schemeClr val="tx1"/>
                    </a:solidFill>
                    <a:latin typeface="+mn-lt"/>
                    <a:ea typeface="+mn-ea"/>
                    <a:cs typeface="+mn-cs"/>
                  </a:defRPr>
                </a:lvl2pPr>
                <a:lvl3pPr marL="714375" indent="-330200" algn="l" defTabSz="914400" rtl="0" eaLnBrk="1" latinLnBrk="0" hangingPunct="1">
                  <a:lnSpc>
                    <a:spcPct val="90000"/>
                  </a:lnSpc>
                  <a:spcBef>
                    <a:spcPts val="200"/>
                  </a:spcBef>
                  <a:spcAft>
                    <a:spcPts val="400"/>
                  </a:spcAft>
                  <a:buClr>
                    <a:schemeClr val="accent1"/>
                  </a:buClr>
                  <a:buFont typeface="Arial" panose="020B0604020202020204" pitchFamily="34" charset="0"/>
                  <a:buChar char="•"/>
                  <a:tabLst>
                    <a:tab pos="714375" algn="l"/>
                  </a:tabLst>
                  <a:defRPr sz="2400" kern="1200">
                    <a:solidFill>
                      <a:schemeClr val="tx1"/>
                    </a:solidFill>
                    <a:latin typeface="+mn-lt"/>
                    <a:ea typeface="+mn-ea"/>
                    <a:cs typeface="+mn-cs"/>
                  </a:defRPr>
                </a:lvl3pPr>
                <a:lvl4pPr marL="895350" indent="-2667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2400" kern="1200">
                    <a:solidFill>
                      <a:schemeClr val="tx1"/>
                    </a:solidFill>
                    <a:latin typeface="+mn-lt"/>
                    <a:ea typeface="+mn-ea"/>
                    <a:cs typeface="+mn-cs"/>
                  </a:defRPr>
                </a:lvl4pPr>
                <a:lvl5pPr marL="1162050" indent="-352425"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2400" kern="1200">
                    <a:solidFill>
                      <a:schemeClr val="tx1"/>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nSpc>
                    <a:spcPct val="120000"/>
                  </a:lnSpc>
                  <a:spcBef>
                    <a:spcPts val="0"/>
                  </a:spcBef>
                  <a:spcAft>
                    <a:spcPts val="0"/>
                  </a:spcAft>
                </a:pPr>
                <a:r>
                  <a:rPr lang="en-IN" sz="1400" b="1" dirty="0"/>
                  <a:t>For </a:t>
                </a:r>
                <a14:m>
                  <m:oMath xmlns:m="http://schemas.openxmlformats.org/officeDocument/2006/math">
                    <m:sSub>
                      <m:sSubPr>
                        <m:ctrlPr>
                          <a:rPr lang="ar-AE" sz="1400" i="1">
                            <a:latin typeface="Cambria Math" panose="02040503050406030204" pitchFamily="18" charset="0"/>
                          </a:rPr>
                        </m:ctrlPr>
                      </m:sSubPr>
                      <m:e>
                        <m:r>
                          <a:rPr lang="ar-AE" sz="1400" i="1">
                            <a:latin typeface="Cambria Math" panose="02040503050406030204" pitchFamily="18" charset="0"/>
                          </a:rPr>
                          <m:t>𝑥</m:t>
                        </m:r>
                      </m:e>
                      <m:sub>
                        <m:r>
                          <a:rPr lang="ar-AE" sz="1400">
                            <a:latin typeface="Cambria Math" panose="02040503050406030204" pitchFamily="18" charset="0"/>
                          </a:rPr>
                          <m:t>1</m:t>
                        </m:r>
                      </m:sub>
                    </m:sSub>
                  </m:oMath>
                </a14:m>
                <a:endParaRPr lang="ar-AE" sz="1400" b="1" dirty="0"/>
              </a:p>
              <a:p>
                <a:pPr>
                  <a:lnSpc>
                    <a:spcPct val="120000"/>
                  </a:lnSpc>
                  <a:spcBef>
                    <a:spcPts val="0"/>
                  </a:spcBef>
                  <a:spcAft>
                    <a:spcPts val="0"/>
                  </a:spcAft>
                </a:pPr>
                <a14:m>
                  <m:oMath xmlns:m="http://schemas.openxmlformats.org/officeDocument/2006/math">
                    <m:d>
                      <m:dPr>
                        <m:endChr m:val=""/>
                        <m:ctrlPr>
                          <a:rPr lang="ar-AE" sz="1400" i="1">
                            <a:latin typeface="Cambria Math" panose="02040503050406030204" pitchFamily="18" charset="0"/>
                          </a:rPr>
                        </m:ctrlPr>
                      </m:dPr>
                      <m:e>
                        <m:r>
                          <a:rPr lang="ar-AE" sz="1400">
                            <a:latin typeface="Cambria Math" panose="02040503050406030204" pitchFamily="18" charset="0"/>
                          </a:rPr>
                          <m:t>1</m:t>
                        </m:r>
                        <m:r>
                          <a:rPr lang="ar-AE" sz="1400">
                            <a:latin typeface="Cambria Math" panose="02040503050406030204" pitchFamily="18" charset="0"/>
                          </a:rPr>
                          <m:t>−</m:t>
                        </m:r>
                        <m:r>
                          <a:rPr lang="ar-AE" sz="1400">
                            <a:latin typeface="Cambria Math" panose="02040503050406030204" pitchFamily="18" charset="0"/>
                          </a:rPr>
                          <m:t>0</m:t>
                        </m:r>
                        <m:r>
                          <a:rPr lang="ar-AE" sz="1400">
                            <a:latin typeface="Cambria Math" panose="02040503050406030204" pitchFamily="18" charset="0"/>
                          </a:rPr>
                          <m:t>.</m:t>
                        </m:r>
                        <m:r>
                          <a:rPr lang="ar-AE" sz="1400">
                            <a:latin typeface="Cambria Math" panose="02040503050406030204" pitchFamily="18" charset="0"/>
                          </a:rPr>
                          <m:t>5150</m:t>
                        </m:r>
                        <m:sSup>
                          <m:sSupPr>
                            <m:ctrlPr>
                              <a:rPr lang="ar-AE" sz="1400" i="1">
                                <a:latin typeface="Cambria Math" panose="02040503050406030204" pitchFamily="18" charset="0"/>
                              </a:rPr>
                            </m:ctrlPr>
                          </m:sSupPr>
                          <m:e>
                            <m:d>
                              <m:dPr>
                                <m:begChr m:val=""/>
                                <m:endChr m:val=""/>
                                <m:ctrlPr>
                                  <a:rPr lang="ar-AE" sz="1400" i="1">
                                    <a:latin typeface="Cambria Math" panose="02040503050406030204" pitchFamily="18" charset="0"/>
                                  </a:rPr>
                                </m:ctrlPr>
                              </m:dPr>
                              <m:e>
                                <m:r>
                                  <a:rPr lang="ar-AE" sz="1400">
                                    <a:latin typeface="Cambria Math" panose="02040503050406030204" pitchFamily="18" charset="0"/>
                                  </a:rPr>
                                  <m:t>)</m:t>
                                </m:r>
                              </m:e>
                            </m:d>
                          </m:e>
                          <m:sup>
                            <m:r>
                              <a:rPr lang="ar-AE" sz="1400">
                                <a:latin typeface="Cambria Math" panose="02040503050406030204" pitchFamily="18" charset="0"/>
                              </a:rPr>
                              <m:t>2</m:t>
                            </m:r>
                          </m:sup>
                        </m:sSup>
                        <m:r>
                          <a:rPr lang="ar-AE" sz="1400">
                            <a:latin typeface="Cambria Math" panose="02040503050406030204" pitchFamily="18" charset="0"/>
                          </a:rPr>
                          <m:t>=</m:t>
                        </m:r>
                        <m:r>
                          <a:rPr lang="ar-AE" sz="1400">
                            <a:latin typeface="Cambria Math" panose="02040503050406030204" pitchFamily="18" charset="0"/>
                          </a:rPr>
                          <m:t>0</m:t>
                        </m:r>
                        <m:r>
                          <a:rPr lang="ar-AE" sz="1400">
                            <a:latin typeface="Cambria Math" panose="02040503050406030204" pitchFamily="18" charset="0"/>
                          </a:rPr>
                          <m:t>.</m:t>
                        </m:r>
                        <m:r>
                          <a:rPr lang="ar-AE" sz="1400">
                            <a:latin typeface="Cambria Math" panose="02040503050406030204" pitchFamily="18" charset="0"/>
                          </a:rPr>
                          <m:t>2352</m:t>
                        </m:r>
                      </m:e>
                    </m:d>
                  </m:oMath>
                </a14:m>
                <a:endParaRPr lang="ar-AE" sz="1400" dirty="0"/>
              </a:p>
              <a:p>
                <a:pPr>
                  <a:lnSpc>
                    <a:spcPct val="120000"/>
                  </a:lnSpc>
                  <a:spcBef>
                    <a:spcPts val="0"/>
                  </a:spcBef>
                  <a:spcAft>
                    <a:spcPts val="0"/>
                  </a:spcAft>
                </a:pPr>
                <a14:m>
                  <m:oMath xmlns:m="http://schemas.openxmlformats.org/officeDocument/2006/math">
                    <m:d>
                      <m:dPr>
                        <m:endChr m:val=""/>
                        <m:ctrlPr>
                          <a:rPr lang="ar-AE" sz="1400" i="1">
                            <a:latin typeface="Cambria Math" panose="02040503050406030204" pitchFamily="18" charset="0"/>
                          </a:rPr>
                        </m:ctrlPr>
                      </m:dPr>
                      <m:e>
                        <m:r>
                          <a:rPr lang="ar-AE" sz="1400">
                            <a:latin typeface="Cambria Math" panose="02040503050406030204" pitchFamily="18" charset="0"/>
                          </a:rPr>
                          <m:t>0</m:t>
                        </m:r>
                        <m:r>
                          <a:rPr lang="ar-AE" sz="1400">
                            <a:latin typeface="Cambria Math" panose="02040503050406030204" pitchFamily="18" charset="0"/>
                          </a:rPr>
                          <m:t>−</m:t>
                        </m:r>
                        <m:r>
                          <a:rPr lang="ar-AE" sz="1400">
                            <a:latin typeface="Cambria Math" panose="02040503050406030204" pitchFamily="18" charset="0"/>
                          </a:rPr>
                          <m:t>0</m:t>
                        </m:r>
                        <m:r>
                          <a:rPr lang="ar-AE" sz="1400">
                            <a:latin typeface="Cambria Math" panose="02040503050406030204" pitchFamily="18" charset="0"/>
                          </a:rPr>
                          <m:t>.</m:t>
                        </m:r>
                        <m:r>
                          <a:rPr lang="ar-AE" sz="1400">
                            <a:latin typeface="Cambria Math" panose="02040503050406030204" pitchFamily="18" charset="0"/>
                          </a:rPr>
                          <m:t>5677</m:t>
                        </m:r>
                        <m:sSup>
                          <m:sSupPr>
                            <m:ctrlPr>
                              <a:rPr lang="ar-AE" sz="1400" i="1">
                                <a:latin typeface="Cambria Math" panose="02040503050406030204" pitchFamily="18" charset="0"/>
                              </a:rPr>
                            </m:ctrlPr>
                          </m:sSupPr>
                          <m:e>
                            <m:d>
                              <m:dPr>
                                <m:begChr m:val=""/>
                                <m:endChr m:val=""/>
                                <m:ctrlPr>
                                  <a:rPr lang="ar-AE" sz="1400" i="1">
                                    <a:latin typeface="Cambria Math" panose="02040503050406030204" pitchFamily="18" charset="0"/>
                                  </a:rPr>
                                </m:ctrlPr>
                              </m:dPr>
                              <m:e>
                                <m:r>
                                  <a:rPr lang="ar-AE" sz="1400">
                                    <a:latin typeface="Cambria Math" panose="02040503050406030204" pitchFamily="18" charset="0"/>
                                  </a:rPr>
                                  <m:t>)</m:t>
                                </m:r>
                              </m:e>
                            </m:d>
                          </m:e>
                          <m:sup>
                            <m:r>
                              <a:rPr lang="ar-AE" sz="1400">
                                <a:latin typeface="Cambria Math" panose="02040503050406030204" pitchFamily="18" charset="0"/>
                              </a:rPr>
                              <m:t>2</m:t>
                            </m:r>
                          </m:sup>
                        </m:sSup>
                        <m:r>
                          <a:rPr lang="ar-AE" sz="1400">
                            <a:latin typeface="Cambria Math" panose="02040503050406030204" pitchFamily="18" charset="0"/>
                          </a:rPr>
                          <m:t>=</m:t>
                        </m:r>
                        <m:r>
                          <a:rPr lang="ar-AE" sz="1400">
                            <a:latin typeface="Cambria Math" panose="02040503050406030204" pitchFamily="18" charset="0"/>
                          </a:rPr>
                          <m:t>0</m:t>
                        </m:r>
                        <m:r>
                          <a:rPr lang="ar-AE" sz="1400">
                            <a:latin typeface="Cambria Math" panose="02040503050406030204" pitchFamily="18" charset="0"/>
                          </a:rPr>
                          <m:t>.</m:t>
                        </m:r>
                        <m:r>
                          <a:rPr lang="ar-AE" sz="1400">
                            <a:latin typeface="Cambria Math" panose="02040503050406030204" pitchFamily="18" charset="0"/>
                          </a:rPr>
                          <m:t>3223</m:t>
                        </m:r>
                      </m:e>
                    </m:d>
                  </m:oMath>
                </a14:m>
                <a:endParaRPr lang="ar-AE" sz="1400" dirty="0"/>
              </a:p>
              <a:p>
                <a:pPr>
                  <a:lnSpc>
                    <a:spcPct val="120000"/>
                  </a:lnSpc>
                  <a:spcBef>
                    <a:spcPts val="0"/>
                  </a:spcBef>
                  <a:spcAft>
                    <a:spcPts val="0"/>
                  </a:spcAft>
                </a:pPr>
                <a14:m>
                  <m:oMath xmlns:m="http://schemas.openxmlformats.org/officeDocument/2006/math">
                    <m:d>
                      <m:dPr>
                        <m:endChr m:val=""/>
                        <m:ctrlPr>
                          <a:rPr lang="ar-AE" sz="1400" i="1">
                            <a:latin typeface="Cambria Math" panose="02040503050406030204" pitchFamily="18" charset="0"/>
                          </a:rPr>
                        </m:ctrlPr>
                      </m:dPr>
                      <m:e>
                        <m:r>
                          <a:rPr lang="ar-AE" sz="1400">
                            <a:latin typeface="Cambria Math" panose="02040503050406030204" pitchFamily="18" charset="0"/>
                          </a:rPr>
                          <m:t>0</m:t>
                        </m:r>
                        <m:r>
                          <a:rPr lang="ar-AE" sz="1400">
                            <a:latin typeface="Cambria Math" panose="02040503050406030204" pitchFamily="18" charset="0"/>
                          </a:rPr>
                          <m:t>−</m:t>
                        </m:r>
                        <m:r>
                          <a:rPr lang="ar-AE" sz="1400">
                            <a:latin typeface="Cambria Math" panose="02040503050406030204" pitchFamily="18" charset="0"/>
                          </a:rPr>
                          <m:t>0</m:t>
                        </m:r>
                        <m:r>
                          <a:rPr lang="ar-AE" sz="1400">
                            <a:latin typeface="Cambria Math" panose="02040503050406030204" pitchFamily="18" charset="0"/>
                          </a:rPr>
                          <m:t>.</m:t>
                        </m:r>
                        <m:r>
                          <a:rPr lang="ar-AE" sz="1400">
                            <a:latin typeface="Cambria Math" panose="02040503050406030204" pitchFamily="18" charset="0"/>
                          </a:rPr>
                          <m:t>4850</m:t>
                        </m:r>
                        <m:sSup>
                          <m:sSupPr>
                            <m:ctrlPr>
                              <a:rPr lang="ar-AE" sz="1400" i="1">
                                <a:latin typeface="Cambria Math" panose="02040503050406030204" pitchFamily="18" charset="0"/>
                              </a:rPr>
                            </m:ctrlPr>
                          </m:sSupPr>
                          <m:e>
                            <m:d>
                              <m:dPr>
                                <m:begChr m:val=""/>
                                <m:endChr m:val=""/>
                                <m:ctrlPr>
                                  <a:rPr lang="ar-AE" sz="1400" i="1">
                                    <a:latin typeface="Cambria Math" panose="02040503050406030204" pitchFamily="18" charset="0"/>
                                  </a:rPr>
                                </m:ctrlPr>
                              </m:dPr>
                              <m:e>
                                <m:r>
                                  <a:rPr lang="ar-AE" sz="1400">
                                    <a:latin typeface="Cambria Math" panose="02040503050406030204" pitchFamily="18" charset="0"/>
                                  </a:rPr>
                                  <m:t>)</m:t>
                                </m:r>
                              </m:e>
                            </m:d>
                          </m:e>
                          <m:sup>
                            <m:r>
                              <a:rPr lang="ar-AE" sz="1400">
                                <a:latin typeface="Cambria Math" panose="02040503050406030204" pitchFamily="18" charset="0"/>
                              </a:rPr>
                              <m:t>2</m:t>
                            </m:r>
                          </m:sup>
                        </m:sSup>
                        <m:r>
                          <a:rPr lang="ar-AE" sz="1400">
                            <a:latin typeface="Cambria Math" panose="02040503050406030204" pitchFamily="18" charset="0"/>
                          </a:rPr>
                          <m:t>=</m:t>
                        </m:r>
                        <m:r>
                          <a:rPr lang="ar-AE" sz="1400">
                            <a:latin typeface="Cambria Math" panose="02040503050406030204" pitchFamily="18" charset="0"/>
                          </a:rPr>
                          <m:t>0</m:t>
                        </m:r>
                        <m:r>
                          <a:rPr lang="ar-AE" sz="1400">
                            <a:latin typeface="Cambria Math" panose="02040503050406030204" pitchFamily="18" charset="0"/>
                          </a:rPr>
                          <m:t>.</m:t>
                        </m:r>
                        <m:r>
                          <a:rPr lang="ar-AE" sz="1400">
                            <a:latin typeface="Cambria Math" panose="02040503050406030204" pitchFamily="18" charset="0"/>
                          </a:rPr>
                          <m:t>2352</m:t>
                        </m:r>
                      </m:e>
                    </m:d>
                  </m:oMath>
                </a14:m>
                <a:endParaRPr lang="ar-AE" sz="1400" dirty="0"/>
              </a:p>
              <a:p>
                <a:pPr>
                  <a:lnSpc>
                    <a:spcPct val="120000"/>
                  </a:lnSpc>
                  <a:spcBef>
                    <a:spcPts val="0"/>
                  </a:spcBef>
                  <a:spcAft>
                    <a:spcPts val="0"/>
                  </a:spcAft>
                </a:pPr>
                <a:r>
                  <a:rPr lang="en-IN" sz="1400" dirty="0"/>
                  <a:t>Sum:</a:t>
                </a:r>
              </a:p>
              <a:p>
                <a:pPr>
                  <a:lnSpc>
                    <a:spcPct val="120000"/>
                  </a:lnSpc>
                  <a:spcBef>
                    <a:spcPts val="0"/>
                  </a:spcBef>
                  <a:spcAft>
                    <a:spcPts val="0"/>
                  </a:spcAft>
                </a:pPr>
                <a14:m>
                  <m:oMath xmlns:m="http://schemas.openxmlformats.org/officeDocument/2006/math">
                    <m:r>
                      <a:rPr lang="en-IN" sz="1400">
                        <a:latin typeface="Cambria Math" panose="02040503050406030204" pitchFamily="18" charset="0"/>
                      </a:rPr>
                      <m:t>0</m:t>
                    </m:r>
                    <m:r>
                      <a:rPr lang="en-IN" sz="1400">
                        <a:latin typeface="Cambria Math" panose="02040503050406030204" pitchFamily="18" charset="0"/>
                      </a:rPr>
                      <m:t>.</m:t>
                    </m:r>
                    <m:r>
                      <a:rPr lang="en-IN" sz="1400">
                        <a:latin typeface="Cambria Math" panose="02040503050406030204" pitchFamily="18" charset="0"/>
                      </a:rPr>
                      <m:t>7927</m:t>
                    </m:r>
                  </m:oMath>
                </a14:m>
                <a:endParaRPr lang="en-IN" sz="1400" dirty="0"/>
              </a:p>
              <a:p>
                <a:pPr>
                  <a:lnSpc>
                    <a:spcPct val="120000"/>
                  </a:lnSpc>
                  <a:spcBef>
                    <a:spcPts val="0"/>
                  </a:spcBef>
                  <a:spcAft>
                    <a:spcPts val="0"/>
                  </a:spcAft>
                </a:pPr>
                <a:r>
                  <a:rPr lang="en-IN" sz="1400" b="1" dirty="0"/>
                  <a:t>For </a:t>
                </a:r>
                <a14:m>
                  <m:oMath xmlns:m="http://schemas.openxmlformats.org/officeDocument/2006/math">
                    <m:sSub>
                      <m:sSubPr>
                        <m:ctrlPr>
                          <a:rPr lang="ar-AE" sz="1400" i="1">
                            <a:latin typeface="Cambria Math" panose="02040503050406030204" pitchFamily="18" charset="0"/>
                          </a:rPr>
                        </m:ctrlPr>
                      </m:sSubPr>
                      <m:e>
                        <m:r>
                          <a:rPr lang="ar-AE" sz="1400" i="1">
                            <a:latin typeface="Cambria Math" panose="02040503050406030204" pitchFamily="18" charset="0"/>
                          </a:rPr>
                          <m:t>𝑥</m:t>
                        </m:r>
                      </m:e>
                      <m:sub>
                        <m:r>
                          <a:rPr lang="ar-AE" sz="1400">
                            <a:latin typeface="Cambria Math" panose="02040503050406030204" pitchFamily="18" charset="0"/>
                          </a:rPr>
                          <m:t>2</m:t>
                        </m:r>
                      </m:sub>
                    </m:sSub>
                  </m:oMath>
                </a14:m>
                <a:endParaRPr lang="ar-AE" sz="1400" b="1" dirty="0"/>
              </a:p>
              <a:p>
                <a:pPr>
                  <a:lnSpc>
                    <a:spcPct val="120000"/>
                  </a:lnSpc>
                  <a:spcBef>
                    <a:spcPts val="0"/>
                  </a:spcBef>
                  <a:spcAft>
                    <a:spcPts val="0"/>
                  </a:spcAft>
                </a:pPr>
                <a14:m>
                  <m:oMath xmlns:m="http://schemas.openxmlformats.org/officeDocument/2006/math">
                    <m:d>
                      <m:dPr>
                        <m:endChr m:val=""/>
                        <m:ctrlPr>
                          <a:rPr lang="ar-AE" sz="1400" i="1">
                            <a:latin typeface="Cambria Math" panose="02040503050406030204" pitchFamily="18" charset="0"/>
                          </a:rPr>
                        </m:ctrlPr>
                      </m:dPr>
                      <m:e>
                        <m:r>
                          <a:rPr lang="ar-AE" sz="1400">
                            <a:latin typeface="Cambria Math" panose="02040503050406030204" pitchFamily="18" charset="0"/>
                          </a:rPr>
                          <m:t>0</m:t>
                        </m:r>
                        <m:r>
                          <a:rPr lang="ar-AE" sz="1400">
                            <a:latin typeface="Cambria Math" panose="02040503050406030204" pitchFamily="18" charset="0"/>
                          </a:rPr>
                          <m:t>−</m:t>
                        </m:r>
                        <m:r>
                          <a:rPr lang="ar-AE" sz="1400">
                            <a:latin typeface="Cambria Math" panose="02040503050406030204" pitchFamily="18" charset="0"/>
                          </a:rPr>
                          <m:t>0</m:t>
                        </m:r>
                        <m:r>
                          <a:rPr lang="ar-AE" sz="1400">
                            <a:latin typeface="Cambria Math" panose="02040503050406030204" pitchFamily="18" charset="0"/>
                          </a:rPr>
                          <m:t>.</m:t>
                        </m:r>
                        <m:r>
                          <a:rPr lang="ar-AE" sz="1400">
                            <a:latin typeface="Cambria Math" panose="02040503050406030204" pitchFamily="18" charset="0"/>
                          </a:rPr>
                          <m:t>5044</m:t>
                        </m:r>
                        <m:sSup>
                          <m:sSupPr>
                            <m:ctrlPr>
                              <a:rPr lang="ar-AE" sz="1400" i="1">
                                <a:latin typeface="Cambria Math" panose="02040503050406030204" pitchFamily="18" charset="0"/>
                              </a:rPr>
                            </m:ctrlPr>
                          </m:sSupPr>
                          <m:e>
                            <m:d>
                              <m:dPr>
                                <m:begChr m:val=""/>
                                <m:endChr m:val=""/>
                                <m:ctrlPr>
                                  <a:rPr lang="ar-AE" sz="1400" i="1">
                                    <a:latin typeface="Cambria Math" panose="02040503050406030204" pitchFamily="18" charset="0"/>
                                  </a:rPr>
                                </m:ctrlPr>
                              </m:dPr>
                              <m:e>
                                <m:r>
                                  <a:rPr lang="ar-AE" sz="1400">
                                    <a:latin typeface="Cambria Math" panose="02040503050406030204" pitchFamily="18" charset="0"/>
                                  </a:rPr>
                                  <m:t>)</m:t>
                                </m:r>
                              </m:e>
                            </m:d>
                          </m:e>
                          <m:sup>
                            <m:r>
                              <a:rPr lang="ar-AE" sz="1400">
                                <a:latin typeface="Cambria Math" panose="02040503050406030204" pitchFamily="18" charset="0"/>
                              </a:rPr>
                              <m:t>2</m:t>
                            </m:r>
                          </m:sup>
                        </m:sSup>
                        <m:r>
                          <a:rPr lang="ar-AE" sz="1400">
                            <a:latin typeface="Cambria Math" panose="02040503050406030204" pitchFamily="18" charset="0"/>
                          </a:rPr>
                          <m:t>=</m:t>
                        </m:r>
                        <m:r>
                          <a:rPr lang="ar-AE" sz="1400">
                            <a:latin typeface="Cambria Math" panose="02040503050406030204" pitchFamily="18" charset="0"/>
                          </a:rPr>
                          <m:t>0</m:t>
                        </m:r>
                        <m:r>
                          <a:rPr lang="ar-AE" sz="1400">
                            <a:latin typeface="Cambria Math" panose="02040503050406030204" pitchFamily="18" charset="0"/>
                          </a:rPr>
                          <m:t>.</m:t>
                        </m:r>
                        <m:r>
                          <a:rPr lang="ar-AE" sz="1400">
                            <a:latin typeface="Cambria Math" panose="02040503050406030204" pitchFamily="18" charset="0"/>
                          </a:rPr>
                          <m:t>2544</m:t>
                        </m:r>
                      </m:e>
                    </m:d>
                  </m:oMath>
                </a14:m>
                <a:endParaRPr lang="ar-AE" sz="1400" dirty="0"/>
              </a:p>
              <a:p>
                <a:pPr>
                  <a:lnSpc>
                    <a:spcPct val="120000"/>
                  </a:lnSpc>
                  <a:spcBef>
                    <a:spcPts val="0"/>
                  </a:spcBef>
                  <a:spcAft>
                    <a:spcPts val="0"/>
                  </a:spcAft>
                </a:pPr>
                <a14:m>
                  <m:oMath xmlns:m="http://schemas.openxmlformats.org/officeDocument/2006/math">
                    <m:d>
                      <m:dPr>
                        <m:endChr m:val=""/>
                        <m:ctrlPr>
                          <a:rPr lang="ar-AE" sz="1400" i="1">
                            <a:latin typeface="Cambria Math" panose="02040503050406030204" pitchFamily="18" charset="0"/>
                          </a:rPr>
                        </m:ctrlPr>
                      </m:dPr>
                      <m:e>
                        <m:r>
                          <a:rPr lang="ar-AE" sz="1400">
                            <a:latin typeface="Cambria Math" panose="02040503050406030204" pitchFamily="18" charset="0"/>
                          </a:rPr>
                          <m:t>1</m:t>
                        </m:r>
                        <m:r>
                          <a:rPr lang="ar-AE" sz="1400">
                            <a:latin typeface="Cambria Math" panose="02040503050406030204" pitchFamily="18" charset="0"/>
                          </a:rPr>
                          <m:t>−</m:t>
                        </m:r>
                        <m:r>
                          <a:rPr lang="ar-AE" sz="1400">
                            <a:latin typeface="Cambria Math" panose="02040503050406030204" pitchFamily="18" charset="0"/>
                          </a:rPr>
                          <m:t>0</m:t>
                        </m:r>
                        <m:r>
                          <a:rPr lang="ar-AE" sz="1400">
                            <a:latin typeface="Cambria Math" panose="02040503050406030204" pitchFamily="18" charset="0"/>
                          </a:rPr>
                          <m:t>.</m:t>
                        </m:r>
                        <m:r>
                          <a:rPr lang="ar-AE" sz="1400">
                            <a:latin typeface="Cambria Math" panose="02040503050406030204" pitchFamily="18" charset="0"/>
                          </a:rPr>
                          <m:t>5561</m:t>
                        </m:r>
                        <m:sSup>
                          <m:sSupPr>
                            <m:ctrlPr>
                              <a:rPr lang="ar-AE" sz="1400" i="1">
                                <a:latin typeface="Cambria Math" panose="02040503050406030204" pitchFamily="18" charset="0"/>
                              </a:rPr>
                            </m:ctrlPr>
                          </m:sSupPr>
                          <m:e>
                            <m:d>
                              <m:dPr>
                                <m:begChr m:val=""/>
                                <m:endChr m:val=""/>
                                <m:ctrlPr>
                                  <a:rPr lang="ar-AE" sz="1400" i="1">
                                    <a:latin typeface="Cambria Math" panose="02040503050406030204" pitchFamily="18" charset="0"/>
                                  </a:rPr>
                                </m:ctrlPr>
                              </m:dPr>
                              <m:e>
                                <m:r>
                                  <a:rPr lang="ar-AE" sz="1400">
                                    <a:latin typeface="Cambria Math" panose="02040503050406030204" pitchFamily="18" charset="0"/>
                                  </a:rPr>
                                  <m:t>)</m:t>
                                </m:r>
                              </m:e>
                            </m:d>
                          </m:e>
                          <m:sup>
                            <m:r>
                              <a:rPr lang="ar-AE" sz="1400">
                                <a:latin typeface="Cambria Math" panose="02040503050406030204" pitchFamily="18" charset="0"/>
                              </a:rPr>
                              <m:t>2</m:t>
                            </m:r>
                          </m:sup>
                        </m:sSup>
                        <m:r>
                          <a:rPr lang="ar-AE" sz="1400">
                            <a:latin typeface="Cambria Math" panose="02040503050406030204" pitchFamily="18" charset="0"/>
                          </a:rPr>
                          <m:t>=</m:t>
                        </m:r>
                        <m:r>
                          <a:rPr lang="ar-AE" sz="1400">
                            <a:latin typeface="Cambria Math" panose="02040503050406030204" pitchFamily="18" charset="0"/>
                          </a:rPr>
                          <m:t>0</m:t>
                        </m:r>
                        <m:r>
                          <a:rPr lang="ar-AE" sz="1400">
                            <a:latin typeface="Cambria Math" panose="02040503050406030204" pitchFamily="18" charset="0"/>
                          </a:rPr>
                          <m:t>.</m:t>
                        </m:r>
                        <m:r>
                          <a:rPr lang="ar-AE" sz="1400">
                            <a:latin typeface="Cambria Math" panose="02040503050406030204" pitchFamily="18" charset="0"/>
                          </a:rPr>
                          <m:t>1969</m:t>
                        </m:r>
                      </m:e>
                    </m:d>
                  </m:oMath>
                </a14:m>
                <a:endParaRPr lang="ar-AE" sz="1400" dirty="0"/>
              </a:p>
              <a:p>
                <a:pPr>
                  <a:lnSpc>
                    <a:spcPct val="120000"/>
                  </a:lnSpc>
                  <a:spcBef>
                    <a:spcPts val="0"/>
                  </a:spcBef>
                  <a:spcAft>
                    <a:spcPts val="0"/>
                  </a:spcAft>
                </a:pPr>
                <a14:m>
                  <m:oMath xmlns:m="http://schemas.openxmlformats.org/officeDocument/2006/math">
                    <m:d>
                      <m:dPr>
                        <m:endChr m:val=""/>
                        <m:ctrlPr>
                          <a:rPr lang="ar-AE" sz="1400" i="1">
                            <a:latin typeface="Cambria Math" panose="02040503050406030204" pitchFamily="18" charset="0"/>
                          </a:rPr>
                        </m:ctrlPr>
                      </m:dPr>
                      <m:e>
                        <m:r>
                          <a:rPr lang="ar-AE" sz="1400">
                            <a:latin typeface="Cambria Math" panose="02040503050406030204" pitchFamily="18" charset="0"/>
                          </a:rPr>
                          <m:t>0</m:t>
                        </m:r>
                        <m:r>
                          <a:rPr lang="ar-AE" sz="1400">
                            <a:latin typeface="Cambria Math" panose="02040503050406030204" pitchFamily="18" charset="0"/>
                          </a:rPr>
                          <m:t>−</m:t>
                        </m:r>
                        <m:r>
                          <a:rPr lang="ar-AE" sz="1400">
                            <a:latin typeface="Cambria Math" panose="02040503050406030204" pitchFamily="18" charset="0"/>
                          </a:rPr>
                          <m:t>0</m:t>
                        </m:r>
                        <m:r>
                          <a:rPr lang="ar-AE" sz="1400">
                            <a:latin typeface="Cambria Math" panose="02040503050406030204" pitchFamily="18" charset="0"/>
                          </a:rPr>
                          <m:t>.</m:t>
                        </m:r>
                        <m:r>
                          <a:rPr lang="ar-AE" sz="1400">
                            <a:latin typeface="Cambria Math" panose="02040503050406030204" pitchFamily="18" charset="0"/>
                          </a:rPr>
                          <m:t>4956</m:t>
                        </m:r>
                        <m:sSup>
                          <m:sSupPr>
                            <m:ctrlPr>
                              <a:rPr lang="ar-AE" sz="1400" i="1">
                                <a:latin typeface="Cambria Math" panose="02040503050406030204" pitchFamily="18" charset="0"/>
                              </a:rPr>
                            </m:ctrlPr>
                          </m:sSupPr>
                          <m:e>
                            <m:d>
                              <m:dPr>
                                <m:begChr m:val=""/>
                                <m:endChr m:val=""/>
                                <m:ctrlPr>
                                  <a:rPr lang="ar-AE" sz="1400" i="1">
                                    <a:latin typeface="Cambria Math" panose="02040503050406030204" pitchFamily="18" charset="0"/>
                                  </a:rPr>
                                </m:ctrlPr>
                              </m:dPr>
                              <m:e>
                                <m:r>
                                  <a:rPr lang="ar-AE" sz="1400">
                                    <a:latin typeface="Cambria Math" panose="02040503050406030204" pitchFamily="18" charset="0"/>
                                  </a:rPr>
                                  <m:t>)</m:t>
                                </m:r>
                              </m:e>
                            </m:d>
                          </m:e>
                          <m:sup>
                            <m:r>
                              <a:rPr lang="ar-AE" sz="1400">
                                <a:latin typeface="Cambria Math" panose="02040503050406030204" pitchFamily="18" charset="0"/>
                              </a:rPr>
                              <m:t>2</m:t>
                            </m:r>
                          </m:sup>
                        </m:sSup>
                        <m:r>
                          <a:rPr lang="ar-AE" sz="1400">
                            <a:latin typeface="Cambria Math" panose="02040503050406030204" pitchFamily="18" charset="0"/>
                          </a:rPr>
                          <m:t>=</m:t>
                        </m:r>
                        <m:r>
                          <a:rPr lang="ar-AE" sz="1400">
                            <a:latin typeface="Cambria Math" panose="02040503050406030204" pitchFamily="18" charset="0"/>
                          </a:rPr>
                          <m:t>0</m:t>
                        </m:r>
                        <m:r>
                          <a:rPr lang="ar-AE" sz="1400">
                            <a:latin typeface="Cambria Math" panose="02040503050406030204" pitchFamily="18" charset="0"/>
                          </a:rPr>
                          <m:t>.</m:t>
                        </m:r>
                        <m:r>
                          <a:rPr lang="ar-AE" sz="1400">
                            <a:latin typeface="Cambria Math" panose="02040503050406030204" pitchFamily="18" charset="0"/>
                          </a:rPr>
                          <m:t>2456</m:t>
                        </m:r>
                      </m:e>
                    </m:d>
                  </m:oMath>
                </a14:m>
                <a:endParaRPr lang="ar-AE" sz="1400" dirty="0"/>
              </a:p>
              <a:p>
                <a:pPr>
                  <a:lnSpc>
                    <a:spcPct val="120000"/>
                  </a:lnSpc>
                  <a:spcBef>
                    <a:spcPts val="0"/>
                  </a:spcBef>
                  <a:spcAft>
                    <a:spcPts val="0"/>
                  </a:spcAft>
                </a:pPr>
                <a:r>
                  <a:rPr lang="en-IN" sz="1400" dirty="0"/>
                  <a:t>Sum: </a:t>
                </a:r>
                <a14:m>
                  <m:oMath xmlns:m="http://schemas.openxmlformats.org/officeDocument/2006/math">
                    <m:r>
                      <a:rPr lang="en-US" sz="1400" b="0" i="0" smtClean="0">
                        <a:latin typeface="Cambria Math" panose="02040503050406030204" pitchFamily="18" charset="0"/>
                      </a:rPr>
                      <m:t> </m:t>
                    </m:r>
                    <m:r>
                      <a:rPr lang="en-IN" sz="1400">
                        <a:latin typeface="Cambria Math" panose="02040503050406030204" pitchFamily="18" charset="0"/>
                      </a:rPr>
                      <m:t>0</m:t>
                    </m:r>
                    <m:r>
                      <a:rPr lang="en-IN" sz="1400">
                        <a:latin typeface="Cambria Math" panose="02040503050406030204" pitchFamily="18" charset="0"/>
                      </a:rPr>
                      <m:t>.</m:t>
                    </m:r>
                    <m:r>
                      <a:rPr lang="en-IN" sz="1400">
                        <a:latin typeface="Cambria Math" panose="02040503050406030204" pitchFamily="18" charset="0"/>
                      </a:rPr>
                      <m:t>6969</m:t>
                    </m:r>
                  </m:oMath>
                </a14:m>
                <a:endParaRPr lang="en-IN" sz="1400" dirty="0"/>
              </a:p>
              <a:p>
                <a:pPr>
                  <a:lnSpc>
                    <a:spcPct val="120000"/>
                  </a:lnSpc>
                  <a:spcBef>
                    <a:spcPts val="0"/>
                  </a:spcBef>
                  <a:spcAft>
                    <a:spcPts val="0"/>
                  </a:spcAft>
                </a:pPr>
                <a:endParaRPr lang="en-IN" sz="1400" dirty="0"/>
              </a:p>
              <a:p>
                <a:pPr>
                  <a:lnSpc>
                    <a:spcPct val="120000"/>
                  </a:lnSpc>
                  <a:spcBef>
                    <a:spcPts val="0"/>
                  </a:spcBef>
                  <a:spcAft>
                    <a:spcPts val="0"/>
                  </a:spcAft>
                </a:pPr>
                <a:r>
                  <a:rPr lang="en-IN" sz="1400" b="1" dirty="0"/>
                  <a:t>Total</a:t>
                </a:r>
              </a:p>
              <a:p>
                <a:pPr>
                  <a:lnSpc>
                    <a:spcPct val="120000"/>
                  </a:lnSpc>
                  <a:spcBef>
                    <a:spcPts val="0"/>
                  </a:spcBef>
                  <a:spcAft>
                    <a:spcPts val="0"/>
                  </a:spcAft>
                </a:pPr>
                <a14:m>
                  <m:oMath xmlns:m="http://schemas.openxmlformats.org/officeDocument/2006/math">
                    <m:sSub>
                      <m:sSubPr>
                        <m:ctrlPr>
                          <a:rPr lang="ar-AE" sz="1400" i="1">
                            <a:latin typeface="Cambria Math" panose="02040503050406030204" pitchFamily="18" charset="0"/>
                          </a:rPr>
                        </m:ctrlPr>
                      </m:sSubPr>
                      <m:e>
                        <m:r>
                          <a:rPr lang="ar-AE" sz="1400" i="1">
                            <a:latin typeface="Cambria Math" panose="02040503050406030204" pitchFamily="18" charset="0"/>
                          </a:rPr>
                          <m:t>𝐽</m:t>
                        </m:r>
                      </m:e>
                      <m:sub>
                        <m:r>
                          <a:rPr lang="ar-AE" sz="1400" i="1">
                            <a:latin typeface="Cambria Math" panose="02040503050406030204" pitchFamily="18" charset="0"/>
                          </a:rPr>
                          <m:t>𝑟𝑒𝑐</m:t>
                        </m:r>
                      </m:sub>
                    </m:sSub>
                    <m:r>
                      <a:rPr lang="ar-AE" sz="1400">
                        <a:latin typeface="Cambria Math" panose="02040503050406030204" pitchFamily="18" charset="0"/>
                      </a:rPr>
                      <m:t>=</m:t>
                    </m:r>
                    <m:f>
                      <m:fPr>
                        <m:ctrlPr>
                          <a:rPr lang="ar-AE" sz="1400" i="1">
                            <a:latin typeface="Cambria Math" panose="02040503050406030204" pitchFamily="18" charset="0"/>
                          </a:rPr>
                        </m:ctrlPr>
                      </m:fPr>
                      <m:num>
                        <m:r>
                          <a:rPr lang="ar-AE" sz="1400">
                            <a:latin typeface="Cambria Math" panose="02040503050406030204" pitchFamily="18" charset="0"/>
                          </a:rPr>
                          <m:t>1</m:t>
                        </m:r>
                      </m:num>
                      <m:den>
                        <m:r>
                          <a:rPr lang="ar-AE" sz="1400">
                            <a:latin typeface="Cambria Math" panose="02040503050406030204" pitchFamily="18" charset="0"/>
                          </a:rPr>
                          <m:t>4</m:t>
                        </m:r>
                      </m:den>
                    </m:f>
                    <m:d>
                      <m:dPr>
                        <m:ctrlPr>
                          <a:rPr lang="ar-AE" sz="1400" i="1">
                            <a:latin typeface="Cambria Math" panose="02040503050406030204" pitchFamily="18" charset="0"/>
                          </a:rPr>
                        </m:ctrlPr>
                      </m:dPr>
                      <m:e>
                        <m:r>
                          <a:rPr lang="ar-AE" sz="1400">
                            <a:latin typeface="Cambria Math" panose="02040503050406030204" pitchFamily="18" charset="0"/>
                          </a:rPr>
                          <m:t>0</m:t>
                        </m:r>
                        <m:r>
                          <a:rPr lang="ar-AE" sz="1400">
                            <a:latin typeface="Cambria Math" panose="02040503050406030204" pitchFamily="18" charset="0"/>
                          </a:rPr>
                          <m:t>.</m:t>
                        </m:r>
                        <m:r>
                          <a:rPr lang="ar-AE" sz="1400">
                            <a:latin typeface="Cambria Math" panose="02040503050406030204" pitchFamily="18" charset="0"/>
                          </a:rPr>
                          <m:t>7927</m:t>
                        </m:r>
                        <m:r>
                          <a:rPr lang="ar-AE" sz="1400">
                            <a:latin typeface="Cambria Math" panose="02040503050406030204" pitchFamily="18" charset="0"/>
                          </a:rPr>
                          <m:t>+</m:t>
                        </m:r>
                        <m:r>
                          <a:rPr lang="ar-AE" sz="1400">
                            <a:latin typeface="Cambria Math" panose="02040503050406030204" pitchFamily="18" charset="0"/>
                          </a:rPr>
                          <m:t>0</m:t>
                        </m:r>
                        <m:r>
                          <a:rPr lang="ar-AE" sz="1400">
                            <a:latin typeface="Cambria Math" panose="02040503050406030204" pitchFamily="18" charset="0"/>
                          </a:rPr>
                          <m:t>.</m:t>
                        </m:r>
                        <m:r>
                          <a:rPr lang="ar-AE" sz="1400">
                            <a:latin typeface="Cambria Math" panose="02040503050406030204" pitchFamily="18" charset="0"/>
                          </a:rPr>
                          <m:t>6969</m:t>
                        </m:r>
                      </m:e>
                    </m:d>
                  </m:oMath>
                </a14:m>
                <a:endParaRPr lang="ar-AE" sz="1400" dirty="0"/>
              </a:p>
              <a:p>
                <a:pPr>
                  <a:lnSpc>
                    <a:spcPct val="120000"/>
                  </a:lnSpc>
                  <a:spcBef>
                    <a:spcPts val="0"/>
                  </a:spcBef>
                  <a:spcAft>
                    <a:spcPts val="0"/>
                  </a:spcAft>
                </a:pPr>
                <a14:m>
                  <m:oMath xmlns:m="http://schemas.openxmlformats.org/officeDocument/2006/math">
                    <m:r>
                      <a:rPr lang="ar-AE" sz="1400">
                        <a:latin typeface="Cambria Math" panose="02040503050406030204" pitchFamily="18" charset="0"/>
                      </a:rPr>
                      <m:t>=</m:t>
                    </m:r>
                    <m:f>
                      <m:fPr>
                        <m:ctrlPr>
                          <a:rPr lang="ar-AE" sz="1400" i="1">
                            <a:latin typeface="Cambria Math" panose="02040503050406030204" pitchFamily="18" charset="0"/>
                          </a:rPr>
                        </m:ctrlPr>
                      </m:fPr>
                      <m:num>
                        <m:r>
                          <a:rPr lang="ar-AE" sz="1400">
                            <a:latin typeface="Cambria Math" panose="02040503050406030204" pitchFamily="18" charset="0"/>
                          </a:rPr>
                          <m:t>1</m:t>
                        </m:r>
                        <m:r>
                          <a:rPr lang="ar-AE" sz="1400">
                            <a:latin typeface="Cambria Math" panose="02040503050406030204" pitchFamily="18" charset="0"/>
                          </a:rPr>
                          <m:t>.</m:t>
                        </m:r>
                        <m:r>
                          <a:rPr lang="ar-AE" sz="1400">
                            <a:latin typeface="Cambria Math" panose="02040503050406030204" pitchFamily="18" charset="0"/>
                          </a:rPr>
                          <m:t>4896</m:t>
                        </m:r>
                      </m:num>
                      <m:den>
                        <m:r>
                          <a:rPr lang="ar-AE" sz="1400">
                            <a:latin typeface="Cambria Math" panose="02040503050406030204" pitchFamily="18" charset="0"/>
                          </a:rPr>
                          <m:t>4</m:t>
                        </m:r>
                      </m:den>
                    </m:f>
                  </m:oMath>
                </a14:m>
                <a:endParaRPr lang="ar-AE" sz="1400" dirty="0"/>
              </a:p>
              <a:p>
                <a:pPr>
                  <a:lnSpc>
                    <a:spcPct val="120000"/>
                  </a:lnSpc>
                  <a:spcBef>
                    <a:spcPts val="0"/>
                  </a:spcBef>
                  <a:spcAft>
                    <a:spcPts val="0"/>
                  </a:spcAft>
                </a:pPr>
                <a14:m>
                  <m:oMath xmlns:m="http://schemas.openxmlformats.org/officeDocument/2006/math">
                    <m:r>
                      <a:rPr lang="ar-AE" sz="1400">
                        <a:latin typeface="Cambria Math" panose="02040503050406030204" pitchFamily="18" charset="0"/>
                      </a:rPr>
                      <m:t>=</m:t>
                    </m:r>
                    <m:r>
                      <a:rPr lang="ar-AE" sz="1400">
                        <a:latin typeface="Cambria Math" panose="02040503050406030204" pitchFamily="18" charset="0"/>
                      </a:rPr>
                      <m:t>0</m:t>
                    </m:r>
                    <m:r>
                      <a:rPr lang="ar-AE" sz="1400">
                        <a:latin typeface="Cambria Math" panose="02040503050406030204" pitchFamily="18" charset="0"/>
                      </a:rPr>
                      <m:t>.</m:t>
                    </m:r>
                    <m:r>
                      <a:rPr lang="ar-AE" sz="1400">
                        <a:latin typeface="Cambria Math" panose="02040503050406030204" pitchFamily="18" charset="0"/>
                      </a:rPr>
                      <m:t>3724</m:t>
                    </m:r>
                  </m:oMath>
                </a14:m>
                <a:endParaRPr lang="en-IN" sz="1400" dirty="0"/>
              </a:p>
            </p:txBody>
          </p:sp>
        </mc:Choice>
        <mc:Fallback xmlns="">
          <p:sp>
            <p:nvSpPr>
              <p:cNvPr id="4" name="Content Placeholder 2">
                <a:extLst>
                  <a:ext uri="{FF2B5EF4-FFF2-40B4-BE49-F238E27FC236}">
                    <a16:creationId xmlns:a16="http://schemas.microsoft.com/office/drawing/2014/main" id="{A53EB1A8-4878-F1D7-FD64-B4611FAE1188}"/>
                  </a:ext>
                </a:extLst>
              </p:cNvPr>
              <p:cNvSpPr txBox="1">
                <a:spLocks noRot="1" noChangeAspect="1" noMove="1" noResize="1" noEditPoints="1" noAdjustHandles="1" noChangeArrowheads="1" noChangeShapeType="1" noTextEdit="1"/>
              </p:cNvSpPr>
              <p:nvPr/>
            </p:nvSpPr>
            <p:spPr>
              <a:xfrm>
                <a:off x="6095999" y="1391920"/>
                <a:ext cx="4754881" cy="4571790"/>
              </a:xfrm>
              <a:prstGeom prst="rect">
                <a:avLst/>
              </a:prstGeom>
              <a:blipFill>
                <a:blip r:embed="rId3"/>
                <a:stretch>
                  <a:fillRect l="-2051" t="-3333" b="-3733"/>
                </a:stretch>
              </a:blipFill>
            </p:spPr>
            <p:txBody>
              <a:bodyPr/>
              <a:lstStyle/>
              <a:p>
                <a:r>
                  <a:rPr lang="en-IN">
                    <a:noFill/>
                  </a:rPr>
                  <a:t> </a:t>
                </a:r>
              </a:p>
            </p:txBody>
          </p:sp>
        </mc:Fallback>
      </mc:AlternateContent>
    </p:spTree>
    <p:extLst>
      <p:ext uri="{BB962C8B-B14F-4D97-AF65-F5344CB8AC3E}">
        <p14:creationId xmlns:p14="http://schemas.microsoft.com/office/powerpoint/2010/main" val="30330930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8FC573-E8A9-79B9-BF32-E5481C1ADAF8}"/>
              </a:ext>
            </a:extLst>
          </p:cNvPr>
          <p:cNvSpPr>
            <a:spLocks noGrp="1"/>
          </p:cNvSpPr>
          <p:nvPr>
            <p:ph type="title"/>
          </p:nvPr>
        </p:nvSpPr>
        <p:spPr/>
        <p:txBody>
          <a:bodyPr>
            <a:normAutofit fontScale="90000"/>
          </a:bodyPr>
          <a:lstStyle/>
          <a:p>
            <a:endParaRPr lang="en-IN"/>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7D0CFC1-717E-1A34-1B56-FF9C72520FBD}"/>
                  </a:ext>
                </a:extLst>
              </p:cNvPr>
              <p:cNvSpPr>
                <a:spLocks noGrp="1"/>
              </p:cNvSpPr>
              <p:nvPr>
                <p:ph idx="1"/>
              </p:nvPr>
            </p:nvSpPr>
            <p:spPr>
              <a:xfrm>
                <a:off x="1025842" y="1351280"/>
                <a:ext cx="10201275" cy="4774990"/>
              </a:xfrm>
            </p:spPr>
            <p:txBody>
              <a:bodyPr>
                <a:normAutofit fontScale="85000" lnSpcReduction="10000"/>
              </a:bodyPr>
              <a:lstStyle/>
              <a:p>
                <a:r>
                  <a:rPr lang="en-IN" b="1" dirty="0"/>
                  <a:t>STEP 2: Average Activation (Important for Sparsity)</a:t>
                </a:r>
              </a:p>
              <a:p>
                <a14:m>
                  <m:oMath xmlns:m="http://schemas.openxmlformats.org/officeDocument/2006/math">
                    <m:sSub>
                      <m:sSubPr>
                        <m:ctrlPr>
                          <a:rPr lang="ar-AE" i="1">
                            <a:latin typeface="Cambria Math" panose="02040503050406030204" pitchFamily="18" charset="0"/>
                          </a:rPr>
                        </m:ctrlPr>
                      </m:sSubPr>
                      <m:e>
                        <m:acc>
                          <m:accPr>
                            <m:chr m:val="̂"/>
                            <m:ctrlPr>
                              <a:rPr lang="ar-AE" i="1">
                                <a:latin typeface="Cambria Math" panose="02040503050406030204" pitchFamily="18" charset="0"/>
                              </a:rPr>
                            </m:ctrlPr>
                          </m:accPr>
                          <m:e>
                            <m:r>
                              <a:rPr lang="ar-AE" i="1">
                                <a:latin typeface="Cambria Math" panose="02040503050406030204" pitchFamily="18" charset="0"/>
                              </a:rPr>
                              <m:t>𝜌</m:t>
                            </m:r>
                          </m:e>
                        </m:acc>
                      </m:e>
                      <m:sub>
                        <m:r>
                          <a:rPr lang="ar-AE" i="1">
                            <a:latin typeface="Cambria Math" panose="02040503050406030204" pitchFamily="18" charset="0"/>
                          </a:rPr>
                          <m:t>𝑗</m:t>
                        </m:r>
                      </m:sub>
                    </m:sSub>
                    <m:r>
                      <a:rPr lang="ar-AE">
                        <a:latin typeface="Cambria Math" panose="02040503050406030204" pitchFamily="18" charset="0"/>
                      </a:rPr>
                      <m:t>=</m:t>
                    </m:r>
                    <m:f>
                      <m:fPr>
                        <m:ctrlPr>
                          <a:rPr lang="ar-AE" i="1">
                            <a:latin typeface="Cambria Math" panose="02040503050406030204" pitchFamily="18" charset="0"/>
                          </a:rPr>
                        </m:ctrlPr>
                      </m:fPr>
                      <m:num>
                        <m:r>
                          <a:rPr lang="ar-AE">
                            <a:latin typeface="Cambria Math" panose="02040503050406030204" pitchFamily="18" charset="0"/>
                          </a:rPr>
                          <m:t>1</m:t>
                        </m:r>
                      </m:num>
                      <m:den>
                        <m:r>
                          <a:rPr lang="ar-AE" i="1">
                            <a:latin typeface="Cambria Math" panose="02040503050406030204" pitchFamily="18" charset="0"/>
                          </a:rPr>
                          <m:t>𝑁</m:t>
                        </m:r>
                      </m:den>
                    </m:f>
                    <m:nary>
                      <m:naryPr>
                        <m:chr m:val="∑"/>
                        <m:grow m:val="on"/>
                        <m:subHide m:val="on"/>
                        <m:supHide m:val="on"/>
                        <m:ctrlPr>
                          <a:rPr lang="ar-AE" i="1">
                            <a:latin typeface="Cambria Math" panose="02040503050406030204" pitchFamily="18" charset="0"/>
                          </a:rPr>
                        </m:ctrlPr>
                      </m:naryPr>
                      <m:sub/>
                      <m:sup/>
                      <m:e>
                        <m:sSub>
                          <m:sSubPr>
                            <m:ctrlPr>
                              <a:rPr lang="ar-AE" i="1">
                                <a:latin typeface="Cambria Math" panose="02040503050406030204" pitchFamily="18" charset="0"/>
                              </a:rPr>
                            </m:ctrlPr>
                          </m:sSubPr>
                          <m:e>
                            <m:r>
                              <a:rPr lang="ar-AE" i="1">
                                <a:latin typeface="Cambria Math" panose="02040503050406030204" pitchFamily="18" charset="0"/>
                              </a:rPr>
                              <m:t>h</m:t>
                            </m:r>
                          </m:e>
                          <m:sub>
                            <m:r>
                              <a:rPr lang="ar-AE" i="1">
                                <a:latin typeface="Cambria Math" panose="02040503050406030204" pitchFamily="18" charset="0"/>
                              </a:rPr>
                              <m:t>𝑗</m:t>
                            </m:r>
                          </m:sub>
                        </m:sSub>
                      </m:e>
                    </m:nary>
                    <m:d>
                      <m:dPr>
                        <m:ctrlPr>
                          <a:rPr lang="ar-AE" i="1">
                            <a:latin typeface="Cambria Math" panose="02040503050406030204" pitchFamily="18" charset="0"/>
                          </a:rPr>
                        </m:ctrlPr>
                      </m:dPr>
                      <m:e>
                        <m:sSub>
                          <m:sSubPr>
                            <m:ctrlPr>
                              <a:rPr lang="ar-AE" i="1">
                                <a:latin typeface="Cambria Math" panose="02040503050406030204" pitchFamily="18" charset="0"/>
                              </a:rPr>
                            </m:ctrlPr>
                          </m:sSubPr>
                          <m:e>
                            <m:r>
                              <a:rPr lang="ar-AE" i="1">
                                <a:latin typeface="Cambria Math" panose="02040503050406030204" pitchFamily="18" charset="0"/>
                              </a:rPr>
                              <m:t>𝑥</m:t>
                            </m:r>
                          </m:e>
                          <m:sub>
                            <m:r>
                              <a:rPr lang="ar-AE" i="1">
                                <a:latin typeface="Cambria Math" panose="02040503050406030204" pitchFamily="18" charset="0"/>
                              </a:rPr>
                              <m:t>𝑖</m:t>
                            </m:r>
                          </m:sub>
                        </m:sSub>
                      </m:e>
                    </m:d>
                  </m:oMath>
                </a14:m>
                <a:endParaRPr lang="ar-AE" dirty="0"/>
              </a:p>
              <a:p>
                <a:r>
                  <a:rPr lang="en-IN" dirty="0"/>
                  <a:t>where </a:t>
                </a:r>
                <a14:m>
                  <m:oMath xmlns:m="http://schemas.openxmlformats.org/officeDocument/2006/math">
                    <m:r>
                      <a:rPr lang="en-IN" i="1">
                        <a:latin typeface="Cambria Math" panose="02040503050406030204" pitchFamily="18" charset="0"/>
                      </a:rPr>
                      <m:t>𝑁</m:t>
                    </m:r>
                    <m:r>
                      <a:rPr lang="en-IN">
                        <a:latin typeface="Cambria Math" panose="02040503050406030204" pitchFamily="18" charset="0"/>
                      </a:rPr>
                      <m:t>=</m:t>
                    </m:r>
                    <m:r>
                      <a:rPr lang="en-IN">
                        <a:latin typeface="Cambria Math" panose="02040503050406030204" pitchFamily="18" charset="0"/>
                      </a:rPr>
                      <m:t>2</m:t>
                    </m:r>
                  </m:oMath>
                </a14:m>
                <a:endParaRPr lang="en-IN" dirty="0"/>
              </a:p>
              <a:p>
                <a:r>
                  <a:rPr lang="en-IN" b="1" dirty="0"/>
                  <a:t>Neuron 1:</a:t>
                </a:r>
              </a:p>
              <a:p>
                <a14:m>
                  <m:oMath xmlns:m="http://schemas.openxmlformats.org/officeDocument/2006/math">
                    <m:sSub>
                      <m:sSubPr>
                        <m:ctrlPr>
                          <a:rPr lang="ar-AE" i="1">
                            <a:latin typeface="Cambria Math" panose="02040503050406030204" pitchFamily="18" charset="0"/>
                          </a:rPr>
                        </m:ctrlPr>
                      </m:sSubPr>
                      <m:e>
                        <m:acc>
                          <m:accPr>
                            <m:chr m:val="̂"/>
                            <m:ctrlPr>
                              <a:rPr lang="ar-AE" i="1">
                                <a:latin typeface="Cambria Math" panose="02040503050406030204" pitchFamily="18" charset="0"/>
                              </a:rPr>
                            </m:ctrlPr>
                          </m:accPr>
                          <m:e>
                            <m:r>
                              <a:rPr lang="ar-AE" i="1">
                                <a:latin typeface="Cambria Math" panose="02040503050406030204" pitchFamily="18" charset="0"/>
                              </a:rPr>
                              <m:t>𝜌</m:t>
                            </m:r>
                          </m:e>
                        </m:acc>
                      </m:e>
                      <m:sub>
                        <m:r>
                          <a:rPr lang="ar-AE">
                            <a:latin typeface="Cambria Math" panose="02040503050406030204" pitchFamily="18" charset="0"/>
                          </a:rPr>
                          <m:t>1</m:t>
                        </m:r>
                      </m:sub>
                    </m:sSub>
                    <m:r>
                      <a:rPr lang="ar-AE">
                        <a:latin typeface="Cambria Math" panose="02040503050406030204" pitchFamily="18" charset="0"/>
                      </a:rPr>
                      <m:t>=</m:t>
                    </m:r>
                    <m:f>
                      <m:fPr>
                        <m:ctrlPr>
                          <a:rPr lang="ar-AE" i="1">
                            <a:latin typeface="Cambria Math" panose="02040503050406030204" pitchFamily="18" charset="0"/>
                          </a:rPr>
                        </m:ctrlPr>
                      </m:fPr>
                      <m:num>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5498</m:t>
                        </m:r>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4256</m:t>
                        </m:r>
                      </m:num>
                      <m:den>
                        <m:r>
                          <a:rPr lang="ar-AE">
                            <a:latin typeface="Cambria Math" panose="02040503050406030204" pitchFamily="18" charset="0"/>
                          </a:rPr>
                          <m:t>2</m:t>
                        </m:r>
                      </m:den>
                    </m:f>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4877</m:t>
                    </m:r>
                  </m:oMath>
                </a14:m>
                <a:endParaRPr lang="ar-AE" dirty="0"/>
              </a:p>
              <a:p>
                <a:r>
                  <a:rPr lang="en-IN" b="1" dirty="0"/>
                  <a:t>Neuron 2:</a:t>
                </a:r>
              </a:p>
              <a:p>
                <a14:m>
                  <m:oMath xmlns:m="http://schemas.openxmlformats.org/officeDocument/2006/math">
                    <m:sSub>
                      <m:sSubPr>
                        <m:ctrlPr>
                          <a:rPr lang="ar-AE" i="1">
                            <a:latin typeface="Cambria Math" panose="02040503050406030204" pitchFamily="18" charset="0"/>
                          </a:rPr>
                        </m:ctrlPr>
                      </m:sSubPr>
                      <m:e>
                        <m:acc>
                          <m:accPr>
                            <m:chr m:val="̂"/>
                            <m:ctrlPr>
                              <a:rPr lang="ar-AE" i="1">
                                <a:latin typeface="Cambria Math" panose="02040503050406030204" pitchFamily="18" charset="0"/>
                              </a:rPr>
                            </m:ctrlPr>
                          </m:accPr>
                          <m:e>
                            <m:r>
                              <a:rPr lang="ar-AE" i="1">
                                <a:latin typeface="Cambria Math" panose="02040503050406030204" pitchFamily="18" charset="0"/>
                              </a:rPr>
                              <m:t>𝜌</m:t>
                            </m:r>
                          </m:e>
                        </m:acc>
                      </m:e>
                      <m:sub>
                        <m:r>
                          <a:rPr lang="ar-AE">
                            <a:latin typeface="Cambria Math" panose="02040503050406030204" pitchFamily="18" charset="0"/>
                          </a:rPr>
                          <m:t>2</m:t>
                        </m:r>
                      </m:sub>
                    </m:sSub>
                    <m:r>
                      <a:rPr lang="ar-AE">
                        <a:latin typeface="Cambria Math" panose="02040503050406030204" pitchFamily="18" charset="0"/>
                      </a:rPr>
                      <m:t>=</m:t>
                    </m:r>
                    <m:f>
                      <m:fPr>
                        <m:ctrlPr>
                          <a:rPr lang="ar-AE" i="1">
                            <a:latin typeface="Cambria Math" panose="02040503050406030204" pitchFamily="18" charset="0"/>
                          </a:rPr>
                        </m:ctrlPr>
                      </m:fPr>
                      <m:num>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5250</m:t>
                        </m:r>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5498</m:t>
                        </m:r>
                      </m:num>
                      <m:den>
                        <m:r>
                          <a:rPr lang="ar-AE">
                            <a:latin typeface="Cambria Math" panose="02040503050406030204" pitchFamily="18" charset="0"/>
                          </a:rPr>
                          <m:t>2</m:t>
                        </m:r>
                      </m:den>
                    </m:f>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5374</m:t>
                    </m:r>
                  </m:oMath>
                </a14:m>
                <a:endParaRPr lang="ar-AE" dirty="0"/>
              </a:p>
              <a:p>
                <a:r>
                  <a:rPr lang="en-IN" dirty="0"/>
                  <a:t> Actual activations:</a:t>
                </a:r>
              </a:p>
              <a:p>
                <a14:m>
                  <m:oMath xmlns:m="http://schemas.openxmlformats.org/officeDocument/2006/math">
                    <m:acc>
                      <m:accPr>
                        <m:chr m:val="̂"/>
                        <m:ctrlPr>
                          <a:rPr lang="ar-AE" i="1">
                            <a:latin typeface="Cambria Math" panose="02040503050406030204" pitchFamily="18" charset="0"/>
                          </a:rPr>
                        </m:ctrlPr>
                      </m:accPr>
                      <m:e>
                        <m:r>
                          <a:rPr lang="ar-AE" i="1">
                            <a:latin typeface="Cambria Math" panose="02040503050406030204" pitchFamily="18" charset="0"/>
                          </a:rPr>
                          <m:t>𝜌</m:t>
                        </m:r>
                      </m:e>
                    </m:acc>
                    <m:r>
                      <a:rPr lang="ar-AE">
                        <a:latin typeface="Cambria Math" panose="02040503050406030204" pitchFamily="18" charset="0"/>
                      </a:rPr>
                      <m:t>=</m:t>
                    </m:r>
                    <m:d>
                      <m:dPr>
                        <m:begChr m:val="["/>
                        <m:endChr m:val="]"/>
                        <m:sepChr m:val=","/>
                        <m:ctrlPr>
                          <a:rPr lang="ar-AE" i="1">
                            <a:latin typeface="Cambria Math" panose="02040503050406030204" pitchFamily="18" charset="0"/>
                          </a:rPr>
                        </m:ctrlPr>
                      </m:dP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4877</m:t>
                        </m:r>
                      </m:e>
                      <m:e>
                        <m:r>
                          <m:rPr>
                            <m:nor/>
                          </m:rPr>
                          <a:rPr lang="ar-AE" i="1"/>
                          <m:t>  </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5374</m:t>
                        </m:r>
                      </m:e>
                    </m:d>
                  </m:oMath>
                </a14:m>
                <a:endParaRPr lang="ar-AE" b="0" dirty="0"/>
              </a:p>
              <a:p>
                <a:r>
                  <a:rPr lang="en-IN" dirty="0"/>
                  <a:t>Target = 0.05 → neurons are activating </a:t>
                </a:r>
                <a:r>
                  <a:rPr lang="en-IN" b="1" dirty="0"/>
                  <a:t>too much</a:t>
                </a:r>
                <a:endParaRPr lang="en-IN" dirty="0"/>
              </a:p>
              <a:p>
                <a:endParaRPr lang="en-IN" dirty="0"/>
              </a:p>
            </p:txBody>
          </p:sp>
        </mc:Choice>
        <mc:Fallback xmlns="">
          <p:sp>
            <p:nvSpPr>
              <p:cNvPr id="3" name="Content Placeholder 2">
                <a:extLst>
                  <a:ext uri="{FF2B5EF4-FFF2-40B4-BE49-F238E27FC236}">
                    <a16:creationId xmlns:a16="http://schemas.microsoft.com/office/drawing/2014/main" id="{D7D0CFC1-717E-1A34-1B56-FF9C72520FBD}"/>
                  </a:ext>
                </a:extLst>
              </p:cNvPr>
              <p:cNvSpPr>
                <a:spLocks noGrp="1" noRot="1" noChangeAspect="1" noMove="1" noResize="1" noEditPoints="1" noAdjustHandles="1" noChangeArrowheads="1" noChangeShapeType="1" noTextEdit="1"/>
              </p:cNvSpPr>
              <p:nvPr>
                <p:ph idx="1"/>
              </p:nvPr>
            </p:nvSpPr>
            <p:spPr>
              <a:xfrm>
                <a:off x="1025842" y="1351280"/>
                <a:ext cx="10201275" cy="4774990"/>
              </a:xfrm>
              <a:blipFill>
                <a:blip r:embed="rId2"/>
                <a:stretch>
                  <a:fillRect l="-1434" t="-1916" b="-1533"/>
                </a:stretch>
              </a:blipFill>
            </p:spPr>
            <p:txBody>
              <a:bodyPr/>
              <a:lstStyle/>
              <a:p>
                <a:r>
                  <a:rPr lang="en-IN">
                    <a:noFill/>
                  </a:rPr>
                  <a:t> </a:t>
                </a:r>
              </a:p>
            </p:txBody>
          </p:sp>
        </mc:Fallback>
      </mc:AlternateContent>
    </p:spTree>
    <p:extLst>
      <p:ext uri="{BB962C8B-B14F-4D97-AF65-F5344CB8AC3E}">
        <p14:creationId xmlns:p14="http://schemas.microsoft.com/office/powerpoint/2010/main" val="22250292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2C5848-C9CD-759A-3A10-4BF7A4552F54}"/>
              </a:ext>
            </a:extLst>
          </p:cNvPr>
          <p:cNvSpPr>
            <a:spLocks noGrp="1"/>
          </p:cNvSpPr>
          <p:nvPr>
            <p:ph type="title"/>
          </p:nvPr>
        </p:nvSpPr>
        <p:spPr/>
        <p:txBody>
          <a:bodyPr>
            <a:normAutofit fontScale="90000"/>
          </a:bodyPr>
          <a:lstStyle/>
          <a:p>
            <a:endParaRPr lang="en-IN"/>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F15E7B3-5F9E-779D-F93B-E900AF9D74E2}"/>
                  </a:ext>
                </a:extLst>
              </p:cNvPr>
              <p:cNvSpPr>
                <a:spLocks noGrp="1"/>
              </p:cNvSpPr>
              <p:nvPr>
                <p:ph idx="1"/>
              </p:nvPr>
            </p:nvSpPr>
            <p:spPr/>
            <p:txBody>
              <a:bodyPr>
                <a:normAutofit fontScale="92500" lnSpcReduction="20000"/>
              </a:bodyPr>
              <a:lstStyle/>
              <a:p>
                <a:r>
                  <a:rPr lang="en-IN" b="1" dirty="0"/>
                  <a:t>STEP 3: KL Divergence Sparsity Penalty</a:t>
                </a:r>
              </a:p>
              <a:p>
                <a14:m>
                  <m:oMath xmlns:m="http://schemas.openxmlformats.org/officeDocument/2006/math">
                    <m:r>
                      <a:rPr lang="en-IN" i="1">
                        <a:latin typeface="Cambria Math" panose="02040503050406030204" pitchFamily="18" charset="0"/>
                      </a:rPr>
                      <m:t>𝐾𝐿</m:t>
                    </m:r>
                    <m:d>
                      <m:dPr>
                        <m:ctrlPr>
                          <a:rPr lang="ar-AE" i="1">
                            <a:latin typeface="Cambria Math" panose="02040503050406030204" pitchFamily="18" charset="0"/>
                          </a:rPr>
                        </m:ctrlPr>
                      </m:dPr>
                      <m:e>
                        <m:r>
                          <a:rPr lang="ar-AE" i="1">
                            <a:latin typeface="Cambria Math" panose="02040503050406030204" pitchFamily="18" charset="0"/>
                          </a:rPr>
                          <m:t>𝜌</m:t>
                        </m:r>
                        <m:r>
                          <a:rPr lang="ar-AE">
                            <a:latin typeface="Cambria Math" panose="02040503050406030204" pitchFamily="18" charset="0"/>
                          </a:rPr>
                          <m:t>∣∣</m:t>
                        </m:r>
                        <m:acc>
                          <m:accPr>
                            <m:chr m:val="̂"/>
                            <m:ctrlPr>
                              <a:rPr lang="ar-AE" i="1">
                                <a:latin typeface="Cambria Math" panose="02040503050406030204" pitchFamily="18" charset="0"/>
                              </a:rPr>
                            </m:ctrlPr>
                          </m:accPr>
                          <m:e>
                            <m:r>
                              <a:rPr lang="ar-AE" i="1">
                                <a:latin typeface="Cambria Math" panose="02040503050406030204" pitchFamily="18" charset="0"/>
                              </a:rPr>
                              <m:t>𝜌</m:t>
                            </m:r>
                          </m:e>
                        </m:acc>
                      </m:e>
                    </m:d>
                    <m:r>
                      <a:rPr lang="ar-AE">
                        <a:latin typeface="Cambria Math" panose="02040503050406030204" pitchFamily="18" charset="0"/>
                      </a:rPr>
                      <m:t>=</m:t>
                    </m:r>
                    <m:r>
                      <a:rPr lang="ar-AE" i="1">
                        <a:latin typeface="Cambria Math" panose="02040503050406030204" pitchFamily="18" charset="0"/>
                      </a:rPr>
                      <m:t>𝜌</m:t>
                    </m:r>
                    <m:func>
                      <m:funcPr>
                        <m:ctrlPr>
                          <a:rPr lang="ar-AE" i="1">
                            <a:latin typeface="Cambria Math" panose="02040503050406030204" pitchFamily="18" charset="0"/>
                          </a:rPr>
                        </m:ctrlPr>
                      </m:funcPr>
                      <m:fName>
                        <m:r>
                          <m:rPr>
                            <m:sty m:val="p"/>
                          </m:rPr>
                          <a:rPr lang="en-IN">
                            <a:latin typeface="Cambria Math" panose="02040503050406030204" pitchFamily="18" charset="0"/>
                          </a:rPr>
                          <m:t>log</m:t>
                        </m:r>
                      </m:fName>
                      <m:e>
                        <m:f>
                          <m:fPr>
                            <m:ctrlPr>
                              <a:rPr lang="ar-AE" i="1">
                                <a:latin typeface="Cambria Math" panose="02040503050406030204" pitchFamily="18" charset="0"/>
                              </a:rPr>
                            </m:ctrlPr>
                          </m:fPr>
                          <m:num>
                            <m:r>
                              <a:rPr lang="ar-AE" i="1">
                                <a:latin typeface="Cambria Math" panose="02040503050406030204" pitchFamily="18" charset="0"/>
                              </a:rPr>
                              <m:t>𝜌</m:t>
                            </m:r>
                          </m:num>
                          <m:den>
                            <m:acc>
                              <m:accPr>
                                <m:chr m:val="̂"/>
                                <m:ctrlPr>
                                  <a:rPr lang="ar-AE" i="1">
                                    <a:latin typeface="Cambria Math" panose="02040503050406030204" pitchFamily="18" charset="0"/>
                                  </a:rPr>
                                </m:ctrlPr>
                              </m:accPr>
                              <m:e>
                                <m:r>
                                  <a:rPr lang="ar-AE" i="1">
                                    <a:latin typeface="Cambria Math" panose="02040503050406030204" pitchFamily="18" charset="0"/>
                                  </a:rPr>
                                  <m:t>𝜌</m:t>
                                </m:r>
                              </m:e>
                            </m:acc>
                          </m:den>
                        </m:f>
                      </m:e>
                    </m:func>
                    <m:r>
                      <a:rPr lang="ar-AE">
                        <a:latin typeface="Cambria Math" panose="02040503050406030204" pitchFamily="18" charset="0"/>
                      </a:rPr>
                      <m:t>+</m:t>
                    </m:r>
                    <m:d>
                      <m:dPr>
                        <m:ctrlPr>
                          <a:rPr lang="ar-AE" i="1">
                            <a:latin typeface="Cambria Math" panose="02040503050406030204" pitchFamily="18" charset="0"/>
                          </a:rPr>
                        </m:ctrlPr>
                      </m:dPr>
                      <m:e>
                        <m:r>
                          <a:rPr lang="ar-AE">
                            <a:latin typeface="Cambria Math" panose="02040503050406030204" pitchFamily="18" charset="0"/>
                          </a:rPr>
                          <m:t>1</m:t>
                        </m:r>
                        <m:r>
                          <a:rPr lang="ar-AE">
                            <a:latin typeface="Cambria Math" panose="02040503050406030204" pitchFamily="18" charset="0"/>
                          </a:rPr>
                          <m:t>−</m:t>
                        </m:r>
                        <m:r>
                          <a:rPr lang="ar-AE" i="1">
                            <a:latin typeface="Cambria Math" panose="02040503050406030204" pitchFamily="18" charset="0"/>
                          </a:rPr>
                          <m:t>𝜌</m:t>
                        </m:r>
                      </m:e>
                    </m:d>
                    <m:func>
                      <m:funcPr>
                        <m:ctrlPr>
                          <a:rPr lang="ar-AE" i="1">
                            <a:latin typeface="Cambria Math" panose="02040503050406030204" pitchFamily="18" charset="0"/>
                          </a:rPr>
                        </m:ctrlPr>
                      </m:funcPr>
                      <m:fName>
                        <m:r>
                          <m:rPr>
                            <m:sty m:val="p"/>
                          </m:rPr>
                          <a:rPr lang="en-IN">
                            <a:latin typeface="Cambria Math" panose="02040503050406030204" pitchFamily="18" charset="0"/>
                          </a:rPr>
                          <m:t>log</m:t>
                        </m:r>
                      </m:fName>
                      <m:e>
                        <m:f>
                          <m:fPr>
                            <m:ctrlPr>
                              <a:rPr lang="ar-AE" i="1">
                                <a:latin typeface="Cambria Math" panose="02040503050406030204" pitchFamily="18" charset="0"/>
                              </a:rPr>
                            </m:ctrlPr>
                          </m:fPr>
                          <m:num>
                            <m:r>
                              <a:rPr lang="ar-AE">
                                <a:latin typeface="Cambria Math" panose="02040503050406030204" pitchFamily="18" charset="0"/>
                              </a:rPr>
                              <m:t>1</m:t>
                            </m:r>
                            <m:r>
                              <a:rPr lang="ar-AE">
                                <a:latin typeface="Cambria Math" panose="02040503050406030204" pitchFamily="18" charset="0"/>
                              </a:rPr>
                              <m:t>−</m:t>
                            </m:r>
                            <m:r>
                              <a:rPr lang="ar-AE" i="1">
                                <a:latin typeface="Cambria Math" panose="02040503050406030204" pitchFamily="18" charset="0"/>
                              </a:rPr>
                              <m:t>𝜌</m:t>
                            </m:r>
                          </m:num>
                          <m:den>
                            <m:r>
                              <a:rPr lang="ar-AE">
                                <a:latin typeface="Cambria Math" panose="02040503050406030204" pitchFamily="18" charset="0"/>
                              </a:rPr>
                              <m:t>1</m:t>
                            </m:r>
                            <m:r>
                              <a:rPr lang="ar-AE">
                                <a:latin typeface="Cambria Math" panose="02040503050406030204" pitchFamily="18" charset="0"/>
                              </a:rPr>
                              <m:t>−</m:t>
                            </m:r>
                            <m:acc>
                              <m:accPr>
                                <m:chr m:val="̂"/>
                                <m:ctrlPr>
                                  <a:rPr lang="ar-AE" i="1">
                                    <a:latin typeface="Cambria Math" panose="02040503050406030204" pitchFamily="18" charset="0"/>
                                  </a:rPr>
                                </m:ctrlPr>
                              </m:accPr>
                              <m:e>
                                <m:r>
                                  <a:rPr lang="ar-AE" i="1">
                                    <a:latin typeface="Cambria Math" panose="02040503050406030204" pitchFamily="18" charset="0"/>
                                  </a:rPr>
                                  <m:t>𝜌</m:t>
                                </m:r>
                              </m:e>
                            </m:acc>
                          </m:den>
                        </m:f>
                      </m:e>
                    </m:func>
                  </m:oMath>
                </a14:m>
                <a:endParaRPr lang="ar-AE" dirty="0"/>
              </a:p>
              <a:p>
                <a:br>
                  <a:rPr lang="ar-AE" dirty="0"/>
                </a:br>
                <a:r>
                  <a:rPr lang="en-IN" b="1" dirty="0"/>
                  <a:t> Neuron 1</a:t>
                </a:r>
              </a:p>
              <a:p>
                <a14:m>
                  <m:oMath xmlns:m="http://schemas.openxmlformats.org/officeDocument/2006/math">
                    <m:r>
                      <a:rPr lang="en-IN" i="1">
                        <a:latin typeface="Cambria Math" panose="02040503050406030204" pitchFamily="18" charset="0"/>
                      </a:rPr>
                      <m:t>𝐾𝐿</m:t>
                    </m:r>
                    <m:r>
                      <a:rPr lang="en-IN">
                        <a:latin typeface="Cambria Math" panose="02040503050406030204" pitchFamily="18" charset="0"/>
                      </a:rPr>
                      <m:t>=</m:t>
                    </m:r>
                    <m:r>
                      <a:rPr lang="en-IN">
                        <a:latin typeface="Cambria Math" panose="02040503050406030204" pitchFamily="18" charset="0"/>
                      </a:rPr>
                      <m:t>0</m:t>
                    </m:r>
                    <m:r>
                      <a:rPr lang="en-IN">
                        <a:latin typeface="Cambria Math" panose="02040503050406030204" pitchFamily="18" charset="0"/>
                      </a:rPr>
                      <m:t>.</m:t>
                    </m:r>
                    <m:r>
                      <a:rPr lang="en-IN">
                        <a:latin typeface="Cambria Math" panose="02040503050406030204" pitchFamily="18" charset="0"/>
                      </a:rPr>
                      <m:t>05</m:t>
                    </m:r>
                    <m:func>
                      <m:funcPr>
                        <m:ctrlPr>
                          <a:rPr lang="ar-AE" i="1">
                            <a:latin typeface="Cambria Math" panose="02040503050406030204" pitchFamily="18" charset="0"/>
                          </a:rPr>
                        </m:ctrlPr>
                      </m:funcPr>
                      <m:fName>
                        <m:r>
                          <m:rPr>
                            <m:sty m:val="p"/>
                          </m:rPr>
                          <a:rPr lang="en-IN">
                            <a:latin typeface="Cambria Math" panose="02040503050406030204" pitchFamily="18" charset="0"/>
                          </a:rPr>
                          <m:t>log</m:t>
                        </m:r>
                      </m:fName>
                      <m:e>
                        <m:f>
                          <m:fPr>
                            <m:ctrlPr>
                              <a:rPr lang="ar-AE" i="1">
                                <a:latin typeface="Cambria Math" panose="02040503050406030204" pitchFamily="18" charset="0"/>
                              </a:rPr>
                            </m:ctrlPr>
                          </m:fPr>
                          <m:num>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05</m:t>
                            </m:r>
                          </m:num>
                          <m:den>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4877</m:t>
                            </m:r>
                          </m:den>
                        </m:f>
                      </m:e>
                    </m:func>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95</m:t>
                    </m:r>
                    <m:func>
                      <m:funcPr>
                        <m:ctrlPr>
                          <a:rPr lang="ar-AE" i="1">
                            <a:latin typeface="Cambria Math" panose="02040503050406030204" pitchFamily="18" charset="0"/>
                          </a:rPr>
                        </m:ctrlPr>
                      </m:funcPr>
                      <m:fName>
                        <m:r>
                          <m:rPr>
                            <m:sty m:val="p"/>
                          </m:rPr>
                          <a:rPr lang="en-IN">
                            <a:latin typeface="Cambria Math" panose="02040503050406030204" pitchFamily="18" charset="0"/>
                          </a:rPr>
                          <m:t>log</m:t>
                        </m:r>
                      </m:fName>
                      <m:e>
                        <m:f>
                          <m:fPr>
                            <m:ctrlPr>
                              <a:rPr lang="ar-AE" i="1">
                                <a:latin typeface="Cambria Math" panose="02040503050406030204" pitchFamily="18" charset="0"/>
                              </a:rPr>
                            </m:ctrlPr>
                          </m:fPr>
                          <m:num>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95</m:t>
                            </m:r>
                          </m:num>
                          <m:den>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5123</m:t>
                            </m:r>
                          </m:den>
                        </m:f>
                      </m:e>
                    </m:func>
                  </m:oMath>
                </a14:m>
                <a:endParaRPr lang="ar-AE" dirty="0"/>
              </a:p>
              <a:p>
                <a14:m>
                  <m:oMath xmlns:m="http://schemas.openxmlformats.org/officeDocument/2006/math">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05</m:t>
                    </m:r>
                    <m:r>
                      <m:rPr>
                        <m:sty m:val="p"/>
                      </m:rPr>
                      <a:rPr lang="en-IN">
                        <a:latin typeface="Cambria Math" panose="02040503050406030204" pitchFamily="18" charset="0"/>
                      </a:rPr>
                      <m:t>log</m:t>
                    </m:r>
                    <m:r>
                      <a:rPr lang="en-IN">
                        <a:latin typeface="Cambria Math" panose="02040503050406030204" pitchFamily="18" charset="0"/>
                      </a:rPr>
                      <m:t>⁡</m:t>
                    </m:r>
                    <m:d>
                      <m:dPr>
                        <m:ctrlPr>
                          <a:rPr lang="ar-AE" i="1">
                            <a:latin typeface="Cambria Math" panose="02040503050406030204" pitchFamily="18" charset="0"/>
                          </a:rPr>
                        </m:ctrlPr>
                      </m:dP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1026</m:t>
                        </m:r>
                      </m:e>
                    </m:d>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95</m:t>
                    </m:r>
                    <m:r>
                      <m:rPr>
                        <m:sty m:val="p"/>
                      </m:rPr>
                      <a:rPr lang="en-IN">
                        <a:latin typeface="Cambria Math" panose="02040503050406030204" pitchFamily="18" charset="0"/>
                      </a:rPr>
                      <m:t>log</m:t>
                    </m:r>
                    <m:r>
                      <a:rPr lang="en-IN">
                        <a:latin typeface="Cambria Math" panose="02040503050406030204" pitchFamily="18" charset="0"/>
                      </a:rPr>
                      <m:t>⁡</m:t>
                    </m:r>
                    <m:d>
                      <m:dPr>
                        <m:ctrlPr>
                          <a:rPr lang="ar-AE" i="1">
                            <a:latin typeface="Cambria Math" panose="02040503050406030204" pitchFamily="18" charset="0"/>
                          </a:rPr>
                        </m:ctrlPr>
                      </m:dPr>
                      <m:e>
                        <m:r>
                          <a:rPr lang="ar-AE">
                            <a:latin typeface="Cambria Math" panose="02040503050406030204" pitchFamily="18" charset="0"/>
                          </a:rPr>
                          <m:t>1</m:t>
                        </m:r>
                        <m:r>
                          <a:rPr lang="ar-AE">
                            <a:latin typeface="Cambria Math" panose="02040503050406030204" pitchFamily="18" charset="0"/>
                          </a:rPr>
                          <m:t>.</m:t>
                        </m:r>
                        <m:r>
                          <a:rPr lang="ar-AE">
                            <a:latin typeface="Cambria Math" panose="02040503050406030204" pitchFamily="18" charset="0"/>
                          </a:rPr>
                          <m:t>854</m:t>
                        </m:r>
                      </m:e>
                    </m:d>
                  </m:oMath>
                </a14:m>
                <a:endParaRPr lang="ar-AE" dirty="0"/>
              </a:p>
              <a:p>
                <a14:m>
                  <m:oMath xmlns:m="http://schemas.openxmlformats.org/officeDocument/2006/math">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05</m:t>
                    </m:r>
                    <m:d>
                      <m:dPr>
                        <m:ctrlPr>
                          <a:rPr lang="ar-AE" i="1">
                            <a:latin typeface="Cambria Math" panose="02040503050406030204" pitchFamily="18" charset="0"/>
                          </a:rPr>
                        </m:ctrlPr>
                      </m:dPr>
                      <m:e>
                        <m:r>
                          <a:rPr lang="ar-AE">
                            <a:latin typeface="Cambria Math" panose="02040503050406030204" pitchFamily="18" charset="0"/>
                          </a:rPr>
                          <m:t>−</m:t>
                        </m:r>
                        <m:r>
                          <a:rPr lang="ar-AE">
                            <a:latin typeface="Cambria Math" panose="02040503050406030204" pitchFamily="18" charset="0"/>
                          </a:rPr>
                          <m:t>2</m:t>
                        </m:r>
                        <m:r>
                          <a:rPr lang="ar-AE">
                            <a:latin typeface="Cambria Math" panose="02040503050406030204" pitchFamily="18" charset="0"/>
                          </a:rPr>
                          <m:t>.</m:t>
                        </m:r>
                        <m:r>
                          <a:rPr lang="ar-AE">
                            <a:latin typeface="Cambria Math" panose="02040503050406030204" pitchFamily="18" charset="0"/>
                          </a:rPr>
                          <m:t>28</m:t>
                        </m:r>
                      </m:e>
                    </m:d>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95</m:t>
                    </m:r>
                    <m:d>
                      <m:dPr>
                        <m:ctrlPr>
                          <a:rPr lang="ar-AE" i="1">
                            <a:latin typeface="Cambria Math" panose="02040503050406030204" pitchFamily="18" charset="0"/>
                          </a:rPr>
                        </m:ctrlPr>
                      </m:dP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617</m:t>
                        </m:r>
                      </m:e>
                    </m:d>
                  </m:oMath>
                </a14:m>
                <a:endParaRPr lang="ar-AE" dirty="0"/>
              </a:p>
              <a:p>
                <a14:m>
                  <m:oMath xmlns:m="http://schemas.openxmlformats.org/officeDocument/2006/math">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114</m:t>
                    </m:r>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586</m:t>
                    </m:r>
                  </m:oMath>
                </a14:m>
                <a:endParaRPr lang="ar-AE" dirty="0"/>
              </a:p>
              <a:p>
                <a14:m>
                  <m:oMath xmlns:m="http://schemas.openxmlformats.org/officeDocument/2006/math">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472</m:t>
                    </m:r>
                  </m:oMath>
                </a14:m>
                <a:endParaRPr lang="ar-AE" dirty="0"/>
              </a:p>
              <a:p>
                <a:endParaRPr lang="en-IN" dirty="0"/>
              </a:p>
            </p:txBody>
          </p:sp>
        </mc:Choice>
        <mc:Fallback xmlns="">
          <p:sp>
            <p:nvSpPr>
              <p:cNvPr id="3" name="Content Placeholder 2">
                <a:extLst>
                  <a:ext uri="{FF2B5EF4-FFF2-40B4-BE49-F238E27FC236}">
                    <a16:creationId xmlns:a16="http://schemas.microsoft.com/office/drawing/2014/main" id="{2F15E7B3-5F9E-779D-F93B-E900AF9D74E2}"/>
                  </a:ext>
                </a:extLst>
              </p:cNvPr>
              <p:cNvSpPr>
                <a:spLocks noGrp="1" noRot="1" noChangeAspect="1" noMove="1" noResize="1" noEditPoints="1" noAdjustHandles="1" noChangeArrowheads="1" noChangeShapeType="1" noTextEdit="1"/>
              </p:cNvSpPr>
              <p:nvPr>
                <p:ph idx="1"/>
              </p:nvPr>
            </p:nvSpPr>
            <p:spPr>
              <a:blipFill>
                <a:blip r:embed="rId2"/>
                <a:stretch>
                  <a:fillRect l="-1636" t="-3035" b="-1301"/>
                </a:stretch>
              </a:blipFill>
            </p:spPr>
            <p:txBody>
              <a:bodyPr/>
              <a:lstStyle/>
              <a:p>
                <a:r>
                  <a:rPr lang="en-IN">
                    <a:noFill/>
                  </a:rPr>
                  <a:t> </a:t>
                </a:r>
              </a:p>
            </p:txBody>
          </p:sp>
        </mc:Fallback>
      </mc:AlternateContent>
    </p:spTree>
    <p:extLst>
      <p:ext uri="{BB962C8B-B14F-4D97-AF65-F5344CB8AC3E}">
        <p14:creationId xmlns:p14="http://schemas.microsoft.com/office/powerpoint/2010/main" val="39925437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2DEFF6-D0A6-766A-7221-272B0169691B}"/>
              </a:ext>
            </a:extLst>
          </p:cNvPr>
          <p:cNvSpPr>
            <a:spLocks noGrp="1"/>
          </p:cNvSpPr>
          <p:nvPr>
            <p:ph type="title"/>
          </p:nvPr>
        </p:nvSpPr>
        <p:spPr/>
        <p:txBody>
          <a:bodyPr>
            <a:normAutofit fontScale="90000"/>
          </a:bodyPr>
          <a:lstStyle/>
          <a:p>
            <a:endParaRPr lang="en-IN"/>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FCD9FFA-CAA3-C342-F919-4A71E4646ED2}"/>
                  </a:ext>
                </a:extLst>
              </p:cNvPr>
              <p:cNvSpPr>
                <a:spLocks noGrp="1"/>
              </p:cNvSpPr>
              <p:nvPr>
                <p:ph idx="1"/>
              </p:nvPr>
            </p:nvSpPr>
            <p:spPr>
              <a:xfrm>
                <a:off x="1025842" y="1635760"/>
                <a:ext cx="10201275" cy="4490510"/>
              </a:xfrm>
            </p:spPr>
            <p:txBody>
              <a:bodyPr>
                <a:normAutofit fontScale="92500"/>
              </a:bodyPr>
              <a:lstStyle/>
              <a:p>
                <a:r>
                  <a:rPr lang="en-IN" b="1" dirty="0"/>
                  <a:t>Neuron 2</a:t>
                </a:r>
              </a:p>
              <a:p>
                <a14:m>
                  <m:oMath xmlns:m="http://schemas.openxmlformats.org/officeDocument/2006/math">
                    <m:r>
                      <a:rPr lang="en-IN" i="1">
                        <a:latin typeface="Cambria Math" panose="02040503050406030204" pitchFamily="18" charset="0"/>
                      </a:rPr>
                      <m:t>𝐾𝐿</m:t>
                    </m:r>
                    <m:r>
                      <a:rPr lang="en-IN">
                        <a:latin typeface="Cambria Math" panose="02040503050406030204" pitchFamily="18" charset="0"/>
                      </a:rPr>
                      <m:t>=</m:t>
                    </m:r>
                    <m:r>
                      <a:rPr lang="en-IN">
                        <a:latin typeface="Cambria Math" panose="02040503050406030204" pitchFamily="18" charset="0"/>
                      </a:rPr>
                      <m:t>0</m:t>
                    </m:r>
                    <m:r>
                      <a:rPr lang="en-IN">
                        <a:latin typeface="Cambria Math" panose="02040503050406030204" pitchFamily="18" charset="0"/>
                      </a:rPr>
                      <m:t>.</m:t>
                    </m:r>
                    <m:r>
                      <a:rPr lang="en-IN">
                        <a:latin typeface="Cambria Math" panose="02040503050406030204" pitchFamily="18" charset="0"/>
                      </a:rPr>
                      <m:t>05</m:t>
                    </m:r>
                    <m:func>
                      <m:funcPr>
                        <m:ctrlPr>
                          <a:rPr lang="ar-AE" i="1">
                            <a:latin typeface="Cambria Math" panose="02040503050406030204" pitchFamily="18" charset="0"/>
                          </a:rPr>
                        </m:ctrlPr>
                      </m:funcPr>
                      <m:fName>
                        <m:r>
                          <m:rPr>
                            <m:sty m:val="p"/>
                          </m:rPr>
                          <a:rPr lang="en-IN">
                            <a:latin typeface="Cambria Math" panose="02040503050406030204" pitchFamily="18" charset="0"/>
                          </a:rPr>
                          <m:t>log</m:t>
                        </m:r>
                      </m:fName>
                      <m:e>
                        <m:f>
                          <m:fPr>
                            <m:ctrlPr>
                              <a:rPr lang="ar-AE" i="1">
                                <a:latin typeface="Cambria Math" panose="02040503050406030204" pitchFamily="18" charset="0"/>
                              </a:rPr>
                            </m:ctrlPr>
                          </m:fPr>
                          <m:num>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05</m:t>
                            </m:r>
                          </m:num>
                          <m:den>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5374</m:t>
                            </m:r>
                          </m:den>
                        </m:f>
                      </m:e>
                    </m:func>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95</m:t>
                    </m:r>
                    <m:func>
                      <m:funcPr>
                        <m:ctrlPr>
                          <a:rPr lang="ar-AE" i="1">
                            <a:latin typeface="Cambria Math" panose="02040503050406030204" pitchFamily="18" charset="0"/>
                          </a:rPr>
                        </m:ctrlPr>
                      </m:funcPr>
                      <m:fName>
                        <m:r>
                          <m:rPr>
                            <m:sty m:val="p"/>
                          </m:rPr>
                          <a:rPr lang="en-IN">
                            <a:latin typeface="Cambria Math" panose="02040503050406030204" pitchFamily="18" charset="0"/>
                          </a:rPr>
                          <m:t>log</m:t>
                        </m:r>
                      </m:fName>
                      <m:e>
                        <m:f>
                          <m:fPr>
                            <m:ctrlPr>
                              <a:rPr lang="ar-AE" i="1">
                                <a:latin typeface="Cambria Math" panose="02040503050406030204" pitchFamily="18" charset="0"/>
                              </a:rPr>
                            </m:ctrlPr>
                          </m:fPr>
                          <m:num>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95</m:t>
                            </m:r>
                          </m:num>
                          <m:den>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4626</m:t>
                            </m:r>
                          </m:den>
                        </m:f>
                      </m:e>
                    </m:func>
                  </m:oMath>
                </a14:m>
                <a:endParaRPr lang="ar-AE" dirty="0"/>
              </a:p>
              <a:p>
                <a14:m>
                  <m:oMath xmlns:m="http://schemas.openxmlformats.org/officeDocument/2006/math">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05</m:t>
                    </m:r>
                    <m:d>
                      <m:dPr>
                        <m:ctrlPr>
                          <a:rPr lang="ar-AE" i="1">
                            <a:latin typeface="Cambria Math" panose="02040503050406030204" pitchFamily="18" charset="0"/>
                          </a:rPr>
                        </m:ctrlPr>
                      </m:dPr>
                      <m:e>
                        <m:r>
                          <a:rPr lang="ar-AE">
                            <a:latin typeface="Cambria Math" panose="02040503050406030204" pitchFamily="18" charset="0"/>
                          </a:rPr>
                          <m:t>−</m:t>
                        </m:r>
                        <m:r>
                          <a:rPr lang="ar-AE">
                            <a:latin typeface="Cambria Math" panose="02040503050406030204" pitchFamily="18" charset="0"/>
                          </a:rPr>
                          <m:t>2</m:t>
                        </m:r>
                        <m:r>
                          <a:rPr lang="ar-AE">
                            <a:latin typeface="Cambria Math" panose="02040503050406030204" pitchFamily="18" charset="0"/>
                          </a:rPr>
                          <m:t>.</m:t>
                        </m:r>
                        <m:r>
                          <a:rPr lang="ar-AE">
                            <a:latin typeface="Cambria Math" panose="02040503050406030204" pitchFamily="18" charset="0"/>
                          </a:rPr>
                          <m:t>37</m:t>
                        </m:r>
                      </m:e>
                    </m:d>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95</m:t>
                    </m:r>
                    <m:d>
                      <m:dPr>
                        <m:ctrlPr>
                          <a:rPr lang="ar-AE" i="1">
                            <a:latin typeface="Cambria Math" panose="02040503050406030204" pitchFamily="18" charset="0"/>
                          </a:rPr>
                        </m:ctrlPr>
                      </m:dP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718</m:t>
                        </m:r>
                      </m:e>
                    </m:d>
                  </m:oMath>
                </a14:m>
                <a:endParaRPr lang="ar-AE" dirty="0"/>
              </a:p>
              <a:p>
                <a14:m>
                  <m:oMath xmlns:m="http://schemas.openxmlformats.org/officeDocument/2006/math">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118</m:t>
                    </m:r>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682</m:t>
                    </m:r>
                  </m:oMath>
                </a14:m>
                <a:endParaRPr lang="ar-AE" dirty="0"/>
              </a:p>
              <a:p>
                <a14:m>
                  <m:oMath xmlns:m="http://schemas.openxmlformats.org/officeDocument/2006/math">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564</m:t>
                    </m:r>
                  </m:oMath>
                </a14:m>
                <a:endParaRPr lang="ar-AE" dirty="0"/>
              </a:p>
              <a:p>
                <a:r>
                  <a:rPr lang="en-IN" b="1" dirty="0"/>
                  <a:t>STEP 4: Total Sparsity Penalty</a:t>
                </a:r>
              </a:p>
              <a:p>
                <a14:m>
                  <m:oMath xmlns:m="http://schemas.openxmlformats.org/officeDocument/2006/math">
                    <m:nary>
                      <m:naryPr>
                        <m:chr m:val="∑"/>
                        <m:grow m:val="on"/>
                        <m:subHide m:val="on"/>
                        <m:supHide m:val="on"/>
                        <m:ctrlPr>
                          <a:rPr lang="ar-AE" i="1">
                            <a:latin typeface="Cambria Math" panose="02040503050406030204" pitchFamily="18" charset="0"/>
                          </a:rPr>
                        </m:ctrlPr>
                      </m:naryPr>
                      <m:sub/>
                      <m:sup/>
                      <m:e>
                        <m:r>
                          <a:rPr lang="ar-AE" i="1">
                            <a:latin typeface="Cambria Math" panose="02040503050406030204" pitchFamily="18" charset="0"/>
                          </a:rPr>
                          <m:t>𝐾</m:t>
                        </m:r>
                      </m:e>
                    </m:nary>
                    <m:r>
                      <a:rPr lang="ar-AE" i="1">
                        <a:latin typeface="Cambria Math" panose="02040503050406030204" pitchFamily="18" charset="0"/>
                      </a:rPr>
                      <m:t>𝐿</m:t>
                    </m:r>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472</m:t>
                    </m:r>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564</m:t>
                    </m:r>
                    <m:r>
                      <a:rPr lang="ar-AE">
                        <a:latin typeface="Cambria Math" panose="02040503050406030204" pitchFamily="18" charset="0"/>
                      </a:rPr>
                      <m:t>=</m:t>
                    </m:r>
                    <m:r>
                      <a:rPr lang="ar-AE">
                        <a:latin typeface="Cambria Math" panose="02040503050406030204" pitchFamily="18" charset="0"/>
                      </a:rPr>
                      <m:t>1</m:t>
                    </m:r>
                    <m:r>
                      <a:rPr lang="ar-AE">
                        <a:latin typeface="Cambria Math" panose="02040503050406030204" pitchFamily="18" charset="0"/>
                      </a:rPr>
                      <m:t>.</m:t>
                    </m:r>
                    <m:r>
                      <a:rPr lang="ar-AE">
                        <a:latin typeface="Cambria Math" panose="02040503050406030204" pitchFamily="18" charset="0"/>
                      </a:rPr>
                      <m:t>036</m:t>
                    </m:r>
                  </m:oMath>
                </a14:m>
                <a:endParaRPr lang="ar-AE" dirty="0"/>
              </a:p>
              <a:p>
                <a:r>
                  <a:rPr lang="en-IN" dirty="0"/>
                  <a:t>Since </a:t>
                </a:r>
                <a14:m>
                  <m:oMath xmlns:m="http://schemas.openxmlformats.org/officeDocument/2006/math">
                    <m:r>
                      <a:rPr lang="en-IN" i="1">
                        <a:latin typeface="Cambria Math" panose="02040503050406030204" pitchFamily="18" charset="0"/>
                      </a:rPr>
                      <m:t>𝛽</m:t>
                    </m:r>
                    <m:r>
                      <a:rPr lang="en-IN">
                        <a:latin typeface="Cambria Math" panose="02040503050406030204" pitchFamily="18" charset="0"/>
                      </a:rPr>
                      <m:t>=</m:t>
                    </m:r>
                    <m:r>
                      <a:rPr lang="en-IN">
                        <a:latin typeface="Cambria Math" panose="02040503050406030204" pitchFamily="18" charset="0"/>
                      </a:rPr>
                      <m:t>1</m:t>
                    </m:r>
                  </m:oMath>
                </a14:m>
                <a:r>
                  <a:rPr lang="en-IN" dirty="0"/>
                  <a:t>:</a:t>
                </a:r>
              </a:p>
              <a:p>
                <a14:m>
                  <m:oMath xmlns:m="http://schemas.openxmlformats.org/officeDocument/2006/math">
                    <m:r>
                      <m:rPr>
                        <m:nor/>
                      </m:rPr>
                      <a:rPr lang="en-IN" b="0"/>
                      <m:t>Sparsity</m:t>
                    </m:r>
                    <m:r>
                      <m:rPr>
                        <m:nor/>
                      </m:rPr>
                      <a:rPr lang="en-IN" b="0" i="1"/>
                      <m:t> </m:t>
                    </m:r>
                    <m:r>
                      <m:rPr>
                        <m:nor/>
                      </m:rPr>
                      <a:rPr lang="en-IN" b="0" i="1"/>
                      <m:t>penalty</m:t>
                    </m:r>
                    <m:r>
                      <a:rPr lang="en-IN">
                        <a:latin typeface="Cambria Math" panose="02040503050406030204" pitchFamily="18" charset="0"/>
                      </a:rPr>
                      <m:t>=</m:t>
                    </m:r>
                    <m:r>
                      <a:rPr lang="en-IN">
                        <a:latin typeface="Cambria Math" panose="02040503050406030204" pitchFamily="18" charset="0"/>
                      </a:rPr>
                      <m:t>1</m:t>
                    </m:r>
                    <m:r>
                      <a:rPr lang="en-IN">
                        <a:latin typeface="Cambria Math" panose="02040503050406030204" pitchFamily="18" charset="0"/>
                      </a:rPr>
                      <m:t>.</m:t>
                    </m:r>
                    <m:r>
                      <a:rPr lang="en-IN">
                        <a:latin typeface="Cambria Math" panose="02040503050406030204" pitchFamily="18" charset="0"/>
                      </a:rPr>
                      <m:t>036</m:t>
                    </m:r>
                  </m:oMath>
                </a14:m>
                <a:endParaRPr lang="en-IN" b="0" dirty="0"/>
              </a:p>
              <a:p>
                <a:endParaRPr lang="en-IN" dirty="0"/>
              </a:p>
            </p:txBody>
          </p:sp>
        </mc:Choice>
        <mc:Fallback xmlns="">
          <p:sp>
            <p:nvSpPr>
              <p:cNvPr id="3" name="Content Placeholder 2">
                <a:extLst>
                  <a:ext uri="{FF2B5EF4-FFF2-40B4-BE49-F238E27FC236}">
                    <a16:creationId xmlns:a16="http://schemas.microsoft.com/office/drawing/2014/main" id="{CFCD9FFA-CAA3-C342-F919-4A71E4646ED2}"/>
                  </a:ext>
                </a:extLst>
              </p:cNvPr>
              <p:cNvSpPr>
                <a:spLocks noGrp="1" noRot="1" noChangeAspect="1" noMove="1" noResize="1" noEditPoints="1" noAdjustHandles="1" noChangeArrowheads="1" noChangeShapeType="1" noTextEdit="1"/>
              </p:cNvSpPr>
              <p:nvPr>
                <p:ph idx="1"/>
              </p:nvPr>
            </p:nvSpPr>
            <p:spPr>
              <a:xfrm>
                <a:off x="1025842" y="1635760"/>
                <a:ext cx="10201275" cy="4490510"/>
              </a:xfrm>
              <a:blipFill>
                <a:blip r:embed="rId2"/>
                <a:stretch>
                  <a:fillRect l="-1553" t="-1628"/>
                </a:stretch>
              </a:blipFill>
            </p:spPr>
            <p:txBody>
              <a:bodyPr/>
              <a:lstStyle/>
              <a:p>
                <a:r>
                  <a:rPr lang="en-IN">
                    <a:noFill/>
                  </a:rPr>
                  <a:t> </a:t>
                </a:r>
              </a:p>
            </p:txBody>
          </p:sp>
        </mc:Fallback>
      </mc:AlternateContent>
    </p:spTree>
    <p:extLst>
      <p:ext uri="{BB962C8B-B14F-4D97-AF65-F5344CB8AC3E}">
        <p14:creationId xmlns:p14="http://schemas.microsoft.com/office/powerpoint/2010/main" val="14867613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A28A03-BE28-3D9D-C1E7-12A040BFC33E}"/>
              </a:ext>
            </a:extLst>
          </p:cNvPr>
          <p:cNvSpPr>
            <a:spLocks noGrp="1"/>
          </p:cNvSpPr>
          <p:nvPr>
            <p:ph type="title"/>
          </p:nvPr>
        </p:nvSpPr>
        <p:spPr/>
        <p:txBody>
          <a:bodyPr>
            <a:normAutofit fontScale="90000"/>
          </a:bodyPr>
          <a:lstStyle/>
          <a:p>
            <a:endParaRPr lang="en-IN"/>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0DC0A64-0D0B-DABF-39EB-DF3E88D47319}"/>
                  </a:ext>
                </a:extLst>
              </p:cNvPr>
              <p:cNvSpPr>
                <a:spLocks noGrp="1"/>
              </p:cNvSpPr>
              <p:nvPr>
                <p:ph idx="1"/>
              </p:nvPr>
            </p:nvSpPr>
            <p:spPr/>
            <p:txBody>
              <a:bodyPr>
                <a:normAutofit/>
              </a:bodyPr>
              <a:lstStyle/>
              <a:p>
                <a:r>
                  <a:rPr lang="en-IN" b="1" dirty="0"/>
                  <a:t>STEP 5: Reconstruction (simplified)</a:t>
                </a:r>
              </a:p>
              <a:p>
                <a:r>
                  <a:rPr lang="en-IN" dirty="0"/>
                  <a:t>Assume decoder reconstructs inputs with small error:</a:t>
                </a:r>
              </a:p>
              <a:p>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𝐿</m:t>
                        </m:r>
                      </m:e>
                      <m:sub>
                        <m:r>
                          <a:rPr lang="ar-AE" i="1">
                            <a:latin typeface="Cambria Math" panose="02040503050406030204" pitchFamily="18" charset="0"/>
                          </a:rPr>
                          <m:t>𝑟𝑒𝑐</m:t>
                        </m:r>
                      </m:sub>
                    </m:sSub>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20</m:t>
                    </m:r>
                  </m:oMath>
                </a14:m>
                <a:endParaRPr lang="ar-AE" dirty="0"/>
              </a:p>
              <a:p>
                <a:r>
                  <a:rPr lang="en-IN" b="1" dirty="0"/>
                  <a:t> STEP 6: Total Loss</a:t>
                </a:r>
              </a:p>
              <a:p>
                <a14:m>
                  <m:oMath xmlns:m="http://schemas.openxmlformats.org/officeDocument/2006/math">
                    <m:r>
                      <a:rPr lang="en-IN" i="1">
                        <a:latin typeface="Cambria Math" panose="02040503050406030204" pitchFamily="18" charset="0"/>
                      </a:rPr>
                      <m:t>𝐿𝑜𝑠𝑠</m:t>
                    </m:r>
                    <m:r>
                      <a:rPr lang="en-IN">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𝐿</m:t>
                        </m:r>
                      </m:e>
                      <m:sub>
                        <m:r>
                          <a:rPr lang="ar-AE" i="1">
                            <a:latin typeface="Cambria Math" panose="02040503050406030204" pitchFamily="18" charset="0"/>
                          </a:rPr>
                          <m:t>𝑟𝑒𝑐</m:t>
                        </m:r>
                      </m:sub>
                    </m:sSub>
                    <m:r>
                      <a:rPr lang="ar-AE">
                        <a:latin typeface="Cambria Math" panose="02040503050406030204" pitchFamily="18" charset="0"/>
                      </a:rPr>
                      <m:t>+</m:t>
                    </m:r>
                    <m:r>
                      <a:rPr lang="ar-AE" i="1">
                        <a:latin typeface="Cambria Math" panose="02040503050406030204" pitchFamily="18" charset="0"/>
                      </a:rPr>
                      <m:t>𝛽</m:t>
                    </m:r>
                    <m:nary>
                      <m:naryPr>
                        <m:chr m:val="∑"/>
                        <m:grow m:val="on"/>
                        <m:subHide m:val="on"/>
                        <m:supHide m:val="on"/>
                        <m:ctrlPr>
                          <a:rPr lang="ar-AE" i="1">
                            <a:latin typeface="Cambria Math" panose="02040503050406030204" pitchFamily="18" charset="0"/>
                          </a:rPr>
                        </m:ctrlPr>
                      </m:naryPr>
                      <m:sub/>
                      <m:sup/>
                      <m:e>
                        <m:r>
                          <a:rPr lang="ar-AE" i="1">
                            <a:latin typeface="Cambria Math" panose="02040503050406030204" pitchFamily="18" charset="0"/>
                          </a:rPr>
                          <m:t>𝐾</m:t>
                        </m:r>
                      </m:e>
                    </m:nary>
                    <m:r>
                      <a:rPr lang="ar-AE" i="1">
                        <a:latin typeface="Cambria Math" panose="02040503050406030204" pitchFamily="18" charset="0"/>
                      </a:rPr>
                      <m:t>𝐿</m:t>
                    </m:r>
                  </m:oMath>
                </a14:m>
                <a:endParaRPr lang="ar-AE" dirty="0"/>
              </a:p>
              <a:p>
                <a14:m>
                  <m:oMath xmlns:m="http://schemas.openxmlformats.org/officeDocument/2006/math">
                    <m:r>
                      <a:rPr lang="ar-AE" i="1">
                        <a:latin typeface="Cambria Math" panose="02040503050406030204" pitchFamily="18" charset="0"/>
                      </a:rPr>
                      <m:t>𝐿𝑜𝑠𝑠</m:t>
                    </m:r>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20</m:t>
                    </m:r>
                    <m:r>
                      <a:rPr lang="ar-AE">
                        <a:latin typeface="Cambria Math" panose="02040503050406030204" pitchFamily="18" charset="0"/>
                      </a:rPr>
                      <m:t>+</m:t>
                    </m:r>
                    <m:r>
                      <a:rPr lang="ar-AE">
                        <a:latin typeface="Cambria Math" panose="02040503050406030204" pitchFamily="18" charset="0"/>
                      </a:rPr>
                      <m:t>1</m:t>
                    </m:r>
                    <m:r>
                      <a:rPr lang="ar-AE">
                        <a:latin typeface="Cambria Math" panose="02040503050406030204" pitchFamily="18" charset="0"/>
                      </a:rPr>
                      <m:t>.</m:t>
                    </m:r>
                    <m:r>
                      <a:rPr lang="ar-AE">
                        <a:latin typeface="Cambria Math" panose="02040503050406030204" pitchFamily="18" charset="0"/>
                      </a:rPr>
                      <m:t>036</m:t>
                    </m:r>
                  </m:oMath>
                </a14:m>
                <a:endParaRPr lang="ar-AE" dirty="0"/>
              </a:p>
              <a:p>
                <a14:m>
                  <m:oMath xmlns:m="http://schemas.openxmlformats.org/officeDocument/2006/math">
                    <m:r>
                      <a:rPr lang="ar-AE" i="1">
                        <a:latin typeface="Cambria Math" panose="02040503050406030204" pitchFamily="18" charset="0"/>
                      </a:rPr>
                      <m:t>𝐿𝑜𝑠𝑠</m:t>
                    </m:r>
                    <m:r>
                      <a:rPr lang="ar-AE">
                        <a:latin typeface="Cambria Math" panose="02040503050406030204" pitchFamily="18" charset="0"/>
                      </a:rPr>
                      <m:t>=</m:t>
                    </m:r>
                    <m:r>
                      <a:rPr lang="ar-AE">
                        <a:latin typeface="Cambria Math" panose="02040503050406030204" pitchFamily="18" charset="0"/>
                      </a:rPr>
                      <m:t>1</m:t>
                    </m:r>
                    <m:r>
                      <a:rPr lang="ar-AE">
                        <a:latin typeface="Cambria Math" panose="02040503050406030204" pitchFamily="18" charset="0"/>
                      </a:rPr>
                      <m:t>.</m:t>
                    </m:r>
                    <m:r>
                      <a:rPr lang="ar-AE">
                        <a:latin typeface="Cambria Math" panose="02040503050406030204" pitchFamily="18" charset="0"/>
                      </a:rPr>
                      <m:t>236</m:t>
                    </m:r>
                  </m:oMath>
                </a14:m>
                <a:endParaRPr lang="ar-AE" dirty="0"/>
              </a:p>
              <a:p>
                <a:endParaRPr lang="en-IN" dirty="0"/>
              </a:p>
            </p:txBody>
          </p:sp>
        </mc:Choice>
        <mc:Fallback xmlns="">
          <p:sp>
            <p:nvSpPr>
              <p:cNvPr id="3" name="Content Placeholder 2">
                <a:extLst>
                  <a:ext uri="{FF2B5EF4-FFF2-40B4-BE49-F238E27FC236}">
                    <a16:creationId xmlns:a16="http://schemas.microsoft.com/office/drawing/2014/main" id="{D0DC0A64-0D0B-DABF-39EB-DF3E88D47319}"/>
                  </a:ext>
                </a:extLst>
              </p:cNvPr>
              <p:cNvSpPr>
                <a:spLocks noGrp="1" noRot="1" noChangeAspect="1" noMove="1" noResize="1" noEditPoints="1" noAdjustHandles="1" noChangeArrowheads="1" noChangeShapeType="1" noTextEdit="1"/>
              </p:cNvSpPr>
              <p:nvPr>
                <p:ph idx="1"/>
              </p:nvPr>
            </p:nvSpPr>
            <p:spPr>
              <a:blipFill>
                <a:blip r:embed="rId2"/>
                <a:stretch>
                  <a:fillRect l="-1758" t="-2023"/>
                </a:stretch>
              </a:blipFill>
            </p:spPr>
            <p:txBody>
              <a:bodyPr/>
              <a:lstStyle/>
              <a:p>
                <a:r>
                  <a:rPr lang="en-IN">
                    <a:noFill/>
                  </a:rPr>
                  <a:t> </a:t>
                </a:r>
              </a:p>
            </p:txBody>
          </p:sp>
        </mc:Fallback>
      </mc:AlternateContent>
    </p:spTree>
    <p:extLst>
      <p:ext uri="{BB962C8B-B14F-4D97-AF65-F5344CB8AC3E}">
        <p14:creationId xmlns:p14="http://schemas.microsoft.com/office/powerpoint/2010/main" val="36908166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FBA179-12D3-5B1B-17AE-99705BB6D648}"/>
              </a:ext>
            </a:extLst>
          </p:cNvPr>
          <p:cNvSpPr>
            <a:spLocks noGrp="1"/>
          </p:cNvSpPr>
          <p:nvPr>
            <p:ph type="title"/>
          </p:nvPr>
        </p:nvSpPr>
        <p:spPr/>
        <p:txBody>
          <a:bodyPr>
            <a:normAutofit fontScale="90000"/>
          </a:bodyPr>
          <a:lstStyle/>
          <a:p>
            <a:endParaRPr lang="en-IN"/>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0427103-1EDA-16B8-334C-D06FB9ADE54F}"/>
                  </a:ext>
                </a:extLst>
              </p:cNvPr>
              <p:cNvSpPr>
                <a:spLocks noGrp="1"/>
              </p:cNvSpPr>
              <p:nvPr>
                <p:ph idx="1"/>
              </p:nvPr>
            </p:nvSpPr>
            <p:spPr>
              <a:xfrm>
                <a:off x="1097280" y="1473200"/>
                <a:ext cx="10129837" cy="4653070"/>
              </a:xfrm>
            </p:spPr>
            <p:txBody>
              <a:bodyPr>
                <a:normAutofit fontScale="92500" lnSpcReduction="10000"/>
              </a:bodyPr>
              <a:lstStyle/>
              <a:p>
                <a:r>
                  <a:rPr lang="en-IN" b="1" dirty="0"/>
                  <a:t>FINAL RESULTS</a:t>
                </a:r>
              </a:p>
              <a:p>
                <a:r>
                  <a:rPr lang="en-IN" b="1" dirty="0"/>
                  <a:t>Hidden activations</a:t>
                </a:r>
              </a:p>
              <a:p>
                <a14:m>
                  <m:oMath xmlns:m="http://schemas.openxmlformats.org/officeDocument/2006/math">
                    <m:r>
                      <a:rPr lang="en-IN" i="1">
                        <a:latin typeface="Cambria Math" panose="02040503050406030204" pitchFamily="18" charset="0"/>
                      </a:rPr>
                      <m:t>h</m:t>
                    </m:r>
                    <m:d>
                      <m:dPr>
                        <m:ctrlPr>
                          <a:rPr lang="ar-AE" i="1">
                            <a:latin typeface="Cambria Math" panose="02040503050406030204" pitchFamily="18" charset="0"/>
                          </a:rPr>
                        </m:ctrlPr>
                      </m:dPr>
                      <m:e>
                        <m:sSub>
                          <m:sSubPr>
                            <m:ctrlPr>
                              <a:rPr lang="ar-AE" i="1">
                                <a:latin typeface="Cambria Math" panose="02040503050406030204" pitchFamily="18" charset="0"/>
                              </a:rPr>
                            </m:ctrlPr>
                          </m:sSubPr>
                          <m:e>
                            <m:r>
                              <a:rPr lang="ar-AE" i="1">
                                <a:latin typeface="Cambria Math" panose="02040503050406030204" pitchFamily="18" charset="0"/>
                              </a:rPr>
                              <m:t>𝑥</m:t>
                            </m:r>
                          </m:e>
                          <m:sub>
                            <m:r>
                              <a:rPr lang="ar-AE">
                                <a:latin typeface="Cambria Math" panose="02040503050406030204" pitchFamily="18" charset="0"/>
                              </a:rPr>
                              <m:t>1</m:t>
                            </m:r>
                          </m:sub>
                        </m:sSub>
                      </m:e>
                    </m:d>
                    <m:r>
                      <a:rPr lang="ar-AE">
                        <a:latin typeface="Cambria Math" panose="02040503050406030204" pitchFamily="18" charset="0"/>
                      </a:rPr>
                      <m:t>=</m:t>
                    </m:r>
                    <m:d>
                      <m:dPr>
                        <m:begChr m:val="["/>
                        <m:endChr m:val="]"/>
                        <m:sepChr m:val=","/>
                        <m:ctrlPr>
                          <a:rPr lang="ar-AE" i="1">
                            <a:latin typeface="Cambria Math" panose="02040503050406030204" pitchFamily="18" charset="0"/>
                          </a:rPr>
                        </m:ctrlPr>
                      </m:dP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5498</m:t>
                        </m:r>
                      </m:e>
                      <m:e>
                        <m:r>
                          <m:rPr>
                            <m:nor/>
                          </m:rPr>
                          <a:rPr lang="ar-AE" i="1"/>
                          <m:t>  </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5250</m:t>
                        </m:r>
                      </m:e>
                    </m:d>
                  </m:oMath>
                </a14:m>
                <a:endParaRPr lang="ar-AE" b="0" dirty="0"/>
              </a:p>
              <a:p>
                <a14:m>
                  <m:oMath xmlns:m="http://schemas.openxmlformats.org/officeDocument/2006/math">
                    <m:r>
                      <a:rPr lang="ar-AE" i="1">
                        <a:latin typeface="Cambria Math" panose="02040503050406030204" pitchFamily="18" charset="0"/>
                      </a:rPr>
                      <m:t>h</m:t>
                    </m:r>
                    <m:d>
                      <m:dPr>
                        <m:ctrlPr>
                          <a:rPr lang="ar-AE" i="1">
                            <a:latin typeface="Cambria Math" panose="02040503050406030204" pitchFamily="18" charset="0"/>
                          </a:rPr>
                        </m:ctrlPr>
                      </m:dPr>
                      <m:e>
                        <m:sSub>
                          <m:sSubPr>
                            <m:ctrlPr>
                              <a:rPr lang="ar-AE" i="1">
                                <a:latin typeface="Cambria Math" panose="02040503050406030204" pitchFamily="18" charset="0"/>
                              </a:rPr>
                            </m:ctrlPr>
                          </m:sSubPr>
                          <m:e>
                            <m:r>
                              <a:rPr lang="ar-AE" i="1">
                                <a:latin typeface="Cambria Math" panose="02040503050406030204" pitchFamily="18" charset="0"/>
                              </a:rPr>
                              <m:t>𝑥</m:t>
                            </m:r>
                          </m:e>
                          <m:sub>
                            <m:r>
                              <a:rPr lang="ar-AE">
                                <a:latin typeface="Cambria Math" panose="02040503050406030204" pitchFamily="18" charset="0"/>
                              </a:rPr>
                              <m:t>2</m:t>
                            </m:r>
                          </m:sub>
                        </m:sSub>
                      </m:e>
                    </m:d>
                    <m:r>
                      <a:rPr lang="ar-AE">
                        <a:latin typeface="Cambria Math" panose="02040503050406030204" pitchFamily="18" charset="0"/>
                      </a:rPr>
                      <m:t>=</m:t>
                    </m:r>
                    <m:d>
                      <m:dPr>
                        <m:begChr m:val="["/>
                        <m:endChr m:val="]"/>
                        <m:sepChr m:val=","/>
                        <m:ctrlPr>
                          <a:rPr lang="ar-AE" i="1">
                            <a:latin typeface="Cambria Math" panose="02040503050406030204" pitchFamily="18" charset="0"/>
                          </a:rPr>
                        </m:ctrlPr>
                      </m:dP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4256</m:t>
                        </m:r>
                      </m:e>
                      <m:e>
                        <m:r>
                          <m:rPr>
                            <m:nor/>
                          </m:rPr>
                          <a:rPr lang="ar-AE" i="1"/>
                          <m:t>  </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5498</m:t>
                        </m:r>
                      </m:e>
                    </m:d>
                  </m:oMath>
                </a14:m>
                <a:endParaRPr lang="ar-AE" b="0" dirty="0"/>
              </a:p>
              <a:p>
                <a:r>
                  <a:rPr lang="en-IN" b="1" dirty="0"/>
                  <a:t>Average activation</a:t>
                </a:r>
              </a:p>
              <a:p>
                <a14:m>
                  <m:oMath xmlns:m="http://schemas.openxmlformats.org/officeDocument/2006/math">
                    <m:d>
                      <m:dPr>
                        <m:begChr m:val="["/>
                        <m:endChr m:val="]"/>
                        <m:sepChr m:val=","/>
                        <m:ctrlPr>
                          <a:rPr lang="ar-AE" i="1">
                            <a:latin typeface="Cambria Math" panose="02040503050406030204" pitchFamily="18" charset="0"/>
                          </a:rPr>
                        </m:ctrlPr>
                      </m:dP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4877</m:t>
                        </m:r>
                      </m:e>
                      <m:e>
                        <m:r>
                          <m:rPr>
                            <m:nor/>
                          </m:rPr>
                          <a:rPr lang="ar-AE" i="1"/>
                          <m:t>  </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5374</m:t>
                        </m:r>
                      </m:e>
                    </m:d>
                  </m:oMath>
                </a14:m>
                <a:endParaRPr lang="ar-AE" b="0" dirty="0"/>
              </a:p>
              <a:p>
                <a:r>
                  <a:rPr lang="en-IN" b="1" dirty="0"/>
                  <a:t>Sparsity penalty</a:t>
                </a:r>
              </a:p>
              <a:p>
                <a14:m>
                  <m:oMath xmlns:m="http://schemas.openxmlformats.org/officeDocument/2006/math">
                    <m:r>
                      <a:rPr lang="en-IN">
                        <a:latin typeface="Cambria Math" panose="02040503050406030204" pitchFamily="18" charset="0"/>
                      </a:rPr>
                      <m:t>1</m:t>
                    </m:r>
                    <m:r>
                      <a:rPr lang="en-IN">
                        <a:latin typeface="Cambria Math" panose="02040503050406030204" pitchFamily="18" charset="0"/>
                      </a:rPr>
                      <m:t>.</m:t>
                    </m:r>
                    <m:r>
                      <a:rPr lang="en-IN">
                        <a:latin typeface="Cambria Math" panose="02040503050406030204" pitchFamily="18" charset="0"/>
                      </a:rPr>
                      <m:t>036</m:t>
                    </m:r>
                  </m:oMath>
                </a14:m>
                <a:endParaRPr lang="en-IN" dirty="0"/>
              </a:p>
              <a:p>
                <a:r>
                  <a:rPr lang="en-IN" b="1" dirty="0"/>
                  <a:t>Total loss</a:t>
                </a:r>
              </a:p>
              <a:p>
                <a14:m>
                  <m:oMath xmlns:m="http://schemas.openxmlformats.org/officeDocument/2006/math">
                    <m:r>
                      <a:rPr lang="en-IN">
                        <a:latin typeface="Cambria Math" panose="02040503050406030204" pitchFamily="18" charset="0"/>
                      </a:rPr>
                      <m:t>1</m:t>
                    </m:r>
                    <m:r>
                      <a:rPr lang="en-IN">
                        <a:latin typeface="Cambria Math" panose="02040503050406030204" pitchFamily="18" charset="0"/>
                      </a:rPr>
                      <m:t>.</m:t>
                    </m:r>
                    <m:r>
                      <a:rPr lang="en-IN">
                        <a:latin typeface="Cambria Math" panose="02040503050406030204" pitchFamily="18" charset="0"/>
                      </a:rPr>
                      <m:t>236</m:t>
                    </m:r>
                  </m:oMath>
                </a14:m>
                <a:endParaRPr lang="en-IN" dirty="0"/>
              </a:p>
              <a:p>
                <a:endParaRPr lang="en-IN" dirty="0"/>
              </a:p>
            </p:txBody>
          </p:sp>
        </mc:Choice>
        <mc:Fallback xmlns="">
          <p:sp>
            <p:nvSpPr>
              <p:cNvPr id="3" name="Content Placeholder 2">
                <a:extLst>
                  <a:ext uri="{FF2B5EF4-FFF2-40B4-BE49-F238E27FC236}">
                    <a16:creationId xmlns:a16="http://schemas.microsoft.com/office/drawing/2014/main" id="{F0427103-1EDA-16B8-334C-D06FB9ADE54F}"/>
                  </a:ext>
                </a:extLst>
              </p:cNvPr>
              <p:cNvSpPr>
                <a:spLocks noGrp="1" noRot="1" noChangeAspect="1" noMove="1" noResize="1" noEditPoints="1" noAdjustHandles="1" noChangeArrowheads="1" noChangeShapeType="1" noTextEdit="1"/>
              </p:cNvSpPr>
              <p:nvPr>
                <p:ph idx="1"/>
              </p:nvPr>
            </p:nvSpPr>
            <p:spPr>
              <a:xfrm>
                <a:off x="1097280" y="1473200"/>
                <a:ext cx="10129837" cy="4653070"/>
              </a:xfrm>
              <a:blipFill>
                <a:blip r:embed="rId2"/>
                <a:stretch>
                  <a:fillRect l="-1564" t="-2228" b="-655"/>
                </a:stretch>
              </a:blipFill>
            </p:spPr>
            <p:txBody>
              <a:bodyPr/>
              <a:lstStyle/>
              <a:p>
                <a:r>
                  <a:rPr lang="en-IN">
                    <a:noFill/>
                  </a:rPr>
                  <a:t> </a:t>
                </a:r>
              </a:p>
            </p:txBody>
          </p:sp>
        </mc:Fallback>
      </mc:AlternateContent>
    </p:spTree>
    <p:extLst>
      <p:ext uri="{BB962C8B-B14F-4D97-AF65-F5344CB8AC3E}">
        <p14:creationId xmlns:p14="http://schemas.microsoft.com/office/powerpoint/2010/main" val="295503133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A0B000-C3E1-6AEB-7DD6-997E2060A80F}"/>
              </a:ext>
            </a:extLst>
          </p:cNvPr>
          <p:cNvSpPr>
            <a:spLocks noGrp="1"/>
          </p:cNvSpPr>
          <p:nvPr>
            <p:ph type="title"/>
          </p:nvPr>
        </p:nvSpPr>
        <p:spPr/>
        <p:txBody>
          <a:bodyPr>
            <a:normAutofit fontScale="90000"/>
          </a:bodyPr>
          <a:lstStyle/>
          <a:p>
            <a:endParaRPr lang="en-IN"/>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BD0BAC6-9B61-CDD4-13A3-CBE0A9F1E1A0}"/>
                  </a:ext>
                </a:extLst>
              </p:cNvPr>
              <p:cNvSpPr>
                <a:spLocks noGrp="1"/>
              </p:cNvSpPr>
              <p:nvPr>
                <p:ph idx="1"/>
              </p:nvPr>
            </p:nvSpPr>
            <p:spPr>
              <a:xfrm>
                <a:off x="477520" y="1361440"/>
                <a:ext cx="11236960" cy="4500880"/>
              </a:xfrm>
            </p:spPr>
            <p:txBody>
              <a:bodyPr>
                <a:normAutofit fontScale="92500" lnSpcReduction="20000"/>
              </a:bodyPr>
              <a:lstStyle/>
              <a:p>
                <a:r>
                  <a:rPr lang="en-IN" b="1" dirty="0"/>
                  <a:t>How to Arrive at the Solution</a:t>
                </a:r>
              </a:p>
              <a:p>
                <a:r>
                  <a:rPr lang="en-IN" b="1" dirty="0"/>
                  <a:t>Activations</a:t>
                </a:r>
                <a:r>
                  <a:rPr lang="en-IN" dirty="0"/>
                  <a:t>: Matrix multiplication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𝑊</m:t>
                        </m:r>
                      </m:e>
                      <m:sub>
                        <m:r>
                          <a:rPr lang="ar-AE">
                            <a:latin typeface="Cambria Math" panose="02040503050406030204" pitchFamily="18" charset="0"/>
                          </a:rPr>
                          <m:t>1</m:t>
                        </m:r>
                      </m:sub>
                    </m:sSub>
                    <m:r>
                      <a:rPr lang="ar-AE" i="1">
                        <a:latin typeface="Cambria Math" panose="02040503050406030204" pitchFamily="18" charset="0"/>
                      </a:rPr>
                      <m:t>𝑥</m:t>
                    </m:r>
                  </m:oMath>
                </a14:m>
                <a:r>
                  <a:rPr lang="en-IN" dirty="0"/>
                  <a:t>followed by sigmoid. Use the formula </a:t>
                </a:r>
                <a14:m>
                  <m:oMath xmlns:m="http://schemas.openxmlformats.org/officeDocument/2006/math">
                    <m:r>
                      <a:rPr lang="en-IN" i="1">
                        <a:latin typeface="Cambria Math" panose="02040503050406030204" pitchFamily="18" charset="0"/>
                      </a:rPr>
                      <m:t>𝑓</m:t>
                    </m:r>
                    <m:d>
                      <m:dPr>
                        <m:ctrlPr>
                          <a:rPr lang="ar-AE" i="1">
                            <a:latin typeface="Cambria Math" panose="02040503050406030204" pitchFamily="18" charset="0"/>
                          </a:rPr>
                        </m:ctrlPr>
                      </m:dPr>
                      <m:e>
                        <m:r>
                          <a:rPr lang="ar-AE" i="1">
                            <a:latin typeface="Cambria Math" panose="02040503050406030204" pitchFamily="18" charset="0"/>
                          </a:rPr>
                          <m:t>𝑧</m:t>
                        </m:r>
                      </m:e>
                    </m:d>
                    <m:r>
                      <a:rPr lang="ar-AE">
                        <a:latin typeface="Cambria Math" panose="02040503050406030204" pitchFamily="18" charset="0"/>
                      </a:rPr>
                      <m:t>=</m:t>
                    </m:r>
                    <m:r>
                      <a:rPr lang="ar-AE">
                        <a:latin typeface="Cambria Math" panose="02040503050406030204" pitchFamily="18" charset="0"/>
                      </a:rPr>
                      <m:t>1</m:t>
                    </m:r>
                    <m:r>
                      <a:rPr lang="ar-AE">
                        <a:latin typeface="Cambria Math" panose="02040503050406030204" pitchFamily="18" charset="0"/>
                      </a:rPr>
                      <m:t>/</m:t>
                    </m:r>
                    <m:d>
                      <m:dPr>
                        <m:ctrlPr>
                          <a:rPr lang="ar-AE" i="1">
                            <a:latin typeface="Cambria Math" panose="02040503050406030204" pitchFamily="18" charset="0"/>
                          </a:rPr>
                        </m:ctrlPr>
                      </m:dPr>
                      <m:e>
                        <m:r>
                          <a:rPr lang="ar-AE">
                            <a:latin typeface="Cambria Math" panose="02040503050406030204" pitchFamily="18" charset="0"/>
                          </a:rPr>
                          <m:t>1</m:t>
                        </m:r>
                        <m:r>
                          <a:rPr lang="ar-AE">
                            <a:latin typeface="Cambria Math" panose="02040503050406030204" pitchFamily="18" charset="0"/>
                          </a:rPr>
                          <m:t>+</m:t>
                        </m:r>
                        <m:r>
                          <m:rPr>
                            <m:sty m:val="p"/>
                          </m:rPr>
                          <a:rPr lang="en-IN">
                            <a:latin typeface="Cambria Math" panose="02040503050406030204" pitchFamily="18" charset="0"/>
                          </a:rPr>
                          <m:t>exp</m:t>
                        </m:r>
                        <m:r>
                          <a:rPr lang="en-IN">
                            <a:latin typeface="Cambria Math" panose="02040503050406030204" pitchFamily="18" charset="0"/>
                          </a:rPr>
                          <m:t>⁡</m:t>
                        </m:r>
                        <m:d>
                          <m:dPr>
                            <m:ctrlPr>
                              <a:rPr lang="ar-AE" i="1">
                                <a:latin typeface="Cambria Math" panose="02040503050406030204" pitchFamily="18" charset="0"/>
                              </a:rPr>
                            </m:ctrlPr>
                          </m:dPr>
                          <m:e>
                            <m:r>
                              <a:rPr lang="ar-AE">
                                <a:latin typeface="Cambria Math" panose="02040503050406030204" pitchFamily="18" charset="0"/>
                              </a:rPr>
                              <m:t>−</m:t>
                            </m:r>
                            <m:r>
                              <a:rPr lang="ar-AE" i="1">
                                <a:latin typeface="Cambria Math" panose="02040503050406030204" pitchFamily="18" charset="0"/>
                              </a:rPr>
                              <m:t>𝑧</m:t>
                            </m:r>
                          </m:e>
                        </m:d>
                      </m:e>
                    </m:d>
                  </m:oMath>
                </a14:m>
                <a:r>
                  <a:rPr lang="ar-AE" dirty="0"/>
                  <a:t>. </a:t>
                </a:r>
                <a:r>
                  <a:rPr lang="en-IN" dirty="0"/>
                  <a:t>For each sample, compute element-wise.</a:t>
                </a:r>
              </a:p>
              <a:p>
                <a:r>
                  <a:rPr lang="en-IN" b="1" dirty="0"/>
                  <a:t>Reconstruction</a:t>
                </a:r>
                <a:r>
                  <a:rPr lang="en-IN" dirty="0"/>
                  <a:t>: Similar matrix op with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𝑊</m:t>
                        </m:r>
                      </m:e>
                      <m:sub>
                        <m:r>
                          <a:rPr lang="ar-AE">
                            <a:latin typeface="Cambria Math" panose="02040503050406030204" pitchFamily="18" charset="0"/>
                          </a:rPr>
                          <m:t>2</m:t>
                        </m:r>
                      </m:sub>
                    </m:sSub>
                    <m:r>
                      <a:rPr lang="ar-AE" i="1">
                        <a:latin typeface="Cambria Math" panose="02040503050406030204" pitchFamily="18" charset="0"/>
                      </a:rPr>
                      <m:t>h</m:t>
                    </m:r>
                  </m:oMath>
                </a14:m>
                <a:r>
                  <a:rPr lang="ar-AE" dirty="0"/>
                  <a:t>.</a:t>
                </a:r>
              </a:p>
              <a:p>
                <a:r>
                  <a:rPr lang="en-IN" b="1" dirty="0"/>
                  <a:t>MSE</a:t>
                </a:r>
                <a:r>
                  <a:rPr lang="en-IN" dirty="0"/>
                  <a:t>: Euclidean distance squared, averaged over samples. Compute per element: sum of (diff)^2.</a:t>
                </a:r>
              </a:p>
              <a:p>
                <a:r>
                  <a:rPr lang="en-IN" b="1" dirty="0"/>
                  <a:t>Average </a:t>
                </a:r>
                <a14:m>
                  <m:oMath xmlns:m="http://schemas.openxmlformats.org/officeDocument/2006/math">
                    <m:sSub>
                      <m:sSubPr>
                        <m:ctrlPr>
                          <a:rPr lang="ar-AE" i="1">
                            <a:latin typeface="Cambria Math" panose="02040503050406030204" pitchFamily="18" charset="0"/>
                          </a:rPr>
                        </m:ctrlPr>
                      </m:sSubPr>
                      <m:e>
                        <m:acc>
                          <m:accPr>
                            <m:chr m:val="̂"/>
                            <m:ctrlPr>
                              <a:rPr lang="ar-AE" i="1">
                                <a:latin typeface="Cambria Math" panose="02040503050406030204" pitchFamily="18" charset="0"/>
                              </a:rPr>
                            </m:ctrlPr>
                          </m:accPr>
                          <m:e>
                            <m:r>
                              <a:rPr lang="ar-AE" i="1">
                                <a:latin typeface="Cambria Math" panose="02040503050406030204" pitchFamily="18" charset="0"/>
                              </a:rPr>
                              <m:t>𝜌</m:t>
                            </m:r>
                          </m:e>
                        </m:acc>
                      </m:e>
                      <m:sub>
                        <m:r>
                          <a:rPr lang="ar-AE" i="1">
                            <a:latin typeface="Cambria Math" panose="02040503050406030204" pitchFamily="18" charset="0"/>
                          </a:rPr>
                          <m:t>𝑗</m:t>
                        </m:r>
                      </m:sub>
                    </m:sSub>
                  </m:oMath>
                </a14:m>
                <a:r>
                  <a:rPr lang="ar-AE" dirty="0"/>
                  <a:t>: </a:t>
                </a:r>
                <a:r>
                  <a:rPr lang="en-IN" dirty="0"/>
                  <a:t>Mean of </a:t>
                </a:r>
                <a:r>
                  <a:rPr lang="en-IN" dirty="0" err="1"/>
                  <a:t>h_j</a:t>
                </a:r>
                <a:r>
                  <a:rPr lang="en-IN" dirty="0"/>
                  <a:t> across all samples.</a:t>
                </a:r>
              </a:p>
              <a:p>
                <a:r>
                  <a:rPr lang="en-IN" b="1" dirty="0"/>
                  <a:t>KL Divergence</a:t>
                </a:r>
                <a:r>
                  <a:rPr lang="en-IN" dirty="0"/>
                  <a:t>: Plug into the formula. Use log base e (natural log). For small </a:t>
                </a:r>
                <a14:m>
                  <m:oMath xmlns:m="http://schemas.openxmlformats.org/officeDocument/2006/math">
                    <m:r>
                      <a:rPr lang="en-IN" i="1">
                        <a:latin typeface="Cambria Math" panose="02040503050406030204" pitchFamily="18" charset="0"/>
                      </a:rPr>
                      <m:t>𝜌</m:t>
                    </m:r>
                  </m:oMath>
                </a14:m>
                <a:r>
                  <a:rPr lang="en-IN" dirty="0"/>
                  <a:t>, high </a:t>
                </a:r>
                <a14:m>
                  <m:oMath xmlns:m="http://schemas.openxmlformats.org/officeDocument/2006/math">
                    <m:acc>
                      <m:accPr>
                        <m:chr m:val="̂"/>
                        <m:ctrlPr>
                          <a:rPr lang="ar-AE" i="1">
                            <a:latin typeface="Cambria Math" panose="02040503050406030204" pitchFamily="18" charset="0"/>
                          </a:rPr>
                        </m:ctrlPr>
                      </m:accPr>
                      <m:e>
                        <m:r>
                          <a:rPr lang="ar-AE" i="1">
                            <a:latin typeface="Cambria Math" panose="02040503050406030204" pitchFamily="18" charset="0"/>
                          </a:rPr>
                          <m:t>𝜌</m:t>
                        </m:r>
                      </m:e>
                    </m:acc>
                  </m:oMath>
                </a14:m>
                <a:r>
                  <a:rPr lang="en-IN" dirty="0"/>
                  <a:t>leads to large penalties, encouraging lower activations during training.</a:t>
                </a:r>
              </a:p>
              <a:p>
                <a:r>
                  <a:rPr lang="en-US" dirty="0"/>
                  <a:t>In practice, you'd backpropagate gradients to update weights, but here we just computed the forward pass loss.</a:t>
                </a:r>
              </a:p>
              <a:p>
                <a:r>
                  <a:rPr lang="en-US" dirty="0"/>
                  <a:t>This example shows high sparsity penalty because activations are around 0.5-0.6, far from 0.05. Training would adjust weights to reduce this (e.g., by making biases more negative).</a:t>
                </a:r>
              </a:p>
              <a:p>
                <a:endParaRPr lang="en-IN" dirty="0"/>
              </a:p>
            </p:txBody>
          </p:sp>
        </mc:Choice>
        <mc:Fallback xmlns="">
          <p:sp>
            <p:nvSpPr>
              <p:cNvPr id="3" name="Content Placeholder 2">
                <a:extLst>
                  <a:ext uri="{FF2B5EF4-FFF2-40B4-BE49-F238E27FC236}">
                    <a16:creationId xmlns:a16="http://schemas.microsoft.com/office/drawing/2014/main" id="{ABD0BAC6-9B61-CDD4-13A3-CBE0A9F1E1A0}"/>
                  </a:ext>
                </a:extLst>
              </p:cNvPr>
              <p:cNvSpPr>
                <a:spLocks noGrp="1" noRot="1" noChangeAspect="1" noMove="1" noResize="1" noEditPoints="1" noAdjustHandles="1" noChangeArrowheads="1" noChangeShapeType="1" noTextEdit="1"/>
              </p:cNvSpPr>
              <p:nvPr>
                <p:ph idx="1"/>
              </p:nvPr>
            </p:nvSpPr>
            <p:spPr>
              <a:xfrm>
                <a:off x="477520" y="1361440"/>
                <a:ext cx="11236960" cy="4500880"/>
              </a:xfrm>
              <a:blipFill>
                <a:blip r:embed="rId2"/>
                <a:stretch>
                  <a:fillRect l="-1410" t="-2706"/>
                </a:stretch>
              </a:blipFill>
            </p:spPr>
            <p:txBody>
              <a:bodyPr/>
              <a:lstStyle/>
              <a:p>
                <a:r>
                  <a:rPr lang="en-IN">
                    <a:noFill/>
                  </a:rPr>
                  <a:t> </a:t>
                </a:r>
              </a:p>
            </p:txBody>
          </p:sp>
        </mc:Fallback>
      </mc:AlternateContent>
    </p:spTree>
    <p:extLst>
      <p:ext uri="{BB962C8B-B14F-4D97-AF65-F5344CB8AC3E}">
        <p14:creationId xmlns:p14="http://schemas.microsoft.com/office/powerpoint/2010/main" val="343762766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86CDD6-372B-2474-70A8-0A7D75431642}"/>
              </a:ext>
            </a:extLst>
          </p:cNvPr>
          <p:cNvSpPr>
            <a:spLocks noGrp="1"/>
          </p:cNvSpPr>
          <p:nvPr>
            <p:ph type="title"/>
          </p:nvPr>
        </p:nvSpPr>
        <p:spPr/>
        <p:txBody>
          <a:bodyPr>
            <a:normAutofit fontScale="90000"/>
          </a:bodyPr>
          <a:lstStyle/>
          <a:p>
            <a:r>
              <a:rPr lang="en-IN" dirty="0"/>
              <a:t>Denoising Autoencoder (DAE)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2495008-62D8-2B8A-2D25-FD10BBCACF48}"/>
                  </a:ext>
                </a:extLst>
              </p:cNvPr>
              <p:cNvSpPr>
                <a:spLocks noGrp="1"/>
              </p:cNvSpPr>
              <p:nvPr>
                <p:ph idx="1"/>
              </p:nvPr>
            </p:nvSpPr>
            <p:spPr>
              <a:xfrm>
                <a:off x="944880" y="1381760"/>
                <a:ext cx="10282237" cy="4744510"/>
              </a:xfrm>
            </p:spPr>
            <p:txBody>
              <a:bodyPr>
                <a:normAutofit lnSpcReduction="10000"/>
              </a:bodyPr>
              <a:lstStyle/>
              <a:p>
                <a:pPr>
                  <a:lnSpc>
                    <a:spcPct val="120000"/>
                  </a:lnSpc>
                  <a:spcBef>
                    <a:spcPts val="0"/>
                  </a:spcBef>
                  <a:spcAft>
                    <a:spcPts val="0"/>
                  </a:spcAft>
                </a:pPr>
                <a:r>
                  <a:rPr lang="en-IN" dirty="0"/>
                  <a:t>Trained to reconstruct clean input from </a:t>
                </a:r>
                <a:r>
                  <a:rPr lang="en-IN" b="1" dirty="0"/>
                  <a:t>noisy input</a:t>
                </a:r>
                <a:r>
                  <a:rPr lang="en-IN" dirty="0"/>
                  <a:t>.</a:t>
                </a:r>
              </a:p>
              <a:p>
                <a:pPr>
                  <a:lnSpc>
                    <a:spcPct val="120000"/>
                  </a:lnSpc>
                  <a:spcBef>
                    <a:spcPts val="0"/>
                  </a:spcBef>
                  <a:spcAft>
                    <a:spcPts val="0"/>
                  </a:spcAft>
                </a:pPr>
                <a:r>
                  <a:rPr lang="en-IN" b="1" dirty="0"/>
                  <a:t>Training Process</a:t>
                </a:r>
              </a:p>
              <a:p>
                <a:pPr>
                  <a:lnSpc>
                    <a:spcPct val="120000"/>
                  </a:lnSpc>
                  <a:spcBef>
                    <a:spcPts val="0"/>
                  </a:spcBef>
                  <a:spcAft>
                    <a:spcPts val="0"/>
                  </a:spcAft>
                </a:pPr>
                <a:r>
                  <a:rPr lang="en-IN" dirty="0"/>
                  <a:t>Clean image → add noise → input to network → reconstruct original</a:t>
                </a:r>
              </a:p>
              <a:p>
                <a:pPr>
                  <a:lnSpc>
                    <a:spcPct val="120000"/>
                  </a:lnSpc>
                  <a:spcBef>
                    <a:spcPts val="0"/>
                  </a:spcBef>
                  <a:spcAft>
                    <a:spcPts val="0"/>
                  </a:spcAft>
                </a:pP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𝑥</m:t>
                        </m:r>
                      </m:e>
                      <m:sub>
                        <m:r>
                          <a:rPr lang="ar-AE" i="1">
                            <a:latin typeface="Cambria Math" panose="02040503050406030204" pitchFamily="18" charset="0"/>
                          </a:rPr>
                          <m:t>𝑛𝑜𝑖𝑠𝑦</m:t>
                        </m:r>
                      </m:sub>
                    </m:sSub>
                    <m:r>
                      <a:rPr lang="ar-AE">
                        <a:latin typeface="Cambria Math" panose="02040503050406030204" pitchFamily="18" charset="0"/>
                      </a:rPr>
                      <m:t>→</m:t>
                    </m:r>
                    <m:sSub>
                      <m:sSubPr>
                        <m:ctrlPr>
                          <a:rPr lang="ar-AE" i="1">
                            <a:latin typeface="Cambria Math" panose="02040503050406030204" pitchFamily="18" charset="0"/>
                          </a:rPr>
                        </m:ctrlPr>
                      </m:sSubPr>
                      <m:e>
                        <m:acc>
                          <m:accPr>
                            <m:chr m:val="̂"/>
                            <m:ctrlPr>
                              <a:rPr lang="ar-AE" i="1">
                                <a:latin typeface="Cambria Math" panose="02040503050406030204" pitchFamily="18" charset="0"/>
                              </a:rPr>
                            </m:ctrlPr>
                          </m:accPr>
                          <m:e>
                            <m:r>
                              <a:rPr lang="ar-AE" i="1">
                                <a:latin typeface="Cambria Math" panose="02040503050406030204" pitchFamily="18" charset="0"/>
                              </a:rPr>
                              <m:t>𝑥</m:t>
                            </m:r>
                          </m:e>
                        </m:acc>
                      </m:e>
                      <m:sub>
                        <m:r>
                          <a:rPr lang="ar-AE" i="1">
                            <a:latin typeface="Cambria Math" panose="02040503050406030204" pitchFamily="18" charset="0"/>
                          </a:rPr>
                          <m:t>𝑐𝑙𝑒𝑎𝑛</m:t>
                        </m:r>
                      </m:sub>
                    </m:sSub>
                  </m:oMath>
                </a14:m>
                <a:endParaRPr lang="ar-AE" dirty="0"/>
              </a:p>
              <a:p>
                <a:pPr>
                  <a:lnSpc>
                    <a:spcPct val="120000"/>
                  </a:lnSpc>
                  <a:spcBef>
                    <a:spcPts val="0"/>
                  </a:spcBef>
                  <a:spcAft>
                    <a:spcPts val="0"/>
                  </a:spcAft>
                </a:pPr>
                <a:r>
                  <a:rPr lang="en-IN" b="1" dirty="0"/>
                  <a:t>Why useful?</a:t>
                </a:r>
              </a:p>
              <a:p>
                <a:pPr>
                  <a:lnSpc>
                    <a:spcPct val="120000"/>
                  </a:lnSpc>
                  <a:spcBef>
                    <a:spcPts val="0"/>
                  </a:spcBef>
                  <a:spcAft>
                    <a:spcPts val="0"/>
                  </a:spcAft>
                </a:pPr>
                <a:r>
                  <a:rPr lang="en-IN" dirty="0"/>
                  <a:t> learns robust features</a:t>
                </a:r>
                <a:br>
                  <a:rPr lang="en-IN" dirty="0"/>
                </a:br>
                <a:r>
                  <a:rPr lang="en-IN" dirty="0"/>
                  <a:t> ignores noise</a:t>
                </a:r>
              </a:p>
              <a:p>
                <a:pPr>
                  <a:lnSpc>
                    <a:spcPct val="120000"/>
                  </a:lnSpc>
                  <a:spcBef>
                    <a:spcPts val="0"/>
                  </a:spcBef>
                  <a:spcAft>
                    <a:spcPts val="0"/>
                  </a:spcAft>
                </a:pPr>
                <a:r>
                  <a:rPr lang="en-IN" b="1" dirty="0"/>
                  <a:t>Applications</a:t>
                </a:r>
              </a:p>
              <a:p>
                <a:pPr>
                  <a:lnSpc>
                    <a:spcPct val="120000"/>
                  </a:lnSpc>
                  <a:spcBef>
                    <a:spcPts val="0"/>
                  </a:spcBef>
                  <a:spcAft>
                    <a:spcPts val="0"/>
                  </a:spcAft>
                </a:pPr>
                <a:r>
                  <a:rPr lang="en-IN" dirty="0"/>
                  <a:t>image denoising</a:t>
                </a:r>
              </a:p>
              <a:p>
                <a:pPr>
                  <a:lnSpc>
                    <a:spcPct val="120000"/>
                  </a:lnSpc>
                  <a:spcBef>
                    <a:spcPts val="0"/>
                  </a:spcBef>
                  <a:spcAft>
                    <a:spcPts val="0"/>
                  </a:spcAft>
                </a:pPr>
                <a:r>
                  <a:rPr lang="en-IN" dirty="0"/>
                  <a:t>speech enhancement</a:t>
                </a:r>
              </a:p>
              <a:p>
                <a:pPr>
                  <a:lnSpc>
                    <a:spcPct val="120000"/>
                  </a:lnSpc>
                  <a:spcBef>
                    <a:spcPts val="0"/>
                  </a:spcBef>
                  <a:spcAft>
                    <a:spcPts val="0"/>
                  </a:spcAft>
                </a:pPr>
                <a:r>
                  <a:rPr lang="en-IN" dirty="0"/>
                  <a:t>medical image cleaning</a:t>
                </a:r>
              </a:p>
              <a:p>
                <a:pPr>
                  <a:lnSpc>
                    <a:spcPct val="120000"/>
                  </a:lnSpc>
                  <a:spcBef>
                    <a:spcPts val="0"/>
                  </a:spcBef>
                  <a:spcAft>
                    <a:spcPts val="0"/>
                  </a:spcAft>
                </a:pPr>
                <a:endParaRPr lang="en-IN" dirty="0"/>
              </a:p>
            </p:txBody>
          </p:sp>
        </mc:Choice>
        <mc:Fallback xmlns="">
          <p:sp>
            <p:nvSpPr>
              <p:cNvPr id="3" name="Content Placeholder 2">
                <a:extLst>
                  <a:ext uri="{FF2B5EF4-FFF2-40B4-BE49-F238E27FC236}">
                    <a16:creationId xmlns:a16="http://schemas.microsoft.com/office/drawing/2014/main" id="{A2495008-62D8-2B8A-2D25-FD10BBCACF48}"/>
                  </a:ext>
                </a:extLst>
              </p:cNvPr>
              <p:cNvSpPr>
                <a:spLocks noGrp="1" noRot="1" noChangeAspect="1" noMove="1" noResize="1" noEditPoints="1" noAdjustHandles="1" noChangeArrowheads="1" noChangeShapeType="1" noTextEdit="1"/>
              </p:cNvSpPr>
              <p:nvPr>
                <p:ph idx="1"/>
              </p:nvPr>
            </p:nvSpPr>
            <p:spPr>
              <a:xfrm>
                <a:off x="944880" y="1381760"/>
                <a:ext cx="10282237" cy="4744510"/>
              </a:xfrm>
              <a:blipFill>
                <a:blip r:embed="rId2"/>
                <a:stretch>
                  <a:fillRect l="-1660" t="-643"/>
                </a:stretch>
              </a:blipFill>
            </p:spPr>
            <p:txBody>
              <a:bodyPr/>
              <a:lstStyle/>
              <a:p>
                <a:r>
                  <a:rPr lang="en-IN">
                    <a:noFill/>
                  </a:rPr>
                  <a:t> </a:t>
                </a:r>
              </a:p>
            </p:txBody>
          </p:sp>
        </mc:Fallback>
      </mc:AlternateContent>
    </p:spTree>
    <p:extLst>
      <p:ext uri="{BB962C8B-B14F-4D97-AF65-F5344CB8AC3E}">
        <p14:creationId xmlns:p14="http://schemas.microsoft.com/office/powerpoint/2010/main" val="100271000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6DE15E-551B-F493-6106-8551C236AAE2}"/>
              </a:ext>
            </a:extLst>
          </p:cNvPr>
          <p:cNvSpPr>
            <a:spLocks noGrp="1"/>
          </p:cNvSpPr>
          <p:nvPr>
            <p:ph type="title"/>
          </p:nvPr>
        </p:nvSpPr>
        <p:spPr/>
        <p:txBody>
          <a:bodyPr>
            <a:normAutofit fontScale="90000"/>
          </a:bodyPr>
          <a:lstStyle/>
          <a:p>
            <a:endParaRPr lang="en-IN"/>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7C37847-EE33-E44A-1A0D-9E7B0A92CDDC}"/>
                  </a:ext>
                </a:extLst>
              </p:cNvPr>
              <p:cNvSpPr>
                <a:spLocks noGrp="1"/>
              </p:cNvSpPr>
              <p:nvPr>
                <p:ph idx="1"/>
              </p:nvPr>
            </p:nvSpPr>
            <p:spPr>
              <a:xfrm>
                <a:off x="1025842" y="1493520"/>
                <a:ext cx="10201275" cy="4632750"/>
              </a:xfrm>
            </p:spPr>
            <p:txBody>
              <a:bodyPr>
                <a:normAutofit/>
              </a:bodyPr>
              <a:lstStyle/>
              <a:p>
                <a:r>
                  <a:rPr lang="en-IN" b="1" dirty="0"/>
                  <a:t>Basic Idea</a:t>
                </a:r>
              </a:p>
              <a:p>
                <a:r>
                  <a:rPr lang="en-IN" dirty="0"/>
                  <a:t>Instead of:</a:t>
                </a:r>
              </a:p>
              <a:p>
                <a14:m>
                  <m:oMath xmlns:m="http://schemas.openxmlformats.org/officeDocument/2006/math">
                    <m:r>
                      <a:rPr lang="en-IN" i="1">
                        <a:latin typeface="Cambria Math" panose="02040503050406030204" pitchFamily="18" charset="0"/>
                      </a:rPr>
                      <m:t>𝑥</m:t>
                    </m:r>
                    <m:r>
                      <a:rPr lang="en-IN">
                        <a:latin typeface="Cambria Math" panose="02040503050406030204" pitchFamily="18" charset="0"/>
                      </a:rPr>
                      <m:t>→</m:t>
                    </m:r>
                    <m:acc>
                      <m:accPr>
                        <m:chr m:val="̂"/>
                        <m:ctrlPr>
                          <a:rPr lang="ar-AE" i="1">
                            <a:latin typeface="Cambria Math" panose="02040503050406030204" pitchFamily="18" charset="0"/>
                          </a:rPr>
                        </m:ctrlPr>
                      </m:accPr>
                      <m:e>
                        <m:r>
                          <a:rPr lang="ar-AE" i="1">
                            <a:latin typeface="Cambria Math" panose="02040503050406030204" pitchFamily="18" charset="0"/>
                          </a:rPr>
                          <m:t>𝑥</m:t>
                        </m:r>
                      </m:e>
                    </m:acc>
                  </m:oMath>
                </a14:m>
                <a:endParaRPr lang="ar-AE" dirty="0"/>
              </a:p>
              <a:p>
                <a:r>
                  <a:rPr lang="en-IN" dirty="0"/>
                  <a:t>we train using:</a:t>
                </a:r>
              </a:p>
              <a:p>
                <a14:m>
                  <m:oMath xmlns:m="http://schemas.openxmlformats.org/officeDocument/2006/math">
                    <m:acc>
                      <m:accPr>
                        <m:chr m:val="̃"/>
                        <m:ctrlPr>
                          <a:rPr lang="ar-AE" i="1">
                            <a:latin typeface="Cambria Math" panose="02040503050406030204" pitchFamily="18" charset="0"/>
                          </a:rPr>
                        </m:ctrlPr>
                      </m:accPr>
                      <m:e>
                        <m:r>
                          <a:rPr lang="ar-AE" i="1">
                            <a:latin typeface="Cambria Math" panose="02040503050406030204" pitchFamily="18" charset="0"/>
                          </a:rPr>
                          <m:t>𝑥</m:t>
                        </m:r>
                      </m:e>
                    </m:acc>
                    <m:r>
                      <a:rPr lang="ar-AE">
                        <a:latin typeface="Cambria Math" panose="02040503050406030204" pitchFamily="18" charset="0"/>
                      </a:rPr>
                      <m:t>→</m:t>
                    </m:r>
                    <m:r>
                      <a:rPr lang="ar-AE" i="1">
                        <a:latin typeface="Cambria Math" panose="02040503050406030204" pitchFamily="18" charset="0"/>
                      </a:rPr>
                      <m:t>𝑥</m:t>
                    </m:r>
                  </m:oMath>
                </a14:m>
                <a:endParaRPr lang="ar-AE" dirty="0"/>
              </a:p>
              <a:p>
                <a:r>
                  <a:rPr lang="en-IN" dirty="0"/>
                  <a:t>Where:</a:t>
                </a:r>
              </a:p>
              <a:p>
                <a14:m>
                  <m:oMath xmlns:m="http://schemas.openxmlformats.org/officeDocument/2006/math">
                    <m:r>
                      <a:rPr lang="en-IN" i="1">
                        <a:latin typeface="Cambria Math" panose="02040503050406030204" pitchFamily="18" charset="0"/>
                      </a:rPr>
                      <m:t>𝑥</m:t>
                    </m:r>
                  </m:oMath>
                </a14:m>
                <a:r>
                  <a:rPr lang="en-IN" dirty="0"/>
                  <a:t>= original input</a:t>
                </a:r>
              </a:p>
              <a:p>
                <a14:m>
                  <m:oMath xmlns:m="http://schemas.openxmlformats.org/officeDocument/2006/math">
                    <m:acc>
                      <m:accPr>
                        <m:chr m:val="̃"/>
                        <m:ctrlPr>
                          <a:rPr lang="ar-AE" i="1">
                            <a:latin typeface="Cambria Math" panose="02040503050406030204" pitchFamily="18" charset="0"/>
                          </a:rPr>
                        </m:ctrlPr>
                      </m:accPr>
                      <m:e>
                        <m:r>
                          <a:rPr lang="ar-AE" i="1">
                            <a:latin typeface="Cambria Math" panose="02040503050406030204" pitchFamily="18" charset="0"/>
                          </a:rPr>
                          <m:t>𝑥</m:t>
                        </m:r>
                      </m:e>
                    </m:acc>
                  </m:oMath>
                </a14:m>
                <a:r>
                  <a:rPr lang="ar-AE" dirty="0"/>
                  <a:t>= </a:t>
                </a:r>
                <a:r>
                  <a:rPr lang="en-IN" dirty="0"/>
                  <a:t>corrupted input</a:t>
                </a:r>
              </a:p>
              <a:p>
                <a14:m>
                  <m:oMath xmlns:m="http://schemas.openxmlformats.org/officeDocument/2006/math">
                    <m:acc>
                      <m:accPr>
                        <m:chr m:val="̂"/>
                        <m:ctrlPr>
                          <a:rPr lang="ar-AE" i="1">
                            <a:latin typeface="Cambria Math" panose="02040503050406030204" pitchFamily="18" charset="0"/>
                          </a:rPr>
                        </m:ctrlPr>
                      </m:accPr>
                      <m:e>
                        <m:r>
                          <a:rPr lang="ar-AE" i="1">
                            <a:latin typeface="Cambria Math" panose="02040503050406030204" pitchFamily="18" charset="0"/>
                          </a:rPr>
                          <m:t>𝑥</m:t>
                        </m:r>
                      </m:e>
                    </m:acc>
                  </m:oMath>
                </a14:m>
                <a:r>
                  <a:rPr lang="ar-AE" dirty="0"/>
                  <a:t>= </a:t>
                </a:r>
                <a:r>
                  <a:rPr lang="en-IN" dirty="0"/>
                  <a:t>reconstructed clean output</a:t>
                </a:r>
              </a:p>
              <a:p>
                <a:endParaRPr lang="en-IN" dirty="0"/>
              </a:p>
            </p:txBody>
          </p:sp>
        </mc:Choice>
        <mc:Fallback xmlns="">
          <p:sp>
            <p:nvSpPr>
              <p:cNvPr id="3" name="Content Placeholder 2">
                <a:extLst>
                  <a:ext uri="{FF2B5EF4-FFF2-40B4-BE49-F238E27FC236}">
                    <a16:creationId xmlns:a16="http://schemas.microsoft.com/office/drawing/2014/main" id="{47C37847-EE33-E44A-1A0D-9E7B0A92CDDC}"/>
                  </a:ext>
                </a:extLst>
              </p:cNvPr>
              <p:cNvSpPr>
                <a:spLocks noGrp="1" noRot="1" noChangeAspect="1" noMove="1" noResize="1" noEditPoints="1" noAdjustHandles="1" noChangeArrowheads="1" noChangeShapeType="1" noTextEdit="1"/>
              </p:cNvSpPr>
              <p:nvPr>
                <p:ph idx="1"/>
              </p:nvPr>
            </p:nvSpPr>
            <p:spPr>
              <a:xfrm>
                <a:off x="1025842" y="1493520"/>
                <a:ext cx="10201275" cy="4632750"/>
              </a:xfrm>
              <a:blipFill>
                <a:blip r:embed="rId2"/>
                <a:stretch>
                  <a:fillRect l="-1673" t="-1842"/>
                </a:stretch>
              </a:blipFill>
            </p:spPr>
            <p:txBody>
              <a:bodyPr/>
              <a:lstStyle/>
              <a:p>
                <a:r>
                  <a:rPr lang="en-IN">
                    <a:noFill/>
                  </a:rPr>
                  <a:t> </a:t>
                </a:r>
              </a:p>
            </p:txBody>
          </p:sp>
        </mc:Fallback>
      </mc:AlternateContent>
    </p:spTree>
    <p:extLst>
      <p:ext uri="{BB962C8B-B14F-4D97-AF65-F5344CB8AC3E}">
        <p14:creationId xmlns:p14="http://schemas.microsoft.com/office/powerpoint/2010/main" val="33687133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A63AED-A03E-2E96-7729-4259F69DF9AF}"/>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5BDF0631-6CD1-7EA0-6D95-7784F3F61C7D}"/>
              </a:ext>
            </a:extLst>
          </p:cNvPr>
          <p:cNvSpPr>
            <a:spLocks noGrp="1"/>
          </p:cNvSpPr>
          <p:nvPr>
            <p:ph idx="1"/>
          </p:nvPr>
        </p:nvSpPr>
        <p:spPr>
          <a:xfrm>
            <a:off x="924560" y="1361440"/>
            <a:ext cx="10302557" cy="4764830"/>
          </a:xfrm>
        </p:spPr>
        <p:txBody>
          <a:bodyPr>
            <a:normAutofit/>
          </a:bodyPr>
          <a:lstStyle/>
          <a:p>
            <a:r>
              <a:rPr lang="en-IN" b="1" dirty="0"/>
              <a:t>Types of Noise Used</a:t>
            </a:r>
          </a:p>
          <a:p>
            <a:r>
              <a:rPr lang="en-IN" b="1" dirty="0"/>
              <a:t> Masking Noise</a:t>
            </a:r>
          </a:p>
          <a:p>
            <a:r>
              <a:rPr lang="en-IN" dirty="0"/>
              <a:t>Random inputs set to zero</a:t>
            </a:r>
          </a:p>
          <a:p>
            <a:r>
              <a:rPr lang="en-IN" b="1" dirty="0"/>
              <a:t> Gaussian Noise</a:t>
            </a:r>
          </a:p>
          <a:p>
            <a:r>
              <a:rPr lang="en-IN" dirty="0"/>
              <a:t>Add small random values</a:t>
            </a:r>
          </a:p>
          <a:p>
            <a:r>
              <a:rPr lang="en-IN" b="1" dirty="0"/>
              <a:t> Salt &amp; Pepper Noise</a:t>
            </a:r>
          </a:p>
          <a:p>
            <a:r>
              <a:rPr lang="en-IN" dirty="0"/>
              <a:t>Random pixels set to 0 or 1</a:t>
            </a:r>
          </a:p>
          <a:p>
            <a:r>
              <a:rPr lang="en-IN" b="1" dirty="0"/>
              <a:t> Dropout Noise</a:t>
            </a:r>
          </a:p>
          <a:p>
            <a:r>
              <a:rPr lang="en-IN" dirty="0"/>
              <a:t>Random features dropped</a:t>
            </a:r>
          </a:p>
          <a:p>
            <a:endParaRPr lang="en-IN" dirty="0"/>
          </a:p>
        </p:txBody>
      </p:sp>
    </p:spTree>
    <p:extLst>
      <p:ext uri="{BB962C8B-B14F-4D97-AF65-F5344CB8AC3E}">
        <p14:creationId xmlns:p14="http://schemas.microsoft.com/office/powerpoint/2010/main" val="409837809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5BEAF0-2F0D-01F3-D904-6A11F3E9AB19}"/>
              </a:ext>
            </a:extLst>
          </p:cNvPr>
          <p:cNvSpPr>
            <a:spLocks noGrp="1"/>
          </p:cNvSpPr>
          <p:nvPr>
            <p:ph type="title"/>
          </p:nvPr>
        </p:nvSpPr>
        <p:spPr/>
        <p:txBody>
          <a:bodyPr>
            <a:normAutofit fontScale="90000"/>
          </a:bodyPr>
          <a:lstStyle/>
          <a:p>
            <a:endParaRPr lang="en-IN"/>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EF6D3D0-5110-791D-41E2-6E49812176ED}"/>
                  </a:ext>
                </a:extLst>
              </p:cNvPr>
              <p:cNvSpPr>
                <a:spLocks noGrp="1"/>
              </p:cNvSpPr>
              <p:nvPr>
                <p:ph idx="1"/>
              </p:nvPr>
            </p:nvSpPr>
            <p:spPr>
              <a:xfrm>
                <a:off x="894397" y="1502266"/>
                <a:ext cx="10058400" cy="4542934"/>
              </a:xfrm>
            </p:spPr>
            <p:txBody>
              <a:bodyPr>
                <a:normAutofit fontScale="92500"/>
              </a:bodyPr>
              <a:lstStyle/>
              <a:p>
                <a:pPr>
                  <a:lnSpc>
                    <a:spcPct val="120000"/>
                  </a:lnSpc>
                  <a:spcBef>
                    <a:spcPts val="0"/>
                  </a:spcBef>
                  <a:spcAft>
                    <a:spcPts val="0"/>
                  </a:spcAft>
                </a:pPr>
                <a:r>
                  <a:rPr lang="en-IN" b="1" dirty="0"/>
                  <a:t>Architecture</a:t>
                </a:r>
              </a:p>
              <a:p>
                <a:pPr>
                  <a:lnSpc>
                    <a:spcPct val="120000"/>
                  </a:lnSpc>
                  <a:spcBef>
                    <a:spcPts val="0"/>
                  </a:spcBef>
                  <a:spcAft>
                    <a:spcPts val="0"/>
                  </a:spcAft>
                </a:pPr>
                <a:r>
                  <a:rPr lang="en-IN" dirty="0"/>
                  <a:t>Input → </a:t>
                </a:r>
                <a:r>
                  <a:rPr lang="en-IN" b="1" dirty="0"/>
                  <a:t>Corrupt</a:t>
                </a:r>
                <a:r>
                  <a:rPr lang="en-IN" dirty="0"/>
                  <a:t> → Encoder → Latent Code → Decoder → Reconstructed Output</a:t>
                </a:r>
              </a:p>
              <a:p>
                <a:pPr>
                  <a:lnSpc>
                    <a:spcPct val="120000"/>
                  </a:lnSpc>
                  <a:spcBef>
                    <a:spcPts val="0"/>
                  </a:spcBef>
                  <a:spcAft>
                    <a:spcPts val="0"/>
                  </a:spcAft>
                </a:pPr>
                <a:r>
                  <a:rPr lang="en-IN" b="1" dirty="0"/>
                  <a:t>Mathematical Model</a:t>
                </a:r>
              </a:p>
              <a:p>
                <a:pPr>
                  <a:lnSpc>
                    <a:spcPct val="120000"/>
                  </a:lnSpc>
                  <a:spcBef>
                    <a:spcPts val="0"/>
                  </a:spcBef>
                  <a:spcAft>
                    <a:spcPts val="0"/>
                  </a:spcAft>
                </a:pPr>
                <a:r>
                  <a:rPr lang="en-IN" b="1" dirty="0"/>
                  <a:t>Corruption</a:t>
                </a:r>
              </a:p>
              <a:p>
                <a:pPr>
                  <a:lnSpc>
                    <a:spcPct val="120000"/>
                  </a:lnSpc>
                  <a:spcBef>
                    <a:spcPts val="0"/>
                  </a:spcBef>
                  <a:spcAft>
                    <a:spcPts val="0"/>
                  </a:spcAft>
                </a:pPr>
                <a14:m>
                  <m:oMath xmlns:m="http://schemas.openxmlformats.org/officeDocument/2006/math">
                    <m:acc>
                      <m:accPr>
                        <m:chr m:val="̃"/>
                        <m:ctrlPr>
                          <a:rPr lang="ar-AE" i="1">
                            <a:latin typeface="Cambria Math" panose="02040503050406030204" pitchFamily="18" charset="0"/>
                          </a:rPr>
                        </m:ctrlPr>
                      </m:accPr>
                      <m:e>
                        <m:r>
                          <a:rPr lang="ar-AE" i="1">
                            <a:latin typeface="Cambria Math" panose="02040503050406030204" pitchFamily="18" charset="0"/>
                          </a:rPr>
                          <m:t>𝑥</m:t>
                        </m:r>
                      </m:e>
                    </m:acc>
                    <m:r>
                      <a:rPr lang="ar-AE">
                        <a:latin typeface="Cambria Math" panose="02040503050406030204" pitchFamily="18" charset="0"/>
                      </a:rPr>
                      <m:t>=</m:t>
                    </m:r>
                    <m:r>
                      <a:rPr lang="ar-AE" i="1">
                        <a:latin typeface="Cambria Math" panose="02040503050406030204" pitchFamily="18" charset="0"/>
                      </a:rPr>
                      <m:t>𝑥</m:t>
                    </m:r>
                    <m:r>
                      <a:rPr lang="ar-AE">
                        <a:latin typeface="Cambria Math" panose="02040503050406030204" pitchFamily="18" charset="0"/>
                      </a:rPr>
                      <m:t>+</m:t>
                    </m:r>
                    <m:r>
                      <a:rPr lang="ar-AE" i="1">
                        <a:latin typeface="Cambria Math" panose="02040503050406030204" pitchFamily="18" charset="0"/>
                      </a:rPr>
                      <m:t>𝑛𝑜𝑖𝑠𝑒</m:t>
                    </m:r>
                  </m:oMath>
                </a14:m>
                <a:endParaRPr lang="ar-AE" dirty="0"/>
              </a:p>
              <a:p>
                <a:pPr>
                  <a:lnSpc>
                    <a:spcPct val="120000"/>
                  </a:lnSpc>
                  <a:spcBef>
                    <a:spcPts val="0"/>
                  </a:spcBef>
                  <a:spcAft>
                    <a:spcPts val="0"/>
                  </a:spcAft>
                </a:pPr>
                <a:r>
                  <a:rPr lang="en-IN" b="1" dirty="0"/>
                  <a:t>Encoder</a:t>
                </a:r>
              </a:p>
              <a:p>
                <a:pPr>
                  <a:lnSpc>
                    <a:spcPct val="120000"/>
                  </a:lnSpc>
                  <a:spcBef>
                    <a:spcPts val="0"/>
                  </a:spcBef>
                  <a:spcAft>
                    <a:spcPts val="0"/>
                  </a:spcAft>
                </a:pPr>
                <a14:m>
                  <m:oMath xmlns:m="http://schemas.openxmlformats.org/officeDocument/2006/math">
                    <m:r>
                      <a:rPr lang="en-IN" i="1">
                        <a:latin typeface="Cambria Math" panose="02040503050406030204" pitchFamily="18" charset="0"/>
                      </a:rPr>
                      <m:t>h</m:t>
                    </m:r>
                    <m:r>
                      <a:rPr lang="en-IN">
                        <a:latin typeface="Cambria Math" panose="02040503050406030204" pitchFamily="18" charset="0"/>
                      </a:rPr>
                      <m:t>=</m:t>
                    </m:r>
                    <m:r>
                      <a:rPr lang="en-IN" i="1">
                        <a:latin typeface="Cambria Math" panose="02040503050406030204" pitchFamily="18" charset="0"/>
                      </a:rPr>
                      <m:t>𝜎</m:t>
                    </m:r>
                    <m:d>
                      <m:dPr>
                        <m:ctrlPr>
                          <a:rPr lang="ar-AE" i="1">
                            <a:latin typeface="Cambria Math" panose="02040503050406030204" pitchFamily="18" charset="0"/>
                          </a:rPr>
                        </m:ctrlPr>
                      </m:dPr>
                      <m:e>
                        <m:r>
                          <a:rPr lang="ar-AE" i="1">
                            <a:latin typeface="Cambria Math" panose="02040503050406030204" pitchFamily="18" charset="0"/>
                          </a:rPr>
                          <m:t>𝑊</m:t>
                        </m:r>
                        <m:acc>
                          <m:accPr>
                            <m:chr m:val="̃"/>
                            <m:ctrlPr>
                              <a:rPr lang="ar-AE" i="1">
                                <a:latin typeface="Cambria Math" panose="02040503050406030204" pitchFamily="18" charset="0"/>
                              </a:rPr>
                            </m:ctrlPr>
                          </m:accPr>
                          <m:e>
                            <m:r>
                              <a:rPr lang="ar-AE" i="1">
                                <a:latin typeface="Cambria Math" panose="02040503050406030204" pitchFamily="18" charset="0"/>
                              </a:rPr>
                              <m:t>𝑥</m:t>
                            </m:r>
                          </m:e>
                        </m:acc>
                        <m:r>
                          <a:rPr lang="ar-AE">
                            <a:latin typeface="Cambria Math" panose="02040503050406030204" pitchFamily="18" charset="0"/>
                          </a:rPr>
                          <m:t>+</m:t>
                        </m:r>
                        <m:r>
                          <a:rPr lang="ar-AE" i="1">
                            <a:latin typeface="Cambria Math" panose="02040503050406030204" pitchFamily="18" charset="0"/>
                          </a:rPr>
                          <m:t>𝑏</m:t>
                        </m:r>
                      </m:e>
                    </m:d>
                  </m:oMath>
                </a14:m>
                <a:endParaRPr lang="ar-AE" dirty="0"/>
              </a:p>
              <a:p>
                <a:pPr>
                  <a:lnSpc>
                    <a:spcPct val="120000"/>
                  </a:lnSpc>
                  <a:spcBef>
                    <a:spcPts val="0"/>
                  </a:spcBef>
                  <a:spcAft>
                    <a:spcPts val="0"/>
                  </a:spcAft>
                </a:pPr>
                <a:r>
                  <a:rPr lang="en-IN" b="1" dirty="0"/>
                  <a:t>Decoder</a:t>
                </a:r>
              </a:p>
              <a:p>
                <a:pPr>
                  <a:lnSpc>
                    <a:spcPct val="120000"/>
                  </a:lnSpc>
                  <a:spcBef>
                    <a:spcPts val="0"/>
                  </a:spcBef>
                  <a:spcAft>
                    <a:spcPts val="0"/>
                  </a:spcAft>
                </a:pPr>
                <a14:m>
                  <m:oMath xmlns:m="http://schemas.openxmlformats.org/officeDocument/2006/math">
                    <m:acc>
                      <m:accPr>
                        <m:chr m:val="̂"/>
                        <m:ctrlPr>
                          <a:rPr lang="ar-AE" i="1">
                            <a:latin typeface="Cambria Math" panose="02040503050406030204" pitchFamily="18" charset="0"/>
                          </a:rPr>
                        </m:ctrlPr>
                      </m:accPr>
                      <m:e>
                        <m:r>
                          <a:rPr lang="ar-AE" i="1">
                            <a:latin typeface="Cambria Math" panose="02040503050406030204" pitchFamily="18" charset="0"/>
                          </a:rPr>
                          <m:t>𝑥</m:t>
                        </m:r>
                      </m:e>
                    </m:acc>
                    <m:r>
                      <a:rPr lang="ar-AE">
                        <a:latin typeface="Cambria Math" panose="02040503050406030204" pitchFamily="18" charset="0"/>
                      </a:rPr>
                      <m:t>=</m:t>
                    </m:r>
                    <m:r>
                      <a:rPr lang="ar-AE" i="1">
                        <a:latin typeface="Cambria Math" panose="02040503050406030204" pitchFamily="18" charset="0"/>
                      </a:rPr>
                      <m:t>𝜎</m:t>
                    </m:r>
                    <m:d>
                      <m:dPr>
                        <m:ctrlPr>
                          <a:rPr lang="ar-AE" i="1">
                            <a:latin typeface="Cambria Math" panose="02040503050406030204" pitchFamily="18" charset="0"/>
                          </a:rPr>
                        </m:ctrlPr>
                      </m:dPr>
                      <m:e>
                        <m:sSup>
                          <m:sSupPr>
                            <m:ctrlPr>
                              <a:rPr lang="ar-AE" i="1">
                                <a:latin typeface="Cambria Math" panose="02040503050406030204" pitchFamily="18" charset="0"/>
                              </a:rPr>
                            </m:ctrlPr>
                          </m:sSupPr>
                          <m:e>
                            <m:r>
                              <a:rPr lang="ar-AE" i="1">
                                <a:latin typeface="Cambria Math" panose="02040503050406030204" pitchFamily="18" charset="0"/>
                              </a:rPr>
                              <m:t>𝑊</m:t>
                            </m:r>
                          </m:e>
                          <m:sup>
                            <m:r>
                              <a:rPr lang="ar-AE">
                                <a:latin typeface="Cambria Math" panose="02040503050406030204" pitchFamily="18" charset="0"/>
                              </a:rPr>
                              <m:t>′</m:t>
                            </m:r>
                          </m:sup>
                        </m:sSup>
                        <m:r>
                          <a:rPr lang="ar-AE" i="1">
                            <a:latin typeface="Cambria Math" panose="02040503050406030204" pitchFamily="18" charset="0"/>
                          </a:rPr>
                          <m:t>h</m:t>
                        </m:r>
                        <m:r>
                          <a:rPr lang="ar-AE">
                            <a:latin typeface="Cambria Math" panose="02040503050406030204" pitchFamily="18" charset="0"/>
                          </a:rPr>
                          <m:t>+</m:t>
                        </m:r>
                        <m:sSup>
                          <m:sSupPr>
                            <m:ctrlPr>
                              <a:rPr lang="ar-AE" i="1">
                                <a:latin typeface="Cambria Math" panose="02040503050406030204" pitchFamily="18" charset="0"/>
                              </a:rPr>
                            </m:ctrlPr>
                          </m:sSupPr>
                          <m:e>
                            <m:r>
                              <a:rPr lang="ar-AE" i="1">
                                <a:latin typeface="Cambria Math" panose="02040503050406030204" pitchFamily="18" charset="0"/>
                              </a:rPr>
                              <m:t>𝑏</m:t>
                            </m:r>
                          </m:e>
                          <m:sup>
                            <m:r>
                              <a:rPr lang="ar-AE">
                                <a:latin typeface="Cambria Math" panose="02040503050406030204" pitchFamily="18" charset="0"/>
                              </a:rPr>
                              <m:t>′</m:t>
                            </m:r>
                          </m:sup>
                        </m:sSup>
                      </m:e>
                    </m:d>
                  </m:oMath>
                </a14:m>
                <a:endParaRPr lang="ar-AE" dirty="0"/>
              </a:p>
              <a:p>
                <a:pPr>
                  <a:lnSpc>
                    <a:spcPct val="120000"/>
                  </a:lnSpc>
                  <a:spcBef>
                    <a:spcPts val="0"/>
                  </a:spcBef>
                  <a:spcAft>
                    <a:spcPts val="0"/>
                  </a:spcAft>
                </a:pPr>
                <a:r>
                  <a:rPr lang="en-IN" b="1" dirty="0"/>
                  <a:t>Loss</a:t>
                </a:r>
              </a:p>
              <a:p>
                <a:pPr>
                  <a:lnSpc>
                    <a:spcPct val="120000"/>
                  </a:lnSpc>
                  <a:spcBef>
                    <a:spcPts val="0"/>
                  </a:spcBef>
                  <a:spcAft>
                    <a:spcPts val="0"/>
                  </a:spcAft>
                </a:pPr>
                <a14:m>
                  <m:oMath xmlns:m="http://schemas.openxmlformats.org/officeDocument/2006/math">
                    <m:r>
                      <a:rPr lang="en-IN" i="1">
                        <a:latin typeface="Cambria Math" panose="02040503050406030204" pitchFamily="18" charset="0"/>
                      </a:rPr>
                      <m:t>𝐿</m:t>
                    </m:r>
                    <m:r>
                      <a:rPr lang="en-IN">
                        <a:latin typeface="Cambria Math" panose="02040503050406030204" pitchFamily="18" charset="0"/>
                      </a:rPr>
                      <m:t>=∥</m:t>
                    </m:r>
                    <m:r>
                      <a:rPr lang="en-IN" i="1">
                        <a:latin typeface="Cambria Math" panose="02040503050406030204" pitchFamily="18" charset="0"/>
                      </a:rPr>
                      <m:t>𝑥</m:t>
                    </m:r>
                    <m:r>
                      <a:rPr lang="en-IN">
                        <a:latin typeface="Cambria Math" panose="02040503050406030204" pitchFamily="18" charset="0"/>
                      </a:rPr>
                      <m:t>−</m:t>
                    </m:r>
                    <m:acc>
                      <m:accPr>
                        <m:chr m:val="̂"/>
                        <m:ctrlPr>
                          <a:rPr lang="ar-AE" i="1">
                            <a:latin typeface="Cambria Math" panose="02040503050406030204" pitchFamily="18" charset="0"/>
                          </a:rPr>
                        </m:ctrlPr>
                      </m:accPr>
                      <m:e>
                        <m:r>
                          <a:rPr lang="ar-AE" i="1">
                            <a:latin typeface="Cambria Math" panose="02040503050406030204" pitchFamily="18" charset="0"/>
                          </a:rPr>
                          <m:t>𝑥</m:t>
                        </m:r>
                      </m:e>
                    </m:acc>
                    <m:sSup>
                      <m:sSupPr>
                        <m:ctrlPr>
                          <a:rPr lang="ar-AE" i="1">
                            <a:latin typeface="Cambria Math" panose="02040503050406030204" pitchFamily="18" charset="0"/>
                          </a:rPr>
                        </m:ctrlPr>
                      </m:sSupPr>
                      <m:e>
                        <m:r>
                          <a:rPr lang="ar-AE">
                            <a:latin typeface="Cambria Math" panose="02040503050406030204" pitchFamily="18" charset="0"/>
                          </a:rPr>
                          <m:t>∥</m:t>
                        </m:r>
                      </m:e>
                      <m:sup>
                        <m:r>
                          <a:rPr lang="ar-AE">
                            <a:latin typeface="Cambria Math" panose="02040503050406030204" pitchFamily="18" charset="0"/>
                          </a:rPr>
                          <m:t>2</m:t>
                        </m:r>
                      </m:sup>
                    </m:sSup>
                  </m:oMath>
                </a14:m>
                <a:endParaRPr lang="ar-AE" dirty="0"/>
              </a:p>
              <a:p>
                <a:endParaRPr lang="en-IN" dirty="0"/>
              </a:p>
            </p:txBody>
          </p:sp>
        </mc:Choice>
        <mc:Fallback xmlns="">
          <p:sp>
            <p:nvSpPr>
              <p:cNvPr id="3" name="Content Placeholder 2">
                <a:extLst>
                  <a:ext uri="{FF2B5EF4-FFF2-40B4-BE49-F238E27FC236}">
                    <a16:creationId xmlns:a16="http://schemas.microsoft.com/office/drawing/2014/main" id="{8EF6D3D0-5110-791D-41E2-6E49812176ED}"/>
                  </a:ext>
                </a:extLst>
              </p:cNvPr>
              <p:cNvSpPr>
                <a:spLocks noGrp="1" noRot="1" noChangeAspect="1" noMove="1" noResize="1" noEditPoints="1" noAdjustHandles="1" noChangeArrowheads="1" noChangeShapeType="1" noTextEdit="1"/>
              </p:cNvSpPr>
              <p:nvPr>
                <p:ph idx="1"/>
              </p:nvPr>
            </p:nvSpPr>
            <p:spPr>
              <a:xfrm>
                <a:off x="894397" y="1502266"/>
                <a:ext cx="10058400" cy="4542934"/>
              </a:xfrm>
              <a:blipFill>
                <a:blip r:embed="rId2"/>
                <a:stretch>
                  <a:fillRect l="-1636" b="-1072"/>
                </a:stretch>
              </a:blipFill>
            </p:spPr>
            <p:txBody>
              <a:bodyPr/>
              <a:lstStyle/>
              <a:p>
                <a:r>
                  <a:rPr lang="en-IN">
                    <a:noFill/>
                  </a:rPr>
                  <a:t> </a:t>
                </a:r>
              </a:p>
            </p:txBody>
          </p:sp>
        </mc:Fallback>
      </mc:AlternateContent>
    </p:spTree>
    <p:extLst>
      <p:ext uri="{BB962C8B-B14F-4D97-AF65-F5344CB8AC3E}">
        <p14:creationId xmlns:p14="http://schemas.microsoft.com/office/powerpoint/2010/main" val="85540529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2BF16F-2219-D360-649E-3180F82D4F35}"/>
              </a:ext>
            </a:extLst>
          </p:cNvPr>
          <p:cNvSpPr>
            <a:spLocks noGrp="1"/>
          </p:cNvSpPr>
          <p:nvPr>
            <p:ph type="title"/>
          </p:nvPr>
        </p:nvSpPr>
        <p:spPr/>
        <p:txBody>
          <a:bodyPr>
            <a:normAutofit fontScale="90000"/>
          </a:bodyPr>
          <a:lstStyle/>
          <a:p>
            <a:endParaRPr lang="en-IN"/>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05D7C40-C6CE-863C-802C-8DE988AA6053}"/>
                  </a:ext>
                </a:extLst>
              </p:cNvPr>
              <p:cNvSpPr>
                <a:spLocks noGrp="1"/>
              </p:cNvSpPr>
              <p:nvPr>
                <p:ph idx="1"/>
              </p:nvPr>
            </p:nvSpPr>
            <p:spPr>
              <a:xfrm>
                <a:off x="1025842" y="1361440"/>
                <a:ext cx="10201275" cy="4764830"/>
              </a:xfrm>
            </p:spPr>
            <p:txBody>
              <a:bodyPr>
                <a:normAutofit fontScale="92500" lnSpcReduction="20000"/>
              </a:bodyPr>
              <a:lstStyle/>
              <a:p>
                <a:pPr>
                  <a:lnSpc>
                    <a:spcPct val="120000"/>
                  </a:lnSpc>
                  <a:spcBef>
                    <a:spcPts val="0"/>
                  </a:spcBef>
                  <a:spcAft>
                    <a:spcPts val="0"/>
                  </a:spcAft>
                </a:pPr>
                <a:r>
                  <a:rPr lang="en-IN" b="1" dirty="0"/>
                  <a:t>Step-by-Step Numerical Example</a:t>
                </a:r>
              </a:p>
              <a:p>
                <a:pPr>
                  <a:lnSpc>
                    <a:spcPct val="120000"/>
                  </a:lnSpc>
                  <a:spcBef>
                    <a:spcPts val="0"/>
                  </a:spcBef>
                  <a:spcAft>
                    <a:spcPts val="0"/>
                  </a:spcAft>
                </a:pPr>
                <a:r>
                  <a:rPr lang="en-IN" b="1" dirty="0"/>
                  <a:t> Original Input</a:t>
                </a:r>
              </a:p>
              <a:p>
                <a:pPr>
                  <a:lnSpc>
                    <a:spcPct val="120000"/>
                  </a:lnSpc>
                  <a:spcBef>
                    <a:spcPts val="0"/>
                  </a:spcBef>
                  <a:spcAft>
                    <a:spcPts val="0"/>
                  </a:spcAft>
                </a:pPr>
                <a14:m>
                  <m:oMath xmlns:m="http://schemas.openxmlformats.org/officeDocument/2006/math">
                    <m:r>
                      <a:rPr lang="en-IN" i="1">
                        <a:latin typeface="Cambria Math" panose="02040503050406030204" pitchFamily="18" charset="0"/>
                      </a:rPr>
                      <m:t>𝑥</m:t>
                    </m:r>
                    <m:r>
                      <a:rPr lang="en-IN">
                        <a:latin typeface="Cambria Math" panose="02040503050406030204" pitchFamily="18" charset="0"/>
                      </a:rPr>
                      <m:t>=</m:t>
                    </m:r>
                    <m:r>
                      <a:rPr lang="ar-AE" i="1">
                        <a:latin typeface="Cambria Math" panose="02040503050406030204" pitchFamily="18" charset="0"/>
                      </a:rPr>
                      <m:t>[</m:t>
                    </m:r>
                    <m:r>
                      <a:rPr lang="ar-AE" i="1">
                        <a:latin typeface="Cambria Math" panose="02040503050406030204" pitchFamily="18" charset="0"/>
                      </a:rPr>
                      <m:t>1</m:t>
                    </m:r>
                    <m:r>
                      <a:rPr lang="ar-AE" i="1">
                        <a:latin typeface="Cambria Math" panose="02040503050406030204" pitchFamily="18" charset="0"/>
                      </a:rPr>
                      <m:t>,</m:t>
                    </m:r>
                    <m:r>
                      <a:rPr lang="ar-AE" i="1">
                        <a:latin typeface="Cambria Math" panose="02040503050406030204" pitchFamily="18" charset="0"/>
                      </a:rPr>
                      <m:t>0</m:t>
                    </m:r>
                    <m:r>
                      <a:rPr lang="ar-AE" i="1">
                        <a:latin typeface="Cambria Math" panose="02040503050406030204" pitchFamily="18" charset="0"/>
                      </a:rPr>
                      <m:t>,</m:t>
                    </m:r>
                    <m:r>
                      <a:rPr lang="ar-AE" i="1">
                        <a:latin typeface="Cambria Math" panose="02040503050406030204" pitchFamily="18" charset="0"/>
                      </a:rPr>
                      <m:t>1</m:t>
                    </m:r>
                    <m:r>
                      <a:rPr lang="ar-AE" i="1">
                        <a:latin typeface="Cambria Math" panose="02040503050406030204" pitchFamily="18" charset="0"/>
                      </a:rPr>
                      <m:t>]</m:t>
                    </m:r>
                  </m:oMath>
                </a14:m>
                <a:endParaRPr lang="ar-AE" b="0" dirty="0"/>
              </a:p>
              <a:p>
                <a:pPr>
                  <a:lnSpc>
                    <a:spcPct val="120000"/>
                  </a:lnSpc>
                  <a:spcBef>
                    <a:spcPts val="0"/>
                  </a:spcBef>
                  <a:spcAft>
                    <a:spcPts val="0"/>
                  </a:spcAft>
                </a:pPr>
                <a:r>
                  <a:rPr lang="en-IN" b="1" dirty="0"/>
                  <a:t> STEP 1: Add Noise (Masking Noise)</a:t>
                </a:r>
              </a:p>
              <a:p>
                <a:pPr>
                  <a:lnSpc>
                    <a:spcPct val="120000"/>
                  </a:lnSpc>
                  <a:spcBef>
                    <a:spcPts val="0"/>
                  </a:spcBef>
                  <a:spcAft>
                    <a:spcPts val="0"/>
                  </a:spcAft>
                </a:pPr>
                <a:r>
                  <a:rPr lang="en-IN" dirty="0"/>
                  <a:t>Assume 30% corruption → one value becomes 0</a:t>
                </a:r>
              </a:p>
              <a:p>
                <a:pPr>
                  <a:lnSpc>
                    <a:spcPct val="120000"/>
                  </a:lnSpc>
                  <a:spcBef>
                    <a:spcPts val="0"/>
                  </a:spcBef>
                  <a:spcAft>
                    <a:spcPts val="0"/>
                  </a:spcAft>
                </a:pPr>
                <a14:m>
                  <m:oMath xmlns:m="http://schemas.openxmlformats.org/officeDocument/2006/math">
                    <m:acc>
                      <m:accPr>
                        <m:chr m:val="̃"/>
                        <m:ctrlPr>
                          <a:rPr lang="ar-AE" i="1">
                            <a:latin typeface="Cambria Math" panose="02040503050406030204" pitchFamily="18" charset="0"/>
                          </a:rPr>
                        </m:ctrlPr>
                      </m:accPr>
                      <m:e>
                        <m:r>
                          <a:rPr lang="ar-AE" i="1">
                            <a:latin typeface="Cambria Math" panose="02040503050406030204" pitchFamily="18" charset="0"/>
                          </a:rPr>
                          <m:t>𝑥</m:t>
                        </m:r>
                      </m:e>
                    </m:acc>
                    <m:r>
                      <a:rPr lang="ar-AE">
                        <a:latin typeface="Cambria Math" panose="02040503050406030204" pitchFamily="18" charset="0"/>
                      </a:rPr>
                      <m:t>=</m:t>
                    </m:r>
                    <m:r>
                      <a:rPr lang="ar-AE" i="1">
                        <a:latin typeface="Cambria Math" panose="02040503050406030204" pitchFamily="18" charset="0"/>
                      </a:rPr>
                      <m:t>[</m:t>
                    </m:r>
                    <m:r>
                      <a:rPr lang="ar-AE" i="1">
                        <a:latin typeface="Cambria Math" panose="02040503050406030204" pitchFamily="18" charset="0"/>
                      </a:rPr>
                      <m:t>1</m:t>
                    </m:r>
                    <m:r>
                      <a:rPr lang="ar-AE" i="1">
                        <a:latin typeface="Cambria Math" panose="02040503050406030204" pitchFamily="18" charset="0"/>
                      </a:rPr>
                      <m:t>,</m:t>
                    </m:r>
                    <m:r>
                      <a:rPr lang="ar-AE" i="1">
                        <a:latin typeface="Cambria Math" panose="02040503050406030204" pitchFamily="18" charset="0"/>
                      </a:rPr>
                      <m:t>0</m:t>
                    </m:r>
                    <m:r>
                      <a:rPr lang="ar-AE" i="1">
                        <a:latin typeface="Cambria Math" panose="02040503050406030204" pitchFamily="18" charset="0"/>
                      </a:rPr>
                      <m:t>,</m:t>
                    </m:r>
                    <m:r>
                      <a:rPr lang="ar-AE" i="1">
                        <a:latin typeface="Cambria Math" panose="02040503050406030204" pitchFamily="18" charset="0"/>
                      </a:rPr>
                      <m:t>0</m:t>
                    </m:r>
                    <m:r>
                      <a:rPr lang="ar-AE" i="1">
                        <a:latin typeface="Cambria Math" panose="02040503050406030204" pitchFamily="18" charset="0"/>
                      </a:rPr>
                      <m:t>]</m:t>
                    </m:r>
                  </m:oMath>
                </a14:m>
                <a:endParaRPr lang="ar-AE" b="0" dirty="0"/>
              </a:p>
              <a:p>
                <a:pPr>
                  <a:lnSpc>
                    <a:spcPct val="120000"/>
                  </a:lnSpc>
                  <a:spcBef>
                    <a:spcPts val="0"/>
                  </a:spcBef>
                  <a:spcAft>
                    <a:spcPts val="0"/>
                  </a:spcAft>
                </a:pPr>
                <a:r>
                  <a:rPr lang="en-IN" b="1" dirty="0"/>
                  <a:t>STEP 2: Encoder Forward Pass</a:t>
                </a:r>
              </a:p>
              <a:p>
                <a:pPr>
                  <a:lnSpc>
                    <a:spcPct val="120000"/>
                  </a:lnSpc>
                  <a:spcBef>
                    <a:spcPts val="0"/>
                  </a:spcBef>
                  <a:spcAft>
                    <a:spcPts val="0"/>
                  </a:spcAft>
                </a:pPr>
                <a:r>
                  <a:rPr lang="en-IN" b="1" dirty="0"/>
                  <a:t>Weights</a:t>
                </a:r>
              </a:p>
              <a:p>
                <a:pPr>
                  <a:lnSpc>
                    <a:spcPct val="120000"/>
                  </a:lnSpc>
                  <a:spcBef>
                    <a:spcPts val="0"/>
                  </a:spcBef>
                  <a:spcAft>
                    <a:spcPts val="0"/>
                  </a:spcAft>
                </a:pPr>
                <a14:m>
                  <m:oMath xmlns:m="http://schemas.openxmlformats.org/officeDocument/2006/math">
                    <m:r>
                      <a:rPr lang="en-IN" i="1">
                        <a:latin typeface="Cambria Math" panose="02040503050406030204" pitchFamily="18" charset="0"/>
                      </a:rPr>
                      <m:t>𝑊</m:t>
                    </m:r>
                    <m:r>
                      <a:rPr lang="en-IN">
                        <a:latin typeface="Cambria Math" panose="02040503050406030204" pitchFamily="18" charset="0"/>
                      </a:rPr>
                      <m:t>=</m:t>
                    </m:r>
                    <m:d>
                      <m:dPr>
                        <m:begChr m:val="["/>
                        <m:endChr m:val="]"/>
                        <m:ctrlPr>
                          <a:rPr lang="ar-AE" i="1">
                            <a:latin typeface="Cambria Math" panose="02040503050406030204" pitchFamily="18" charset="0"/>
                          </a:rPr>
                        </m:ctrlPr>
                      </m:dPr>
                      <m:e>
                        <m:m>
                          <m:mPr>
                            <m:plcHide m:val="on"/>
                            <m:mcs>
                              <m:mc>
                                <m:mcPr>
                                  <m:count m:val="3"/>
                                  <m:mcJc m:val="center"/>
                                </m:mcPr>
                              </m:mc>
                            </m:mcs>
                            <m:ctrlPr>
                              <a:rPr lang="ar-AE" i="1">
                                <a:latin typeface="Cambria Math" panose="02040503050406030204" pitchFamily="18" charset="0"/>
                              </a:rPr>
                            </m:ctrlPr>
                          </m:mPr>
                          <m:m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2</m:t>
                              </m:r>
                            </m:e>
                            <m:e>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4</m:t>
                              </m:r>
                            </m:e>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1</m:t>
                              </m:r>
                            </m:e>
                          </m:mr>
                          <m:mr>
                            <m:e>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3</m:t>
                              </m:r>
                            </m:e>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2</m:t>
                              </m:r>
                            </m:e>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4</m:t>
                              </m:r>
                            </m:e>
                          </m:mr>
                        </m:m>
                      </m:e>
                    </m:d>
                  </m:oMath>
                </a14:m>
                <a:endParaRPr lang="ar-AE" dirty="0"/>
              </a:p>
              <a:p>
                <a:pPr>
                  <a:lnSpc>
                    <a:spcPct val="120000"/>
                  </a:lnSpc>
                  <a:spcBef>
                    <a:spcPts val="0"/>
                  </a:spcBef>
                  <a:spcAft>
                    <a:spcPts val="0"/>
                  </a:spcAft>
                </a:pPr>
                <a:r>
                  <a:rPr lang="en-IN" b="1" dirty="0"/>
                  <a:t>Bias</a:t>
                </a:r>
              </a:p>
              <a:p>
                <a:pPr>
                  <a:lnSpc>
                    <a:spcPct val="120000"/>
                  </a:lnSpc>
                  <a:spcBef>
                    <a:spcPts val="0"/>
                  </a:spcBef>
                  <a:spcAft>
                    <a:spcPts val="0"/>
                  </a:spcAft>
                </a:pPr>
                <a14:m>
                  <m:oMath xmlns:m="http://schemas.openxmlformats.org/officeDocument/2006/math">
                    <m:r>
                      <a:rPr lang="en-IN" i="1">
                        <a:latin typeface="Cambria Math" panose="02040503050406030204" pitchFamily="18" charset="0"/>
                      </a:rPr>
                      <m:t>𝑏</m:t>
                    </m:r>
                    <m:r>
                      <a:rPr lang="en-IN">
                        <a:latin typeface="Cambria Math" panose="02040503050406030204" pitchFamily="18" charset="0"/>
                      </a:rPr>
                      <m:t>=</m:t>
                    </m:r>
                    <m:r>
                      <a:rPr lang="ar-AE" i="1">
                        <a:latin typeface="Cambria Math" panose="02040503050406030204" pitchFamily="18" charset="0"/>
                      </a:rPr>
                      <m:t>[</m:t>
                    </m:r>
                    <m:r>
                      <a:rPr lang="ar-AE" i="1">
                        <a:latin typeface="Cambria Math" panose="02040503050406030204" pitchFamily="18" charset="0"/>
                      </a:rPr>
                      <m:t>0</m:t>
                    </m:r>
                    <m:r>
                      <a:rPr lang="ar-AE" i="1">
                        <a:latin typeface="Cambria Math" panose="02040503050406030204" pitchFamily="18" charset="0"/>
                      </a:rPr>
                      <m:t>.</m:t>
                    </m:r>
                    <m:r>
                      <a:rPr lang="ar-AE" i="1">
                        <a:latin typeface="Cambria Math" panose="02040503050406030204" pitchFamily="18" charset="0"/>
                      </a:rPr>
                      <m:t>1</m:t>
                    </m:r>
                    <m:r>
                      <a:rPr lang="ar-AE" i="1">
                        <a:latin typeface="Cambria Math" panose="02040503050406030204" pitchFamily="18" charset="0"/>
                      </a:rPr>
                      <m:t>,−</m:t>
                    </m:r>
                    <m:r>
                      <a:rPr lang="ar-AE" i="1">
                        <a:latin typeface="Cambria Math" panose="02040503050406030204" pitchFamily="18" charset="0"/>
                      </a:rPr>
                      <m:t>0</m:t>
                    </m:r>
                    <m:r>
                      <a:rPr lang="ar-AE" i="1">
                        <a:latin typeface="Cambria Math" panose="02040503050406030204" pitchFamily="18" charset="0"/>
                      </a:rPr>
                      <m:t>.</m:t>
                    </m:r>
                    <m:r>
                      <a:rPr lang="ar-AE" i="1">
                        <a:latin typeface="Cambria Math" panose="02040503050406030204" pitchFamily="18" charset="0"/>
                      </a:rPr>
                      <m:t>1</m:t>
                    </m:r>
                    <m:r>
                      <a:rPr lang="ar-AE" i="1">
                        <a:latin typeface="Cambria Math" panose="02040503050406030204" pitchFamily="18" charset="0"/>
                      </a:rPr>
                      <m:t>]</m:t>
                    </m:r>
                  </m:oMath>
                </a14:m>
                <a:endParaRPr lang="ar-AE" b="0" dirty="0"/>
              </a:p>
              <a:p>
                <a:pPr>
                  <a:lnSpc>
                    <a:spcPct val="120000"/>
                  </a:lnSpc>
                  <a:spcBef>
                    <a:spcPts val="0"/>
                  </a:spcBef>
                  <a:spcAft>
                    <a:spcPts val="0"/>
                  </a:spcAft>
                </a:pPr>
                <a:r>
                  <a:rPr lang="en-IN" dirty="0"/>
                  <a:t>Activation: sigmoid</a:t>
                </a:r>
              </a:p>
              <a:p>
                <a:pPr>
                  <a:lnSpc>
                    <a:spcPct val="120000"/>
                  </a:lnSpc>
                  <a:spcBef>
                    <a:spcPts val="0"/>
                  </a:spcBef>
                  <a:spcAft>
                    <a:spcPts val="0"/>
                  </a:spcAft>
                </a:pPr>
                <a:endParaRPr lang="en-IN" dirty="0"/>
              </a:p>
            </p:txBody>
          </p:sp>
        </mc:Choice>
        <mc:Fallback xmlns="">
          <p:sp>
            <p:nvSpPr>
              <p:cNvPr id="3" name="Content Placeholder 2">
                <a:extLst>
                  <a:ext uri="{FF2B5EF4-FFF2-40B4-BE49-F238E27FC236}">
                    <a16:creationId xmlns:a16="http://schemas.microsoft.com/office/drawing/2014/main" id="{305D7C40-C6CE-863C-802C-8DE988AA6053}"/>
                  </a:ext>
                </a:extLst>
              </p:cNvPr>
              <p:cNvSpPr>
                <a:spLocks noGrp="1" noRot="1" noChangeAspect="1" noMove="1" noResize="1" noEditPoints="1" noAdjustHandles="1" noChangeArrowheads="1" noChangeShapeType="1" noTextEdit="1"/>
              </p:cNvSpPr>
              <p:nvPr>
                <p:ph idx="1"/>
              </p:nvPr>
            </p:nvSpPr>
            <p:spPr>
              <a:xfrm>
                <a:off x="1025842" y="1361440"/>
                <a:ext cx="10201275" cy="4764830"/>
              </a:xfrm>
              <a:blipFill>
                <a:blip r:embed="rId2"/>
                <a:stretch>
                  <a:fillRect l="-1553" t="-767" b="-256"/>
                </a:stretch>
              </a:blipFill>
            </p:spPr>
            <p:txBody>
              <a:bodyPr/>
              <a:lstStyle/>
              <a:p>
                <a:r>
                  <a:rPr lang="en-IN">
                    <a:noFill/>
                  </a:rPr>
                  <a:t> </a:t>
                </a:r>
              </a:p>
            </p:txBody>
          </p:sp>
        </mc:Fallback>
      </mc:AlternateContent>
    </p:spTree>
    <p:extLst>
      <p:ext uri="{BB962C8B-B14F-4D97-AF65-F5344CB8AC3E}">
        <p14:creationId xmlns:p14="http://schemas.microsoft.com/office/powerpoint/2010/main" val="108054779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21D057-97CC-F8CF-03CA-A61251BBA200}"/>
              </a:ext>
            </a:extLst>
          </p:cNvPr>
          <p:cNvSpPr>
            <a:spLocks noGrp="1"/>
          </p:cNvSpPr>
          <p:nvPr>
            <p:ph type="title"/>
          </p:nvPr>
        </p:nvSpPr>
        <p:spPr/>
        <p:txBody>
          <a:bodyPr>
            <a:normAutofit fontScale="90000"/>
          </a:bodyPr>
          <a:lstStyle/>
          <a:p>
            <a:endParaRPr lang="en-IN"/>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47486DF-5396-02CE-4DA8-954FF9B13651}"/>
                  </a:ext>
                </a:extLst>
              </p:cNvPr>
              <p:cNvSpPr>
                <a:spLocks noGrp="1"/>
              </p:cNvSpPr>
              <p:nvPr>
                <p:ph idx="1"/>
              </p:nvPr>
            </p:nvSpPr>
            <p:spPr>
              <a:xfrm>
                <a:off x="487680" y="1330960"/>
                <a:ext cx="5455920" cy="4764830"/>
              </a:xfrm>
            </p:spPr>
            <p:txBody>
              <a:bodyPr>
                <a:normAutofit fontScale="77500" lnSpcReduction="20000"/>
              </a:bodyPr>
              <a:lstStyle/>
              <a:p>
                <a:pPr marL="360000">
                  <a:lnSpc>
                    <a:spcPct val="120000"/>
                  </a:lnSpc>
                  <a:spcBef>
                    <a:spcPts val="0"/>
                  </a:spcBef>
                  <a:spcAft>
                    <a:spcPts val="0"/>
                  </a:spcAft>
                </a:pPr>
                <a:r>
                  <a:rPr lang="en-IN" b="1" dirty="0"/>
                  <a:t>Hidden neuron 1</a:t>
                </a:r>
              </a:p>
              <a:p>
                <a:pPr marL="360000">
                  <a:lnSpc>
                    <a:spcPct val="120000"/>
                  </a:lnSpc>
                  <a:spcBef>
                    <a:spcPts val="0"/>
                  </a:spcBef>
                  <a:spcAft>
                    <a:spcPts val="0"/>
                  </a:spcAft>
                </a:pP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𝑧</m:t>
                        </m:r>
                      </m:e>
                      <m:sub>
                        <m:r>
                          <a:rPr lang="ar-AE">
                            <a:latin typeface="Cambria Math" panose="02040503050406030204" pitchFamily="18" charset="0"/>
                          </a:rPr>
                          <m:t>1</m:t>
                        </m:r>
                      </m:sub>
                    </m:sSub>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2</m:t>
                    </m:r>
                    <m:d>
                      <m:dPr>
                        <m:ctrlPr>
                          <a:rPr lang="ar-AE" i="1">
                            <a:latin typeface="Cambria Math" panose="02040503050406030204" pitchFamily="18" charset="0"/>
                          </a:rPr>
                        </m:ctrlPr>
                      </m:dPr>
                      <m:e>
                        <m:r>
                          <a:rPr lang="ar-AE">
                            <a:latin typeface="Cambria Math" panose="02040503050406030204" pitchFamily="18" charset="0"/>
                          </a:rPr>
                          <m:t>1</m:t>
                        </m:r>
                      </m:e>
                    </m:d>
                    <m:r>
                      <a:rPr lang="ar-AE">
                        <a:latin typeface="Cambria Math" panose="02040503050406030204" pitchFamily="18" charset="0"/>
                      </a:rPr>
                      <m:t>+</m:t>
                    </m:r>
                    <m:d>
                      <m:dPr>
                        <m:ctrlPr>
                          <a:rPr lang="ar-AE" i="1">
                            <a:latin typeface="Cambria Math" panose="02040503050406030204" pitchFamily="18" charset="0"/>
                          </a:rPr>
                        </m:ctrlPr>
                      </m:dPr>
                      <m:e>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4</m:t>
                        </m:r>
                      </m:e>
                    </m:d>
                    <m:d>
                      <m:dPr>
                        <m:ctrlPr>
                          <a:rPr lang="ar-AE" i="1">
                            <a:latin typeface="Cambria Math" panose="02040503050406030204" pitchFamily="18" charset="0"/>
                          </a:rPr>
                        </m:ctrlPr>
                      </m:dPr>
                      <m:e>
                        <m:r>
                          <a:rPr lang="ar-AE">
                            <a:latin typeface="Cambria Math" panose="02040503050406030204" pitchFamily="18" charset="0"/>
                          </a:rPr>
                          <m:t>0</m:t>
                        </m:r>
                      </m:e>
                    </m:d>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1</m:t>
                    </m:r>
                    <m:d>
                      <m:dPr>
                        <m:ctrlPr>
                          <a:rPr lang="ar-AE" i="1">
                            <a:latin typeface="Cambria Math" panose="02040503050406030204" pitchFamily="18" charset="0"/>
                          </a:rPr>
                        </m:ctrlPr>
                      </m:dPr>
                      <m:e>
                        <m:r>
                          <a:rPr lang="ar-AE">
                            <a:latin typeface="Cambria Math" panose="02040503050406030204" pitchFamily="18" charset="0"/>
                          </a:rPr>
                          <m:t>0</m:t>
                        </m:r>
                      </m:e>
                    </m:d>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1</m:t>
                    </m:r>
                  </m:oMath>
                </a14:m>
                <a:endParaRPr lang="ar-AE" dirty="0"/>
              </a:p>
              <a:p>
                <a:pPr marL="360000">
                  <a:lnSpc>
                    <a:spcPct val="120000"/>
                  </a:lnSpc>
                  <a:spcBef>
                    <a:spcPts val="0"/>
                  </a:spcBef>
                  <a:spcAft>
                    <a:spcPts val="0"/>
                  </a:spcAft>
                </a:pP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𝑧</m:t>
                        </m:r>
                      </m:e>
                      <m:sub>
                        <m:r>
                          <a:rPr lang="ar-AE">
                            <a:latin typeface="Cambria Math" panose="02040503050406030204" pitchFamily="18" charset="0"/>
                          </a:rPr>
                          <m:t>1</m:t>
                        </m:r>
                      </m:sub>
                    </m:sSub>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2</m:t>
                    </m:r>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1</m:t>
                    </m:r>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3</m:t>
                    </m:r>
                  </m:oMath>
                </a14:m>
                <a:endParaRPr lang="ar-AE" dirty="0"/>
              </a:p>
              <a:p>
                <a:pPr marL="360000">
                  <a:lnSpc>
                    <a:spcPct val="120000"/>
                  </a:lnSpc>
                  <a:spcBef>
                    <a:spcPts val="0"/>
                  </a:spcBef>
                  <a:spcAft>
                    <a:spcPts val="0"/>
                  </a:spcAft>
                </a:pP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h</m:t>
                        </m:r>
                      </m:e>
                      <m:sub>
                        <m:r>
                          <a:rPr lang="ar-AE">
                            <a:latin typeface="Cambria Math" panose="02040503050406030204" pitchFamily="18" charset="0"/>
                          </a:rPr>
                          <m:t>1</m:t>
                        </m:r>
                      </m:sub>
                    </m:sSub>
                    <m:r>
                      <a:rPr lang="ar-AE">
                        <a:latin typeface="Cambria Math" panose="02040503050406030204" pitchFamily="18" charset="0"/>
                      </a:rPr>
                      <m:t>=</m:t>
                    </m:r>
                    <m:r>
                      <a:rPr lang="ar-AE" i="1">
                        <a:latin typeface="Cambria Math" panose="02040503050406030204" pitchFamily="18" charset="0"/>
                      </a:rPr>
                      <m:t>𝜎</m:t>
                    </m:r>
                    <m:d>
                      <m:dPr>
                        <m:ctrlPr>
                          <a:rPr lang="ar-AE" i="1">
                            <a:latin typeface="Cambria Math" panose="02040503050406030204" pitchFamily="18" charset="0"/>
                          </a:rPr>
                        </m:ctrlPr>
                      </m:dP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3</m:t>
                        </m:r>
                      </m:e>
                    </m:d>
                  </m:oMath>
                </a14:m>
                <a:endParaRPr lang="ar-AE" dirty="0"/>
              </a:p>
              <a:p>
                <a:pPr marL="360000">
                  <a:lnSpc>
                    <a:spcPct val="120000"/>
                  </a:lnSpc>
                  <a:spcBef>
                    <a:spcPts val="0"/>
                  </a:spcBef>
                  <a:spcAft>
                    <a:spcPts val="0"/>
                  </a:spcAft>
                </a:pPr>
                <a14:m>
                  <m:oMath xmlns:m="http://schemas.openxmlformats.org/officeDocument/2006/math">
                    <m:sSup>
                      <m:sSupPr>
                        <m:ctrlPr>
                          <a:rPr lang="ar-AE" i="1">
                            <a:latin typeface="Cambria Math" panose="02040503050406030204" pitchFamily="18" charset="0"/>
                          </a:rPr>
                        </m:ctrlPr>
                      </m:sSupPr>
                      <m:e>
                        <m:r>
                          <a:rPr lang="ar-AE" i="1">
                            <a:latin typeface="Cambria Math" panose="02040503050406030204" pitchFamily="18" charset="0"/>
                          </a:rPr>
                          <m:t>𝑒</m:t>
                        </m:r>
                      </m:e>
                      <m:sup>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3</m:t>
                        </m:r>
                      </m:sup>
                    </m:sSup>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741</m:t>
                    </m:r>
                  </m:oMath>
                </a14:m>
                <a:endParaRPr lang="ar-AE" dirty="0"/>
              </a:p>
              <a:p>
                <a:pPr marL="360000">
                  <a:lnSpc>
                    <a:spcPct val="120000"/>
                  </a:lnSpc>
                  <a:spcBef>
                    <a:spcPts val="0"/>
                  </a:spcBef>
                  <a:spcAft>
                    <a:spcPts val="0"/>
                  </a:spcAft>
                </a:pP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h</m:t>
                        </m:r>
                      </m:e>
                      <m:sub>
                        <m:r>
                          <a:rPr lang="ar-AE">
                            <a:latin typeface="Cambria Math" panose="02040503050406030204" pitchFamily="18" charset="0"/>
                          </a:rPr>
                          <m:t>1</m:t>
                        </m:r>
                      </m:sub>
                    </m:sSub>
                    <m:r>
                      <a:rPr lang="ar-AE">
                        <a:latin typeface="Cambria Math" panose="02040503050406030204" pitchFamily="18" charset="0"/>
                      </a:rPr>
                      <m:t>=</m:t>
                    </m:r>
                    <m:f>
                      <m:fPr>
                        <m:ctrlPr>
                          <a:rPr lang="ar-AE" i="1">
                            <a:latin typeface="Cambria Math" panose="02040503050406030204" pitchFamily="18" charset="0"/>
                          </a:rPr>
                        </m:ctrlPr>
                      </m:fPr>
                      <m:num>
                        <m:r>
                          <a:rPr lang="ar-AE">
                            <a:latin typeface="Cambria Math" panose="02040503050406030204" pitchFamily="18" charset="0"/>
                          </a:rPr>
                          <m:t>1</m:t>
                        </m:r>
                      </m:num>
                      <m:den>
                        <m:r>
                          <a:rPr lang="ar-AE">
                            <a:latin typeface="Cambria Math" panose="02040503050406030204" pitchFamily="18" charset="0"/>
                          </a:rPr>
                          <m:t>1</m:t>
                        </m:r>
                        <m:r>
                          <a:rPr lang="ar-AE">
                            <a:latin typeface="Cambria Math" panose="02040503050406030204" pitchFamily="18" charset="0"/>
                          </a:rPr>
                          <m:t>.</m:t>
                        </m:r>
                        <m:r>
                          <a:rPr lang="ar-AE">
                            <a:latin typeface="Cambria Math" panose="02040503050406030204" pitchFamily="18" charset="0"/>
                          </a:rPr>
                          <m:t>741</m:t>
                        </m:r>
                      </m:den>
                    </m:f>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574</m:t>
                    </m:r>
                  </m:oMath>
                </a14:m>
                <a:endParaRPr lang="ar-AE" dirty="0"/>
              </a:p>
              <a:p>
                <a:pPr marL="360000">
                  <a:lnSpc>
                    <a:spcPct val="120000"/>
                  </a:lnSpc>
                  <a:spcBef>
                    <a:spcPts val="0"/>
                  </a:spcBef>
                  <a:spcAft>
                    <a:spcPts val="0"/>
                  </a:spcAft>
                </a:pPr>
                <a:br>
                  <a:rPr lang="ar-AE" dirty="0"/>
                </a:br>
                <a:r>
                  <a:rPr lang="en-IN" b="1" dirty="0"/>
                  <a:t>Hidden neuron 2</a:t>
                </a:r>
              </a:p>
              <a:p>
                <a:pPr marL="360000">
                  <a:lnSpc>
                    <a:spcPct val="120000"/>
                  </a:lnSpc>
                  <a:spcBef>
                    <a:spcPts val="0"/>
                  </a:spcBef>
                  <a:spcAft>
                    <a:spcPts val="0"/>
                  </a:spcAft>
                </a:pP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𝑧</m:t>
                        </m:r>
                      </m:e>
                      <m:sub>
                        <m:r>
                          <a:rPr lang="ar-AE">
                            <a:latin typeface="Cambria Math" panose="02040503050406030204" pitchFamily="18" charset="0"/>
                          </a:rPr>
                          <m:t>2</m:t>
                        </m:r>
                      </m:sub>
                    </m:sSub>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3</m:t>
                    </m:r>
                    <m:d>
                      <m:dPr>
                        <m:ctrlPr>
                          <a:rPr lang="ar-AE" i="1">
                            <a:latin typeface="Cambria Math" panose="02040503050406030204" pitchFamily="18" charset="0"/>
                          </a:rPr>
                        </m:ctrlPr>
                      </m:dPr>
                      <m:e>
                        <m:r>
                          <a:rPr lang="ar-AE">
                            <a:latin typeface="Cambria Math" panose="02040503050406030204" pitchFamily="18" charset="0"/>
                          </a:rPr>
                          <m:t>1</m:t>
                        </m:r>
                      </m:e>
                    </m:d>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2</m:t>
                    </m:r>
                    <m:d>
                      <m:dPr>
                        <m:ctrlPr>
                          <a:rPr lang="ar-AE" i="1">
                            <a:latin typeface="Cambria Math" panose="02040503050406030204" pitchFamily="18" charset="0"/>
                          </a:rPr>
                        </m:ctrlPr>
                      </m:dPr>
                      <m:e>
                        <m:r>
                          <a:rPr lang="ar-AE">
                            <a:latin typeface="Cambria Math" panose="02040503050406030204" pitchFamily="18" charset="0"/>
                          </a:rPr>
                          <m:t>0</m:t>
                        </m:r>
                      </m:e>
                    </m:d>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4</m:t>
                    </m:r>
                    <m:d>
                      <m:dPr>
                        <m:ctrlPr>
                          <a:rPr lang="ar-AE" i="1">
                            <a:latin typeface="Cambria Math" panose="02040503050406030204" pitchFamily="18" charset="0"/>
                          </a:rPr>
                        </m:ctrlPr>
                      </m:dPr>
                      <m:e>
                        <m:r>
                          <a:rPr lang="ar-AE">
                            <a:latin typeface="Cambria Math" panose="02040503050406030204" pitchFamily="18" charset="0"/>
                          </a:rPr>
                          <m:t>0</m:t>
                        </m:r>
                      </m:e>
                    </m:d>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1</m:t>
                    </m:r>
                  </m:oMath>
                </a14:m>
                <a:endParaRPr lang="ar-AE" dirty="0"/>
              </a:p>
              <a:p>
                <a:pPr marL="360000">
                  <a:lnSpc>
                    <a:spcPct val="120000"/>
                  </a:lnSpc>
                  <a:spcBef>
                    <a:spcPts val="0"/>
                  </a:spcBef>
                  <a:spcAft>
                    <a:spcPts val="0"/>
                  </a:spcAft>
                </a:pP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𝑧</m:t>
                        </m:r>
                      </m:e>
                      <m:sub>
                        <m:r>
                          <a:rPr lang="ar-AE">
                            <a:latin typeface="Cambria Math" panose="02040503050406030204" pitchFamily="18" charset="0"/>
                          </a:rPr>
                          <m:t>2</m:t>
                        </m:r>
                      </m:sub>
                    </m:sSub>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3</m:t>
                    </m:r>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1</m:t>
                    </m:r>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4</m:t>
                    </m:r>
                  </m:oMath>
                </a14:m>
                <a:endParaRPr lang="ar-AE" dirty="0"/>
              </a:p>
              <a:p>
                <a:pPr marL="360000">
                  <a:lnSpc>
                    <a:spcPct val="120000"/>
                  </a:lnSpc>
                  <a:spcBef>
                    <a:spcPts val="0"/>
                  </a:spcBef>
                  <a:spcAft>
                    <a:spcPts val="0"/>
                  </a:spcAft>
                </a:pP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h</m:t>
                        </m:r>
                      </m:e>
                      <m:sub>
                        <m:r>
                          <a:rPr lang="ar-AE">
                            <a:latin typeface="Cambria Math" panose="02040503050406030204" pitchFamily="18" charset="0"/>
                          </a:rPr>
                          <m:t>2</m:t>
                        </m:r>
                      </m:sub>
                    </m:sSub>
                    <m:r>
                      <a:rPr lang="ar-AE">
                        <a:latin typeface="Cambria Math" panose="02040503050406030204" pitchFamily="18" charset="0"/>
                      </a:rPr>
                      <m:t>=</m:t>
                    </m:r>
                    <m:r>
                      <a:rPr lang="ar-AE" i="1">
                        <a:latin typeface="Cambria Math" panose="02040503050406030204" pitchFamily="18" charset="0"/>
                      </a:rPr>
                      <m:t>𝜎</m:t>
                    </m:r>
                    <m:d>
                      <m:dPr>
                        <m:ctrlPr>
                          <a:rPr lang="ar-AE" i="1">
                            <a:latin typeface="Cambria Math" panose="02040503050406030204" pitchFamily="18" charset="0"/>
                          </a:rPr>
                        </m:ctrlPr>
                      </m:dPr>
                      <m:e>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4</m:t>
                        </m:r>
                      </m:e>
                    </m:d>
                  </m:oMath>
                </a14:m>
                <a:endParaRPr lang="ar-AE" dirty="0"/>
              </a:p>
              <a:p>
                <a:pPr marL="360000">
                  <a:lnSpc>
                    <a:spcPct val="120000"/>
                  </a:lnSpc>
                  <a:spcBef>
                    <a:spcPts val="0"/>
                  </a:spcBef>
                  <a:spcAft>
                    <a:spcPts val="0"/>
                  </a:spcAft>
                </a:pPr>
                <a14:m>
                  <m:oMath xmlns:m="http://schemas.openxmlformats.org/officeDocument/2006/math">
                    <m:sSup>
                      <m:sSupPr>
                        <m:ctrlPr>
                          <a:rPr lang="ar-AE" i="1">
                            <a:latin typeface="Cambria Math" panose="02040503050406030204" pitchFamily="18" charset="0"/>
                          </a:rPr>
                        </m:ctrlPr>
                      </m:sSupPr>
                      <m:e>
                        <m:r>
                          <a:rPr lang="ar-AE" i="1">
                            <a:latin typeface="Cambria Math" panose="02040503050406030204" pitchFamily="18" charset="0"/>
                          </a:rPr>
                          <m:t>𝑒</m:t>
                        </m:r>
                      </m:e>
                      <m:sup>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4</m:t>
                        </m:r>
                      </m:sup>
                    </m:sSup>
                    <m:r>
                      <a:rPr lang="ar-AE">
                        <a:latin typeface="Cambria Math" panose="02040503050406030204" pitchFamily="18" charset="0"/>
                      </a:rPr>
                      <m:t>=</m:t>
                    </m:r>
                    <m:r>
                      <a:rPr lang="ar-AE">
                        <a:latin typeface="Cambria Math" panose="02040503050406030204" pitchFamily="18" charset="0"/>
                      </a:rPr>
                      <m:t>1</m:t>
                    </m:r>
                    <m:r>
                      <a:rPr lang="ar-AE">
                        <a:latin typeface="Cambria Math" panose="02040503050406030204" pitchFamily="18" charset="0"/>
                      </a:rPr>
                      <m:t>.</m:t>
                    </m:r>
                    <m:r>
                      <a:rPr lang="ar-AE">
                        <a:latin typeface="Cambria Math" panose="02040503050406030204" pitchFamily="18" charset="0"/>
                      </a:rPr>
                      <m:t>492</m:t>
                    </m:r>
                  </m:oMath>
                </a14:m>
                <a:endParaRPr lang="ar-AE" dirty="0"/>
              </a:p>
              <a:p>
                <a:pPr marL="360000">
                  <a:lnSpc>
                    <a:spcPct val="120000"/>
                  </a:lnSpc>
                  <a:spcBef>
                    <a:spcPts val="0"/>
                  </a:spcBef>
                  <a:spcAft>
                    <a:spcPts val="0"/>
                  </a:spcAft>
                </a:pP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h</m:t>
                        </m:r>
                      </m:e>
                      <m:sub>
                        <m:r>
                          <a:rPr lang="ar-AE">
                            <a:latin typeface="Cambria Math" panose="02040503050406030204" pitchFamily="18" charset="0"/>
                          </a:rPr>
                          <m:t>2</m:t>
                        </m:r>
                      </m:sub>
                    </m:sSub>
                    <m:r>
                      <a:rPr lang="ar-AE">
                        <a:latin typeface="Cambria Math" panose="02040503050406030204" pitchFamily="18" charset="0"/>
                      </a:rPr>
                      <m:t>=</m:t>
                    </m:r>
                    <m:f>
                      <m:fPr>
                        <m:ctrlPr>
                          <a:rPr lang="ar-AE" i="1">
                            <a:latin typeface="Cambria Math" panose="02040503050406030204" pitchFamily="18" charset="0"/>
                          </a:rPr>
                        </m:ctrlPr>
                      </m:fPr>
                      <m:num>
                        <m:r>
                          <a:rPr lang="ar-AE">
                            <a:latin typeface="Cambria Math" panose="02040503050406030204" pitchFamily="18" charset="0"/>
                          </a:rPr>
                          <m:t>1</m:t>
                        </m:r>
                      </m:num>
                      <m:den>
                        <m:r>
                          <a:rPr lang="ar-AE">
                            <a:latin typeface="Cambria Math" panose="02040503050406030204" pitchFamily="18" charset="0"/>
                          </a:rPr>
                          <m:t>2</m:t>
                        </m:r>
                        <m:r>
                          <a:rPr lang="ar-AE">
                            <a:latin typeface="Cambria Math" panose="02040503050406030204" pitchFamily="18" charset="0"/>
                          </a:rPr>
                          <m:t>.</m:t>
                        </m:r>
                        <m:r>
                          <a:rPr lang="ar-AE">
                            <a:latin typeface="Cambria Math" panose="02040503050406030204" pitchFamily="18" charset="0"/>
                          </a:rPr>
                          <m:t>492</m:t>
                        </m:r>
                      </m:den>
                    </m:f>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401</m:t>
                    </m:r>
                  </m:oMath>
                </a14:m>
                <a:endParaRPr lang="ar-AE" dirty="0"/>
              </a:p>
              <a:p>
                <a:pPr marL="360000">
                  <a:lnSpc>
                    <a:spcPct val="120000"/>
                  </a:lnSpc>
                  <a:spcBef>
                    <a:spcPts val="0"/>
                  </a:spcBef>
                  <a:spcAft>
                    <a:spcPts val="0"/>
                  </a:spcAft>
                </a:pPr>
                <a:endParaRPr lang="en-IN" dirty="0"/>
              </a:p>
            </p:txBody>
          </p:sp>
        </mc:Choice>
        <mc:Fallback xmlns="">
          <p:sp>
            <p:nvSpPr>
              <p:cNvPr id="3" name="Content Placeholder 2">
                <a:extLst>
                  <a:ext uri="{FF2B5EF4-FFF2-40B4-BE49-F238E27FC236}">
                    <a16:creationId xmlns:a16="http://schemas.microsoft.com/office/drawing/2014/main" id="{647486DF-5396-02CE-4DA8-954FF9B13651}"/>
                  </a:ext>
                </a:extLst>
              </p:cNvPr>
              <p:cNvSpPr>
                <a:spLocks noGrp="1" noRot="1" noChangeAspect="1" noMove="1" noResize="1" noEditPoints="1" noAdjustHandles="1" noChangeArrowheads="1" noChangeShapeType="1" noTextEdit="1"/>
              </p:cNvSpPr>
              <p:nvPr>
                <p:ph idx="1"/>
              </p:nvPr>
            </p:nvSpPr>
            <p:spPr>
              <a:xfrm>
                <a:off x="487680" y="1330960"/>
                <a:ext cx="5455920" cy="4764830"/>
              </a:xfrm>
              <a:blipFill>
                <a:blip r:embed="rId2"/>
                <a:stretch>
                  <a:fillRect l="-2458" t="-639"/>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60B46947-3222-5FA3-3F21-970E496EEA58}"/>
                  </a:ext>
                </a:extLst>
              </p:cNvPr>
              <p:cNvSpPr txBox="1"/>
              <p:nvPr/>
            </p:nvSpPr>
            <p:spPr>
              <a:xfrm>
                <a:off x="7294880" y="2699435"/>
                <a:ext cx="3789362" cy="1200329"/>
              </a:xfrm>
              <a:prstGeom prst="rect">
                <a:avLst/>
              </a:prstGeom>
              <a:noFill/>
            </p:spPr>
            <p:txBody>
              <a:bodyPr wrap="square">
                <a:spAutoFit/>
              </a:bodyPr>
              <a:lstStyle/>
              <a:p>
                <a:pPr>
                  <a:buNone/>
                </a:pPr>
                <a:r>
                  <a:rPr lang="en-IN" b="1" dirty="0"/>
                  <a:t>Hidden representation</a:t>
                </a:r>
              </a:p>
              <a:p>
                <a:pPr>
                  <a:buNone/>
                </a:pPr>
                <a:endParaRPr lang="en-IN" b="1" dirty="0"/>
              </a:p>
              <a:p>
                <a:pPr>
                  <a:buNone/>
                </a:pPr>
                <a:endParaRPr lang="en-IN" b="1" dirty="0"/>
              </a:p>
              <a:p>
                <a:pPr>
                  <a:buNone/>
                </a:pPr>
                <a14:m>
                  <m:oMathPara xmlns:m="http://schemas.openxmlformats.org/officeDocument/2006/math">
                    <m:oMathParaPr>
                      <m:jc m:val="centerGroup"/>
                    </m:oMathParaPr>
                    <m:oMath xmlns:m="http://schemas.openxmlformats.org/officeDocument/2006/math">
                      <m:r>
                        <a:rPr lang="en-IN" i="1">
                          <a:latin typeface="Cambria Math" panose="02040503050406030204" pitchFamily="18" charset="0"/>
                        </a:rPr>
                        <m:t>h</m:t>
                      </m:r>
                      <m:r>
                        <a:rPr lang="en-IN" i="0">
                          <a:latin typeface="Cambria Math" panose="02040503050406030204" pitchFamily="18" charset="0"/>
                        </a:rPr>
                        <m:t>=</m:t>
                      </m:r>
                      <m:d>
                        <m:dPr>
                          <m:begChr m:val="["/>
                          <m:endChr m:val="]"/>
                          <m:sepChr m:val=","/>
                          <m:ctrlPr>
                            <a:rPr lang="ar-AE" i="1">
                              <a:latin typeface="Cambria Math" panose="02040503050406030204" pitchFamily="18" charset="0"/>
                            </a:rPr>
                          </m:ctrlPr>
                        </m:dPr>
                        <m:e>
                          <m:r>
                            <a:rPr lang="ar-AE" i="0">
                              <a:latin typeface="Cambria Math" panose="02040503050406030204" pitchFamily="18" charset="0"/>
                            </a:rPr>
                            <m:t>0</m:t>
                          </m:r>
                          <m:r>
                            <a:rPr lang="ar-AE" i="0">
                              <a:latin typeface="Cambria Math" panose="02040503050406030204" pitchFamily="18" charset="0"/>
                            </a:rPr>
                            <m:t>.</m:t>
                          </m:r>
                          <m:r>
                            <a:rPr lang="ar-AE" i="0">
                              <a:latin typeface="Cambria Math" panose="02040503050406030204" pitchFamily="18" charset="0"/>
                            </a:rPr>
                            <m:t>574</m:t>
                          </m:r>
                        </m:e>
                        <m:e>
                          <m:r>
                            <m:rPr>
                              <m:nor/>
                            </m:rPr>
                            <a:rPr lang="ar-AE" b="0" i="1">
                              <a:latin typeface="Cambria Math" panose="02040503050406030204" pitchFamily="18" charset="0"/>
                            </a:rPr>
                            <m:t>  </m:t>
                          </m:r>
                          <m:r>
                            <a:rPr lang="ar-AE" b="0" i="0">
                              <a:latin typeface="Cambria Math" panose="02040503050406030204" pitchFamily="18" charset="0"/>
                            </a:rPr>
                            <m:t>0</m:t>
                          </m:r>
                          <m:r>
                            <a:rPr lang="ar-AE" b="0" i="0">
                              <a:latin typeface="Cambria Math" panose="02040503050406030204" pitchFamily="18" charset="0"/>
                            </a:rPr>
                            <m:t>.</m:t>
                          </m:r>
                          <m:r>
                            <a:rPr lang="ar-AE" b="0" i="0">
                              <a:latin typeface="Cambria Math" panose="02040503050406030204" pitchFamily="18" charset="0"/>
                            </a:rPr>
                            <m:t>401</m:t>
                          </m:r>
                        </m:e>
                      </m:d>
                    </m:oMath>
                  </m:oMathPara>
                </a14:m>
                <a:endParaRPr lang="ar-AE" b="0" dirty="0"/>
              </a:p>
            </p:txBody>
          </p:sp>
        </mc:Choice>
        <mc:Fallback xmlns="">
          <p:sp>
            <p:nvSpPr>
              <p:cNvPr id="5" name="TextBox 4">
                <a:extLst>
                  <a:ext uri="{FF2B5EF4-FFF2-40B4-BE49-F238E27FC236}">
                    <a16:creationId xmlns:a16="http://schemas.microsoft.com/office/drawing/2014/main" id="{60B46947-3222-5FA3-3F21-970E496EEA58}"/>
                  </a:ext>
                </a:extLst>
              </p:cNvPr>
              <p:cNvSpPr txBox="1">
                <a:spLocks noRot="1" noChangeAspect="1" noMove="1" noResize="1" noEditPoints="1" noAdjustHandles="1" noChangeArrowheads="1" noChangeShapeType="1" noTextEdit="1"/>
              </p:cNvSpPr>
              <p:nvPr/>
            </p:nvSpPr>
            <p:spPr>
              <a:xfrm>
                <a:off x="7294880" y="2699435"/>
                <a:ext cx="3789362" cy="1200329"/>
              </a:xfrm>
              <a:prstGeom prst="rect">
                <a:avLst/>
              </a:prstGeom>
              <a:blipFill>
                <a:blip r:embed="rId3"/>
                <a:stretch>
                  <a:fillRect l="-1449" t="-3046"/>
                </a:stretch>
              </a:blipFill>
            </p:spPr>
            <p:txBody>
              <a:bodyPr/>
              <a:lstStyle/>
              <a:p>
                <a:r>
                  <a:rPr lang="en-IN">
                    <a:noFill/>
                  </a:rPr>
                  <a:t> </a:t>
                </a:r>
              </a:p>
            </p:txBody>
          </p:sp>
        </mc:Fallback>
      </mc:AlternateContent>
    </p:spTree>
    <p:extLst>
      <p:ext uri="{BB962C8B-B14F-4D97-AF65-F5344CB8AC3E}">
        <p14:creationId xmlns:p14="http://schemas.microsoft.com/office/powerpoint/2010/main" val="3264307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D1F01A-476C-5255-1C42-86B31BD234C0}"/>
              </a:ext>
            </a:extLst>
          </p:cNvPr>
          <p:cNvSpPr>
            <a:spLocks noGrp="1"/>
          </p:cNvSpPr>
          <p:nvPr>
            <p:ph type="title"/>
          </p:nvPr>
        </p:nvSpPr>
        <p:spPr/>
        <p:txBody>
          <a:bodyPr>
            <a:normAutofit fontScale="90000"/>
          </a:bodyPr>
          <a:lstStyle/>
          <a:p>
            <a:endParaRPr lang="en-IN"/>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5B30250-7F1F-C36D-78B4-F7D517C60AC7}"/>
                  </a:ext>
                </a:extLst>
              </p:cNvPr>
              <p:cNvSpPr>
                <a:spLocks noGrp="1"/>
              </p:cNvSpPr>
              <p:nvPr>
                <p:ph idx="1"/>
              </p:nvPr>
            </p:nvSpPr>
            <p:spPr>
              <a:xfrm>
                <a:off x="812800" y="1259840"/>
                <a:ext cx="4825999" cy="4866430"/>
              </a:xfrm>
            </p:spPr>
            <p:txBody>
              <a:bodyPr>
                <a:normAutofit fontScale="85000" lnSpcReduction="10000"/>
              </a:bodyPr>
              <a:lstStyle/>
              <a:p>
                <a:pPr marL="0">
                  <a:lnSpc>
                    <a:spcPct val="120000"/>
                  </a:lnSpc>
                </a:pPr>
                <a:r>
                  <a:rPr lang="en-IN" b="1" dirty="0"/>
                  <a:t>STEP 3: Decoder Reconstruction</a:t>
                </a:r>
              </a:p>
              <a:p>
                <a:pPr marL="0">
                  <a:lnSpc>
                    <a:spcPct val="120000"/>
                  </a:lnSpc>
                </a:pPr>
                <a:r>
                  <a:rPr lang="en-IN" b="1" dirty="0"/>
                  <a:t>Decoder weights</a:t>
                </a:r>
              </a:p>
              <a:p>
                <a:pPr marL="0">
                  <a:lnSpc>
                    <a:spcPct val="120000"/>
                  </a:lnSpc>
                </a:pPr>
                <a14:m>
                  <m:oMath xmlns:m="http://schemas.openxmlformats.org/officeDocument/2006/math">
                    <m:sSup>
                      <m:sSupPr>
                        <m:ctrlPr>
                          <a:rPr lang="ar-AE" i="1">
                            <a:latin typeface="Cambria Math" panose="02040503050406030204" pitchFamily="18" charset="0"/>
                          </a:rPr>
                        </m:ctrlPr>
                      </m:sSupPr>
                      <m:e>
                        <m:r>
                          <a:rPr lang="ar-AE" i="1">
                            <a:latin typeface="Cambria Math" panose="02040503050406030204" pitchFamily="18" charset="0"/>
                          </a:rPr>
                          <m:t>𝑊</m:t>
                        </m:r>
                      </m:e>
                      <m:sup>
                        <m:r>
                          <a:rPr lang="ar-AE">
                            <a:latin typeface="Cambria Math" panose="02040503050406030204" pitchFamily="18" charset="0"/>
                          </a:rPr>
                          <m:t>′</m:t>
                        </m:r>
                      </m:sup>
                    </m:sSup>
                    <m:r>
                      <a:rPr lang="ar-AE">
                        <a:latin typeface="Cambria Math" panose="02040503050406030204" pitchFamily="18" charset="0"/>
                      </a:rPr>
                      <m:t>=</m:t>
                    </m:r>
                    <m:d>
                      <m:dPr>
                        <m:begChr m:val="["/>
                        <m:endChr m:val="]"/>
                        <m:ctrlPr>
                          <a:rPr lang="ar-AE" i="1">
                            <a:latin typeface="Cambria Math" panose="02040503050406030204" pitchFamily="18" charset="0"/>
                          </a:rPr>
                        </m:ctrlPr>
                      </m:dPr>
                      <m:e>
                        <m:m>
                          <m:mPr>
                            <m:plcHide m:val="on"/>
                            <m:mcs>
                              <m:mc>
                                <m:mcPr>
                                  <m:count m:val="2"/>
                                  <m:mcJc m:val="center"/>
                                </m:mcPr>
                              </m:mc>
                            </m:mcs>
                            <m:ctrlPr>
                              <a:rPr lang="ar-AE" i="1">
                                <a:latin typeface="Cambria Math" panose="02040503050406030204" pitchFamily="18" charset="0"/>
                              </a:rPr>
                            </m:ctrlPr>
                          </m:mPr>
                          <m:m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3</m:t>
                              </m:r>
                            </m:e>
                            <m:e>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2</m:t>
                              </m:r>
                            </m:e>
                          </m:mr>
                          <m:m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4</m:t>
                              </m:r>
                            </m:e>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1</m:t>
                              </m:r>
                            </m:e>
                          </m:mr>
                          <m:mr>
                            <m:e>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5</m:t>
                              </m:r>
                            </m:e>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2</m:t>
                              </m:r>
                            </m:e>
                          </m:mr>
                        </m:m>
                      </m:e>
                    </m:d>
                  </m:oMath>
                </a14:m>
                <a:endParaRPr lang="ar-AE" dirty="0"/>
              </a:p>
              <a:p>
                <a:pPr marL="0">
                  <a:lnSpc>
                    <a:spcPct val="120000"/>
                  </a:lnSpc>
                  <a:spcBef>
                    <a:spcPts val="0"/>
                  </a:spcBef>
                  <a:spcAft>
                    <a:spcPts val="0"/>
                  </a:spcAft>
                </a:pPr>
                <a:r>
                  <a:rPr lang="en-IN" b="1" dirty="0"/>
                  <a:t>Bias</a:t>
                </a:r>
              </a:p>
              <a:p>
                <a:pPr marL="0">
                  <a:lnSpc>
                    <a:spcPct val="120000"/>
                  </a:lnSpc>
                  <a:spcBef>
                    <a:spcPts val="0"/>
                  </a:spcBef>
                  <a:spcAft>
                    <a:spcPts val="0"/>
                  </a:spcAft>
                </a:pPr>
                <a14:m>
                  <m:oMath xmlns:m="http://schemas.openxmlformats.org/officeDocument/2006/math">
                    <m:sSup>
                      <m:sSupPr>
                        <m:ctrlPr>
                          <a:rPr lang="ar-AE" i="1">
                            <a:latin typeface="Cambria Math" panose="02040503050406030204" pitchFamily="18" charset="0"/>
                          </a:rPr>
                        </m:ctrlPr>
                      </m:sSupPr>
                      <m:e>
                        <m:r>
                          <a:rPr lang="ar-AE" i="1">
                            <a:latin typeface="Cambria Math" panose="02040503050406030204" pitchFamily="18" charset="0"/>
                          </a:rPr>
                          <m:t>𝑏</m:t>
                        </m:r>
                      </m:e>
                      <m:sup>
                        <m:r>
                          <a:rPr lang="ar-AE">
                            <a:latin typeface="Cambria Math" panose="02040503050406030204" pitchFamily="18" charset="0"/>
                          </a:rPr>
                          <m:t>′</m:t>
                        </m:r>
                      </m:sup>
                    </m:sSup>
                    <m:r>
                      <a:rPr lang="en-US" b="0" i="1" smtClean="0">
                        <a:latin typeface="Cambria Math" panose="02040503050406030204" pitchFamily="18" charset="0"/>
                      </a:rPr>
                      <m:t>=</m:t>
                    </m:r>
                    <m:r>
                      <a:rPr lang="ar-AE" i="1">
                        <a:latin typeface="Cambria Math" panose="02040503050406030204" pitchFamily="18" charset="0"/>
                      </a:rPr>
                      <m:t>[</m:t>
                    </m:r>
                    <m:r>
                      <a:rPr lang="ar-AE" i="1">
                        <a:latin typeface="Cambria Math" panose="02040503050406030204" pitchFamily="18" charset="0"/>
                      </a:rPr>
                      <m:t>0</m:t>
                    </m:r>
                    <m:r>
                      <a:rPr lang="ar-AE" i="1">
                        <a:latin typeface="Cambria Math" panose="02040503050406030204" pitchFamily="18" charset="0"/>
                      </a:rPr>
                      <m:t>.</m:t>
                    </m:r>
                    <m:r>
                      <a:rPr lang="ar-AE" i="1">
                        <a:latin typeface="Cambria Math" panose="02040503050406030204" pitchFamily="18" charset="0"/>
                      </a:rPr>
                      <m:t>05</m:t>
                    </m:r>
                    <m:r>
                      <a:rPr lang="ar-AE" i="1">
                        <a:latin typeface="Cambria Math" panose="02040503050406030204" pitchFamily="18" charset="0"/>
                      </a:rPr>
                      <m:t>,</m:t>
                    </m:r>
                    <m:r>
                      <a:rPr lang="ar-AE" i="1">
                        <a:latin typeface="Cambria Math" panose="02040503050406030204" pitchFamily="18" charset="0"/>
                      </a:rPr>
                      <m:t>0</m:t>
                    </m:r>
                    <m:r>
                      <a:rPr lang="ar-AE" i="1">
                        <a:latin typeface="Cambria Math" panose="02040503050406030204" pitchFamily="18" charset="0"/>
                      </a:rPr>
                      <m:t>.</m:t>
                    </m:r>
                    <m:r>
                      <a:rPr lang="ar-AE" i="1">
                        <a:latin typeface="Cambria Math" panose="02040503050406030204" pitchFamily="18" charset="0"/>
                      </a:rPr>
                      <m:t>05</m:t>
                    </m:r>
                    <m:r>
                      <a:rPr lang="ar-AE" i="1">
                        <a:latin typeface="Cambria Math" panose="02040503050406030204" pitchFamily="18" charset="0"/>
                      </a:rPr>
                      <m:t>,</m:t>
                    </m:r>
                    <m:r>
                      <a:rPr lang="ar-AE" i="1">
                        <a:latin typeface="Cambria Math" panose="02040503050406030204" pitchFamily="18" charset="0"/>
                      </a:rPr>
                      <m:t>0</m:t>
                    </m:r>
                    <m:r>
                      <a:rPr lang="ar-AE" i="1">
                        <a:latin typeface="Cambria Math" panose="02040503050406030204" pitchFamily="18" charset="0"/>
                      </a:rPr>
                      <m:t>.</m:t>
                    </m:r>
                    <m:r>
                      <a:rPr lang="ar-AE" i="1">
                        <a:latin typeface="Cambria Math" panose="02040503050406030204" pitchFamily="18" charset="0"/>
                      </a:rPr>
                      <m:t>05</m:t>
                    </m:r>
                    <m:r>
                      <a:rPr lang="ar-AE" i="1">
                        <a:latin typeface="Cambria Math" panose="02040503050406030204" pitchFamily="18" charset="0"/>
                      </a:rPr>
                      <m:t>]</m:t>
                    </m:r>
                  </m:oMath>
                </a14:m>
                <a:endParaRPr lang="ar-AE" b="0" dirty="0"/>
              </a:p>
              <a:p>
                <a:pPr marL="0">
                  <a:lnSpc>
                    <a:spcPct val="120000"/>
                  </a:lnSpc>
                </a:pPr>
                <a:r>
                  <a:rPr lang="en-IN" b="1" dirty="0"/>
                  <a:t> Output neuron 1</a:t>
                </a:r>
              </a:p>
              <a:p>
                <a:pPr marL="0">
                  <a:lnSpc>
                    <a:spcPct val="120000"/>
                  </a:lnSpc>
                  <a:spcBef>
                    <a:spcPts val="0"/>
                  </a:spcBef>
                  <a:spcAft>
                    <a:spcPts val="0"/>
                  </a:spcAft>
                </a:pP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𝑧</m:t>
                        </m:r>
                      </m:e>
                      <m:sub>
                        <m:r>
                          <a:rPr lang="ar-AE">
                            <a:latin typeface="Cambria Math" panose="02040503050406030204" pitchFamily="18" charset="0"/>
                          </a:rPr>
                          <m:t>1</m:t>
                        </m:r>
                      </m:sub>
                    </m:sSub>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3</m:t>
                    </m:r>
                    <m:d>
                      <m:dPr>
                        <m:ctrlPr>
                          <a:rPr lang="ar-AE" i="1">
                            <a:latin typeface="Cambria Math" panose="02040503050406030204" pitchFamily="18" charset="0"/>
                          </a:rPr>
                        </m:ctrlPr>
                      </m:dP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574</m:t>
                        </m:r>
                      </m:e>
                    </m:d>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2</m:t>
                    </m:r>
                    <m:d>
                      <m:dPr>
                        <m:ctrlPr>
                          <a:rPr lang="ar-AE" i="1">
                            <a:latin typeface="Cambria Math" panose="02040503050406030204" pitchFamily="18" charset="0"/>
                          </a:rPr>
                        </m:ctrlPr>
                      </m:dP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401</m:t>
                        </m:r>
                      </m:e>
                    </m:d>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05</m:t>
                    </m:r>
                  </m:oMath>
                </a14:m>
                <a:endParaRPr lang="ar-AE" dirty="0"/>
              </a:p>
              <a:p>
                <a:pPr marL="0">
                  <a:lnSpc>
                    <a:spcPct val="120000"/>
                  </a:lnSpc>
                  <a:spcBef>
                    <a:spcPts val="0"/>
                  </a:spcBef>
                  <a:spcAft>
                    <a:spcPts val="0"/>
                  </a:spcAft>
                </a:pPr>
                <a14:m>
                  <m:oMath xmlns:m="http://schemas.openxmlformats.org/officeDocument/2006/math">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1722</m:t>
                    </m:r>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0802</m:t>
                    </m:r>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05</m:t>
                    </m:r>
                  </m:oMath>
                </a14:m>
                <a:endParaRPr lang="ar-AE" dirty="0"/>
              </a:p>
              <a:p>
                <a:pPr marL="0">
                  <a:lnSpc>
                    <a:spcPct val="120000"/>
                  </a:lnSpc>
                  <a:spcBef>
                    <a:spcPts val="0"/>
                  </a:spcBef>
                  <a:spcAft>
                    <a:spcPts val="0"/>
                  </a:spcAft>
                </a:pPr>
                <a14:m>
                  <m:oMath xmlns:m="http://schemas.openxmlformats.org/officeDocument/2006/math">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142</m:t>
                    </m:r>
                  </m:oMath>
                </a14:m>
                <a:endParaRPr lang="ar-AE" dirty="0"/>
              </a:p>
              <a:p>
                <a:pPr marL="0">
                  <a:lnSpc>
                    <a:spcPct val="120000"/>
                  </a:lnSpc>
                  <a:spcBef>
                    <a:spcPts val="0"/>
                  </a:spcBef>
                  <a:spcAft>
                    <a:spcPts val="0"/>
                  </a:spcAft>
                </a:pPr>
                <a14:m>
                  <m:oMath xmlns:m="http://schemas.openxmlformats.org/officeDocument/2006/math">
                    <m:sSub>
                      <m:sSubPr>
                        <m:ctrlPr>
                          <a:rPr lang="ar-AE" i="1">
                            <a:latin typeface="Cambria Math" panose="02040503050406030204" pitchFamily="18" charset="0"/>
                          </a:rPr>
                        </m:ctrlPr>
                      </m:sSubPr>
                      <m:e>
                        <m:acc>
                          <m:accPr>
                            <m:chr m:val="̂"/>
                            <m:ctrlPr>
                              <a:rPr lang="ar-AE" i="1">
                                <a:latin typeface="Cambria Math" panose="02040503050406030204" pitchFamily="18" charset="0"/>
                              </a:rPr>
                            </m:ctrlPr>
                          </m:accPr>
                          <m:e>
                            <m:r>
                              <a:rPr lang="ar-AE" i="1">
                                <a:latin typeface="Cambria Math" panose="02040503050406030204" pitchFamily="18" charset="0"/>
                              </a:rPr>
                              <m:t>𝑥</m:t>
                            </m:r>
                          </m:e>
                        </m:acc>
                      </m:e>
                      <m:sub>
                        <m:r>
                          <a:rPr lang="ar-AE">
                            <a:latin typeface="Cambria Math" panose="02040503050406030204" pitchFamily="18" charset="0"/>
                          </a:rPr>
                          <m:t>1</m:t>
                        </m:r>
                      </m:sub>
                    </m:sSub>
                    <m:r>
                      <a:rPr lang="ar-AE">
                        <a:latin typeface="Cambria Math" panose="02040503050406030204" pitchFamily="18" charset="0"/>
                      </a:rPr>
                      <m:t>=</m:t>
                    </m:r>
                    <m:r>
                      <a:rPr lang="ar-AE" i="1">
                        <a:latin typeface="Cambria Math" panose="02040503050406030204" pitchFamily="18" charset="0"/>
                      </a:rPr>
                      <m:t>𝜎</m:t>
                    </m:r>
                    <m:d>
                      <m:dPr>
                        <m:ctrlPr>
                          <a:rPr lang="ar-AE" i="1">
                            <a:latin typeface="Cambria Math" panose="02040503050406030204" pitchFamily="18" charset="0"/>
                          </a:rPr>
                        </m:ctrlPr>
                      </m:dP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142</m:t>
                        </m:r>
                      </m:e>
                    </m:d>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535</m:t>
                    </m:r>
                  </m:oMath>
                </a14:m>
                <a:endParaRPr lang="ar-AE" dirty="0"/>
              </a:p>
              <a:p>
                <a:pPr>
                  <a:lnSpc>
                    <a:spcPct val="120000"/>
                  </a:lnSpc>
                </a:pPr>
                <a:endParaRPr lang="en-IN" dirty="0"/>
              </a:p>
            </p:txBody>
          </p:sp>
        </mc:Choice>
        <mc:Fallback xmlns="">
          <p:sp>
            <p:nvSpPr>
              <p:cNvPr id="3" name="Content Placeholder 2">
                <a:extLst>
                  <a:ext uri="{FF2B5EF4-FFF2-40B4-BE49-F238E27FC236}">
                    <a16:creationId xmlns:a16="http://schemas.microsoft.com/office/drawing/2014/main" id="{85B30250-7F1F-C36D-78B4-F7D517C60AC7}"/>
                  </a:ext>
                </a:extLst>
              </p:cNvPr>
              <p:cNvSpPr>
                <a:spLocks noGrp="1" noRot="1" noChangeAspect="1" noMove="1" noResize="1" noEditPoints="1" noAdjustHandles="1" noChangeArrowheads="1" noChangeShapeType="1" noTextEdit="1"/>
              </p:cNvSpPr>
              <p:nvPr>
                <p:ph idx="1"/>
              </p:nvPr>
            </p:nvSpPr>
            <p:spPr>
              <a:xfrm>
                <a:off x="812800" y="1259840"/>
                <a:ext cx="4825999" cy="4866430"/>
              </a:xfrm>
              <a:blipFill>
                <a:blip r:embed="rId2"/>
                <a:stretch>
                  <a:fillRect l="-3030" t="-501"/>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 name="Content Placeholder 2">
                <a:extLst>
                  <a:ext uri="{FF2B5EF4-FFF2-40B4-BE49-F238E27FC236}">
                    <a16:creationId xmlns:a16="http://schemas.microsoft.com/office/drawing/2014/main" id="{6724674E-D8B9-02DB-029F-1407014A263F}"/>
                  </a:ext>
                </a:extLst>
              </p:cNvPr>
              <p:cNvSpPr txBox="1">
                <a:spLocks/>
              </p:cNvSpPr>
              <p:nvPr/>
            </p:nvSpPr>
            <p:spPr>
              <a:xfrm>
                <a:off x="6309677" y="1442720"/>
                <a:ext cx="4531043" cy="4581950"/>
              </a:xfrm>
              <a:prstGeom prst="rect">
                <a:avLst/>
              </a:prstGeom>
            </p:spPr>
            <p:txBody>
              <a:bodyPr vert="horz" lIns="0" tIns="45720" rIns="0" bIns="45720" rtlCol="0">
                <a:normAutofit fontScale="77500" lnSpcReduction="20000"/>
              </a:bodyPr>
              <a:lstStyle>
                <a:lvl1pPr marL="361950" indent="-361950" algn="l" defTabSz="914400" rtl="0" eaLnBrk="1" latinLnBrk="0" hangingPunct="1">
                  <a:lnSpc>
                    <a:spcPct val="90000"/>
                  </a:lnSpc>
                  <a:spcBef>
                    <a:spcPts val="1200"/>
                  </a:spcBef>
                  <a:spcAft>
                    <a:spcPts val="200"/>
                  </a:spcAft>
                  <a:buClr>
                    <a:schemeClr val="accent1"/>
                  </a:buClr>
                  <a:buSzPct val="100000"/>
                  <a:buFont typeface="Arial" panose="020B0604020202020204" pitchFamily="34" charset="0"/>
                  <a:buChar char="•"/>
                  <a:defRPr sz="2400" kern="1200">
                    <a:solidFill>
                      <a:schemeClr val="tx1"/>
                    </a:solidFill>
                    <a:latin typeface="+mn-lt"/>
                    <a:ea typeface="+mn-ea"/>
                    <a:cs typeface="+mn-cs"/>
                  </a:defRPr>
                </a:lvl1pPr>
                <a:lvl2pPr marL="542925" indent="-3429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2400" kern="1200">
                    <a:solidFill>
                      <a:schemeClr val="tx1"/>
                    </a:solidFill>
                    <a:latin typeface="+mn-lt"/>
                    <a:ea typeface="+mn-ea"/>
                    <a:cs typeface="+mn-cs"/>
                  </a:defRPr>
                </a:lvl2pPr>
                <a:lvl3pPr marL="714375" indent="-330200" algn="l" defTabSz="914400" rtl="0" eaLnBrk="1" latinLnBrk="0" hangingPunct="1">
                  <a:lnSpc>
                    <a:spcPct val="90000"/>
                  </a:lnSpc>
                  <a:spcBef>
                    <a:spcPts val="200"/>
                  </a:spcBef>
                  <a:spcAft>
                    <a:spcPts val="400"/>
                  </a:spcAft>
                  <a:buClr>
                    <a:schemeClr val="accent1"/>
                  </a:buClr>
                  <a:buFont typeface="Arial" panose="020B0604020202020204" pitchFamily="34" charset="0"/>
                  <a:buChar char="•"/>
                  <a:tabLst>
                    <a:tab pos="714375" algn="l"/>
                  </a:tabLst>
                  <a:defRPr sz="2400" kern="1200">
                    <a:solidFill>
                      <a:schemeClr val="tx1"/>
                    </a:solidFill>
                    <a:latin typeface="+mn-lt"/>
                    <a:ea typeface="+mn-ea"/>
                    <a:cs typeface="+mn-cs"/>
                  </a:defRPr>
                </a:lvl3pPr>
                <a:lvl4pPr marL="895350" indent="-2667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2400" kern="1200">
                    <a:solidFill>
                      <a:schemeClr val="tx1"/>
                    </a:solidFill>
                    <a:latin typeface="+mn-lt"/>
                    <a:ea typeface="+mn-ea"/>
                    <a:cs typeface="+mn-cs"/>
                  </a:defRPr>
                </a:lvl4pPr>
                <a:lvl5pPr marL="1162050" indent="-352425"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2400" kern="1200">
                    <a:solidFill>
                      <a:schemeClr val="tx1"/>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nSpc>
                    <a:spcPct val="120000"/>
                  </a:lnSpc>
                  <a:spcBef>
                    <a:spcPts val="0"/>
                  </a:spcBef>
                  <a:spcAft>
                    <a:spcPts val="0"/>
                  </a:spcAft>
                </a:pPr>
                <a:r>
                  <a:rPr lang="en-IN" b="1" dirty="0"/>
                  <a:t> Output neuron 2</a:t>
                </a:r>
              </a:p>
              <a:p>
                <a:pPr>
                  <a:lnSpc>
                    <a:spcPct val="120000"/>
                  </a:lnSpc>
                  <a:spcBef>
                    <a:spcPts val="0"/>
                  </a:spcBef>
                  <a:spcAft>
                    <a:spcPts val="0"/>
                  </a:spcAft>
                </a:pP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𝑧</m:t>
                        </m:r>
                      </m:e>
                      <m:sub>
                        <m:r>
                          <a:rPr lang="ar-AE">
                            <a:latin typeface="Cambria Math" panose="02040503050406030204" pitchFamily="18" charset="0"/>
                          </a:rPr>
                          <m:t>2</m:t>
                        </m:r>
                      </m:sub>
                    </m:sSub>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4</m:t>
                    </m:r>
                    <m:d>
                      <m:dPr>
                        <m:ctrlPr>
                          <a:rPr lang="ar-AE" i="1">
                            <a:latin typeface="Cambria Math" panose="02040503050406030204" pitchFamily="18" charset="0"/>
                          </a:rPr>
                        </m:ctrlPr>
                      </m:dP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574</m:t>
                        </m:r>
                      </m:e>
                    </m:d>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1</m:t>
                    </m:r>
                    <m:d>
                      <m:dPr>
                        <m:ctrlPr>
                          <a:rPr lang="ar-AE" i="1">
                            <a:latin typeface="Cambria Math" panose="02040503050406030204" pitchFamily="18" charset="0"/>
                          </a:rPr>
                        </m:ctrlPr>
                      </m:dP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401</m:t>
                        </m:r>
                      </m:e>
                    </m:d>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05</m:t>
                    </m:r>
                  </m:oMath>
                </a14:m>
                <a:endParaRPr lang="ar-AE" dirty="0"/>
              </a:p>
              <a:p>
                <a:pPr>
                  <a:lnSpc>
                    <a:spcPct val="120000"/>
                  </a:lnSpc>
                  <a:spcBef>
                    <a:spcPts val="0"/>
                  </a:spcBef>
                  <a:spcAft>
                    <a:spcPts val="0"/>
                  </a:spcAft>
                </a:pPr>
                <a14:m>
                  <m:oMath xmlns:m="http://schemas.openxmlformats.org/officeDocument/2006/math">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2296</m:t>
                    </m:r>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0401</m:t>
                    </m:r>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05</m:t>
                    </m:r>
                  </m:oMath>
                </a14:m>
                <a:endParaRPr lang="ar-AE" dirty="0"/>
              </a:p>
              <a:p>
                <a:pPr>
                  <a:lnSpc>
                    <a:spcPct val="120000"/>
                  </a:lnSpc>
                  <a:spcBef>
                    <a:spcPts val="0"/>
                  </a:spcBef>
                  <a:spcAft>
                    <a:spcPts val="0"/>
                  </a:spcAft>
                </a:pPr>
                <a14:m>
                  <m:oMath xmlns:m="http://schemas.openxmlformats.org/officeDocument/2006/math">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3197</m:t>
                    </m:r>
                  </m:oMath>
                </a14:m>
                <a:endParaRPr lang="ar-AE" dirty="0"/>
              </a:p>
              <a:p>
                <a:pPr>
                  <a:lnSpc>
                    <a:spcPct val="120000"/>
                  </a:lnSpc>
                  <a:spcBef>
                    <a:spcPts val="0"/>
                  </a:spcBef>
                  <a:spcAft>
                    <a:spcPts val="0"/>
                  </a:spcAft>
                </a:pPr>
                <a14:m>
                  <m:oMath xmlns:m="http://schemas.openxmlformats.org/officeDocument/2006/math">
                    <m:sSub>
                      <m:sSubPr>
                        <m:ctrlPr>
                          <a:rPr lang="ar-AE" i="1">
                            <a:latin typeface="Cambria Math" panose="02040503050406030204" pitchFamily="18" charset="0"/>
                          </a:rPr>
                        </m:ctrlPr>
                      </m:sSubPr>
                      <m:e>
                        <m:acc>
                          <m:accPr>
                            <m:chr m:val="̂"/>
                            <m:ctrlPr>
                              <a:rPr lang="ar-AE" i="1">
                                <a:latin typeface="Cambria Math" panose="02040503050406030204" pitchFamily="18" charset="0"/>
                              </a:rPr>
                            </m:ctrlPr>
                          </m:accPr>
                          <m:e>
                            <m:r>
                              <a:rPr lang="ar-AE" i="1">
                                <a:latin typeface="Cambria Math" panose="02040503050406030204" pitchFamily="18" charset="0"/>
                              </a:rPr>
                              <m:t>𝑥</m:t>
                            </m:r>
                          </m:e>
                        </m:acc>
                      </m:e>
                      <m:sub>
                        <m:r>
                          <a:rPr lang="ar-AE">
                            <a:latin typeface="Cambria Math" panose="02040503050406030204" pitchFamily="18" charset="0"/>
                          </a:rPr>
                          <m:t>2</m:t>
                        </m:r>
                      </m:sub>
                    </m:sSub>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579</m:t>
                    </m:r>
                  </m:oMath>
                </a14:m>
                <a:endParaRPr lang="ar-AE" dirty="0"/>
              </a:p>
              <a:p>
                <a:pPr>
                  <a:lnSpc>
                    <a:spcPct val="120000"/>
                  </a:lnSpc>
                  <a:spcBef>
                    <a:spcPts val="0"/>
                  </a:spcBef>
                  <a:spcAft>
                    <a:spcPts val="0"/>
                  </a:spcAft>
                </a:pPr>
                <a:r>
                  <a:rPr lang="en-IN" b="1" dirty="0"/>
                  <a:t> Output neuron 3</a:t>
                </a:r>
              </a:p>
              <a:p>
                <a:pPr>
                  <a:lnSpc>
                    <a:spcPct val="120000"/>
                  </a:lnSpc>
                  <a:spcBef>
                    <a:spcPts val="0"/>
                  </a:spcBef>
                  <a:spcAft>
                    <a:spcPts val="0"/>
                  </a:spcAft>
                </a:pP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𝑧</m:t>
                        </m:r>
                      </m:e>
                      <m:sub>
                        <m:r>
                          <a:rPr lang="ar-AE">
                            <a:latin typeface="Cambria Math" panose="02040503050406030204" pitchFamily="18" charset="0"/>
                          </a:rPr>
                          <m:t>3</m:t>
                        </m:r>
                      </m:sub>
                    </m:sSub>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5</m:t>
                    </m:r>
                    <m:d>
                      <m:dPr>
                        <m:ctrlPr>
                          <a:rPr lang="ar-AE" i="1">
                            <a:latin typeface="Cambria Math" panose="02040503050406030204" pitchFamily="18" charset="0"/>
                          </a:rPr>
                        </m:ctrlPr>
                      </m:dP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574</m:t>
                        </m:r>
                      </m:e>
                    </m:d>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2</m:t>
                    </m:r>
                    <m:d>
                      <m:dPr>
                        <m:ctrlPr>
                          <a:rPr lang="ar-AE" i="1">
                            <a:latin typeface="Cambria Math" panose="02040503050406030204" pitchFamily="18" charset="0"/>
                          </a:rPr>
                        </m:ctrlPr>
                      </m:dP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401</m:t>
                        </m:r>
                      </m:e>
                    </m:d>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05</m:t>
                    </m:r>
                  </m:oMath>
                </a14:m>
                <a:endParaRPr lang="ar-AE" dirty="0"/>
              </a:p>
              <a:p>
                <a:pPr>
                  <a:lnSpc>
                    <a:spcPct val="120000"/>
                  </a:lnSpc>
                  <a:spcBef>
                    <a:spcPts val="0"/>
                  </a:spcBef>
                  <a:spcAft>
                    <a:spcPts val="0"/>
                  </a:spcAft>
                </a:pPr>
                <a14:m>
                  <m:oMath xmlns:m="http://schemas.openxmlformats.org/officeDocument/2006/math">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287</m:t>
                    </m:r>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0802</m:t>
                    </m:r>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05</m:t>
                    </m:r>
                  </m:oMath>
                </a14:m>
                <a:endParaRPr lang="ar-AE" dirty="0"/>
              </a:p>
              <a:p>
                <a:pPr>
                  <a:lnSpc>
                    <a:spcPct val="120000"/>
                  </a:lnSpc>
                  <a:spcBef>
                    <a:spcPts val="0"/>
                  </a:spcBef>
                  <a:spcAft>
                    <a:spcPts val="0"/>
                  </a:spcAft>
                </a:pPr>
                <a14:m>
                  <m:oMath xmlns:m="http://schemas.openxmlformats.org/officeDocument/2006/math">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157</m:t>
                    </m:r>
                  </m:oMath>
                </a14:m>
                <a:endParaRPr lang="ar-AE" dirty="0"/>
              </a:p>
              <a:p>
                <a:pPr>
                  <a:lnSpc>
                    <a:spcPct val="120000"/>
                  </a:lnSpc>
                  <a:spcBef>
                    <a:spcPts val="0"/>
                  </a:spcBef>
                  <a:spcAft>
                    <a:spcPts val="0"/>
                  </a:spcAft>
                </a:pPr>
                <a14:m>
                  <m:oMath xmlns:m="http://schemas.openxmlformats.org/officeDocument/2006/math">
                    <m:sSub>
                      <m:sSubPr>
                        <m:ctrlPr>
                          <a:rPr lang="ar-AE" i="1">
                            <a:latin typeface="Cambria Math" panose="02040503050406030204" pitchFamily="18" charset="0"/>
                          </a:rPr>
                        </m:ctrlPr>
                      </m:sSubPr>
                      <m:e>
                        <m:acc>
                          <m:accPr>
                            <m:chr m:val="̂"/>
                            <m:ctrlPr>
                              <a:rPr lang="ar-AE" i="1">
                                <a:latin typeface="Cambria Math" panose="02040503050406030204" pitchFamily="18" charset="0"/>
                              </a:rPr>
                            </m:ctrlPr>
                          </m:accPr>
                          <m:e>
                            <m:r>
                              <a:rPr lang="ar-AE" i="1">
                                <a:latin typeface="Cambria Math" panose="02040503050406030204" pitchFamily="18" charset="0"/>
                              </a:rPr>
                              <m:t>𝑥</m:t>
                            </m:r>
                          </m:e>
                        </m:acc>
                      </m:e>
                      <m:sub>
                        <m:r>
                          <a:rPr lang="ar-AE">
                            <a:latin typeface="Cambria Math" panose="02040503050406030204" pitchFamily="18" charset="0"/>
                          </a:rPr>
                          <m:t>3</m:t>
                        </m:r>
                      </m:sub>
                    </m:sSub>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461</m:t>
                    </m:r>
                  </m:oMath>
                </a14:m>
                <a:endParaRPr lang="ar-AE" dirty="0"/>
              </a:p>
              <a:p>
                <a:pPr>
                  <a:lnSpc>
                    <a:spcPct val="120000"/>
                  </a:lnSpc>
                  <a:spcBef>
                    <a:spcPts val="0"/>
                  </a:spcBef>
                  <a:spcAft>
                    <a:spcPts val="0"/>
                  </a:spcAft>
                </a:pPr>
                <a:br>
                  <a:rPr lang="ar-AE" dirty="0"/>
                </a:br>
                <a:r>
                  <a:rPr lang="en-IN" b="1" dirty="0"/>
                  <a:t> STEP 4: Reconstruction Output</a:t>
                </a:r>
              </a:p>
              <a:p>
                <a:pPr>
                  <a:lnSpc>
                    <a:spcPct val="120000"/>
                  </a:lnSpc>
                  <a:spcBef>
                    <a:spcPts val="0"/>
                  </a:spcBef>
                  <a:spcAft>
                    <a:spcPts val="0"/>
                  </a:spcAft>
                </a:pPr>
                <a14:m>
                  <m:oMath xmlns:m="http://schemas.openxmlformats.org/officeDocument/2006/math">
                    <m:acc>
                      <m:accPr>
                        <m:chr m:val="̂"/>
                        <m:ctrlPr>
                          <a:rPr lang="ar-AE" i="1">
                            <a:latin typeface="Cambria Math" panose="02040503050406030204" pitchFamily="18" charset="0"/>
                          </a:rPr>
                        </m:ctrlPr>
                      </m:accPr>
                      <m:e>
                        <m:r>
                          <a:rPr lang="ar-AE" i="1">
                            <a:latin typeface="Cambria Math" panose="02040503050406030204" pitchFamily="18" charset="0"/>
                          </a:rPr>
                          <m:t>𝑥</m:t>
                        </m:r>
                      </m:e>
                    </m:acc>
                    <m:r>
                      <a:rPr lang="ar-AE">
                        <a:latin typeface="Cambria Math" panose="02040503050406030204" pitchFamily="18" charset="0"/>
                      </a:rPr>
                      <m:t>=</m:t>
                    </m:r>
                    <m:r>
                      <a:rPr lang="ar-AE" i="1">
                        <a:latin typeface="Cambria Math" panose="02040503050406030204" pitchFamily="18" charset="0"/>
                      </a:rPr>
                      <m:t>[</m:t>
                    </m:r>
                    <m:r>
                      <a:rPr lang="ar-AE" i="1">
                        <a:latin typeface="Cambria Math" panose="02040503050406030204" pitchFamily="18" charset="0"/>
                      </a:rPr>
                      <m:t>0</m:t>
                    </m:r>
                    <m:r>
                      <a:rPr lang="ar-AE" i="1">
                        <a:latin typeface="Cambria Math" panose="02040503050406030204" pitchFamily="18" charset="0"/>
                      </a:rPr>
                      <m:t>.</m:t>
                    </m:r>
                    <m:r>
                      <a:rPr lang="ar-AE" i="1">
                        <a:latin typeface="Cambria Math" panose="02040503050406030204" pitchFamily="18" charset="0"/>
                      </a:rPr>
                      <m:t>535</m:t>
                    </m:r>
                    <m:r>
                      <a:rPr lang="ar-AE" i="1">
                        <a:latin typeface="Cambria Math" panose="02040503050406030204" pitchFamily="18" charset="0"/>
                      </a:rPr>
                      <m:t>,</m:t>
                    </m:r>
                    <m:r>
                      <a:rPr lang="ar-AE" i="1">
                        <a:latin typeface="Cambria Math" panose="02040503050406030204" pitchFamily="18" charset="0"/>
                      </a:rPr>
                      <m:t>0</m:t>
                    </m:r>
                    <m:r>
                      <a:rPr lang="ar-AE" i="1">
                        <a:latin typeface="Cambria Math" panose="02040503050406030204" pitchFamily="18" charset="0"/>
                      </a:rPr>
                      <m:t>.</m:t>
                    </m:r>
                    <m:r>
                      <a:rPr lang="ar-AE" i="1">
                        <a:latin typeface="Cambria Math" panose="02040503050406030204" pitchFamily="18" charset="0"/>
                      </a:rPr>
                      <m:t>579</m:t>
                    </m:r>
                    <m:r>
                      <a:rPr lang="ar-AE" i="1">
                        <a:latin typeface="Cambria Math" panose="02040503050406030204" pitchFamily="18" charset="0"/>
                      </a:rPr>
                      <m:t>,</m:t>
                    </m:r>
                    <m:r>
                      <a:rPr lang="ar-AE" i="1">
                        <a:latin typeface="Cambria Math" panose="02040503050406030204" pitchFamily="18" charset="0"/>
                      </a:rPr>
                      <m:t>0</m:t>
                    </m:r>
                    <m:r>
                      <a:rPr lang="ar-AE" i="1">
                        <a:latin typeface="Cambria Math" panose="02040503050406030204" pitchFamily="18" charset="0"/>
                      </a:rPr>
                      <m:t>.</m:t>
                    </m:r>
                    <m:r>
                      <a:rPr lang="ar-AE" i="1">
                        <a:latin typeface="Cambria Math" panose="02040503050406030204" pitchFamily="18" charset="0"/>
                      </a:rPr>
                      <m:t>461</m:t>
                    </m:r>
                    <m:r>
                      <a:rPr lang="ar-AE" i="1">
                        <a:latin typeface="Cambria Math" panose="02040503050406030204" pitchFamily="18" charset="0"/>
                      </a:rPr>
                      <m:t>]</m:t>
                    </m:r>
                  </m:oMath>
                </a14:m>
                <a:endParaRPr lang="ar-AE" dirty="0"/>
              </a:p>
              <a:p>
                <a:pPr>
                  <a:lnSpc>
                    <a:spcPct val="120000"/>
                  </a:lnSpc>
                  <a:spcBef>
                    <a:spcPts val="0"/>
                  </a:spcBef>
                  <a:spcAft>
                    <a:spcPts val="0"/>
                  </a:spcAft>
                </a:pPr>
                <a:endParaRPr lang="en-IN" dirty="0"/>
              </a:p>
            </p:txBody>
          </p:sp>
        </mc:Choice>
        <mc:Fallback xmlns="">
          <p:sp>
            <p:nvSpPr>
              <p:cNvPr id="4" name="Content Placeholder 2">
                <a:extLst>
                  <a:ext uri="{FF2B5EF4-FFF2-40B4-BE49-F238E27FC236}">
                    <a16:creationId xmlns:a16="http://schemas.microsoft.com/office/drawing/2014/main" id="{6724674E-D8B9-02DB-029F-1407014A263F}"/>
                  </a:ext>
                </a:extLst>
              </p:cNvPr>
              <p:cNvSpPr txBox="1">
                <a:spLocks noRot="1" noChangeAspect="1" noMove="1" noResize="1" noEditPoints="1" noAdjustHandles="1" noChangeArrowheads="1" noChangeShapeType="1" noTextEdit="1"/>
              </p:cNvSpPr>
              <p:nvPr/>
            </p:nvSpPr>
            <p:spPr>
              <a:xfrm>
                <a:off x="6309677" y="1442720"/>
                <a:ext cx="4531043" cy="4581950"/>
              </a:xfrm>
              <a:prstGeom prst="rect">
                <a:avLst/>
              </a:prstGeom>
              <a:blipFill>
                <a:blip r:embed="rId3"/>
                <a:stretch>
                  <a:fillRect l="-2961" t="-666"/>
                </a:stretch>
              </a:blipFill>
            </p:spPr>
            <p:txBody>
              <a:bodyPr/>
              <a:lstStyle/>
              <a:p>
                <a:r>
                  <a:rPr lang="en-IN">
                    <a:noFill/>
                  </a:rPr>
                  <a:t> </a:t>
                </a:r>
              </a:p>
            </p:txBody>
          </p:sp>
        </mc:Fallback>
      </mc:AlternateContent>
    </p:spTree>
    <p:extLst>
      <p:ext uri="{BB962C8B-B14F-4D97-AF65-F5344CB8AC3E}">
        <p14:creationId xmlns:p14="http://schemas.microsoft.com/office/powerpoint/2010/main" val="196770188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E4239D-B189-DDA2-F5B5-5C00732C3F16}"/>
              </a:ext>
            </a:extLst>
          </p:cNvPr>
          <p:cNvSpPr>
            <a:spLocks noGrp="1"/>
          </p:cNvSpPr>
          <p:nvPr>
            <p:ph type="title"/>
          </p:nvPr>
        </p:nvSpPr>
        <p:spPr/>
        <p:txBody>
          <a:bodyPr>
            <a:normAutofit fontScale="90000"/>
          </a:bodyPr>
          <a:lstStyle/>
          <a:p>
            <a:endParaRPr lang="en-IN"/>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E07C646D-50D4-AA86-685D-C37CF7CE8CCB}"/>
                  </a:ext>
                </a:extLst>
              </p:cNvPr>
              <p:cNvSpPr txBox="1"/>
              <p:nvPr/>
            </p:nvSpPr>
            <p:spPr>
              <a:xfrm>
                <a:off x="578802" y="1614359"/>
                <a:ext cx="10952480" cy="4490204"/>
              </a:xfrm>
              <a:prstGeom prst="rect">
                <a:avLst/>
              </a:prstGeom>
              <a:noFill/>
            </p:spPr>
            <p:txBody>
              <a:bodyPr wrap="square">
                <a:spAutoFit/>
              </a:bodyPr>
              <a:lstStyle/>
              <a:p>
                <a:pPr>
                  <a:buNone/>
                </a:pPr>
                <a:r>
                  <a:rPr lang="en-IN" b="1" dirty="0"/>
                  <a:t>STEP 5: Reconstruction Loss</a:t>
                </a:r>
              </a:p>
              <a:p>
                <a:pPr>
                  <a:buNone/>
                </a:pPr>
                <a:r>
                  <a:rPr lang="en-IN" dirty="0"/>
                  <a:t>Compare with original clean input:</a:t>
                </a:r>
              </a:p>
              <a:p>
                <a:pPr>
                  <a:buNone/>
                </a:pPr>
                <a14:m>
                  <m:oMathPara xmlns:m="http://schemas.openxmlformats.org/officeDocument/2006/math">
                    <m:oMathParaPr>
                      <m:jc m:val="centerGroup"/>
                    </m:oMathParaPr>
                    <m:oMath xmlns:m="http://schemas.openxmlformats.org/officeDocument/2006/math">
                      <m:r>
                        <a:rPr lang="en-IN" i="1">
                          <a:latin typeface="Cambria Math" panose="02040503050406030204" pitchFamily="18" charset="0"/>
                        </a:rPr>
                        <m:t>𝑥</m:t>
                      </m:r>
                      <m:r>
                        <a:rPr lang="en-IN" i="0">
                          <a:latin typeface="Cambria Math" panose="02040503050406030204" pitchFamily="18" charset="0"/>
                        </a:rPr>
                        <m:t>=</m:t>
                      </m:r>
                      <m:d>
                        <m:dPr>
                          <m:begChr m:val="["/>
                          <m:endChr m:val="]"/>
                          <m:sepChr m:val=","/>
                          <m:ctrlPr>
                            <a:rPr lang="ar-AE" i="1">
                              <a:latin typeface="Cambria Math" panose="02040503050406030204" pitchFamily="18" charset="0"/>
                            </a:rPr>
                          </m:ctrlPr>
                        </m:dPr>
                        <m:e>
                          <m:r>
                            <a:rPr lang="ar-AE" i="0">
                              <a:latin typeface="Cambria Math" panose="02040503050406030204" pitchFamily="18" charset="0"/>
                            </a:rPr>
                            <m:t>1</m:t>
                          </m:r>
                        </m:e>
                        <m:e>
                          <m:r>
                            <a:rPr lang="ar-AE" i="0">
                              <a:latin typeface="Cambria Math" panose="02040503050406030204" pitchFamily="18" charset="0"/>
                            </a:rPr>
                            <m:t>0</m:t>
                          </m:r>
                        </m:e>
                        <m:e>
                          <m:r>
                            <a:rPr lang="ar-AE" i="0">
                              <a:latin typeface="Cambria Math" panose="02040503050406030204" pitchFamily="18" charset="0"/>
                            </a:rPr>
                            <m:t>1</m:t>
                          </m:r>
                        </m:e>
                      </m:d>
                    </m:oMath>
                  </m:oMathPara>
                </a14:m>
                <a:endParaRPr lang="ar-AE" dirty="0"/>
              </a:p>
              <a:p>
                <a:pPr>
                  <a:buNone/>
                </a:pPr>
                <a14:m>
                  <m:oMathPara xmlns:m="http://schemas.openxmlformats.org/officeDocument/2006/math">
                    <m:oMathParaPr>
                      <m:jc m:val="centerGroup"/>
                    </m:oMathParaPr>
                    <m:oMath xmlns:m="http://schemas.openxmlformats.org/officeDocument/2006/math">
                      <m:r>
                        <a:rPr lang="ar-AE" i="1">
                          <a:latin typeface="Cambria Math" panose="02040503050406030204" pitchFamily="18" charset="0"/>
                        </a:rPr>
                        <m:t>𝐿</m:t>
                      </m:r>
                      <m:r>
                        <a:rPr lang="ar-AE" i="0">
                          <a:latin typeface="Cambria Math" panose="02040503050406030204" pitchFamily="18" charset="0"/>
                        </a:rPr>
                        <m:t>=</m:t>
                      </m:r>
                      <m:d>
                        <m:dPr>
                          <m:endChr m:val=""/>
                          <m:ctrlPr>
                            <a:rPr lang="ar-AE" i="1">
                              <a:latin typeface="Cambria Math" panose="02040503050406030204" pitchFamily="18" charset="0"/>
                            </a:rPr>
                          </m:ctrlPr>
                        </m:dPr>
                        <m:e>
                          <m:r>
                            <a:rPr lang="ar-AE" i="0">
                              <a:latin typeface="Cambria Math" panose="02040503050406030204" pitchFamily="18" charset="0"/>
                            </a:rPr>
                            <m:t>1</m:t>
                          </m:r>
                          <m:r>
                            <a:rPr lang="ar-AE" i="0">
                              <a:latin typeface="Cambria Math" panose="02040503050406030204" pitchFamily="18" charset="0"/>
                            </a:rPr>
                            <m:t>−</m:t>
                          </m:r>
                          <m:r>
                            <a:rPr lang="ar-AE" i="0">
                              <a:latin typeface="Cambria Math" panose="02040503050406030204" pitchFamily="18" charset="0"/>
                            </a:rPr>
                            <m:t>0</m:t>
                          </m:r>
                          <m:r>
                            <a:rPr lang="ar-AE" i="0">
                              <a:latin typeface="Cambria Math" panose="02040503050406030204" pitchFamily="18" charset="0"/>
                            </a:rPr>
                            <m:t>.</m:t>
                          </m:r>
                          <m:r>
                            <a:rPr lang="ar-AE" i="0">
                              <a:latin typeface="Cambria Math" panose="02040503050406030204" pitchFamily="18" charset="0"/>
                            </a:rPr>
                            <m:t>535</m:t>
                          </m:r>
                          <m:sSup>
                            <m:sSupPr>
                              <m:ctrlPr>
                                <a:rPr lang="ar-AE" i="1">
                                  <a:latin typeface="Cambria Math" panose="02040503050406030204" pitchFamily="18" charset="0"/>
                                </a:rPr>
                              </m:ctrlPr>
                            </m:sSupPr>
                            <m:e>
                              <m:d>
                                <m:dPr>
                                  <m:begChr m:val=""/>
                                  <m:endChr m:val=""/>
                                  <m:ctrlPr>
                                    <a:rPr lang="ar-AE" i="1">
                                      <a:latin typeface="Cambria Math" panose="02040503050406030204" pitchFamily="18" charset="0"/>
                                    </a:rPr>
                                  </m:ctrlPr>
                                </m:dPr>
                                <m:e>
                                  <m:r>
                                    <a:rPr lang="ar-AE" i="0">
                                      <a:latin typeface="Cambria Math" panose="02040503050406030204" pitchFamily="18" charset="0"/>
                                    </a:rPr>
                                    <m:t>)</m:t>
                                  </m:r>
                                </m:e>
                              </m:d>
                            </m:e>
                            <m:sup>
                              <m:r>
                                <a:rPr lang="ar-AE" i="0">
                                  <a:latin typeface="Cambria Math" panose="02040503050406030204" pitchFamily="18" charset="0"/>
                                </a:rPr>
                                <m:t>2</m:t>
                              </m:r>
                            </m:sup>
                          </m:sSup>
                          <m:r>
                            <a:rPr lang="ar-AE" i="0">
                              <a:latin typeface="Cambria Math" panose="02040503050406030204" pitchFamily="18" charset="0"/>
                            </a:rPr>
                            <m:t>+</m:t>
                          </m:r>
                          <m:d>
                            <m:dPr>
                              <m:endChr m:val=""/>
                              <m:ctrlPr>
                                <a:rPr lang="ar-AE" i="1">
                                  <a:latin typeface="Cambria Math" panose="02040503050406030204" pitchFamily="18" charset="0"/>
                                </a:rPr>
                              </m:ctrlPr>
                            </m:dPr>
                            <m:e>
                              <m:r>
                                <a:rPr lang="ar-AE" i="0">
                                  <a:latin typeface="Cambria Math" panose="02040503050406030204" pitchFamily="18" charset="0"/>
                                </a:rPr>
                                <m:t>0</m:t>
                              </m:r>
                              <m:r>
                                <a:rPr lang="ar-AE" i="0">
                                  <a:latin typeface="Cambria Math" panose="02040503050406030204" pitchFamily="18" charset="0"/>
                                </a:rPr>
                                <m:t>−</m:t>
                              </m:r>
                              <m:r>
                                <a:rPr lang="ar-AE" i="0">
                                  <a:latin typeface="Cambria Math" panose="02040503050406030204" pitchFamily="18" charset="0"/>
                                </a:rPr>
                                <m:t>0</m:t>
                              </m:r>
                              <m:r>
                                <a:rPr lang="ar-AE" i="0">
                                  <a:latin typeface="Cambria Math" panose="02040503050406030204" pitchFamily="18" charset="0"/>
                                </a:rPr>
                                <m:t>.</m:t>
                              </m:r>
                              <m:r>
                                <a:rPr lang="ar-AE" i="0">
                                  <a:latin typeface="Cambria Math" panose="02040503050406030204" pitchFamily="18" charset="0"/>
                                </a:rPr>
                                <m:t>579</m:t>
                              </m:r>
                              <m:sSup>
                                <m:sSupPr>
                                  <m:ctrlPr>
                                    <a:rPr lang="ar-AE" i="1">
                                      <a:latin typeface="Cambria Math" panose="02040503050406030204" pitchFamily="18" charset="0"/>
                                    </a:rPr>
                                  </m:ctrlPr>
                                </m:sSupPr>
                                <m:e>
                                  <m:d>
                                    <m:dPr>
                                      <m:begChr m:val=""/>
                                      <m:endChr m:val=""/>
                                      <m:ctrlPr>
                                        <a:rPr lang="ar-AE" i="1">
                                          <a:latin typeface="Cambria Math" panose="02040503050406030204" pitchFamily="18" charset="0"/>
                                        </a:rPr>
                                      </m:ctrlPr>
                                    </m:dPr>
                                    <m:e>
                                      <m:r>
                                        <a:rPr lang="ar-AE" i="0">
                                          <a:latin typeface="Cambria Math" panose="02040503050406030204" pitchFamily="18" charset="0"/>
                                        </a:rPr>
                                        <m:t>)</m:t>
                                      </m:r>
                                    </m:e>
                                  </m:d>
                                </m:e>
                                <m:sup>
                                  <m:r>
                                    <a:rPr lang="ar-AE" i="0">
                                      <a:latin typeface="Cambria Math" panose="02040503050406030204" pitchFamily="18" charset="0"/>
                                    </a:rPr>
                                    <m:t>2</m:t>
                                  </m:r>
                                </m:sup>
                              </m:sSup>
                              <m:r>
                                <a:rPr lang="ar-AE" i="0">
                                  <a:latin typeface="Cambria Math" panose="02040503050406030204" pitchFamily="18" charset="0"/>
                                </a:rPr>
                                <m:t>+</m:t>
                              </m:r>
                              <m:d>
                                <m:dPr>
                                  <m:endChr m:val=""/>
                                  <m:ctrlPr>
                                    <a:rPr lang="ar-AE" i="1">
                                      <a:latin typeface="Cambria Math" panose="02040503050406030204" pitchFamily="18" charset="0"/>
                                    </a:rPr>
                                  </m:ctrlPr>
                                </m:dPr>
                                <m:e>
                                  <m:r>
                                    <a:rPr lang="ar-AE" i="0">
                                      <a:latin typeface="Cambria Math" panose="02040503050406030204" pitchFamily="18" charset="0"/>
                                    </a:rPr>
                                    <m:t>1</m:t>
                                  </m:r>
                                  <m:r>
                                    <a:rPr lang="ar-AE" i="0">
                                      <a:latin typeface="Cambria Math" panose="02040503050406030204" pitchFamily="18" charset="0"/>
                                    </a:rPr>
                                    <m:t>−</m:t>
                                  </m:r>
                                  <m:r>
                                    <a:rPr lang="ar-AE" i="0">
                                      <a:latin typeface="Cambria Math" panose="02040503050406030204" pitchFamily="18" charset="0"/>
                                    </a:rPr>
                                    <m:t>0</m:t>
                                  </m:r>
                                  <m:r>
                                    <a:rPr lang="ar-AE" i="0">
                                      <a:latin typeface="Cambria Math" panose="02040503050406030204" pitchFamily="18" charset="0"/>
                                    </a:rPr>
                                    <m:t>.</m:t>
                                  </m:r>
                                  <m:r>
                                    <a:rPr lang="ar-AE" i="0">
                                      <a:latin typeface="Cambria Math" panose="02040503050406030204" pitchFamily="18" charset="0"/>
                                    </a:rPr>
                                    <m:t>461</m:t>
                                  </m:r>
                                  <m:sSup>
                                    <m:sSupPr>
                                      <m:ctrlPr>
                                        <a:rPr lang="ar-AE" i="1">
                                          <a:latin typeface="Cambria Math" panose="02040503050406030204" pitchFamily="18" charset="0"/>
                                        </a:rPr>
                                      </m:ctrlPr>
                                    </m:sSupPr>
                                    <m:e>
                                      <m:d>
                                        <m:dPr>
                                          <m:begChr m:val=""/>
                                          <m:endChr m:val=""/>
                                          <m:ctrlPr>
                                            <a:rPr lang="ar-AE" i="1">
                                              <a:latin typeface="Cambria Math" panose="02040503050406030204" pitchFamily="18" charset="0"/>
                                            </a:rPr>
                                          </m:ctrlPr>
                                        </m:dPr>
                                        <m:e>
                                          <m:r>
                                            <a:rPr lang="ar-AE" i="0">
                                              <a:latin typeface="Cambria Math" panose="02040503050406030204" pitchFamily="18" charset="0"/>
                                            </a:rPr>
                                            <m:t>)</m:t>
                                          </m:r>
                                        </m:e>
                                      </m:d>
                                    </m:e>
                                    <m:sup>
                                      <m:r>
                                        <a:rPr lang="ar-AE" i="0">
                                          <a:latin typeface="Cambria Math" panose="02040503050406030204" pitchFamily="18" charset="0"/>
                                        </a:rPr>
                                        <m:t>2</m:t>
                                      </m:r>
                                    </m:sup>
                                  </m:sSup>
                                </m:e>
                              </m:d>
                            </m:e>
                          </m:d>
                        </m:e>
                      </m:d>
                    </m:oMath>
                  </m:oMathPara>
                </a14:m>
                <a:endParaRPr lang="ar-AE" dirty="0"/>
              </a:p>
              <a:p>
                <a:pPr>
                  <a:buNone/>
                </a:pPr>
                <a14:m>
                  <m:oMathPara xmlns:m="http://schemas.openxmlformats.org/officeDocument/2006/math">
                    <m:oMathParaPr>
                      <m:jc m:val="centerGroup"/>
                    </m:oMathParaPr>
                    <m:oMath xmlns:m="http://schemas.openxmlformats.org/officeDocument/2006/math">
                      <m:r>
                        <a:rPr lang="ar-AE">
                          <a:latin typeface="Cambria Math" panose="02040503050406030204" pitchFamily="18" charset="0"/>
                        </a:rPr>
                        <m:t>=</m:t>
                      </m:r>
                      <m:sSup>
                        <m:sSupPr>
                          <m:ctrlPr>
                            <a:rPr lang="ar-AE" i="1">
                              <a:latin typeface="Cambria Math" panose="02040503050406030204" pitchFamily="18" charset="0"/>
                            </a:rPr>
                          </m:ctrlPr>
                        </m:sSupPr>
                        <m:e>
                          <m:r>
                            <a:rPr lang="ar-AE" i="0">
                              <a:latin typeface="Cambria Math" panose="02040503050406030204" pitchFamily="18" charset="0"/>
                            </a:rPr>
                            <m:t>0</m:t>
                          </m:r>
                          <m:r>
                            <a:rPr lang="ar-AE" i="0">
                              <a:latin typeface="Cambria Math" panose="02040503050406030204" pitchFamily="18" charset="0"/>
                            </a:rPr>
                            <m:t>.</m:t>
                          </m:r>
                          <m:r>
                            <a:rPr lang="ar-AE" i="0">
                              <a:latin typeface="Cambria Math" panose="02040503050406030204" pitchFamily="18" charset="0"/>
                            </a:rPr>
                            <m:t>465</m:t>
                          </m:r>
                        </m:e>
                        <m:sup>
                          <m:r>
                            <a:rPr lang="ar-AE" i="0">
                              <a:latin typeface="Cambria Math" panose="02040503050406030204" pitchFamily="18" charset="0"/>
                            </a:rPr>
                            <m:t>2</m:t>
                          </m:r>
                        </m:sup>
                      </m:sSup>
                      <m:r>
                        <a:rPr lang="ar-AE" i="0">
                          <a:latin typeface="Cambria Math" panose="02040503050406030204" pitchFamily="18" charset="0"/>
                        </a:rPr>
                        <m:t>+</m:t>
                      </m:r>
                      <m:d>
                        <m:dPr>
                          <m:endChr m:val=""/>
                          <m:ctrlPr>
                            <a:rPr lang="ar-AE" i="1">
                              <a:latin typeface="Cambria Math" panose="02040503050406030204" pitchFamily="18" charset="0"/>
                            </a:rPr>
                          </m:ctrlPr>
                        </m:dPr>
                        <m:e>
                          <m:r>
                            <a:rPr lang="ar-AE" i="0">
                              <a:latin typeface="Cambria Math" panose="02040503050406030204" pitchFamily="18" charset="0"/>
                            </a:rPr>
                            <m:t>−</m:t>
                          </m:r>
                          <m:r>
                            <a:rPr lang="ar-AE" i="0">
                              <a:latin typeface="Cambria Math" panose="02040503050406030204" pitchFamily="18" charset="0"/>
                            </a:rPr>
                            <m:t>0</m:t>
                          </m:r>
                          <m:r>
                            <a:rPr lang="ar-AE" i="0">
                              <a:latin typeface="Cambria Math" panose="02040503050406030204" pitchFamily="18" charset="0"/>
                            </a:rPr>
                            <m:t>.</m:t>
                          </m:r>
                          <m:r>
                            <a:rPr lang="ar-AE" i="0">
                              <a:latin typeface="Cambria Math" panose="02040503050406030204" pitchFamily="18" charset="0"/>
                            </a:rPr>
                            <m:t>579</m:t>
                          </m:r>
                          <m:sSup>
                            <m:sSupPr>
                              <m:ctrlPr>
                                <a:rPr lang="ar-AE" i="1">
                                  <a:latin typeface="Cambria Math" panose="02040503050406030204" pitchFamily="18" charset="0"/>
                                </a:rPr>
                              </m:ctrlPr>
                            </m:sSupPr>
                            <m:e>
                              <m:d>
                                <m:dPr>
                                  <m:begChr m:val=""/>
                                  <m:endChr m:val=""/>
                                  <m:ctrlPr>
                                    <a:rPr lang="ar-AE" i="1">
                                      <a:latin typeface="Cambria Math" panose="02040503050406030204" pitchFamily="18" charset="0"/>
                                    </a:rPr>
                                  </m:ctrlPr>
                                </m:dPr>
                                <m:e>
                                  <m:r>
                                    <a:rPr lang="ar-AE" i="0">
                                      <a:latin typeface="Cambria Math" panose="02040503050406030204" pitchFamily="18" charset="0"/>
                                    </a:rPr>
                                    <m:t>)</m:t>
                                  </m:r>
                                </m:e>
                              </m:d>
                            </m:e>
                            <m:sup>
                              <m:r>
                                <a:rPr lang="ar-AE" i="0">
                                  <a:latin typeface="Cambria Math" panose="02040503050406030204" pitchFamily="18" charset="0"/>
                                </a:rPr>
                                <m:t>2</m:t>
                              </m:r>
                            </m:sup>
                          </m:sSup>
                          <m:r>
                            <a:rPr lang="ar-AE" i="0">
                              <a:latin typeface="Cambria Math" panose="02040503050406030204" pitchFamily="18" charset="0"/>
                            </a:rPr>
                            <m:t>+</m:t>
                          </m:r>
                          <m:sSup>
                            <m:sSupPr>
                              <m:ctrlPr>
                                <a:rPr lang="ar-AE" i="1">
                                  <a:latin typeface="Cambria Math" panose="02040503050406030204" pitchFamily="18" charset="0"/>
                                </a:rPr>
                              </m:ctrlPr>
                            </m:sSupPr>
                            <m:e>
                              <m:r>
                                <a:rPr lang="ar-AE" i="0">
                                  <a:latin typeface="Cambria Math" panose="02040503050406030204" pitchFamily="18" charset="0"/>
                                </a:rPr>
                                <m:t>0</m:t>
                              </m:r>
                              <m:r>
                                <a:rPr lang="ar-AE" i="0">
                                  <a:latin typeface="Cambria Math" panose="02040503050406030204" pitchFamily="18" charset="0"/>
                                </a:rPr>
                                <m:t>.</m:t>
                              </m:r>
                              <m:r>
                                <a:rPr lang="ar-AE" i="0">
                                  <a:latin typeface="Cambria Math" panose="02040503050406030204" pitchFamily="18" charset="0"/>
                                </a:rPr>
                                <m:t>539</m:t>
                              </m:r>
                            </m:e>
                            <m:sup>
                              <m:r>
                                <a:rPr lang="ar-AE" i="0">
                                  <a:latin typeface="Cambria Math" panose="02040503050406030204" pitchFamily="18" charset="0"/>
                                </a:rPr>
                                <m:t>2</m:t>
                              </m:r>
                            </m:sup>
                          </m:sSup>
                        </m:e>
                      </m:d>
                    </m:oMath>
                  </m:oMathPara>
                </a14:m>
                <a:endParaRPr lang="ar-AE" dirty="0"/>
              </a:p>
              <a:p>
                <a:pPr>
                  <a:buNone/>
                </a:pPr>
                <a14:m>
                  <m:oMathPara xmlns:m="http://schemas.openxmlformats.org/officeDocument/2006/math">
                    <m:oMathParaPr>
                      <m:jc m:val="centerGroup"/>
                    </m:oMathParaPr>
                    <m:oMath xmlns:m="http://schemas.openxmlformats.org/officeDocument/2006/math">
                      <m:r>
                        <a:rPr lang="ar-AE">
                          <a:latin typeface="Cambria Math" panose="02040503050406030204" pitchFamily="18" charset="0"/>
                        </a:rPr>
                        <m:t>=</m:t>
                      </m:r>
                      <m:r>
                        <a:rPr lang="ar-AE" i="0">
                          <a:latin typeface="Cambria Math" panose="02040503050406030204" pitchFamily="18" charset="0"/>
                        </a:rPr>
                        <m:t>0</m:t>
                      </m:r>
                      <m:r>
                        <a:rPr lang="ar-AE" i="0">
                          <a:latin typeface="Cambria Math" panose="02040503050406030204" pitchFamily="18" charset="0"/>
                        </a:rPr>
                        <m:t>.</m:t>
                      </m:r>
                      <m:r>
                        <a:rPr lang="ar-AE" i="0">
                          <a:latin typeface="Cambria Math" panose="02040503050406030204" pitchFamily="18" charset="0"/>
                        </a:rPr>
                        <m:t>216</m:t>
                      </m:r>
                      <m:r>
                        <a:rPr lang="ar-AE" i="0">
                          <a:latin typeface="Cambria Math" panose="02040503050406030204" pitchFamily="18" charset="0"/>
                        </a:rPr>
                        <m:t>+</m:t>
                      </m:r>
                      <m:r>
                        <a:rPr lang="ar-AE" i="0">
                          <a:latin typeface="Cambria Math" panose="02040503050406030204" pitchFamily="18" charset="0"/>
                        </a:rPr>
                        <m:t>0</m:t>
                      </m:r>
                      <m:r>
                        <a:rPr lang="ar-AE" i="0">
                          <a:latin typeface="Cambria Math" panose="02040503050406030204" pitchFamily="18" charset="0"/>
                        </a:rPr>
                        <m:t>.</m:t>
                      </m:r>
                      <m:r>
                        <a:rPr lang="ar-AE" i="0">
                          <a:latin typeface="Cambria Math" panose="02040503050406030204" pitchFamily="18" charset="0"/>
                        </a:rPr>
                        <m:t>335</m:t>
                      </m:r>
                      <m:r>
                        <a:rPr lang="ar-AE" i="0">
                          <a:latin typeface="Cambria Math" panose="02040503050406030204" pitchFamily="18" charset="0"/>
                        </a:rPr>
                        <m:t>+</m:t>
                      </m:r>
                      <m:r>
                        <a:rPr lang="ar-AE" i="0">
                          <a:latin typeface="Cambria Math" panose="02040503050406030204" pitchFamily="18" charset="0"/>
                        </a:rPr>
                        <m:t>0</m:t>
                      </m:r>
                      <m:r>
                        <a:rPr lang="ar-AE" i="0">
                          <a:latin typeface="Cambria Math" panose="02040503050406030204" pitchFamily="18" charset="0"/>
                        </a:rPr>
                        <m:t>.</m:t>
                      </m:r>
                      <m:r>
                        <a:rPr lang="ar-AE" i="0">
                          <a:latin typeface="Cambria Math" panose="02040503050406030204" pitchFamily="18" charset="0"/>
                        </a:rPr>
                        <m:t>291</m:t>
                      </m:r>
                    </m:oMath>
                  </m:oMathPara>
                </a14:m>
                <a:endParaRPr lang="ar-AE" dirty="0"/>
              </a:p>
              <a:p>
                <a:pPr>
                  <a:buNone/>
                </a:pPr>
                <a14:m>
                  <m:oMathPara xmlns:m="http://schemas.openxmlformats.org/officeDocument/2006/math">
                    <m:oMathParaPr>
                      <m:jc m:val="centerGroup"/>
                    </m:oMathParaPr>
                    <m:oMath xmlns:m="http://schemas.openxmlformats.org/officeDocument/2006/math">
                      <m:borderBox>
                        <m:borderBoxPr>
                          <m:ctrlPr>
                            <a:rPr lang="ar-AE" i="1">
                              <a:latin typeface="Cambria Math" panose="02040503050406030204" pitchFamily="18" charset="0"/>
                            </a:rPr>
                          </m:ctrlPr>
                        </m:borderBoxPr>
                        <m:e>
                          <m:r>
                            <a:rPr lang="ar-AE" i="1">
                              <a:latin typeface="Cambria Math" panose="02040503050406030204" pitchFamily="18" charset="0"/>
                            </a:rPr>
                            <m:t>𝐿</m:t>
                          </m:r>
                          <m:r>
                            <a:rPr lang="ar-AE" i="0">
                              <a:latin typeface="Cambria Math" panose="02040503050406030204" pitchFamily="18" charset="0"/>
                            </a:rPr>
                            <m:t>=</m:t>
                          </m:r>
                          <m:r>
                            <a:rPr lang="ar-AE" i="0">
                              <a:latin typeface="Cambria Math" panose="02040503050406030204" pitchFamily="18" charset="0"/>
                            </a:rPr>
                            <m:t>0</m:t>
                          </m:r>
                          <m:r>
                            <a:rPr lang="ar-AE" i="0">
                              <a:latin typeface="Cambria Math" panose="02040503050406030204" pitchFamily="18" charset="0"/>
                            </a:rPr>
                            <m:t>.</m:t>
                          </m:r>
                          <m:r>
                            <a:rPr lang="ar-AE" i="0">
                              <a:latin typeface="Cambria Math" panose="02040503050406030204" pitchFamily="18" charset="0"/>
                            </a:rPr>
                            <m:t>842</m:t>
                          </m:r>
                        </m:e>
                      </m:borderBox>
                    </m:oMath>
                  </m:oMathPara>
                </a14:m>
                <a:endParaRPr lang="ar-AE" dirty="0"/>
              </a:p>
              <a:p>
                <a:pPr>
                  <a:buNone/>
                </a:pPr>
                <a:endParaRPr lang="ar-AE" dirty="0"/>
              </a:p>
              <a:p>
                <a:pPr>
                  <a:buNone/>
                </a:pPr>
                <a:r>
                  <a:rPr lang="en-IN" b="1" dirty="0"/>
                  <a:t>What Did the Model Learn?</a:t>
                </a:r>
              </a:p>
              <a:p>
                <a:pPr>
                  <a:buNone/>
                </a:pPr>
                <a:r>
                  <a:rPr lang="en-IN" dirty="0"/>
                  <a:t>Input was corrupted:</a:t>
                </a:r>
              </a:p>
              <a:p>
                <a:pPr>
                  <a:buNone/>
                </a:pPr>
                <a14:m>
                  <m:oMathPara xmlns:m="http://schemas.openxmlformats.org/officeDocument/2006/math">
                    <m:oMathParaPr>
                      <m:jc m:val="centerGroup"/>
                    </m:oMathParaPr>
                    <m:oMath xmlns:m="http://schemas.openxmlformats.org/officeDocument/2006/math">
                      <m:d>
                        <m:dPr>
                          <m:begChr m:val="["/>
                          <m:endChr m:val="]"/>
                          <m:sepChr m:val=","/>
                          <m:ctrlPr>
                            <a:rPr lang="ar-AE" i="1">
                              <a:latin typeface="Cambria Math" panose="02040503050406030204" pitchFamily="18" charset="0"/>
                            </a:rPr>
                          </m:ctrlPr>
                        </m:dPr>
                        <m:e>
                          <m:r>
                            <a:rPr lang="ar-AE">
                              <a:latin typeface="Cambria Math" panose="02040503050406030204" pitchFamily="18" charset="0"/>
                            </a:rPr>
                            <m:t>1</m:t>
                          </m:r>
                        </m:e>
                        <m:e>
                          <m:r>
                            <a:rPr lang="ar-AE" i="0">
                              <a:latin typeface="Cambria Math" panose="02040503050406030204" pitchFamily="18" charset="0"/>
                            </a:rPr>
                            <m:t>0</m:t>
                          </m:r>
                        </m:e>
                        <m:e>
                          <m:r>
                            <a:rPr lang="ar-AE" i="0">
                              <a:latin typeface="Cambria Math" panose="02040503050406030204" pitchFamily="18" charset="0"/>
                            </a:rPr>
                            <m:t>0</m:t>
                          </m:r>
                        </m:e>
                      </m:d>
                    </m:oMath>
                  </m:oMathPara>
                </a14:m>
                <a:endParaRPr lang="ar-AE" dirty="0"/>
              </a:p>
              <a:p>
                <a:pPr>
                  <a:buNone/>
                </a:pPr>
                <a:r>
                  <a:rPr lang="en-IN" dirty="0"/>
                  <a:t>But output approximated original:</a:t>
                </a:r>
              </a:p>
              <a:p>
                <a:pPr>
                  <a:buNone/>
                </a:pPr>
                <a14:m>
                  <m:oMathPara xmlns:m="http://schemas.openxmlformats.org/officeDocument/2006/math">
                    <m:oMathParaPr>
                      <m:jc m:val="centerGroup"/>
                    </m:oMathParaPr>
                    <m:oMath xmlns:m="http://schemas.openxmlformats.org/officeDocument/2006/math">
                      <m:d>
                        <m:dPr>
                          <m:begChr m:val="["/>
                          <m:endChr m:val="]"/>
                          <m:sepChr m:val=","/>
                          <m:ctrlPr>
                            <a:rPr lang="ar-AE" i="1">
                              <a:latin typeface="Cambria Math" panose="02040503050406030204" pitchFamily="18" charset="0"/>
                            </a:rPr>
                          </m:ctrlPr>
                        </m:dPr>
                        <m:e>
                          <m:r>
                            <a:rPr lang="ar-AE">
                              <a:latin typeface="Cambria Math" panose="02040503050406030204" pitchFamily="18" charset="0"/>
                            </a:rPr>
                            <m:t>1</m:t>
                          </m:r>
                        </m:e>
                        <m:e>
                          <m:r>
                            <a:rPr lang="ar-AE" i="0">
                              <a:latin typeface="Cambria Math" panose="02040503050406030204" pitchFamily="18" charset="0"/>
                            </a:rPr>
                            <m:t>0</m:t>
                          </m:r>
                        </m:e>
                        <m:e>
                          <m:r>
                            <a:rPr lang="ar-AE" i="0">
                              <a:latin typeface="Cambria Math" panose="02040503050406030204" pitchFamily="18" charset="0"/>
                            </a:rPr>
                            <m:t>1</m:t>
                          </m:r>
                        </m:e>
                      </m:d>
                    </m:oMath>
                  </m:oMathPara>
                </a14:m>
                <a:endParaRPr lang="ar-AE" dirty="0"/>
              </a:p>
              <a:p>
                <a:pPr>
                  <a:buNone/>
                </a:pPr>
                <a:r>
                  <a:rPr lang="en-IN" dirty="0"/>
                  <a:t> The network learned to </a:t>
                </a:r>
                <a:r>
                  <a:rPr lang="en-IN" b="1" dirty="0"/>
                  <a:t>recover missing information</a:t>
                </a:r>
                <a:r>
                  <a:rPr lang="en-IN" dirty="0"/>
                  <a:t>.</a:t>
                </a:r>
              </a:p>
            </p:txBody>
          </p:sp>
        </mc:Choice>
        <mc:Fallback xmlns="">
          <p:sp>
            <p:nvSpPr>
              <p:cNvPr id="5" name="TextBox 4">
                <a:extLst>
                  <a:ext uri="{FF2B5EF4-FFF2-40B4-BE49-F238E27FC236}">
                    <a16:creationId xmlns:a16="http://schemas.microsoft.com/office/drawing/2014/main" id="{E07C646D-50D4-AA86-685D-C37CF7CE8CCB}"/>
                  </a:ext>
                </a:extLst>
              </p:cNvPr>
              <p:cNvSpPr txBox="1">
                <a:spLocks noRot="1" noChangeAspect="1" noMove="1" noResize="1" noEditPoints="1" noAdjustHandles="1" noChangeArrowheads="1" noChangeShapeType="1" noTextEdit="1"/>
              </p:cNvSpPr>
              <p:nvPr/>
            </p:nvSpPr>
            <p:spPr>
              <a:xfrm>
                <a:off x="578802" y="1614359"/>
                <a:ext cx="10952480" cy="4490204"/>
              </a:xfrm>
              <a:prstGeom prst="rect">
                <a:avLst/>
              </a:prstGeom>
              <a:blipFill>
                <a:blip r:embed="rId2"/>
                <a:stretch>
                  <a:fillRect l="-501" t="-815" b="-1359"/>
                </a:stretch>
              </a:blipFill>
            </p:spPr>
            <p:txBody>
              <a:bodyPr/>
              <a:lstStyle/>
              <a:p>
                <a:r>
                  <a:rPr lang="en-IN">
                    <a:noFill/>
                  </a:rPr>
                  <a:t> </a:t>
                </a:r>
              </a:p>
            </p:txBody>
          </p:sp>
        </mc:Fallback>
      </mc:AlternateContent>
    </p:spTree>
    <p:extLst>
      <p:ext uri="{BB962C8B-B14F-4D97-AF65-F5344CB8AC3E}">
        <p14:creationId xmlns:p14="http://schemas.microsoft.com/office/powerpoint/2010/main" val="43664853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4EFD19-D13C-1CF9-6ACE-BD9E8BA244A1}"/>
              </a:ext>
            </a:extLst>
          </p:cNvPr>
          <p:cNvSpPr>
            <a:spLocks noGrp="1"/>
          </p:cNvSpPr>
          <p:nvPr>
            <p:ph type="title"/>
          </p:nvPr>
        </p:nvSpPr>
        <p:spPr/>
        <p:txBody>
          <a:bodyPr>
            <a:normAutofit fontScale="90000"/>
          </a:bodyPr>
          <a:lstStyle/>
          <a:p>
            <a:r>
              <a:rPr lang="en-IN" dirty="0"/>
              <a:t>Contractive Autoencoders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9B299A0-EF03-E836-775F-067DE0B5E023}"/>
                  </a:ext>
                </a:extLst>
              </p:cNvPr>
              <p:cNvSpPr>
                <a:spLocks noGrp="1"/>
              </p:cNvSpPr>
              <p:nvPr>
                <p:ph idx="1"/>
              </p:nvPr>
            </p:nvSpPr>
            <p:spPr>
              <a:xfrm>
                <a:off x="863916" y="1502266"/>
                <a:ext cx="11033443" cy="4603894"/>
              </a:xfrm>
            </p:spPr>
            <p:txBody>
              <a:bodyPr>
                <a:normAutofit fontScale="92500" lnSpcReduction="20000"/>
              </a:bodyPr>
              <a:lstStyle/>
              <a:p>
                <a:r>
                  <a:rPr lang="en-IN" b="1" dirty="0"/>
                  <a:t>Description</a:t>
                </a:r>
                <a:r>
                  <a:rPr lang="en-IN" dirty="0"/>
                  <a:t>: Focus on learning representations invariant to small input changes by penalizing the Jacobian of the encoder.</a:t>
                </a:r>
              </a:p>
              <a:p>
                <a:r>
                  <a:rPr lang="en-IN" b="1" dirty="0"/>
                  <a:t>Architecture and How It Works</a:t>
                </a:r>
                <a:r>
                  <a:rPr lang="en-IN" dirty="0"/>
                  <a:t>: Standard setup, but adds a contractive penalty to make the mapping "contractive" in input space.</a:t>
                </a:r>
              </a:p>
              <a:p>
                <a:pPr lvl="1"/>
                <a:r>
                  <a:rPr lang="en-IN" dirty="0"/>
                  <a:t>Loss:</a:t>
                </a:r>
              </a:p>
              <a:p>
                <a14:m>
                  <m:oMath xmlns:m="http://schemas.openxmlformats.org/officeDocument/2006/math">
                    <m:r>
                      <a:rPr lang="en-IN">
                        <a:latin typeface="Cambria Math" panose="02040503050406030204" pitchFamily="18" charset="0"/>
                      </a:rPr>
                      <m:t>ℒ</m:t>
                    </m:r>
                    <m:r>
                      <a:rPr lang="en-IN">
                        <a:latin typeface="Cambria Math" panose="02040503050406030204" pitchFamily="18" charset="0"/>
                      </a:rPr>
                      <m:t>=∥</m:t>
                    </m:r>
                    <m:r>
                      <a:rPr lang="en-IN" i="1">
                        <a:latin typeface="Cambria Math" panose="02040503050406030204" pitchFamily="18" charset="0"/>
                      </a:rPr>
                      <m:t>𝑥</m:t>
                    </m:r>
                    <m:r>
                      <a:rPr lang="en-IN">
                        <a:latin typeface="Cambria Math" panose="02040503050406030204" pitchFamily="18" charset="0"/>
                      </a:rPr>
                      <m:t>−</m:t>
                    </m:r>
                    <m:acc>
                      <m:accPr>
                        <m:chr m:val="̂"/>
                        <m:ctrlPr>
                          <a:rPr lang="ar-AE" i="1">
                            <a:latin typeface="Cambria Math" panose="02040503050406030204" pitchFamily="18" charset="0"/>
                          </a:rPr>
                        </m:ctrlPr>
                      </m:accPr>
                      <m:e>
                        <m:r>
                          <a:rPr lang="ar-AE" i="1">
                            <a:latin typeface="Cambria Math" panose="02040503050406030204" pitchFamily="18" charset="0"/>
                          </a:rPr>
                          <m:t>𝑥</m:t>
                        </m:r>
                      </m:e>
                    </m:acc>
                    <m:sSup>
                      <m:sSupPr>
                        <m:ctrlPr>
                          <a:rPr lang="ar-AE" i="1">
                            <a:latin typeface="Cambria Math" panose="02040503050406030204" pitchFamily="18" charset="0"/>
                          </a:rPr>
                        </m:ctrlPr>
                      </m:sSupPr>
                      <m:e>
                        <m:r>
                          <a:rPr lang="ar-AE">
                            <a:latin typeface="Cambria Math" panose="02040503050406030204" pitchFamily="18" charset="0"/>
                          </a:rPr>
                          <m:t>∥</m:t>
                        </m:r>
                      </m:e>
                      <m:sup>
                        <m:r>
                          <a:rPr lang="ar-AE">
                            <a:latin typeface="Cambria Math" panose="02040503050406030204" pitchFamily="18" charset="0"/>
                          </a:rPr>
                          <m:t>2</m:t>
                        </m:r>
                      </m:sup>
                    </m:sSup>
                    <m:r>
                      <a:rPr lang="ar-AE">
                        <a:latin typeface="Cambria Math" panose="02040503050406030204" pitchFamily="18" charset="0"/>
                      </a:rPr>
                      <m:t>+</m:t>
                    </m:r>
                    <m:r>
                      <a:rPr lang="ar-AE" i="1">
                        <a:latin typeface="Cambria Math" panose="02040503050406030204" pitchFamily="18" charset="0"/>
                      </a:rPr>
                      <m:t>𝜆</m:t>
                    </m:r>
                    <m:sSubSup>
                      <m:sSubSupPr>
                        <m:ctrlPr>
                          <a:rPr lang="ar-AE" i="1">
                            <a:latin typeface="Cambria Math" panose="02040503050406030204" pitchFamily="18" charset="0"/>
                          </a:rPr>
                        </m:ctrlPr>
                      </m:sSubSupPr>
                      <m:e>
                        <m:d>
                          <m:dPr>
                            <m:begChr m:val="∥"/>
                            <m:endChr m:val="∥"/>
                            <m:ctrlPr>
                              <a:rPr lang="ar-AE" i="1">
                                <a:latin typeface="Cambria Math" panose="02040503050406030204" pitchFamily="18" charset="0"/>
                              </a:rPr>
                            </m:ctrlPr>
                          </m:dPr>
                          <m:e>
                            <m:f>
                              <m:fPr>
                                <m:ctrlPr>
                                  <a:rPr lang="ar-AE" i="1">
                                    <a:latin typeface="Cambria Math" panose="02040503050406030204" pitchFamily="18" charset="0"/>
                                  </a:rPr>
                                </m:ctrlPr>
                              </m:fPr>
                              <m:num>
                                <m:r>
                                  <a:rPr lang="ar-AE">
                                    <a:latin typeface="Cambria Math" panose="02040503050406030204" pitchFamily="18" charset="0"/>
                                  </a:rPr>
                                  <m:t>𝜕</m:t>
                                </m:r>
                                <m:r>
                                  <a:rPr lang="ar-AE" i="1">
                                    <a:latin typeface="Cambria Math" panose="02040503050406030204" pitchFamily="18" charset="0"/>
                                  </a:rPr>
                                  <m:t>𝑓</m:t>
                                </m:r>
                                <m:d>
                                  <m:dPr>
                                    <m:ctrlPr>
                                      <a:rPr lang="ar-AE" i="1">
                                        <a:latin typeface="Cambria Math" panose="02040503050406030204" pitchFamily="18" charset="0"/>
                                      </a:rPr>
                                    </m:ctrlPr>
                                  </m:dPr>
                                  <m:e>
                                    <m:r>
                                      <a:rPr lang="ar-AE" i="1">
                                        <a:latin typeface="Cambria Math" panose="02040503050406030204" pitchFamily="18" charset="0"/>
                                      </a:rPr>
                                      <m:t>𝑥</m:t>
                                    </m:r>
                                  </m:e>
                                </m:d>
                              </m:num>
                              <m:den>
                                <m:r>
                                  <a:rPr lang="ar-AE">
                                    <a:latin typeface="Cambria Math" panose="02040503050406030204" pitchFamily="18" charset="0"/>
                                  </a:rPr>
                                  <m:t>𝜕</m:t>
                                </m:r>
                                <m:r>
                                  <a:rPr lang="ar-AE" i="1">
                                    <a:latin typeface="Cambria Math" panose="02040503050406030204" pitchFamily="18" charset="0"/>
                                  </a:rPr>
                                  <m:t>𝑥</m:t>
                                </m:r>
                              </m:den>
                            </m:f>
                          </m:e>
                        </m:d>
                      </m:e>
                      <m:sub>
                        <m:r>
                          <a:rPr lang="ar-AE" i="1">
                            <a:latin typeface="Cambria Math" panose="02040503050406030204" pitchFamily="18" charset="0"/>
                          </a:rPr>
                          <m:t>𝐹</m:t>
                        </m:r>
                      </m:sub>
                      <m:sup>
                        <m:r>
                          <a:rPr lang="ar-AE">
                            <a:latin typeface="Cambria Math" panose="02040503050406030204" pitchFamily="18" charset="0"/>
                          </a:rPr>
                          <m:t>2</m:t>
                        </m:r>
                      </m:sup>
                    </m:sSubSup>
                  </m:oMath>
                </a14:m>
                <a:endParaRPr lang="ar-AE" dirty="0"/>
              </a:p>
              <a:p>
                <a:pPr lvl="1"/>
                <a:r>
                  <a:rPr lang="en-IN" dirty="0"/>
                  <a:t>where </a:t>
                </a:r>
                <a14:m>
                  <m:oMath xmlns:m="http://schemas.openxmlformats.org/officeDocument/2006/math">
                    <m:r>
                      <a:rPr lang="en-IN">
                        <a:latin typeface="Cambria Math" panose="02040503050406030204" pitchFamily="18" charset="0"/>
                      </a:rPr>
                      <m:t>∥⋅</m:t>
                    </m:r>
                    <m:sSub>
                      <m:sSubPr>
                        <m:ctrlPr>
                          <a:rPr lang="ar-AE" i="1">
                            <a:latin typeface="Cambria Math" panose="02040503050406030204" pitchFamily="18" charset="0"/>
                          </a:rPr>
                        </m:ctrlPr>
                      </m:sSubPr>
                      <m:e>
                        <m:r>
                          <a:rPr lang="ar-AE">
                            <a:latin typeface="Cambria Math" panose="02040503050406030204" pitchFamily="18" charset="0"/>
                          </a:rPr>
                          <m:t>∥</m:t>
                        </m:r>
                      </m:e>
                      <m:sub>
                        <m:r>
                          <a:rPr lang="ar-AE" i="1">
                            <a:latin typeface="Cambria Math" panose="02040503050406030204" pitchFamily="18" charset="0"/>
                          </a:rPr>
                          <m:t>𝐹</m:t>
                        </m:r>
                      </m:sub>
                    </m:sSub>
                  </m:oMath>
                </a14:m>
                <a:r>
                  <a:rPr lang="en-IN" dirty="0"/>
                  <a:t>is Frobenius norm.</a:t>
                </a:r>
              </a:p>
              <a:p>
                <a:pPr lvl="1"/>
                <a:r>
                  <a:rPr lang="en-IN" dirty="0"/>
                  <a:t>This encourages a smooth manifold in latent space.</a:t>
                </a:r>
              </a:p>
              <a:p>
                <a:r>
                  <a:rPr lang="en-IN" b="1" dirty="0"/>
                  <a:t>Advantages</a:t>
                </a:r>
                <a:r>
                  <a:rPr lang="en-IN" dirty="0"/>
                  <a:t>: Robust to infinitesimal perturbations; learns invariant features.</a:t>
                </a:r>
              </a:p>
              <a:p>
                <a:r>
                  <a:rPr lang="en-IN" b="1" dirty="0"/>
                  <a:t>Limitations</a:t>
                </a:r>
                <a:r>
                  <a:rPr lang="en-IN" dirty="0"/>
                  <a:t>: Computing the Jacobian is computationally expensive for large networks.</a:t>
                </a:r>
              </a:p>
              <a:p>
                <a:r>
                  <a:rPr lang="en-IN" b="1" dirty="0"/>
                  <a:t>Applications</a:t>
                </a:r>
                <a:r>
                  <a:rPr lang="en-IN" dirty="0"/>
                  <a:t>: Manifold learning; robust classification (e.g., in adversarial settings); audio processing for noise invariance.</a:t>
                </a:r>
              </a:p>
              <a:p>
                <a:endParaRPr lang="en-IN" dirty="0"/>
              </a:p>
            </p:txBody>
          </p:sp>
        </mc:Choice>
        <mc:Fallback xmlns="">
          <p:sp>
            <p:nvSpPr>
              <p:cNvPr id="3" name="Content Placeholder 2">
                <a:extLst>
                  <a:ext uri="{FF2B5EF4-FFF2-40B4-BE49-F238E27FC236}">
                    <a16:creationId xmlns:a16="http://schemas.microsoft.com/office/drawing/2014/main" id="{19B299A0-EF03-E836-775F-067DE0B5E023}"/>
                  </a:ext>
                </a:extLst>
              </p:cNvPr>
              <p:cNvSpPr>
                <a:spLocks noGrp="1" noRot="1" noChangeAspect="1" noMove="1" noResize="1" noEditPoints="1" noAdjustHandles="1" noChangeArrowheads="1" noChangeShapeType="1" noTextEdit="1"/>
              </p:cNvSpPr>
              <p:nvPr>
                <p:ph idx="1"/>
              </p:nvPr>
            </p:nvSpPr>
            <p:spPr>
              <a:xfrm>
                <a:off x="863916" y="1502266"/>
                <a:ext cx="11033443" cy="4603894"/>
              </a:xfrm>
              <a:blipFill>
                <a:blip r:embed="rId2"/>
                <a:stretch>
                  <a:fillRect l="-1492" t="-2646" r="-552"/>
                </a:stretch>
              </a:blipFill>
            </p:spPr>
            <p:txBody>
              <a:bodyPr/>
              <a:lstStyle/>
              <a:p>
                <a:r>
                  <a:rPr lang="en-IN">
                    <a:noFill/>
                  </a:rPr>
                  <a:t> </a:t>
                </a:r>
              </a:p>
            </p:txBody>
          </p:sp>
        </mc:Fallback>
      </mc:AlternateContent>
    </p:spTree>
    <p:extLst>
      <p:ext uri="{BB962C8B-B14F-4D97-AF65-F5344CB8AC3E}">
        <p14:creationId xmlns:p14="http://schemas.microsoft.com/office/powerpoint/2010/main" val="1608794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70A1FA-8A92-94A0-0323-B4E46A98C617}"/>
              </a:ext>
            </a:extLst>
          </p:cNvPr>
          <p:cNvSpPr>
            <a:spLocks noGrp="1"/>
          </p:cNvSpPr>
          <p:nvPr>
            <p:ph type="title"/>
          </p:nvPr>
        </p:nvSpPr>
        <p:spPr/>
        <p:txBody>
          <a:bodyPr>
            <a:normAutofit fontScale="90000"/>
          </a:bodyPr>
          <a:lstStyle/>
          <a:p>
            <a:r>
              <a:rPr lang="en-US" dirty="0"/>
              <a:t>Contractive Autoencoder (CAE)</a:t>
            </a:r>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24D1263-B726-777C-B25A-A845BC764655}"/>
                  </a:ext>
                </a:extLst>
              </p:cNvPr>
              <p:cNvSpPr>
                <a:spLocks noGrp="1"/>
              </p:cNvSpPr>
              <p:nvPr>
                <p:ph idx="1"/>
              </p:nvPr>
            </p:nvSpPr>
            <p:spPr>
              <a:xfrm>
                <a:off x="843280" y="1452880"/>
                <a:ext cx="10962640" cy="4775200"/>
              </a:xfrm>
            </p:spPr>
            <p:txBody>
              <a:bodyPr>
                <a:normAutofit fontScale="85000" lnSpcReduction="20000"/>
              </a:bodyPr>
              <a:lstStyle/>
              <a:p>
                <a:r>
                  <a:rPr lang="en-US" dirty="0"/>
                  <a:t>A </a:t>
                </a:r>
                <a:r>
                  <a:rPr lang="en-US" b="1" dirty="0"/>
                  <a:t>Contractive Autoencoder (CAE)</a:t>
                </a:r>
                <a:r>
                  <a:rPr lang="en-US" dirty="0"/>
                  <a:t> is designed to learn </a:t>
                </a:r>
                <a:r>
                  <a:rPr lang="en-US" b="1" dirty="0"/>
                  <a:t>robust and stable feature representations</a:t>
                </a:r>
                <a:r>
                  <a:rPr lang="en-US" dirty="0"/>
                  <a:t> by making the encoder </a:t>
                </a:r>
                <a:r>
                  <a:rPr lang="en-US" b="1" dirty="0"/>
                  <a:t>insensitive to small changes</a:t>
                </a:r>
                <a:r>
                  <a:rPr lang="en-US" dirty="0"/>
                  <a:t> in the input.</a:t>
                </a:r>
              </a:p>
              <a:p>
                <a:r>
                  <a:rPr lang="en-US" dirty="0"/>
                  <a:t> Unlike Sparse AE (few neurons active)</a:t>
                </a:r>
                <a:br>
                  <a:rPr lang="en-US" dirty="0"/>
                </a:br>
                <a:r>
                  <a:rPr lang="en-US" dirty="0"/>
                  <a:t> Unlike Denoising AE (reconstruct clean from noisy)</a:t>
                </a:r>
                <a:br>
                  <a:rPr lang="en-US" dirty="0"/>
                </a:br>
                <a:r>
                  <a:rPr lang="en-US" dirty="0"/>
                  <a:t> </a:t>
                </a:r>
                <a:r>
                  <a:rPr lang="en-US" b="1" dirty="0"/>
                  <a:t>CAE forces the representation to change very little for small input perturbations</a:t>
                </a:r>
                <a:endParaRPr lang="en-US" dirty="0"/>
              </a:p>
              <a:p>
                <a:r>
                  <a:rPr lang="en-IN" dirty="0"/>
                  <a:t>If input slightly changes:</a:t>
                </a:r>
              </a:p>
              <a:p>
                <a14:m>
                  <m:oMath xmlns:m="http://schemas.openxmlformats.org/officeDocument/2006/math">
                    <m:r>
                      <a:rPr lang="en-IN" i="1">
                        <a:latin typeface="Cambria Math" panose="02040503050406030204" pitchFamily="18" charset="0"/>
                      </a:rPr>
                      <m:t>𝑥</m:t>
                    </m:r>
                    <m:r>
                      <a:rPr lang="en-IN">
                        <a:latin typeface="Cambria Math" panose="02040503050406030204" pitchFamily="18" charset="0"/>
                      </a:rPr>
                      <m:t>→</m:t>
                    </m:r>
                    <m:r>
                      <a:rPr lang="en-IN" i="1">
                        <a:latin typeface="Cambria Math" panose="02040503050406030204" pitchFamily="18" charset="0"/>
                      </a:rPr>
                      <m:t>𝑥</m:t>
                    </m:r>
                    <m:r>
                      <a:rPr lang="en-IN">
                        <a:latin typeface="Cambria Math" panose="02040503050406030204" pitchFamily="18" charset="0"/>
                      </a:rPr>
                      <m:t>+</m:t>
                    </m:r>
                    <m:r>
                      <a:rPr lang="en-IN" i="1">
                        <a:latin typeface="Cambria Math" panose="02040503050406030204" pitchFamily="18" charset="0"/>
                      </a:rPr>
                      <m:t>𝜖</m:t>
                    </m:r>
                  </m:oMath>
                </a14:m>
                <a:endParaRPr lang="en-IN" dirty="0"/>
              </a:p>
              <a:p>
                <a:r>
                  <a:rPr lang="en-IN" dirty="0"/>
                  <a:t>hidden representation should remain almost same:</a:t>
                </a:r>
              </a:p>
              <a:p>
                <a14:m>
                  <m:oMath xmlns:m="http://schemas.openxmlformats.org/officeDocument/2006/math">
                    <m:r>
                      <a:rPr lang="en-IN" i="1">
                        <a:latin typeface="Cambria Math" panose="02040503050406030204" pitchFamily="18" charset="0"/>
                      </a:rPr>
                      <m:t>h</m:t>
                    </m:r>
                    <m:d>
                      <m:dPr>
                        <m:ctrlPr>
                          <a:rPr lang="ar-AE" i="1">
                            <a:latin typeface="Cambria Math" panose="02040503050406030204" pitchFamily="18" charset="0"/>
                          </a:rPr>
                        </m:ctrlPr>
                      </m:dPr>
                      <m:e>
                        <m:r>
                          <a:rPr lang="ar-AE" i="1">
                            <a:latin typeface="Cambria Math" panose="02040503050406030204" pitchFamily="18" charset="0"/>
                          </a:rPr>
                          <m:t>𝑥</m:t>
                        </m:r>
                      </m:e>
                    </m:d>
                    <m:r>
                      <a:rPr lang="ar-AE">
                        <a:latin typeface="Cambria Math" panose="02040503050406030204" pitchFamily="18" charset="0"/>
                      </a:rPr>
                      <m:t>≈</m:t>
                    </m:r>
                    <m:r>
                      <a:rPr lang="ar-AE" i="1">
                        <a:latin typeface="Cambria Math" panose="02040503050406030204" pitchFamily="18" charset="0"/>
                      </a:rPr>
                      <m:t>h</m:t>
                    </m:r>
                    <m:d>
                      <m:dPr>
                        <m:ctrlPr>
                          <a:rPr lang="ar-AE" i="1">
                            <a:latin typeface="Cambria Math" panose="02040503050406030204" pitchFamily="18" charset="0"/>
                          </a:rPr>
                        </m:ctrlPr>
                      </m:dPr>
                      <m:e>
                        <m:r>
                          <a:rPr lang="ar-AE" i="1">
                            <a:latin typeface="Cambria Math" panose="02040503050406030204" pitchFamily="18" charset="0"/>
                          </a:rPr>
                          <m:t>𝑥</m:t>
                        </m:r>
                        <m:r>
                          <a:rPr lang="ar-AE">
                            <a:latin typeface="Cambria Math" panose="02040503050406030204" pitchFamily="18" charset="0"/>
                          </a:rPr>
                          <m:t>+</m:t>
                        </m:r>
                        <m:r>
                          <a:rPr lang="ar-AE" i="1">
                            <a:latin typeface="Cambria Math" panose="02040503050406030204" pitchFamily="18" charset="0"/>
                          </a:rPr>
                          <m:t>𝜖</m:t>
                        </m:r>
                      </m:e>
                    </m:d>
                  </m:oMath>
                </a14:m>
                <a:endParaRPr lang="ar-AE" dirty="0"/>
              </a:p>
              <a:p>
                <a:r>
                  <a:rPr lang="en-IN" dirty="0"/>
                  <a:t>This makes features:</a:t>
                </a:r>
              </a:p>
              <a:p>
                <a:r>
                  <a:rPr lang="en-IN" dirty="0"/>
                  <a:t> robust</a:t>
                </a:r>
                <a:br>
                  <a:rPr lang="en-IN" dirty="0"/>
                </a:br>
                <a:r>
                  <a:rPr lang="en-IN" dirty="0"/>
                  <a:t> noise-insensitive</a:t>
                </a:r>
                <a:br>
                  <a:rPr lang="en-IN" dirty="0"/>
                </a:br>
                <a:r>
                  <a:rPr lang="en-IN" dirty="0"/>
                  <a:t> stable</a:t>
                </a:r>
                <a:br>
                  <a:rPr lang="en-IN" dirty="0"/>
                </a:br>
                <a:r>
                  <a:rPr lang="en-IN" dirty="0"/>
                  <a:t> smooth</a:t>
                </a:r>
              </a:p>
              <a:p>
                <a:endParaRPr lang="en-IN" dirty="0"/>
              </a:p>
            </p:txBody>
          </p:sp>
        </mc:Choice>
        <mc:Fallback xmlns="">
          <p:sp>
            <p:nvSpPr>
              <p:cNvPr id="3" name="Content Placeholder 2">
                <a:extLst>
                  <a:ext uri="{FF2B5EF4-FFF2-40B4-BE49-F238E27FC236}">
                    <a16:creationId xmlns:a16="http://schemas.microsoft.com/office/drawing/2014/main" id="{524D1263-B726-777C-B25A-A845BC764655}"/>
                  </a:ext>
                </a:extLst>
              </p:cNvPr>
              <p:cNvSpPr>
                <a:spLocks noGrp="1" noRot="1" noChangeAspect="1" noMove="1" noResize="1" noEditPoints="1" noAdjustHandles="1" noChangeArrowheads="1" noChangeShapeType="1" noTextEdit="1"/>
              </p:cNvSpPr>
              <p:nvPr>
                <p:ph idx="1"/>
              </p:nvPr>
            </p:nvSpPr>
            <p:spPr>
              <a:xfrm>
                <a:off x="843280" y="1452880"/>
                <a:ext cx="10962640" cy="4775200"/>
              </a:xfrm>
              <a:blipFill>
                <a:blip r:embed="rId2"/>
                <a:stretch>
                  <a:fillRect l="-1334" t="-2296"/>
                </a:stretch>
              </a:blipFill>
            </p:spPr>
            <p:txBody>
              <a:bodyPr/>
              <a:lstStyle/>
              <a:p>
                <a:r>
                  <a:rPr lang="en-IN">
                    <a:noFill/>
                  </a:rPr>
                  <a:t> </a:t>
                </a:r>
              </a:p>
            </p:txBody>
          </p:sp>
        </mc:Fallback>
      </mc:AlternateContent>
    </p:spTree>
    <p:extLst>
      <p:ext uri="{BB962C8B-B14F-4D97-AF65-F5344CB8AC3E}">
        <p14:creationId xmlns:p14="http://schemas.microsoft.com/office/powerpoint/2010/main" val="306052685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93976C-5A84-3A91-3958-86FFE8D25C6C}"/>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8E8DBE6E-6DEB-AB7D-C6A5-FA38FE78D03E}"/>
              </a:ext>
            </a:extLst>
          </p:cNvPr>
          <p:cNvSpPr>
            <a:spLocks noGrp="1"/>
          </p:cNvSpPr>
          <p:nvPr>
            <p:ph idx="1"/>
          </p:nvPr>
        </p:nvSpPr>
        <p:spPr/>
        <p:txBody>
          <a:bodyPr/>
          <a:lstStyle/>
          <a:p>
            <a:r>
              <a:rPr lang="en-US" dirty="0"/>
              <a:t>. This term penalizes large derivatives of the encoder function with respect to the input, making the representation more robust to small perturbations in the input data. </a:t>
            </a:r>
          </a:p>
          <a:p>
            <a:r>
              <a:rPr lang="en-US" dirty="0"/>
              <a:t>The idea is to encourage the mapping to the latent space to be "contractive," meaning nearby inputs map to nearby points in the latent space, improving robustness and feature extraction.</a:t>
            </a:r>
          </a:p>
          <a:p>
            <a:endParaRPr lang="en-IN" dirty="0"/>
          </a:p>
        </p:txBody>
      </p:sp>
    </p:spTree>
    <p:extLst>
      <p:ext uri="{BB962C8B-B14F-4D97-AF65-F5344CB8AC3E}">
        <p14:creationId xmlns:p14="http://schemas.microsoft.com/office/powerpoint/2010/main" val="426485633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02A8DA-29B0-5C9B-30EC-5EA71838D3D1}"/>
              </a:ext>
            </a:extLst>
          </p:cNvPr>
          <p:cNvSpPr>
            <a:spLocks noGrp="1"/>
          </p:cNvSpPr>
          <p:nvPr>
            <p:ph type="title"/>
          </p:nvPr>
        </p:nvSpPr>
        <p:spPr/>
        <p:txBody>
          <a:bodyPr>
            <a:normAutofit fontScale="90000"/>
          </a:bodyPr>
          <a:lstStyle/>
          <a:p>
            <a:endParaRPr lang="en-IN"/>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4D889D2-AEC7-B90D-2EBF-AA79E4CCC69C}"/>
                  </a:ext>
                </a:extLst>
              </p:cNvPr>
              <p:cNvSpPr>
                <a:spLocks noGrp="1"/>
              </p:cNvSpPr>
              <p:nvPr>
                <p:ph idx="1"/>
              </p:nvPr>
            </p:nvSpPr>
            <p:spPr>
              <a:xfrm>
                <a:off x="934720" y="1473200"/>
                <a:ext cx="10292397" cy="4653070"/>
              </a:xfrm>
            </p:spPr>
            <p:txBody>
              <a:bodyPr>
                <a:normAutofit fontScale="92500" lnSpcReduction="20000"/>
              </a:bodyPr>
              <a:lstStyle/>
              <a:p>
                <a:r>
                  <a:rPr lang="en-IN" b="1" dirty="0"/>
                  <a:t>Mathematical Formulation</a:t>
                </a:r>
              </a:p>
              <a:p>
                <a:r>
                  <a:rPr lang="en-IN" b="1" dirty="0"/>
                  <a:t>Encoder</a:t>
                </a:r>
              </a:p>
              <a:p>
                <a14:m>
                  <m:oMath xmlns:m="http://schemas.openxmlformats.org/officeDocument/2006/math">
                    <m:r>
                      <a:rPr lang="en-IN" i="1">
                        <a:latin typeface="Cambria Math" panose="02040503050406030204" pitchFamily="18" charset="0"/>
                      </a:rPr>
                      <m:t>h</m:t>
                    </m:r>
                    <m:r>
                      <a:rPr lang="en-IN">
                        <a:latin typeface="Cambria Math" panose="02040503050406030204" pitchFamily="18" charset="0"/>
                      </a:rPr>
                      <m:t>=</m:t>
                    </m:r>
                    <m:r>
                      <a:rPr lang="en-IN" i="1">
                        <a:latin typeface="Cambria Math" panose="02040503050406030204" pitchFamily="18" charset="0"/>
                      </a:rPr>
                      <m:t>𝜎</m:t>
                    </m:r>
                    <m:d>
                      <m:dPr>
                        <m:ctrlPr>
                          <a:rPr lang="ar-AE" i="1">
                            <a:latin typeface="Cambria Math" panose="02040503050406030204" pitchFamily="18" charset="0"/>
                          </a:rPr>
                        </m:ctrlPr>
                      </m:dPr>
                      <m:e>
                        <m:r>
                          <a:rPr lang="ar-AE" i="1">
                            <a:latin typeface="Cambria Math" panose="02040503050406030204" pitchFamily="18" charset="0"/>
                          </a:rPr>
                          <m:t>𝑊𝑥</m:t>
                        </m:r>
                        <m:r>
                          <a:rPr lang="ar-AE">
                            <a:latin typeface="Cambria Math" panose="02040503050406030204" pitchFamily="18" charset="0"/>
                          </a:rPr>
                          <m:t>+</m:t>
                        </m:r>
                        <m:r>
                          <a:rPr lang="ar-AE" i="1">
                            <a:latin typeface="Cambria Math" panose="02040503050406030204" pitchFamily="18" charset="0"/>
                          </a:rPr>
                          <m:t>𝑏</m:t>
                        </m:r>
                      </m:e>
                    </m:d>
                  </m:oMath>
                </a14:m>
                <a:endParaRPr lang="ar-AE" dirty="0"/>
              </a:p>
              <a:p>
                <a:r>
                  <a:rPr lang="en-IN" b="1" dirty="0"/>
                  <a:t>Decoder</a:t>
                </a:r>
              </a:p>
              <a:p>
                <a14:m>
                  <m:oMath xmlns:m="http://schemas.openxmlformats.org/officeDocument/2006/math">
                    <m:acc>
                      <m:accPr>
                        <m:chr m:val="̂"/>
                        <m:ctrlPr>
                          <a:rPr lang="ar-AE" i="1">
                            <a:latin typeface="Cambria Math" panose="02040503050406030204" pitchFamily="18" charset="0"/>
                          </a:rPr>
                        </m:ctrlPr>
                      </m:accPr>
                      <m:e>
                        <m:r>
                          <a:rPr lang="ar-AE" i="1">
                            <a:latin typeface="Cambria Math" panose="02040503050406030204" pitchFamily="18" charset="0"/>
                          </a:rPr>
                          <m:t>𝑥</m:t>
                        </m:r>
                      </m:e>
                    </m:acc>
                    <m:r>
                      <a:rPr lang="ar-AE">
                        <a:latin typeface="Cambria Math" panose="02040503050406030204" pitchFamily="18" charset="0"/>
                      </a:rPr>
                      <m:t>=</m:t>
                    </m:r>
                    <m:r>
                      <a:rPr lang="ar-AE" i="1">
                        <a:latin typeface="Cambria Math" panose="02040503050406030204" pitchFamily="18" charset="0"/>
                      </a:rPr>
                      <m:t>𝜎</m:t>
                    </m:r>
                    <m:d>
                      <m:dPr>
                        <m:ctrlPr>
                          <a:rPr lang="ar-AE" i="1">
                            <a:latin typeface="Cambria Math" panose="02040503050406030204" pitchFamily="18" charset="0"/>
                          </a:rPr>
                        </m:ctrlPr>
                      </m:dPr>
                      <m:e>
                        <m:sSup>
                          <m:sSupPr>
                            <m:ctrlPr>
                              <a:rPr lang="ar-AE" i="1">
                                <a:latin typeface="Cambria Math" panose="02040503050406030204" pitchFamily="18" charset="0"/>
                              </a:rPr>
                            </m:ctrlPr>
                          </m:sSupPr>
                          <m:e>
                            <m:r>
                              <a:rPr lang="ar-AE" i="1">
                                <a:latin typeface="Cambria Math" panose="02040503050406030204" pitchFamily="18" charset="0"/>
                              </a:rPr>
                              <m:t>𝑊</m:t>
                            </m:r>
                          </m:e>
                          <m:sup>
                            <m:r>
                              <a:rPr lang="ar-AE">
                                <a:latin typeface="Cambria Math" panose="02040503050406030204" pitchFamily="18" charset="0"/>
                              </a:rPr>
                              <m:t>′</m:t>
                            </m:r>
                          </m:sup>
                        </m:sSup>
                        <m:r>
                          <a:rPr lang="ar-AE" i="1">
                            <a:latin typeface="Cambria Math" panose="02040503050406030204" pitchFamily="18" charset="0"/>
                          </a:rPr>
                          <m:t>h</m:t>
                        </m:r>
                        <m:r>
                          <a:rPr lang="ar-AE">
                            <a:latin typeface="Cambria Math" panose="02040503050406030204" pitchFamily="18" charset="0"/>
                          </a:rPr>
                          <m:t>+</m:t>
                        </m:r>
                        <m:sSup>
                          <m:sSupPr>
                            <m:ctrlPr>
                              <a:rPr lang="ar-AE" i="1">
                                <a:latin typeface="Cambria Math" panose="02040503050406030204" pitchFamily="18" charset="0"/>
                              </a:rPr>
                            </m:ctrlPr>
                          </m:sSupPr>
                          <m:e>
                            <m:r>
                              <a:rPr lang="ar-AE" i="1">
                                <a:latin typeface="Cambria Math" panose="02040503050406030204" pitchFamily="18" charset="0"/>
                              </a:rPr>
                              <m:t>𝑏</m:t>
                            </m:r>
                          </m:e>
                          <m:sup>
                            <m:r>
                              <a:rPr lang="ar-AE">
                                <a:latin typeface="Cambria Math" panose="02040503050406030204" pitchFamily="18" charset="0"/>
                              </a:rPr>
                              <m:t>′</m:t>
                            </m:r>
                          </m:sup>
                        </m:sSup>
                      </m:e>
                    </m:d>
                  </m:oMath>
                </a14:m>
                <a:endParaRPr lang="ar-AE" dirty="0"/>
              </a:p>
              <a:p>
                <a:r>
                  <a:rPr lang="en-IN" b="1" dirty="0"/>
                  <a:t>Reconstruction Loss</a:t>
                </a:r>
              </a:p>
              <a:p>
                <a14:m>
                  <m:oMath xmlns:m="http://schemas.openxmlformats.org/officeDocument/2006/math">
                    <m:r>
                      <a:rPr lang="en-IN" i="1">
                        <a:latin typeface="Cambria Math" panose="02040503050406030204" pitchFamily="18" charset="0"/>
                      </a:rPr>
                      <m:t>𝐿</m:t>
                    </m:r>
                    <m:r>
                      <a:rPr lang="en-IN">
                        <a:latin typeface="Cambria Math" panose="02040503050406030204" pitchFamily="18" charset="0"/>
                      </a:rPr>
                      <m:t>=∥</m:t>
                    </m:r>
                    <m:r>
                      <a:rPr lang="en-IN" i="1">
                        <a:latin typeface="Cambria Math" panose="02040503050406030204" pitchFamily="18" charset="0"/>
                      </a:rPr>
                      <m:t>𝑥</m:t>
                    </m:r>
                    <m:r>
                      <a:rPr lang="en-IN">
                        <a:latin typeface="Cambria Math" panose="02040503050406030204" pitchFamily="18" charset="0"/>
                      </a:rPr>
                      <m:t>−</m:t>
                    </m:r>
                    <m:acc>
                      <m:accPr>
                        <m:chr m:val="̂"/>
                        <m:ctrlPr>
                          <a:rPr lang="ar-AE" i="1">
                            <a:latin typeface="Cambria Math" panose="02040503050406030204" pitchFamily="18" charset="0"/>
                          </a:rPr>
                        </m:ctrlPr>
                      </m:accPr>
                      <m:e>
                        <m:r>
                          <a:rPr lang="ar-AE" i="1">
                            <a:latin typeface="Cambria Math" panose="02040503050406030204" pitchFamily="18" charset="0"/>
                          </a:rPr>
                          <m:t>𝑥</m:t>
                        </m:r>
                      </m:e>
                    </m:acc>
                    <m:sSup>
                      <m:sSupPr>
                        <m:ctrlPr>
                          <a:rPr lang="ar-AE" i="1">
                            <a:latin typeface="Cambria Math" panose="02040503050406030204" pitchFamily="18" charset="0"/>
                          </a:rPr>
                        </m:ctrlPr>
                      </m:sSupPr>
                      <m:e>
                        <m:r>
                          <a:rPr lang="ar-AE">
                            <a:latin typeface="Cambria Math" panose="02040503050406030204" pitchFamily="18" charset="0"/>
                          </a:rPr>
                          <m:t>∥</m:t>
                        </m:r>
                      </m:e>
                      <m:sup>
                        <m:r>
                          <a:rPr lang="ar-AE">
                            <a:latin typeface="Cambria Math" panose="02040503050406030204" pitchFamily="18" charset="0"/>
                          </a:rPr>
                          <m:t>2</m:t>
                        </m:r>
                      </m:sup>
                    </m:sSup>
                  </m:oMath>
                </a14:m>
                <a:endParaRPr lang="ar-AE" dirty="0"/>
              </a:p>
              <a:p>
                <a:r>
                  <a:rPr lang="en-IN" b="1" dirty="0"/>
                  <a:t>Contractive Penalty</a:t>
                </a:r>
              </a:p>
              <a:p>
                <a:r>
                  <a:rPr lang="en-IN" dirty="0"/>
                  <a:t>CAE penalizes the </a:t>
                </a:r>
                <a:r>
                  <a:rPr lang="en-IN" b="1" dirty="0"/>
                  <a:t>Jacobian of hidden activations</a:t>
                </a:r>
                <a:r>
                  <a:rPr lang="en-IN" dirty="0"/>
                  <a:t> w.r.t input.</a:t>
                </a:r>
              </a:p>
              <a:p>
                <a14:m>
                  <m:oMath xmlns:m="http://schemas.openxmlformats.org/officeDocument/2006/math">
                    <m:r>
                      <m:rPr>
                        <m:sty m:val="p"/>
                      </m:rPr>
                      <a:rPr lang="el-GR">
                        <a:latin typeface="Cambria Math" panose="02040503050406030204" pitchFamily="18" charset="0"/>
                      </a:rPr>
                      <m:t>Ω</m:t>
                    </m:r>
                    <m:r>
                      <a:rPr lang="el-GR">
                        <a:latin typeface="Cambria Math" panose="02040503050406030204" pitchFamily="18" charset="0"/>
                      </a:rPr>
                      <m:t>=</m:t>
                    </m:r>
                    <m:r>
                      <a:rPr lang="el-GR" i="1">
                        <a:latin typeface="Cambria Math" panose="02040503050406030204" pitchFamily="18" charset="0"/>
                      </a:rPr>
                      <m:t>𝜆</m:t>
                    </m:r>
                    <m:sSup>
                      <m:sSupPr>
                        <m:ctrlPr>
                          <a:rPr lang="ar-AE" i="1">
                            <a:latin typeface="Cambria Math" panose="02040503050406030204" pitchFamily="18" charset="0"/>
                          </a:rPr>
                        </m:ctrlPr>
                      </m:sSupPr>
                      <m:e>
                        <m:d>
                          <m:dPr>
                            <m:begChr m:val="∥"/>
                            <m:endChr m:val="∥"/>
                            <m:ctrlPr>
                              <a:rPr lang="ar-AE" i="1">
                                <a:latin typeface="Cambria Math" panose="02040503050406030204" pitchFamily="18" charset="0"/>
                              </a:rPr>
                            </m:ctrlPr>
                          </m:dPr>
                          <m:e>
                            <m:f>
                              <m:fPr>
                                <m:ctrlPr>
                                  <a:rPr lang="ar-AE" i="1">
                                    <a:latin typeface="Cambria Math" panose="02040503050406030204" pitchFamily="18" charset="0"/>
                                  </a:rPr>
                                </m:ctrlPr>
                              </m:fPr>
                              <m:num>
                                <m:r>
                                  <a:rPr lang="ar-AE">
                                    <a:latin typeface="Cambria Math" panose="02040503050406030204" pitchFamily="18" charset="0"/>
                                  </a:rPr>
                                  <m:t>𝜕</m:t>
                                </m:r>
                                <m:r>
                                  <a:rPr lang="ar-AE" i="1">
                                    <a:latin typeface="Cambria Math" panose="02040503050406030204" pitchFamily="18" charset="0"/>
                                  </a:rPr>
                                  <m:t>h</m:t>
                                </m:r>
                              </m:num>
                              <m:den>
                                <m:r>
                                  <a:rPr lang="ar-AE">
                                    <a:latin typeface="Cambria Math" panose="02040503050406030204" pitchFamily="18" charset="0"/>
                                  </a:rPr>
                                  <m:t>𝜕</m:t>
                                </m:r>
                                <m:r>
                                  <a:rPr lang="ar-AE" i="1">
                                    <a:latin typeface="Cambria Math" panose="02040503050406030204" pitchFamily="18" charset="0"/>
                                  </a:rPr>
                                  <m:t>𝑥</m:t>
                                </m:r>
                              </m:den>
                            </m:f>
                          </m:e>
                        </m:d>
                      </m:e>
                      <m:sup>
                        <m:r>
                          <a:rPr lang="ar-AE">
                            <a:latin typeface="Cambria Math" panose="02040503050406030204" pitchFamily="18" charset="0"/>
                          </a:rPr>
                          <m:t>2</m:t>
                        </m:r>
                      </m:sup>
                    </m:sSup>
                  </m:oMath>
                </a14:m>
                <a:endParaRPr lang="ar-AE" dirty="0"/>
              </a:p>
              <a:p>
                <a:endParaRPr lang="en-IN" dirty="0"/>
              </a:p>
            </p:txBody>
          </p:sp>
        </mc:Choice>
        <mc:Fallback xmlns="">
          <p:sp>
            <p:nvSpPr>
              <p:cNvPr id="3" name="Content Placeholder 2">
                <a:extLst>
                  <a:ext uri="{FF2B5EF4-FFF2-40B4-BE49-F238E27FC236}">
                    <a16:creationId xmlns:a16="http://schemas.microsoft.com/office/drawing/2014/main" id="{04D889D2-AEC7-B90D-2EBF-AA79E4CCC69C}"/>
                  </a:ext>
                </a:extLst>
              </p:cNvPr>
              <p:cNvSpPr>
                <a:spLocks noGrp="1" noRot="1" noChangeAspect="1" noMove="1" noResize="1" noEditPoints="1" noAdjustHandles="1" noChangeArrowheads="1" noChangeShapeType="1" noTextEdit="1"/>
              </p:cNvSpPr>
              <p:nvPr>
                <p:ph idx="1"/>
              </p:nvPr>
            </p:nvSpPr>
            <p:spPr>
              <a:xfrm>
                <a:off x="934720" y="1473200"/>
                <a:ext cx="10292397" cy="4653070"/>
              </a:xfrm>
              <a:blipFill>
                <a:blip r:embed="rId2"/>
                <a:stretch>
                  <a:fillRect l="-1539" t="-2752"/>
                </a:stretch>
              </a:blipFill>
            </p:spPr>
            <p:txBody>
              <a:bodyPr/>
              <a:lstStyle/>
              <a:p>
                <a:r>
                  <a:rPr lang="en-IN">
                    <a:noFill/>
                  </a:rPr>
                  <a:t> </a:t>
                </a:r>
              </a:p>
            </p:txBody>
          </p:sp>
        </mc:Fallback>
      </mc:AlternateContent>
    </p:spTree>
    <p:extLst>
      <p:ext uri="{BB962C8B-B14F-4D97-AF65-F5344CB8AC3E}">
        <p14:creationId xmlns:p14="http://schemas.microsoft.com/office/powerpoint/2010/main" val="222024982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57911F-2720-819C-9025-C2A3336D7C13}"/>
              </a:ext>
            </a:extLst>
          </p:cNvPr>
          <p:cNvSpPr>
            <a:spLocks noGrp="1"/>
          </p:cNvSpPr>
          <p:nvPr>
            <p:ph type="title"/>
          </p:nvPr>
        </p:nvSpPr>
        <p:spPr/>
        <p:txBody>
          <a:bodyPr>
            <a:normAutofit fontScale="90000"/>
          </a:bodyPr>
          <a:lstStyle/>
          <a:p>
            <a:endParaRPr lang="en-IN"/>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981FAA1-372F-6AF1-86F4-841960538EA7}"/>
                  </a:ext>
                </a:extLst>
              </p:cNvPr>
              <p:cNvSpPr>
                <a:spLocks noGrp="1"/>
              </p:cNvSpPr>
              <p:nvPr>
                <p:ph idx="1"/>
              </p:nvPr>
            </p:nvSpPr>
            <p:spPr>
              <a:xfrm>
                <a:off x="944880" y="1259840"/>
                <a:ext cx="10282237" cy="4866430"/>
              </a:xfrm>
            </p:spPr>
            <p:txBody>
              <a:bodyPr/>
              <a:lstStyle/>
              <a:p>
                <a:r>
                  <a:rPr lang="en-IN" b="1" dirty="0"/>
                  <a:t>For sigmoid activation:</a:t>
                </a:r>
              </a:p>
              <a:p>
                <a14:m>
                  <m:oMath xmlns:m="http://schemas.openxmlformats.org/officeDocument/2006/math">
                    <m:f>
                      <m:fPr>
                        <m:ctrlPr>
                          <a:rPr lang="ar-AE" i="1">
                            <a:latin typeface="Cambria Math" panose="02040503050406030204" pitchFamily="18" charset="0"/>
                          </a:rPr>
                        </m:ctrlPr>
                      </m:fPr>
                      <m:num>
                        <m:r>
                          <a:rPr lang="ar-AE">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h</m:t>
                            </m:r>
                          </m:e>
                          <m:sub>
                            <m:r>
                              <a:rPr lang="ar-AE" i="1">
                                <a:latin typeface="Cambria Math" panose="02040503050406030204" pitchFamily="18" charset="0"/>
                              </a:rPr>
                              <m:t>𝑗</m:t>
                            </m:r>
                          </m:sub>
                        </m:sSub>
                      </m:num>
                      <m:den>
                        <m:r>
                          <a:rPr lang="ar-AE">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𝑥</m:t>
                            </m:r>
                          </m:e>
                          <m:sub>
                            <m:r>
                              <a:rPr lang="ar-AE" i="1">
                                <a:latin typeface="Cambria Math" panose="02040503050406030204" pitchFamily="18" charset="0"/>
                              </a:rPr>
                              <m:t>𝑖</m:t>
                            </m:r>
                          </m:sub>
                        </m:sSub>
                      </m:den>
                    </m:f>
                    <m:r>
                      <a:rPr lang="ar-AE">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h</m:t>
                        </m:r>
                      </m:e>
                      <m:sub>
                        <m:r>
                          <a:rPr lang="ar-AE" i="1">
                            <a:latin typeface="Cambria Math" panose="02040503050406030204" pitchFamily="18" charset="0"/>
                          </a:rPr>
                          <m:t>𝑗</m:t>
                        </m:r>
                      </m:sub>
                    </m:sSub>
                    <m:d>
                      <m:dPr>
                        <m:ctrlPr>
                          <a:rPr lang="ar-AE" i="1">
                            <a:latin typeface="Cambria Math" panose="02040503050406030204" pitchFamily="18" charset="0"/>
                          </a:rPr>
                        </m:ctrlPr>
                      </m:dPr>
                      <m:e>
                        <m:r>
                          <a:rPr lang="ar-AE">
                            <a:latin typeface="Cambria Math" panose="02040503050406030204" pitchFamily="18" charset="0"/>
                          </a:rPr>
                          <m:t>1</m:t>
                        </m:r>
                        <m:r>
                          <a:rPr lang="ar-AE">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h</m:t>
                            </m:r>
                          </m:e>
                          <m:sub>
                            <m:r>
                              <a:rPr lang="ar-AE" i="1">
                                <a:latin typeface="Cambria Math" panose="02040503050406030204" pitchFamily="18" charset="0"/>
                              </a:rPr>
                              <m:t>𝑗</m:t>
                            </m:r>
                          </m:sub>
                        </m:sSub>
                      </m:e>
                    </m:d>
                    <m:sSub>
                      <m:sSubPr>
                        <m:ctrlPr>
                          <a:rPr lang="ar-AE" i="1">
                            <a:latin typeface="Cambria Math" panose="02040503050406030204" pitchFamily="18" charset="0"/>
                          </a:rPr>
                        </m:ctrlPr>
                      </m:sSubPr>
                      <m:e>
                        <m:r>
                          <a:rPr lang="ar-AE" i="1">
                            <a:latin typeface="Cambria Math" panose="02040503050406030204" pitchFamily="18" charset="0"/>
                          </a:rPr>
                          <m:t>𝑊</m:t>
                        </m:r>
                      </m:e>
                      <m:sub>
                        <m:r>
                          <a:rPr lang="ar-AE" i="1">
                            <a:latin typeface="Cambria Math" panose="02040503050406030204" pitchFamily="18" charset="0"/>
                          </a:rPr>
                          <m:t>𝑗𝑖</m:t>
                        </m:r>
                      </m:sub>
                    </m:sSub>
                  </m:oMath>
                </a14:m>
                <a:endParaRPr lang="ar-AE" dirty="0"/>
              </a:p>
              <a:p>
                <a:r>
                  <a:rPr lang="en-IN" dirty="0"/>
                  <a:t>Contractive penalty becomes:</a:t>
                </a:r>
              </a:p>
              <a:p>
                <a14:m>
                  <m:oMath xmlns:m="http://schemas.openxmlformats.org/officeDocument/2006/math">
                    <m:r>
                      <m:rPr>
                        <m:sty m:val="p"/>
                      </m:rPr>
                      <a:rPr lang="el-GR">
                        <a:latin typeface="Cambria Math" panose="02040503050406030204" pitchFamily="18" charset="0"/>
                      </a:rPr>
                      <m:t>Ω</m:t>
                    </m:r>
                    <m:r>
                      <a:rPr lang="el-GR">
                        <a:latin typeface="Cambria Math" panose="02040503050406030204" pitchFamily="18" charset="0"/>
                      </a:rPr>
                      <m:t>=</m:t>
                    </m:r>
                    <m:r>
                      <a:rPr lang="el-GR" i="1">
                        <a:latin typeface="Cambria Math" panose="02040503050406030204" pitchFamily="18" charset="0"/>
                      </a:rPr>
                      <m:t>𝜆</m:t>
                    </m:r>
                    <m:nary>
                      <m:naryPr>
                        <m:chr m:val="∑"/>
                        <m:grow m:val="on"/>
                        <m:supHide m:val="on"/>
                        <m:ctrlPr>
                          <a:rPr lang="ar-AE" i="1">
                            <a:latin typeface="Cambria Math" panose="02040503050406030204" pitchFamily="18" charset="0"/>
                          </a:rPr>
                        </m:ctrlPr>
                      </m:naryPr>
                      <m:sub>
                        <m:r>
                          <a:rPr lang="ar-AE" i="1">
                            <a:latin typeface="Cambria Math" panose="02040503050406030204" pitchFamily="18" charset="0"/>
                          </a:rPr>
                          <m:t>𝑗</m:t>
                        </m:r>
                      </m:sub>
                      <m:sup/>
                      <m:e>
                        <m:sSup>
                          <m:sSupPr>
                            <m:ctrlPr>
                              <a:rPr lang="ar-AE" i="1">
                                <a:latin typeface="Cambria Math" panose="02040503050406030204" pitchFamily="18" charset="0"/>
                              </a:rPr>
                            </m:ctrlPr>
                          </m:sSupPr>
                          <m:e>
                            <m:d>
                              <m:dPr>
                                <m:ctrlPr>
                                  <a:rPr lang="ar-AE" i="1">
                                    <a:latin typeface="Cambria Math" panose="02040503050406030204" pitchFamily="18" charset="0"/>
                                  </a:rPr>
                                </m:ctrlPr>
                              </m:dPr>
                              <m:e>
                                <m:sSub>
                                  <m:sSubPr>
                                    <m:ctrlPr>
                                      <a:rPr lang="ar-AE" i="1">
                                        <a:latin typeface="Cambria Math" panose="02040503050406030204" pitchFamily="18" charset="0"/>
                                      </a:rPr>
                                    </m:ctrlPr>
                                  </m:sSubPr>
                                  <m:e>
                                    <m:r>
                                      <a:rPr lang="ar-AE" i="1">
                                        <a:latin typeface="Cambria Math" panose="02040503050406030204" pitchFamily="18" charset="0"/>
                                      </a:rPr>
                                      <m:t>h</m:t>
                                    </m:r>
                                  </m:e>
                                  <m:sub>
                                    <m:r>
                                      <a:rPr lang="ar-AE" i="1">
                                        <a:latin typeface="Cambria Math" panose="02040503050406030204" pitchFamily="18" charset="0"/>
                                      </a:rPr>
                                      <m:t>𝑗</m:t>
                                    </m:r>
                                  </m:sub>
                                </m:sSub>
                                <m:d>
                                  <m:dPr>
                                    <m:ctrlPr>
                                      <a:rPr lang="ar-AE" i="1">
                                        <a:latin typeface="Cambria Math" panose="02040503050406030204" pitchFamily="18" charset="0"/>
                                      </a:rPr>
                                    </m:ctrlPr>
                                  </m:dPr>
                                  <m:e>
                                    <m:r>
                                      <a:rPr lang="ar-AE">
                                        <a:latin typeface="Cambria Math" panose="02040503050406030204" pitchFamily="18" charset="0"/>
                                      </a:rPr>
                                      <m:t>1</m:t>
                                    </m:r>
                                    <m:r>
                                      <a:rPr lang="ar-AE">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h</m:t>
                                        </m:r>
                                      </m:e>
                                      <m:sub>
                                        <m:r>
                                          <a:rPr lang="ar-AE" i="1">
                                            <a:latin typeface="Cambria Math" panose="02040503050406030204" pitchFamily="18" charset="0"/>
                                          </a:rPr>
                                          <m:t>𝑗</m:t>
                                        </m:r>
                                      </m:sub>
                                    </m:sSub>
                                  </m:e>
                                </m:d>
                              </m:e>
                            </m:d>
                          </m:e>
                          <m:sup>
                            <m:r>
                              <a:rPr lang="ar-AE">
                                <a:latin typeface="Cambria Math" panose="02040503050406030204" pitchFamily="18" charset="0"/>
                              </a:rPr>
                              <m:t>2</m:t>
                            </m:r>
                          </m:sup>
                        </m:sSup>
                      </m:e>
                    </m:nary>
                    <m:nary>
                      <m:naryPr>
                        <m:chr m:val="∑"/>
                        <m:grow m:val="on"/>
                        <m:supHide m:val="on"/>
                        <m:ctrlPr>
                          <a:rPr lang="ar-AE" i="1">
                            <a:latin typeface="Cambria Math" panose="02040503050406030204" pitchFamily="18" charset="0"/>
                          </a:rPr>
                        </m:ctrlPr>
                      </m:naryPr>
                      <m:sub>
                        <m:r>
                          <a:rPr lang="ar-AE" i="1">
                            <a:latin typeface="Cambria Math" panose="02040503050406030204" pitchFamily="18" charset="0"/>
                          </a:rPr>
                          <m:t>𝑖</m:t>
                        </m:r>
                      </m:sub>
                      <m:sup/>
                      <m:e>
                        <m:sSubSup>
                          <m:sSubSupPr>
                            <m:ctrlPr>
                              <a:rPr lang="ar-AE" i="1">
                                <a:latin typeface="Cambria Math" panose="02040503050406030204" pitchFamily="18" charset="0"/>
                              </a:rPr>
                            </m:ctrlPr>
                          </m:sSubSupPr>
                          <m:e>
                            <m:r>
                              <a:rPr lang="ar-AE" i="1">
                                <a:latin typeface="Cambria Math" panose="02040503050406030204" pitchFamily="18" charset="0"/>
                              </a:rPr>
                              <m:t>𝑊</m:t>
                            </m:r>
                          </m:e>
                          <m:sub>
                            <m:r>
                              <a:rPr lang="ar-AE" i="1">
                                <a:latin typeface="Cambria Math" panose="02040503050406030204" pitchFamily="18" charset="0"/>
                              </a:rPr>
                              <m:t>𝑗𝑖</m:t>
                            </m:r>
                          </m:sub>
                          <m:sup>
                            <m:r>
                              <a:rPr lang="ar-AE">
                                <a:latin typeface="Cambria Math" panose="02040503050406030204" pitchFamily="18" charset="0"/>
                              </a:rPr>
                              <m:t>2</m:t>
                            </m:r>
                          </m:sup>
                        </m:sSubSup>
                      </m:e>
                    </m:nary>
                  </m:oMath>
                </a14:m>
                <a:endParaRPr lang="ar-AE" dirty="0"/>
              </a:p>
              <a:p>
                <a:r>
                  <a:rPr lang="es-ES" b="1" dirty="0"/>
                  <a:t>Final </a:t>
                </a:r>
                <a:r>
                  <a:rPr lang="es-ES" b="1" dirty="0" err="1"/>
                  <a:t>Loss</a:t>
                </a:r>
                <a:endParaRPr lang="es-ES" b="1" dirty="0"/>
              </a:p>
              <a:p>
                <a14:m>
                  <m:oMath xmlns:m="http://schemas.openxmlformats.org/officeDocument/2006/math">
                    <m:r>
                      <a:rPr lang="es-ES" i="1">
                        <a:latin typeface="Cambria Math" panose="02040503050406030204" pitchFamily="18" charset="0"/>
                      </a:rPr>
                      <m:t>𝐽</m:t>
                    </m:r>
                    <m:r>
                      <a:rPr lang="es-ES">
                        <a:latin typeface="Cambria Math" panose="02040503050406030204" pitchFamily="18" charset="0"/>
                      </a:rPr>
                      <m:t>=</m:t>
                    </m:r>
                    <m:r>
                      <a:rPr lang="es-ES" i="1">
                        <a:latin typeface="Cambria Math" panose="02040503050406030204" pitchFamily="18" charset="0"/>
                      </a:rPr>
                      <m:t>𝐿</m:t>
                    </m:r>
                    <m:r>
                      <a:rPr lang="es-ES">
                        <a:latin typeface="Cambria Math" panose="02040503050406030204" pitchFamily="18" charset="0"/>
                      </a:rPr>
                      <m:t>+</m:t>
                    </m:r>
                    <m:r>
                      <m:rPr>
                        <m:sty m:val="p"/>
                      </m:rPr>
                      <a:rPr lang="es-ES">
                        <a:latin typeface="Cambria Math" panose="02040503050406030204" pitchFamily="18" charset="0"/>
                      </a:rPr>
                      <m:t>Ω</m:t>
                    </m:r>
                  </m:oMath>
                </a14:m>
                <a:endParaRPr lang="es-ES" dirty="0"/>
              </a:p>
              <a:p>
                <a:pPr marL="0" indent="0">
                  <a:buNone/>
                </a:pPr>
                <a:endParaRPr lang="en-IN" dirty="0"/>
              </a:p>
            </p:txBody>
          </p:sp>
        </mc:Choice>
        <mc:Fallback xmlns="">
          <p:sp>
            <p:nvSpPr>
              <p:cNvPr id="3" name="Content Placeholder 2">
                <a:extLst>
                  <a:ext uri="{FF2B5EF4-FFF2-40B4-BE49-F238E27FC236}">
                    <a16:creationId xmlns:a16="http://schemas.microsoft.com/office/drawing/2014/main" id="{B981FAA1-372F-6AF1-86F4-841960538EA7}"/>
                  </a:ext>
                </a:extLst>
              </p:cNvPr>
              <p:cNvSpPr>
                <a:spLocks noGrp="1" noRot="1" noChangeAspect="1" noMove="1" noResize="1" noEditPoints="1" noAdjustHandles="1" noChangeArrowheads="1" noChangeShapeType="1" noTextEdit="1"/>
              </p:cNvSpPr>
              <p:nvPr>
                <p:ph idx="1"/>
              </p:nvPr>
            </p:nvSpPr>
            <p:spPr>
              <a:xfrm>
                <a:off x="944880" y="1259840"/>
                <a:ext cx="10282237" cy="4866430"/>
              </a:xfrm>
              <a:blipFill>
                <a:blip r:embed="rId2"/>
                <a:stretch>
                  <a:fillRect l="-1660" t="-1754"/>
                </a:stretch>
              </a:blipFill>
            </p:spPr>
            <p:txBody>
              <a:bodyPr/>
              <a:lstStyle/>
              <a:p>
                <a:r>
                  <a:rPr lang="en-IN">
                    <a:noFill/>
                  </a:rPr>
                  <a:t> </a:t>
                </a:r>
              </a:p>
            </p:txBody>
          </p:sp>
        </mc:Fallback>
      </mc:AlternateContent>
    </p:spTree>
    <p:extLst>
      <p:ext uri="{BB962C8B-B14F-4D97-AF65-F5344CB8AC3E}">
        <p14:creationId xmlns:p14="http://schemas.microsoft.com/office/powerpoint/2010/main" val="187743844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ABF583-3908-C8E0-D6D1-66464E63357A}"/>
              </a:ext>
            </a:extLst>
          </p:cNvPr>
          <p:cNvSpPr>
            <a:spLocks noGrp="1"/>
          </p:cNvSpPr>
          <p:nvPr>
            <p:ph type="title"/>
          </p:nvPr>
        </p:nvSpPr>
        <p:spPr/>
        <p:txBody>
          <a:bodyPr>
            <a:normAutofit fontScale="90000"/>
          </a:bodyPr>
          <a:lstStyle/>
          <a:p>
            <a:endParaRPr lang="en-IN"/>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5D149B3-DAB6-A683-D962-12C68449FEBF}"/>
                  </a:ext>
                </a:extLst>
              </p:cNvPr>
              <p:cNvSpPr>
                <a:spLocks noGrp="1"/>
              </p:cNvSpPr>
              <p:nvPr>
                <p:ph idx="1"/>
              </p:nvPr>
            </p:nvSpPr>
            <p:spPr>
              <a:xfrm>
                <a:off x="883920" y="1391920"/>
                <a:ext cx="10343197" cy="4734350"/>
              </a:xfrm>
            </p:spPr>
            <p:txBody>
              <a:bodyPr>
                <a:normAutofit fontScale="85000" lnSpcReduction="20000"/>
              </a:bodyPr>
              <a:lstStyle/>
              <a:p>
                <a:pPr>
                  <a:lnSpc>
                    <a:spcPct val="120000"/>
                  </a:lnSpc>
                  <a:spcBef>
                    <a:spcPts val="0"/>
                  </a:spcBef>
                  <a:spcAft>
                    <a:spcPts val="0"/>
                  </a:spcAft>
                </a:pPr>
                <a:r>
                  <a:rPr lang="en-IN" b="1" dirty="0"/>
                  <a:t>Input</a:t>
                </a:r>
              </a:p>
              <a:p>
                <a:pPr>
                  <a:lnSpc>
                    <a:spcPct val="120000"/>
                  </a:lnSpc>
                  <a:spcBef>
                    <a:spcPts val="0"/>
                  </a:spcBef>
                  <a:spcAft>
                    <a:spcPts val="0"/>
                  </a:spcAft>
                </a:pPr>
                <a14:m>
                  <m:oMath xmlns:m="http://schemas.openxmlformats.org/officeDocument/2006/math">
                    <m:r>
                      <a:rPr lang="en-IN" i="1">
                        <a:latin typeface="Cambria Math" panose="02040503050406030204" pitchFamily="18" charset="0"/>
                      </a:rPr>
                      <m:t>𝑥</m:t>
                    </m:r>
                    <m:r>
                      <a:rPr lang="en-IN">
                        <a:latin typeface="Cambria Math" panose="02040503050406030204" pitchFamily="18" charset="0"/>
                      </a:rPr>
                      <m:t>=</m:t>
                    </m:r>
                    <m:r>
                      <a:rPr lang="ar-AE" i="1">
                        <a:latin typeface="Cambria Math" panose="02040503050406030204" pitchFamily="18" charset="0"/>
                      </a:rPr>
                      <m:t>[</m:t>
                    </m:r>
                    <m:r>
                      <a:rPr lang="ar-AE" i="1">
                        <a:latin typeface="Cambria Math" panose="02040503050406030204" pitchFamily="18" charset="0"/>
                      </a:rPr>
                      <m:t>1</m:t>
                    </m:r>
                    <m:r>
                      <a:rPr lang="ar-AE" i="1">
                        <a:latin typeface="Cambria Math" panose="02040503050406030204" pitchFamily="18" charset="0"/>
                      </a:rPr>
                      <m:t>,</m:t>
                    </m:r>
                    <m:r>
                      <a:rPr lang="ar-AE" i="1">
                        <a:latin typeface="Cambria Math" panose="02040503050406030204" pitchFamily="18" charset="0"/>
                      </a:rPr>
                      <m:t>0</m:t>
                    </m:r>
                    <m:r>
                      <a:rPr lang="ar-AE" i="1">
                        <a:latin typeface="Cambria Math" panose="02040503050406030204" pitchFamily="18" charset="0"/>
                      </a:rPr>
                      <m:t>,</m:t>
                    </m:r>
                    <m:r>
                      <a:rPr lang="ar-AE" i="1">
                        <a:latin typeface="Cambria Math" panose="02040503050406030204" pitchFamily="18" charset="0"/>
                      </a:rPr>
                      <m:t>1</m:t>
                    </m:r>
                    <m:r>
                      <a:rPr lang="ar-AE" i="1">
                        <a:latin typeface="Cambria Math" panose="02040503050406030204" pitchFamily="18" charset="0"/>
                      </a:rPr>
                      <m:t>]</m:t>
                    </m:r>
                  </m:oMath>
                </a14:m>
                <a:endParaRPr lang="ar-AE" b="0" dirty="0"/>
              </a:p>
              <a:p>
                <a:pPr>
                  <a:lnSpc>
                    <a:spcPct val="120000"/>
                  </a:lnSpc>
                  <a:spcBef>
                    <a:spcPts val="0"/>
                  </a:spcBef>
                  <a:spcAft>
                    <a:spcPts val="0"/>
                  </a:spcAft>
                </a:pPr>
                <a:r>
                  <a:rPr lang="en-IN" dirty="0"/>
                  <a:t>Network:</a:t>
                </a:r>
              </a:p>
              <a:p>
                <a:pPr>
                  <a:lnSpc>
                    <a:spcPct val="120000"/>
                  </a:lnSpc>
                  <a:spcBef>
                    <a:spcPts val="0"/>
                  </a:spcBef>
                  <a:spcAft>
                    <a:spcPts val="0"/>
                  </a:spcAft>
                </a:pPr>
                <a:r>
                  <a:rPr lang="en-IN" dirty="0"/>
                  <a:t>Input = 3</a:t>
                </a:r>
              </a:p>
              <a:p>
                <a:pPr>
                  <a:lnSpc>
                    <a:spcPct val="120000"/>
                  </a:lnSpc>
                  <a:spcBef>
                    <a:spcPts val="0"/>
                  </a:spcBef>
                  <a:spcAft>
                    <a:spcPts val="0"/>
                  </a:spcAft>
                </a:pPr>
                <a:r>
                  <a:rPr lang="en-IN" dirty="0"/>
                  <a:t>Hidden = 2</a:t>
                </a:r>
              </a:p>
              <a:p>
                <a:pPr>
                  <a:lnSpc>
                    <a:spcPct val="120000"/>
                  </a:lnSpc>
                  <a:spcBef>
                    <a:spcPts val="0"/>
                  </a:spcBef>
                  <a:spcAft>
                    <a:spcPts val="0"/>
                  </a:spcAft>
                </a:pPr>
                <a:r>
                  <a:rPr lang="en-IN" dirty="0"/>
                  <a:t>Output = 3</a:t>
                </a:r>
              </a:p>
              <a:p>
                <a:pPr>
                  <a:lnSpc>
                    <a:spcPct val="120000"/>
                  </a:lnSpc>
                  <a:spcBef>
                    <a:spcPts val="0"/>
                  </a:spcBef>
                  <a:spcAft>
                    <a:spcPts val="0"/>
                  </a:spcAft>
                </a:pPr>
                <a:r>
                  <a:rPr lang="en-IN" dirty="0"/>
                  <a:t>Activation = sigmoid</a:t>
                </a:r>
              </a:p>
              <a:p>
                <a:pPr>
                  <a:lnSpc>
                    <a:spcPct val="120000"/>
                  </a:lnSpc>
                  <a:spcBef>
                    <a:spcPts val="0"/>
                  </a:spcBef>
                  <a:spcAft>
                    <a:spcPts val="0"/>
                  </a:spcAft>
                </a:pPr>
                <a:br>
                  <a:rPr lang="en-IN" dirty="0"/>
                </a:br>
                <a:r>
                  <a:rPr lang="en-IN" b="1" dirty="0"/>
                  <a:t> STEP 1: Encoder Forward Pass</a:t>
                </a:r>
              </a:p>
              <a:p>
                <a:pPr>
                  <a:lnSpc>
                    <a:spcPct val="120000"/>
                  </a:lnSpc>
                  <a:spcBef>
                    <a:spcPts val="0"/>
                  </a:spcBef>
                  <a:spcAft>
                    <a:spcPts val="0"/>
                  </a:spcAft>
                </a:pPr>
                <a:r>
                  <a:rPr lang="en-IN" b="1" dirty="0"/>
                  <a:t>Weights</a:t>
                </a:r>
              </a:p>
              <a:p>
                <a:pPr>
                  <a:lnSpc>
                    <a:spcPct val="120000"/>
                  </a:lnSpc>
                  <a:spcBef>
                    <a:spcPts val="0"/>
                  </a:spcBef>
                  <a:spcAft>
                    <a:spcPts val="0"/>
                  </a:spcAft>
                </a:pPr>
                <a14:m>
                  <m:oMath xmlns:m="http://schemas.openxmlformats.org/officeDocument/2006/math">
                    <m:r>
                      <a:rPr lang="en-IN" i="1">
                        <a:latin typeface="Cambria Math" panose="02040503050406030204" pitchFamily="18" charset="0"/>
                      </a:rPr>
                      <m:t>𝑊</m:t>
                    </m:r>
                    <m:r>
                      <a:rPr lang="en-IN">
                        <a:latin typeface="Cambria Math" panose="02040503050406030204" pitchFamily="18" charset="0"/>
                      </a:rPr>
                      <m:t>=</m:t>
                    </m:r>
                    <m:d>
                      <m:dPr>
                        <m:begChr m:val="["/>
                        <m:endChr m:val="]"/>
                        <m:ctrlPr>
                          <a:rPr lang="ar-AE" i="1">
                            <a:latin typeface="Cambria Math" panose="02040503050406030204" pitchFamily="18" charset="0"/>
                          </a:rPr>
                        </m:ctrlPr>
                      </m:dPr>
                      <m:e>
                        <m:m>
                          <m:mPr>
                            <m:plcHide m:val="on"/>
                            <m:mcs>
                              <m:mc>
                                <m:mcPr>
                                  <m:count m:val="3"/>
                                  <m:mcJc m:val="center"/>
                                </m:mcPr>
                              </m:mc>
                            </m:mcs>
                            <m:ctrlPr>
                              <a:rPr lang="ar-AE" i="1">
                                <a:latin typeface="Cambria Math" panose="02040503050406030204" pitchFamily="18" charset="0"/>
                              </a:rPr>
                            </m:ctrlPr>
                          </m:mPr>
                          <m:m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2</m:t>
                              </m:r>
                            </m:e>
                            <m:e>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4</m:t>
                              </m:r>
                            </m:e>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1</m:t>
                              </m:r>
                            </m:e>
                          </m:mr>
                          <m:mr>
                            <m:e>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3</m:t>
                              </m:r>
                            </m:e>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2</m:t>
                              </m:r>
                            </m:e>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4</m:t>
                              </m:r>
                            </m:e>
                          </m:mr>
                        </m:m>
                      </m:e>
                    </m:d>
                  </m:oMath>
                </a14:m>
                <a:endParaRPr lang="ar-AE" dirty="0"/>
              </a:p>
              <a:p>
                <a:pPr>
                  <a:lnSpc>
                    <a:spcPct val="120000"/>
                  </a:lnSpc>
                  <a:spcBef>
                    <a:spcPts val="0"/>
                  </a:spcBef>
                  <a:spcAft>
                    <a:spcPts val="0"/>
                  </a:spcAft>
                </a:pPr>
                <a:r>
                  <a:rPr lang="en-IN" b="1" dirty="0"/>
                  <a:t>Bias</a:t>
                </a:r>
              </a:p>
              <a:p>
                <a:pPr>
                  <a:lnSpc>
                    <a:spcPct val="120000"/>
                  </a:lnSpc>
                  <a:spcBef>
                    <a:spcPts val="0"/>
                  </a:spcBef>
                  <a:spcAft>
                    <a:spcPts val="0"/>
                  </a:spcAft>
                </a:pPr>
                <a14:m>
                  <m:oMath xmlns:m="http://schemas.openxmlformats.org/officeDocument/2006/math">
                    <m:r>
                      <a:rPr lang="en-IN" i="1">
                        <a:latin typeface="Cambria Math" panose="02040503050406030204" pitchFamily="18" charset="0"/>
                      </a:rPr>
                      <m:t>𝑏</m:t>
                    </m:r>
                    <m:r>
                      <a:rPr lang="en-IN">
                        <a:latin typeface="Cambria Math" panose="02040503050406030204" pitchFamily="18" charset="0"/>
                      </a:rPr>
                      <m:t>=</m:t>
                    </m:r>
                    <m:r>
                      <a:rPr lang="ar-AE" i="1">
                        <a:latin typeface="Cambria Math" panose="02040503050406030204" pitchFamily="18" charset="0"/>
                      </a:rPr>
                      <m:t>[</m:t>
                    </m:r>
                    <m:r>
                      <a:rPr lang="ar-AE" i="1">
                        <a:latin typeface="Cambria Math" panose="02040503050406030204" pitchFamily="18" charset="0"/>
                      </a:rPr>
                      <m:t>0</m:t>
                    </m:r>
                    <m:r>
                      <a:rPr lang="ar-AE" i="1">
                        <a:latin typeface="Cambria Math" panose="02040503050406030204" pitchFamily="18" charset="0"/>
                      </a:rPr>
                      <m:t>.</m:t>
                    </m:r>
                    <m:r>
                      <a:rPr lang="ar-AE" i="1">
                        <a:latin typeface="Cambria Math" panose="02040503050406030204" pitchFamily="18" charset="0"/>
                      </a:rPr>
                      <m:t>1</m:t>
                    </m:r>
                    <m:r>
                      <a:rPr lang="ar-AE" i="1">
                        <a:latin typeface="Cambria Math" panose="02040503050406030204" pitchFamily="18" charset="0"/>
                      </a:rPr>
                      <m:t>,−</m:t>
                    </m:r>
                    <m:r>
                      <a:rPr lang="ar-AE" i="1">
                        <a:latin typeface="Cambria Math" panose="02040503050406030204" pitchFamily="18" charset="0"/>
                      </a:rPr>
                      <m:t>0</m:t>
                    </m:r>
                    <m:r>
                      <a:rPr lang="ar-AE" i="1">
                        <a:latin typeface="Cambria Math" panose="02040503050406030204" pitchFamily="18" charset="0"/>
                      </a:rPr>
                      <m:t>.</m:t>
                    </m:r>
                    <m:r>
                      <a:rPr lang="ar-AE" i="1">
                        <a:latin typeface="Cambria Math" panose="02040503050406030204" pitchFamily="18" charset="0"/>
                      </a:rPr>
                      <m:t>1</m:t>
                    </m:r>
                    <m:r>
                      <a:rPr lang="ar-AE" i="1">
                        <a:latin typeface="Cambria Math" panose="02040503050406030204" pitchFamily="18" charset="0"/>
                      </a:rPr>
                      <m:t>]</m:t>
                    </m:r>
                  </m:oMath>
                </a14:m>
                <a:endParaRPr lang="ar-AE" b="0" dirty="0"/>
              </a:p>
              <a:p>
                <a:pPr>
                  <a:lnSpc>
                    <a:spcPct val="120000"/>
                  </a:lnSpc>
                  <a:spcBef>
                    <a:spcPts val="0"/>
                  </a:spcBef>
                  <a:spcAft>
                    <a:spcPts val="0"/>
                  </a:spcAft>
                </a:pPr>
                <a:endParaRPr lang="en-IN" dirty="0"/>
              </a:p>
            </p:txBody>
          </p:sp>
        </mc:Choice>
        <mc:Fallback xmlns="">
          <p:sp>
            <p:nvSpPr>
              <p:cNvPr id="3" name="Content Placeholder 2">
                <a:extLst>
                  <a:ext uri="{FF2B5EF4-FFF2-40B4-BE49-F238E27FC236}">
                    <a16:creationId xmlns:a16="http://schemas.microsoft.com/office/drawing/2014/main" id="{75D149B3-DAB6-A683-D962-12C68449FEBF}"/>
                  </a:ext>
                </a:extLst>
              </p:cNvPr>
              <p:cNvSpPr>
                <a:spLocks noGrp="1" noRot="1" noChangeAspect="1" noMove="1" noResize="1" noEditPoints="1" noAdjustHandles="1" noChangeArrowheads="1" noChangeShapeType="1" noTextEdit="1"/>
              </p:cNvSpPr>
              <p:nvPr>
                <p:ph idx="1"/>
              </p:nvPr>
            </p:nvSpPr>
            <p:spPr>
              <a:xfrm>
                <a:off x="883920" y="1391920"/>
                <a:ext cx="10343197" cy="4734350"/>
              </a:xfrm>
              <a:blipFill>
                <a:blip r:embed="rId2"/>
                <a:stretch>
                  <a:fillRect l="-1414" t="-644"/>
                </a:stretch>
              </a:blipFill>
            </p:spPr>
            <p:txBody>
              <a:bodyPr/>
              <a:lstStyle/>
              <a:p>
                <a:r>
                  <a:rPr lang="en-IN">
                    <a:noFill/>
                  </a:rPr>
                  <a:t> </a:t>
                </a:r>
              </a:p>
            </p:txBody>
          </p:sp>
        </mc:Fallback>
      </mc:AlternateContent>
    </p:spTree>
    <p:extLst>
      <p:ext uri="{BB962C8B-B14F-4D97-AF65-F5344CB8AC3E}">
        <p14:creationId xmlns:p14="http://schemas.microsoft.com/office/powerpoint/2010/main" val="268207867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2527ED-92C4-6995-D3A6-85F075685677}"/>
              </a:ext>
            </a:extLst>
          </p:cNvPr>
          <p:cNvSpPr>
            <a:spLocks noGrp="1"/>
          </p:cNvSpPr>
          <p:nvPr>
            <p:ph type="title"/>
          </p:nvPr>
        </p:nvSpPr>
        <p:spPr/>
        <p:txBody>
          <a:bodyPr>
            <a:normAutofit fontScale="90000"/>
          </a:bodyPr>
          <a:lstStyle/>
          <a:p>
            <a:endParaRPr lang="en-IN"/>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02F33A4-04BC-2E49-73F1-61487B74E07C}"/>
                  </a:ext>
                </a:extLst>
              </p:cNvPr>
              <p:cNvSpPr>
                <a:spLocks noGrp="1"/>
              </p:cNvSpPr>
              <p:nvPr>
                <p:ph idx="1"/>
              </p:nvPr>
            </p:nvSpPr>
            <p:spPr>
              <a:xfrm>
                <a:off x="944880" y="1503680"/>
                <a:ext cx="10282237" cy="4622590"/>
              </a:xfrm>
            </p:spPr>
            <p:txBody>
              <a:bodyPr>
                <a:normAutofit fontScale="92500" lnSpcReduction="20000"/>
              </a:bodyPr>
              <a:lstStyle/>
              <a:p>
                <a:pPr>
                  <a:lnSpc>
                    <a:spcPct val="120000"/>
                  </a:lnSpc>
                  <a:spcBef>
                    <a:spcPts val="0"/>
                  </a:spcBef>
                  <a:spcAft>
                    <a:spcPts val="0"/>
                  </a:spcAft>
                </a:pPr>
                <a:r>
                  <a:rPr lang="en-IN" b="1" dirty="0"/>
                  <a:t>Hidden neuron 1</a:t>
                </a:r>
              </a:p>
              <a:p>
                <a:pPr>
                  <a:lnSpc>
                    <a:spcPct val="120000"/>
                  </a:lnSpc>
                  <a:spcBef>
                    <a:spcPts val="0"/>
                  </a:spcBef>
                  <a:spcAft>
                    <a:spcPts val="0"/>
                  </a:spcAft>
                </a:pP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𝑧</m:t>
                        </m:r>
                      </m:e>
                      <m:sub>
                        <m:r>
                          <a:rPr lang="ar-AE">
                            <a:latin typeface="Cambria Math" panose="02040503050406030204" pitchFamily="18" charset="0"/>
                          </a:rPr>
                          <m:t>1</m:t>
                        </m:r>
                      </m:sub>
                    </m:sSub>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2</m:t>
                    </m:r>
                    <m:d>
                      <m:dPr>
                        <m:ctrlPr>
                          <a:rPr lang="ar-AE" i="1">
                            <a:latin typeface="Cambria Math" panose="02040503050406030204" pitchFamily="18" charset="0"/>
                          </a:rPr>
                        </m:ctrlPr>
                      </m:dPr>
                      <m:e>
                        <m:r>
                          <a:rPr lang="ar-AE">
                            <a:latin typeface="Cambria Math" panose="02040503050406030204" pitchFamily="18" charset="0"/>
                          </a:rPr>
                          <m:t>1</m:t>
                        </m:r>
                      </m:e>
                    </m:d>
                    <m:r>
                      <a:rPr lang="ar-AE">
                        <a:latin typeface="Cambria Math" panose="02040503050406030204" pitchFamily="18" charset="0"/>
                      </a:rPr>
                      <m:t>+</m:t>
                    </m:r>
                    <m:d>
                      <m:dPr>
                        <m:ctrlPr>
                          <a:rPr lang="ar-AE" i="1">
                            <a:latin typeface="Cambria Math" panose="02040503050406030204" pitchFamily="18" charset="0"/>
                          </a:rPr>
                        </m:ctrlPr>
                      </m:dPr>
                      <m:e>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4</m:t>
                        </m:r>
                      </m:e>
                    </m:d>
                    <m:d>
                      <m:dPr>
                        <m:ctrlPr>
                          <a:rPr lang="ar-AE" i="1">
                            <a:latin typeface="Cambria Math" panose="02040503050406030204" pitchFamily="18" charset="0"/>
                          </a:rPr>
                        </m:ctrlPr>
                      </m:dPr>
                      <m:e>
                        <m:r>
                          <a:rPr lang="ar-AE">
                            <a:latin typeface="Cambria Math" panose="02040503050406030204" pitchFamily="18" charset="0"/>
                          </a:rPr>
                          <m:t>0</m:t>
                        </m:r>
                      </m:e>
                    </m:d>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1</m:t>
                    </m:r>
                    <m:d>
                      <m:dPr>
                        <m:ctrlPr>
                          <a:rPr lang="ar-AE" i="1">
                            <a:latin typeface="Cambria Math" panose="02040503050406030204" pitchFamily="18" charset="0"/>
                          </a:rPr>
                        </m:ctrlPr>
                      </m:dPr>
                      <m:e>
                        <m:r>
                          <a:rPr lang="ar-AE">
                            <a:latin typeface="Cambria Math" panose="02040503050406030204" pitchFamily="18" charset="0"/>
                          </a:rPr>
                          <m:t>1</m:t>
                        </m:r>
                      </m:e>
                    </m:d>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1</m:t>
                    </m:r>
                  </m:oMath>
                </a14:m>
                <a:endParaRPr lang="ar-AE" dirty="0"/>
              </a:p>
              <a:p>
                <a:pPr>
                  <a:lnSpc>
                    <a:spcPct val="120000"/>
                  </a:lnSpc>
                  <a:spcBef>
                    <a:spcPts val="0"/>
                  </a:spcBef>
                  <a:spcAft>
                    <a:spcPts val="0"/>
                  </a:spcAft>
                </a:pP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𝑧</m:t>
                        </m:r>
                      </m:e>
                      <m:sub>
                        <m:r>
                          <a:rPr lang="ar-AE">
                            <a:latin typeface="Cambria Math" panose="02040503050406030204" pitchFamily="18" charset="0"/>
                          </a:rPr>
                          <m:t>1</m:t>
                        </m:r>
                      </m:sub>
                    </m:sSub>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4</m:t>
                    </m:r>
                  </m:oMath>
                </a14:m>
                <a:endParaRPr lang="ar-AE" dirty="0"/>
              </a:p>
              <a:p>
                <a:pPr>
                  <a:lnSpc>
                    <a:spcPct val="120000"/>
                  </a:lnSpc>
                  <a:spcBef>
                    <a:spcPts val="0"/>
                  </a:spcBef>
                  <a:spcAft>
                    <a:spcPts val="0"/>
                  </a:spcAft>
                </a:pP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h</m:t>
                        </m:r>
                      </m:e>
                      <m:sub>
                        <m:r>
                          <a:rPr lang="ar-AE">
                            <a:latin typeface="Cambria Math" panose="02040503050406030204" pitchFamily="18" charset="0"/>
                          </a:rPr>
                          <m:t>1</m:t>
                        </m:r>
                      </m:sub>
                    </m:sSub>
                    <m:r>
                      <a:rPr lang="ar-AE">
                        <a:latin typeface="Cambria Math" panose="02040503050406030204" pitchFamily="18" charset="0"/>
                      </a:rPr>
                      <m:t>=</m:t>
                    </m:r>
                    <m:r>
                      <a:rPr lang="ar-AE" i="1">
                        <a:latin typeface="Cambria Math" panose="02040503050406030204" pitchFamily="18" charset="0"/>
                      </a:rPr>
                      <m:t>𝜎</m:t>
                    </m:r>
                    <m:d>
                      <m:dPr>
                        <m:ctrlPr>
                          <a:rPr lang="ar-AE" i="1">
                            <a:latin typeface="Cambria Math" panose="02040503050406030204" pitchFamily="18" charset="0"/>
                          </a:rPr>
                        </m:ctrlPr>
                      </m:dP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4</m:t>
                        </m:r>
                      </m:e>
                    </m:d>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5987</m:t>
                    </m:r>
                  </m:oMath>
                </a14:m>
                <a:endParaRPr lang="ar-AE" dirty="0"/>
              </a:p>
              <a:p>
                <a:pPr>
                  <a:lnSpc>
                    <a:spcPct val="120000"/>
                  </a:lnSpc>
                  <a:spcBef>
                    <a:spcPts val="0"/>
                  </a:spcBef>
                  <a:spcAft>
                    <a:spcPts val="0"/>
                  </a:spcAft>
                </a:pPr>
                <a:endParaRPr lang="ar-AE" dirty="0"/>
              </a:p>
              <a:p>
                <a:pPr>
                  <a:lnSpc>
                    <a:spcPct val="120000"/>
                  </a:lnSpc>
                  <a:spcBef>
                    <a:spcPts val="0"/>
                  </a:spcBef>
                  <a:spcAft>
                    <a:spcPts val="0"/>
                  </a:spcAft>
                </a:pPr>
                <a:r>
                  <a:rPr lang="en-IN" b="1" dirty="0"/>
                  <a:t> Hidden neuron 2</a:t>
                </a:r>
              </a:p>
              <a:p>
                <a:pPr>
                  <a:lnSpc>
                    <a:spcPct val="120000"/>
                  </a:lnSpc>
                  <a:spcBef>
                    <a:spcPts val="0"/>
                  </a:spcBef>
                  <a:spcAft>
                    <a:spcPts val="0"/>
                  </a:spcAft>
                </a:pP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𝑧</m:t>
                        </m:r>
                      </m:e>
                      <m:sub>
                        <m:r>
                          <a:rPr lang="ar-AE">
                            <a:latin typeface="Cambria Math" panose="02040503050406030204" pitchFamily="18" charset="0"/>
                          </a:rPr>
                          <m:t>2</m:t>
                        </m:r>
                      </m:sub>
                    </m:sSub>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3</m:t>
                    </m:r>
                    <m:d>
                      <m:dPr>
                        <m:ctrlPr>
                          <a:rPr lang="ar-AE" i="1">
                            <a:latin typeface="Cambria Math" panose="02040503050406030204" pitchFamily="18" charset="0"/>
                          </a:rPr>
                        </m:ctrlPr>
                      </m:dPr>
                      <m:e>
                        <m:r>
                          <a:rPr lang="ar-AE">
                            <a:latin typeface="Cambria Math" panose="02040503050406030204" pitchFamily="18" charset="0"/>
                          </a:rPr>
                          <m:t>1</m:t>
                        </m:r>
                      </m:e>
                    </m:d>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2</m:t>
                    </m:r>
                    <m:d>
                      <m:dPr>
                        <m:ctrlPr>
                          <a:rPr lang="ar-AE" i="1">
                            <a:latin typeface="Cambria Math" panose="02040503050406030204" pitchFamily="18" charset="0"/>
                          </a:rPr>
                        </m:ctrlPr>
                      </m:dPr>
                      <m:e>
                        <m:r>
                          <a:rPr lang="ar-AE">
                            <a:latin typeface="Cambria Math" panose="02040503050406030204" pitchFamily="18" charset="0"/>
                          </a:rPr>
                          <m:t>0</m:t>
                        </m:r>
                      </m:e>
                    </m:d>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4</m:t>
                    </m:r>
                    <m:d>
                      <m:dPr>
                        <m:ctrlPr>
                          <a:rPr lang="ar-AE" i="1">
                            <a:latin typeface="Cambria Math" panose="02040503050406030204" pitchFamily="18" charset="0"/>
                          </a:rPr>
                        </m:ctrlPr>
                      </m:dPr>
                      <m:e>
                        <m:r>
                          <a:rPr lang="ar-AE">
                            <a:latin typeface="Cambria Math" panose="02040503050406030204" pitchFamily="18" charset="0"/>
                          </a:rPr>
                          <m:t>1</m:t>
                        </m:r>
                      </m:e>
                    </m:d>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1</m:t>
                    </m:r>
                  </m:oMath>
                </a14:m>
                <a:endParaRPr lang="ar-AE" dirty="0"/>
              </a:p>
              <a:p>
                <a:pPr>
                  <a:lnSpc>
                    <a:spcPct val="120000"/>
                  </a:lnSpc>
                  <a:spcBef>
                    <a:spcPts val="0"/>
                  </a:spcBef>
                  <a:spcAft>
                    <a:spcPts val="0"/>
                  </a:spcAft>
                </a:pP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𝑧</m:t>
                        </m:r>
                      </m:e>
                      <m:sub>
                        <m:r>
                          <a:rPr lang="ar-AE">
                            <a:latin typeface="Cambria Math" panose="02040503050406030204" pitchFamily="18" charset="0"/>
                          </a:rPr>
                          <m:t>2</m:t>
                        </m:r>
                      </m:sub>
                    </m:sSub>
                    <m:r>
                      <a:rPr lang="ar-AE">
                        <a:latin typeface="Cambria Math" panose="02040503050406030204" pitchFamily="18" charset="0"/>
                      </a:rPr>
                      <m:t>=</m:t>
                    </m:r>
                    <m:r>
                      <a:rPr lang="ar-AE">
                        <a:latin typeface="Cambria Math" panose="02040503050406030204" pitchFamily="18" charset="0"/>
                      </a:rPr>
                      <m:t>0</m:t>
                    </m:r>
                  </m:oMath>
                </a14:m>
                <a:endParaRPr lang="ar-AE" dirty="0"/>
              </a:p>
              <a:p>
                <a:pPr>
                  <a:lnSpc>
                    <a:spcPct val="120000"/>
                  </a:lnSpc>
                  <a:spcBef>
                    <a:spcPts val="0"/>
                  </a:spcBef>
                  <a:spcAft>
                    <a:spcPts val="0"/>
                  </a:spcAft>
                </a:pP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h</m:t>
                        </m:r>
                      </m:e>
                      <m:sub>
                        <m:r>
                          <a:rPr lang="ar-AE">
                            <a:latin typeface="Cambria Math" panose="02040503050406030204" pitchFamily="18" charset="0"/>
                          </a:rPr>
                          <m:t>2</m:t>
                        </m:r>
                      </m:sub>
                    </m:sSub>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5</m:t>
                    </m:r>
                  </m:oMath>
                </a14:m>
                <a:endParaRPr lang="ar-AE" dirty="0"/>
              </a:p>
              <a:p>
                <a:pPr>
                  <a:lnSpc>
                    <a:spcPct val="120000"/>
                  </a:lnSpc>
                  <a:spcBef>
                    <a:spcPts val="0"/>
                  </a:spcBef>
                  <a:spcAft>
                    <a:spcPts val="0"/>
                  </a:spcAft>
                </a:pPr>
                <a:br>
                  <a:rPr lang="ar-AE" dirty="0"/>
                </a:br>
                <a:r>
                  <a:rPr lang="en-IN" b="1" dirty="0"/>
                  <a:t>Hidden representation</a:t>
                </a:r>
              </a:p>
              <a:p>
                <a:pPr>
                  <a:lnSpc>
                    <a:spcPct val="120000"/>
                  </a:lnSpc>
                  <a:spcBef>
                    <a:spcPts val="0"/>
                  </a:spcBef>
                  <a:spcAft>
                    <a:spcPts val="0"/>
                  </a:spcAft>
                </a:pPr>
                <a14:m>
                  <m:oMath xmlns:m="http://schemas.openxmlformats.org/officeDocument/2006/math">
                    <m:r>
                      <a:rPr lang="en-IN" i="1">
                        <a:latin typeface="Cambria Math" panose="02040503050406030204" pitchFamily="18" charset="0"/>
                      </a:rPr>
                      <m:t>h</m:t>
                    </m:r>
                    <m:r>
                      <a:rPr lang="en-IN">
                        <a:latin typeface="Cambria Math" panose="02040503050406030204" pitchFamily="18" charset="0"/>
                      </a:rPr>
                      <m:t>=</m:t>
                    </m:r>
                    <m:d>
                      <m:dPr>
                        <m:begChr m:val="["/>
                        <m:endChr m:val="]"/>
                        <m:sepChr m:val=","/>
                        <m:ctrlPr>
                          <a:rPr lang="ar-AE" i="1">
                            <a:latin typeface="Cambria Math" panose="02040503050406030204" pitchFamily="18" charset="0"/>
                          </a:rPr>
                        </m:ctrlPr>
                      </m:dP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5987</m:t>
                        </m:r>
                      </m:e>
                      <m:e>
                        <m:r>
                          <m:rPr>
                            <m:nor/>
                          </m:rPr>
                          <a:rPr lang="ar-AE" i="1"/>
                          <m:t>  </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5</m:t>
                        </m:r>
                      </m:e>
                    </m:d>
                  </m:oMath>
                </a14:m>
                <a:endParaRPr lang="ar-AE" b="0" dirty="0"/>
              </a:p>
              <a:p>
                <a:pPr>
                  <a:lnSpc>
                    <a:spcPct val="120000"/>
                  </a:lnSpc>
                  <a:spcBef>
                    <a:spcPts val="0"/>
                  </a:spcBef>
                  <a:spcAft>
                    <a:spcPts val="0"/>
                  </a:spcAft>
                </a:pPr>
                <a:endParaRPr lang="en-IN" dirty="0"/>
              </a:p>
            </p:txBody>
          </p:sp>
        </mc:Choice>
        <mc:Fallback xmlns="">
          <p:sp>
            <p:nvSpPr>
              <p:cNvPr id="3" name="Content Placeholder 2">
                <a:extLst>
                  <a:ext uri="{FF2B5EF4-FFF2-40B4-BE49-F238E27FC236}">
                    <a16:creationId xmlns:a16="http://schemas.microsoft.com/office/drawing/2014/main" id="{302F33A4-04BC-2E49-73F1-61487B74E07C}"/>
                  </a:ext>
                </a:extLst>
              </p:cNvPr>
              <p:cNvSpPr>
                <a:spLocks noGrp="1" noRot="1" noChangeAspect="1" noMove="1" noResize="1" noEditPoints="1" noAdjustHandles="1" noChangeArrowheads="1" noChangeShapeType="1" noTextEdit="1"/>
              </p:cNvSpPr>
              <p:nvPr>
                <p:ph idx="1"/>
              </p:nvPr>
            </p:nvSpPr>
            <p:spPr>
              <a:xfrm>
                <a:off x="944880" y="1503680"/>
                <a:ext cx="10282237" cy="4622590"/>
              </a:xfrm>
              <a:blipFill>
                <a:blip r:embed="rId2"/>
                <a:stretch>
                  <a:fillRect l="-1541" t="-923" b="-923"/>
                </a:stretch>
              </a:blipFill>
            </p:spPr>
            <p:txBody>
              <a:bodyPr/>
              <a:lstStyle/>
              <a:p>
                <a:r>
                  <a:rPr lang="en-IN">
                    <a:noFill/>
                  </a:rPr>
                  <a:t> </a:t>
                </a:r>
              </a:p>
            </p:txBody>
          </p:sp>
        </mc:Fallback>
      </mc:AlternateContent>
    </p:spTree>
    <p:extLst>
      <p:ext uri="{BB962C8B-B14F-4D97-AF65-F5344CB8AC3E}">
        <p14:creationId xmlns:p14="http://schemas.microsoft.com/office/powerpoint/2010/main" val="378923490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7742A1-0A21-78EE-9D8D-991B33E5C9D7}"/>
              </a:ext>
            </a:extLst>
          </p:cNvPr>
          <p:cNvSpPr>
            <a:spLocks noGrp="1"/>
          </p:cNvSpPr>
          <p:nvPr>
            <p:ph type="title"/>
          </p:nvPr>
        </p:nvSpPr>
        <p:spPr/>
        <p:txBody>
          <a:bodyPr>
            <a:normAutofit fontScale="90000"/>
          </a:bodyPr>
          <a:lstStyle/>
          <a:p>
            <a:endParaRPr lang="en-IN"/>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C3D27B1-5C92-985B-9EEC-04BB60A2C89F}"/>
                  </a:ext>
                </a:extLst>
              </p:cNvPr>
              <p:cNvSpPr>
                <a:spLocks noGrp="1"/>
              </p:cNvSpPr>
              <p:nvPr>
                <p:ph idx="1"/>
              </p:nvPr>
            </p:nvSpPr>
            <p:spPr>
              <a:xfrm>
                <a:off x="1025842" y="1513840"/>
                <a:ext cx="10201275" cy="4612430"/>
              </a:xfrm>
            </p:spPr>
            <p:txBody>
              <a:bodyPr/>
              <a:lstStyle/>
              <a:p>
                <a:r>
                  <a:rPr lang="en-IN" b="1" dirty="0"/>
                  <a:t>STEP 2: Decoder Reconstruction</a:t>
                </a:r>
              </a:p>
              <a:p>
                <a:r>
                  <a:rPr lang="en-IN" dirty="0"/>
                  <a:t>Using:</a:t>
                </a:r>
              </a:p>
              <a:p>
                <a14:m>
                  <m:oMath xmlns:m="http://schemas.openxmlformats.org/officeDocument/2006/math">
                    <m:sSup>
                      <m:sSupPr>
                        <m:ctrlPr>
                          <a:rPr lang="ar-AE" i="1">
                            <a:latin typeface="Cambria Math" panose="02040503050406030204" pitchFamily="18" charset="0"/>
                          </a:rPr>
                        </m:ctrlPr>
                      </m:sSupPr>
                      <m:e>
                        <m:r>
                          <a:rPr lang="ar-AE" i="1">
                            <a:latin typeface="Cambria Math" panose="02040503050406030204" pitchFamily="18" charset="0"/>
                          </a:rPr>
                          <m:t>𝑊</m:t>
                        </m:r>
                      </m:e>
                      <m:sup>
                        <m:r>
                          <a:rPr lang="ar-AE">
                            <a:latin typeface="Cambria Math" panose="02040503050406030204" pitchFamily="18" charset="0"/>
                          </a:rPr>
                          <m:t>′</m:t>
                        </m:r>
                      </m:sup>
                    </m:sSup>
                    <m:r>
                      <a:rPr lang="ar-AE">
                        <a:latin typeface="Cambria Math" panose="02040503050406030204" pitchFamily="18" charset="0"/>
                      </a:rPr>
                      <m:t>=</m:t>
                    </m:r>
                    <m:d>
                      <m:dPr>
                        <m:begChr m:val="["/>
                        <m:endChr m:val="]"/>
                        <m:ctrlPr>
                          <a:rPr lang="ar-AE" i="1">
                            <a:latin typeface="Cambria Math" panose="02040503050406030204" pitchFamily="18" charset="0"/>
                          </a:rPr>
                        </m:ctrlPr>
                      </m:dPr>
                      <m:e>
                        <m:m>
                          <m:mPr>
                            <m:plcHide m:val="on"/>
                            <m:mcs>
                              <m:mc>
                                <m:mcPr>
                                  <m:count m:val="2"/>
                                  <m:mcJc m:val="center"/>
                                </m:mcPr>
                              </m:mc>
                            </m:mcs>
                            <m:ctrlPr>
                              <a:rPr lang="ar-AE" i="1">
                                <a:latin typeface="Cambria Math" panose="02040503050406030204" pitchFamily="18" charset="0"/>
                              </a:rPr>
                            </m:ctrlPr>
                          </m:mPr>
                          <m:m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3</m:t>
                              </m:r>
                            </m:e>
                            <m:e>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2</m:t>
                              </m:r>
                            </m:e>
                          </m:mr>
                          <m:m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4</m:t>
                              </m:r>
                            </m:e>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1</m:t>
                              </m:r>
                            </m:e>
                          </m:mr>
                          <m:mr>
                            <m:e>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5</m:t>
                              </m:r>
                            </m:e>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2</m:t>
                              </m:r>
                            </m:e>
                          </m:mr>
                        </m:m>
                      </m:e>
                    </m:d>
                  </m:oMath>
                </a14:m>
                <a:endParaRPr lang="ar-AE" dirty="0"/>
              </a:p>
              <a:p>
                <a:r>
                  <a:rPr lang="en-IN" dirty="0"/>
                  <a:t>Bias:</a:t>
                </a:r>
              </a:p>
              <a:p>
                <a14:m>
                  <m:oMath xmlns:m="http://schemas.openxmlformats.org/officeDocument/2006/math">
                    <m:sSup>
                      <m:sSupPr>
                        <m:ctrlPr>
                          <a:rPr lang="ar-AE" i="1">
                            <a:latin typeface="Cambria Math" panose="02040503050406030204" pitchFamily="18" charset="0"/>
                          </a:rPr>
                        </m:ctrlPr>
                      </m:sSupPr>
                      <m:e>
                        <m:r>
                          <a:rPr lang="ar-AE" i="1">
                            <a:latin typeface="Cambria Math" panose="02040503050406030204" pitchFamily="18" charset="0"/>
                          </a:rPr>
                          <m:t>𝑏</m:t>
                        </m:r>
                      </m:e>
                      <m:sup>
                        <m:r>
                          <a:rPr lang="ar-AE">
                            <a:latin typeface="Cambria Math" panose="02040503050406030204" pitchFamily="18" charset="0"/>
                          </a:rPr>
                          <m:t>′</m:t>
                        </m:r>
                      </m:sup>
                    </m:sSup>
                    <m:r>
                      <a:rPr lang="ar-AE">
                        <a:latin typeface="Cambria Math" panose="02040503050406030204" pitchFamily="18" charset="0"/>
                      </a:rPr>
                      <m:t>=</m:t>
                    </m:r>
                    <m:d>
                      <m:dPr>
                        <m:begChr m:val="["/>
                        <m:endChr m:val="]"/>
                        <m:sepChr m:val=","/>
                        <m:ctrlPr>
                          <a:rPr lang="ar-AE" i="1">
                            <a:latin typeface="Cambria Math" panose="02040503050406030204" pitchFamily="18" charset="0"/>
                          </a:rPr>
                        </m:ctrlPr>
                      </m:dP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05</m:t>
                        </m:r>
                      </m:e>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05</m:t>
                        </m:r>
                      </m:e>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05</m:t>
                        </m:r>
                      </m:e>
                    </m:d>
                  </m:oMath>
                </a14:m>
                <a:endParaRPr lang="ar-AE" dirty="0"/>
              </a:p>
              <a:p>
                <a:r>
                  <a:rPr lang="en-IN" dirty="0"/>
                  <a:t>Following same calculations:</a:t>
                </a:r>
              </a:p>
              <a:p>
                <a14:m>
                  <m:oMath xmlns:m="http://schemas.openxmlformats.org/officeDocument/2006/math">
                    <m:acc>
                      <m:accPr>
                        <m:chr m:val="̂"/>
                        <m:ctrlPr>
                          <a:rPr lang="ar-AE" i="1">
                            <a:latin typeface="Cambria Math" panose="02040503050406030204" pitchFamily="18" charset="0"/>
                          </a:rPr>
                        </m:ctrlPr>
                      </m:accPr>
                      <m:e>
                        <m:r>
                          <a:rPr lang="ar-AE" i="1">
                            <a:latin typeface="Cambria Math" panose="02040503050406030204" pitchFamily="18" charset="0"/>
                          </a:rPr>
                          <m:t>𝑥</m:t>
                        </m:r>
                      </m:e>
                    </m:acc>
                    <m:r>
                      <a:rPr lang="ar-AE">
                        <a:latin typeface="Cambria Math" panose="02040503050406030204" pitchFamily="18" charset="0"/>
                      </a:rPr>
                      <m:t>=</m:t>
                    </m:r>
                    <m:r>
                      <a:rPr lang="ar-AE" i="1">
                        <a:latin typeface="Cambria Math" panose="02040503050406030204" pitchFamily="18" charset="0"/>
                      </a:rPr>
                      <m:t>[</m:t>
                    </m:r>
                    <m:r>
                      <a:rPr lang="ar-AE" i="1">
                        <a:latin typeface="Cambria Math" panose="02040503050406030204" pitchFamily="18" charset="0"/>
                      </a:rPr>
                      <m:t>0</m:t>
                    </m:r>
                    <m:r>
                      <a:rPr lang="ar-AE" i="1">
                        <a:latin typeface="Cambria Math" panose="02040503050406030204" pitchFamily="18" charset="0"/>
                      </a:rPr>
                      <m:t>.</m:t>
                    </m:r>
                    <m:r>
                      <a:rPr lang="ar-AE" i="1">
                        <a:latin typeface="Cambria Math" panose="02040503050406030204" pitchFamily="18" charset="0"/>
                      </a:rPr>
                      <m:t>532</m:t>
                    </m:r>
                    <m:r>
                      <a:rPr lang="ar-AE" i="1">
                        <a:latin typeface="Cambria Math" panose="02040503050406030204" pitchFamily="18" charset="0"/>
                      </a:rPr>
                      <m:t>,</m:t>
                    </m:r>
                    <m:r>
                      <a:rPr lang="ar-AE" i="1">
                        <a:latin typeface="Cambria Math" panose="02040503050406030204" pitchFamily="18" charset="0"/>
                      </a:rPr>
                      <m:t>0</m:t>
                    </m:r>
                    <m:r>
                      <a:rPr lang="ar-AE" i="1">
                        <a:latin typeface="Cambria Math" panose="02040503050406030204" pitchFamily="18" charset="0"/>
                      </a:rPr>
                      <m:t>.</m:t>
                    </m:r>
                    <m:r>
                      <a:rPr lang="ar-AE" i="1">
                        <a:latin typeface="Cambria Math" panose="02040503050406030204" pitchFamily="18" charset="0"/>
                      </a:rPr>
                      <m:t>584</m:t>
                    </m:r>
                    <m:r>
                      <a:rPr lang="ar-AE" i="1">
                        <a:latin typeface="Cambria Math" panose="02040503050406030204" pitchFamily="18" charset="0"/>
                      </a:rPr>
                      <m:t>,</m:t>
                    </m:r>
                    <m:r>
                      <a:rPr lang="ar-AE" i="1">
                        <a:latin typeface="Cambria Math" panose="02040503050406030204" pitchFamily="18" charset="0"/>
                      </a:rPr>
                      <m:t>0</m:t>
                    </m:r>
                    <m:r>
                      <a:rPr lang="ar-AE" i="1">
                        <a:latin typeface="Cambria Math" panose="02040503050406030204" pitchFamily="18" charset="0"/>
                      </a:rPr>
                      <m:t>.</m:t>
                    </m:r>
                    <m:r>
                      <a:rPr lang="ar-AE" i="1">
                        <a:latin typeface="Cambria Math" panose="02040503050406030204" pitchFamily="18" charset="0"/>
                      </a:rPr>
                      <m:t>463</m:t>
                    </m:r>
                    <m:r>
                      <a:rPr lang="ar-AE" i="1">
                        <a:latin typeface="Cambria Math" panose="02040503050406030204" pitchFamily="18" charset="0"/>
                      </a:rPr>
                      <m:t>]</m:t>
                    </m:r>
                  </m:oMath>
                </a14:m>
                <a:endParaRPr lang="ar-AE" b="0" dirty="0"/>
              </a:p>
              <a:p>
                <a:endParaRPr lang="en-IN" dirty="0"/>
              </a:p>
            </p:txBody>
          </p:sp>
        </mc:Choice>
        <mc:Fallback xmlns="">
          <p:sp>
            <p:nvSpPr>
              <p:cNvPr id="3" name="Content Placeholder 2">
                <a:extLst>
                  <a:ext uri="{FF2B5EF4-FFF2-40B4-BE49-F238E27FC236}">
                    <a16:creationId xmlns:a16="http://schemas.microsoft.com/office/drawing/2014/main" id="{3C3D27B1-5C92-985B-9EEC-04BB60A2C89F}"/>
                  </a:ext>
                </a:extLst>
              </p:cNvPr>
              <p:cNvSpPr>
                <a:spLocks noGrp="1" noRot="1" noChangeAspect="1" noMove="1" noResize="1" noEditPoints="1" noAdjustHandles="1" noChangeArrowheads="1" noChangeShapeType="1" noTextEdit="1"/>
              </p:cNvSpPr>
              <p:nvPr>
                <p:ph idx="1"/>
              </p:nvPr>
            </p:nvSpPr>
            <p:spPr>
              <a:xfrm>
                <a:off x="1025842" y="1513840"/>
                <a:ext cx="10201275" cy="4612430"/>
              </a:xfrm>
              <a:blipFill>
                <a:blip r:embed="rId2"/>
                <a:stretch>
                  <a:fillRect l="-1673" t="-1849"/>
                </a:stretch>
              </a:blipFill>
            </p:spPr>
            <p:txBody>
              <a:bodyPr/>
              <a:lstStyle/>
              <a:p>
                <a:r>
                  <a:rPr lang="en-IN">
                    <a:noFill/>
                  </a:rPr>
                  <a:t> </a:t>
                </a:r>
              </a:p>
            </p:txBody>
          </p:sp>
        </mc:Fallback>
      </mc:AlternateContent>
    </p:spTree>
    <p:extLst>
      <p:ext uri="{BB962C8B-B14F-4D97-AF65-F5344CB8AC3E}">
        <p14:creationId xmlns:p14="http://schemas.microsoft.com/office/powerpoint/2010/main" val="332862462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05F9DC-9221-9263-6225-DCF1B03E1FFD}"/>
              </a:ext>
            </a:extLst>
          </p:cNvPr>
          <p:cNvSpPr>
            <a:spLocks noGrp="1"/>
          </p:cNvSpPr>
          <p:nvPr>
            <p:ph type="title"/>
          </p:nvPr>
        </p:nvSpPr>
        <p:spPr/>
        <p:txBody>
          <a:bodyPr>
            <a:normAutofit fontScale="90000"/>
          </a:bodyPr>
          <a:lstStyle/>
          <a:p>
            <a:endParaRPr lang="en-IN"/>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D55C37E-CC01-F4E1-D67C-FB326BEFE583}"/>
                  </a:ext>
                </a:extLst>
              </p:cNvPr>
              <p:cNvSpPr>
                <a:spLocks noGrp="1"/>
              </p:cNvSpPr>
              <p:nvPr>
                <p:ph idx="1"/>
              </p:nvPr>
            </p:nvSpPr>
            <p:spPr>
              <a:xfrm>
                <a:off x="944880" y="1717040"/>
                <a:ext cx="10282237" cy="4409230"/>
              </a:xfrm>
            </p:spPr>
            <p:txBody>
              <a:bodyPr>
                <a:normAutofit fontScale="85000" lnSpcReduction="20000"/>
              </a:bodyPr>
              <a:lstStyle/>
              <a:p>
                <a:pPr>
                  <a:lnSpc>
                    <a:spcPct val="120000"/>
                  </a:lnSpc>
                  <a:spcBef>
                    <a:spcPts val="0"/>
                  </a:spcBef>
                  <a:spcAft>
                    <a:spcPts val="0"/>
                  </a:spcAft>
                </a:pPr>
                <a:r>
                  <a:rPr lang="en-IN" b="1" dirty="0"/>
                  <a:t>STEP 3: Reconstruction Loss</a:t>
                </a:r>
              </a:p>
              <a:p>
                <a:pPr>
                  <a:lnSpc>
                    <a:spcPct val="120000"/>
                  </a:lnSpc>
                  <a:spcBef>
                    <a:spcPts val="0"/>
                  </a:spcBef>
                  <a:spcAft>
                    <a:spcPts val="0"/>
                  </a:spcAft>
                </a:pPr>
                <a14:m>
                  <m:oMath xmlns:m="http://schemas.openxmlformats.org/officeDocument/2006/math">
                    <m:r>
                      <a:rPr lang="en-IN" i="1">
                        <a:latin typeface="Cambria Math" panose="02040503050406030204" pitchFamily="18" charset="0"/>
                      </a:rPr>
                      <m:t>𝐿</m:t>
                    </m:r>
                    <m:r>
                      <a:rPr lang="en-IN">
                        <a:latin typeface="Cambria Math" panose="02040503050406030204" pitchFamily="18" charset="0"/>
                      </a:rPr>
                      <m:t>=</m:t>
                    </m:r>
                    <m:d>
                      <m:dPr>
                        <m:endChr m:val=""/>
                        <m:ctrlPr>
                          <a:rPr lang="ar-AE" i="1">
                            <a:latin typeface="Cambria Math" panose="02040503050406030204" pitchFamily="18" charset="0"/>
                          </a:rPr>
                        </m:ctrlPr>
                      </m:dPr>
                      <m:e>
                        <m:r>
                          <a:rPr lang="ar-AE">
                            <a:latin typeface="Cambria Math" panose="02040503050406030204" pitchFamily="18" charset="0"/>
                          </a:rPr>
                          <m:t>1</m:t>
                        </m:r>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532</m:t>
                        </m:r>
                        <m:sSup>
                          <m:sSupPr>
                            <m:ctrlPr>
                              <a:rPr lang="ar-AE" i="1">
                                <a:latin typeface="Cambria Math" panose="02040503050406030204" pitchFamily="18" charset="0"/>
                              </a:rPr>
                            </m:ctrlPr>
                          </m:sSupPr>
                          <m:e>
                            <m:d>
                              <m:dPr>
                                <m:begChr m:val=""/>
                                <m:endChr m:val=""/>
                                <m:ctrlPr>
                                  <a:rPr lang="ar-AE" i="1">
                                    <a:latin typeface="Cambria Math" panose="02040503050406030204" pitchFamily="18" charset="0"/>
                                  </a:rPr>
                                </m:ctrlPr>
                              </m:dPr>
                              <m:e>
                                <m:r>
                                  <a:rPr lang="ar-AE">
                                    <a:latin typeface="Cambria Math" panose="02040503050406030204" pitchFamily="18" charset="0"/>
                                  </a:rPr>
                                  <m:t>)</m:t>
                                </m:r>
                              </m:e>
                            </m:d>
                          </m:e>
                          <m:sup>
                            <m:r>
                              <a:rPr lang="ar-AE">
                                <a:latin typeface="Cambria Math" panose="02040503050406030204" pitchFamily="18" charset="0"/>
                              </a:rPr>
                              <m:t>2</m:t>
                            </m:r>
                          </m:sup>
                        </m:sSup>
                        <m:r>
                          <a:rPr lang="ar-AE">
                            <a:latin typeface="Cambria Math" panose="02040503050406030204" pitchFamily="18" charset="0"/>
                          </a:rPr>
                          <m:t>+</m:t>
                        </m:r>
                        <m:d>
                          <m:dPr>
                            <m:endChr m:val=""/>
                            <m:ctrlPr>
                              <a:rPr lang="ar-AE" i="1">
                                <a:latin typeface="Cambria Math" panose="02040503050406030204" pitchFamily="18" charset="0"/>
                              </a:rPr>
                            </m:ctrlPr>
                          </m:dP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584</m:t>
                            </m:r>
                            <m:sSup>
                              <m:sSupPr>
                                <m:ctrlPr>
                                  <a:rPr lang="ar-AE" i="1">
                                    <a:latin typeface="Cambria Math" panose="02040503050406030204" pitchFamily="18" charset="0"/>
                                  </a:rPr>
                                </m:ctrlPr>
                              </m:sSupPr>
                              <m:e>
                                <m:d>
                                  <m:dPr>
                                    <m:begChr m:val=""/>
                                    <m:endChr m:val=""/>
                                    <m:ctrlPr>
                                      <a:rPr lang="ar-AE" i="1">
                                        <a:latin typeface="Cambria Math" panose="02040503050406030204" pitchFamily="18" charset="0"/>
                                      </a:rPr>
                                    </m:ctrlPr>
                                  </m:dPr>
                                  <m:e>
                                    <m:r>
                                      <a:rPr lang="ar-AE">
                                        <a:latin typeface="Cambria Math" panose="02040503050406030204" pitchFamily="18" charset="0"/>
                                      </a:rPr>
                                      <m:t>)</m:t>
                                    </m:r>
                                  </m:e>
                                </m:d>
                              </m:e>
                              <m:sup>
                                <m:r>
                                  <a:rPr lang="ar-AE">
                                    <a:latin typeface="Cambria Math" panose="02040503050406030204" pitchFamily="18" charset="0"/>
                                  </a:rPr>
                                  <m:t>2</m:t>
                                </m:r>
                              </m:sup>
                            </m:sSup>
                            <m:r>
                              <a:rPr lang="ar-AE">
                                <a:latin typeface="Cambria Math" panose="02040503050406030204" pitchFamily="18" charset="0"/>
                              </a:rPr>
                              <m:t>+</m:t>
                            </m:r>
                            <m:d>
                              <m:dPr>
                                <m:endChr m:val=""/>
                                <m:ctrlPr>
                                  <a:rPr lang="ar-AE" i="1">
                                    <a:latin typeface="Cambria Math" panose="02040503050406030204" pitchFamily="18" charset="0"/>
                                  </a:rPr>
                                </m:ctrlPr>
                              </m:dPr>
                              <m:e>
                                <m:r>
                                  <a:rPr lang="ar-AE">
                                    <a:latin typeface="Cambria Math" panose="02040503050406030204" pitchFamily="18" charset="0"/>
                                  </a:rPr>
                                  <m:t>1</m:t>
                                </m:r>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463</m:t>
                                </m:r>
                                <m:sSup>
                                  <m:sSupPr>
                                    <m:ctrlPr>
                                      <a:rPr lang="ar-AE" i="1">
                                        <a:latin typeface="Cambria Math" panose="02040503050406030204" pitchFamily="18" charset="0"/>
                                      </a:rPr>
                                    </m:ctrlPr>
                                  </m:sSupPr>
                                  <m:e>
                                    <m:d>
                                      <m:dPr>
                                        <m:begChr m:val=""/>
                                        <m:endChr m:val=""/>
                                        <m:ctrlPr>
                                          <a:rPr lang="ar-AE" i="1">
                                            <a:latin typeface="Cambria Math" panose="02040503050406030204" pitchFamily="18" charset="0"/>
                                          </a:rPr>
                                        </m:ctrlPr>
                                      </m:dPr>
                                      <m:e>
                                        <m:r>
                                          <a:rPr lang="ar-AE">
                                            <a:latin typeface="Cambria Math" panose="02040503050406030204" pitchFamily="18" charset="0"/>
                                          </a:rPr>
                                          <m:t>)</m:t>
                                        </m:r>
                                      </m:e>
                                    </m:d>
                                  </m:e>
                                  <m:sup>
                                    <m:r>
                                      <a:rPr lang="ar-AE">
                                        <a:latin typeface="Cambria Math" panose="02040503050406030204" pitchFamily="18" charset="0"/>
                                      </a:rPr>
                                      <m:t>2</m:t>
                                    </m:r>
                                  </m:sup>
                                </m:sSup>
                              </m:e>
                            </m:d>
                          </m:e>
                        </m:d>
                      </m:e>
                    </m:d>
                  </m:oMath>
                </a14:m>
                <a:endParaRPr lang="ar-AE" dirty="0"/>
              </a:p>
              <a:p>
                <a:pPr>
                  <a:lnSpc>
                    <a:spcPct val="120000"/>
                  </a:lnSpc>
                  <a:spcBef>
                    <a:spcPts val="0"/>
                  </a:spcBef>
                  <a:spcAft>
                    <a:spcPts val="0"/>
                  </a:spcAft>
                </a:pPr>
                <a14:m>
                  <m:oMath xmlns:m="http://schemas.openxmlformats.org/officeDocument/2006/math">
                    <m:r>
                      <a:rPr lang="ar-AE" i="1">
                        <a:latin typeface="Cambria Math" panose="02040503050406030204" pitchFamily="18" charset="0"/>
                      </a:rPr>
                      <m:t>𝐿</m:t>
                    </m:r>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219</m:t>
                    </m:r>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341</m:t>
                    </m:r>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288</m:t>
                    </m:r>
                  </m:oMath>
                </a14:m>
                <a:endParaRPr lang="ar-AE" dirty="0"/>
              </a:p>
              <a:p>
                <a:pPr>
                  <a:lnSpc>
                    <a:spcPct val="120000"/>
                  </a:lnSpc>
                  <a:spcBef>
                    <a:spcPts val="0"/>
                  </a:spcBef>
                  <a:spcAft>
                    <a:spcPts val="0"/>
                  </a:spcAft>
                </a:pPr>
                <a14:m>
                  <m:oMath xmlns:m="http://schemas.openxmlformats.org/officeDocument/2006/math">
                    <m:borderBox>
                      <m:borderBoxPr>
                        <m:ctrlPr>
                          <a:rPr lang="ar-AE" i="1">
                            <a:latin typeface="Cambria Math" panose="02040503050406030204" pitchFamily="18" charset="0"/>
                          </a:rPr>
                        </m:ctrlPr>
                      </m:borderBoxPr>
                      <m:e>
                        <m:r>
                          <a:rPr lang="ar-AE" i="1">
                            <a:latin typeface="Cambria Math" panose="02040503050406030204" pitchFamily="18" charset="0"/>
                          </a:rPr>
                          <m:t>𝐿</m:t>
                        </m:r>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848</m:t>
                        </m:r>
                      </m:e>
                    </m:borderBox>
                  </m:oMath>
                </a14:m>
                <a:endParaRPr lang="ar-AE" dirty="0"/>
              </a:p>
              <a:p>
                <a:pPr>
                  <a:lnSpc>
                    <a:spcPct val="120000"/>
                  </a:lnSpc>
                  <a:spcBef>
                    <a:spcPts val="0"/>
                  </a:spcBef>
                  <a:spcAft>
                    <a:spcPts val="0"/>
                  </a:spcAft>
                </a:pPr>
                <a:br>
                  <a:rPr lang="ar-AE" dirty="0"/>
                </a:br>
                <a:r>
                  <a:rPr lang="en-IN" b="1" dirty="0"/>
                  <a:t> STEP 4: Compute Contractive Penalty</a:t>
                </a:r>
              </a:p>
              <a:p>
                <a:pPr>
                  <a:lnSpc>
                    <a:spcPct val="120000"/>
                  </a:lnSpc>
                  <a:spcBef>
                    <a:spcPts val="0"/>
                  </a:spcBef>
                  <a:spcAft>
                    <a:spcPts val="0"/>
                  </a:spcAft>
                </a:pPr>
                <a:r>
                  <a:rPr lang="en-IN" dirty="0"/>
                  <a:t>We compute:</a:t>
                </a:r>
              </a:p>
              <a:p>
                <a:pPr>
                  <a:lnSpc>
                    <a:spcPct val="120000"/>
                  </a:lnSpc>
                  <a:spcBef>
                    <a:spcPts val="0"/>
                  </a:spcBef>
                  <a:spcAft>
                    <a:spcPts val="0"/>
                  </a:spcAft>
                </a:pPr>
                <a14:m>
                  <m:oMath xmlns:m="http://schemas.openxmlformats.org/officeDocument/2006/math">
                    <m:r>
                      <m:rPr>
                        <m:sty m:val="p"/>
                      </m:rPr>
                      <a:rPr lang="el-GR">
                        <a:latin typeface="Cambria Math" panose="02040503050406030204" pitchFamily="18" charset="0"/>
                      </a:rPr>
                      <m:t>Ω</m:t>
                    </m:r>
                    <m:r>
                      <a:rPr lang="el-GR">
                        <a:latin typeface="Cambria Math" panose="02040503050406030204" pitchFamily="18" charset="0"/>
                      </a:rPr>
                      <m:t>=</m:t>
                    </m:r>
                    <m:r>
                      <a:rPr lang="el-GR" i="1">
                        <a:latin typeface="Cambria Math" panose="02040503050406030204" pitchFamily="18" charset="0"/>
                      </a:rPr>
                      <m:t>𝜆</m:t>
                    </m:r>
                    <m:nary>
                      <m:naryPr>
                        <m:chr m:val="∑"/>
                        <m:grow m:val="on"/>
                        <m:supHide m:val="on"/>
                        <m:ctrlPr>
                          <a:rPr lang="ar-AE" i="1">
                            <a:latin typeface="Cambria Math" panose="02040503050406030204" pitchFamily="18" charset="0"/>
                          </a:rPr>
                        </m:ctrlPr>
                      </m:naryPr>
                      <m:sub>
                        <m:r>
                          <a:rPr lang="ar-AE" i="1">
                            <a:latin typeface="Cambria Math" panose="02040503050406030204" pitchFamily="18" charset="0"/>
                          </a:rPr>
                          <m:t>𝑗</m:t>
                        </m:r>
                      </m:sub>
                      <m:sup/>
                      <m:e>
                        <m:r>
                          <a:rPr lang="ar-AE">
                            <a:latin typeface="Cambria Math" panose="02040503050406030204" pitchFamily="18" charset="0"/>
                          </a:rPr>
                          <m:t>(</m:t>
                        </m:r>
                      </m:e>
                    </m:nary>
                    <m:d>
                      <m:dPr>
                        <m:begChr m:val=""/>
                        <m:endChr m:val=""/>
                        <m:ctrlPr>
                          <a:rPr lang="ar-AE" i="1">
                            <a:latin typeface="Cambria Math" panose="02040503050406030204" pitchFamily="18" charset="0"/>
                          </a:rPr>
                        </m:ctrlPr>
                      </m:dPr>
                      <m:e>
                        <m:sSub>
                          <m:sSubPr>
                            <m:ctrlPr>
                              <a:rPr lang="ar-AE" i="1">
                                <a:latin typeface="Cambria Math" panose="02040503050406030204" pitchFamily="18" charset="0"/>
                              </a:rPr>
                            </m:ctrlPr>
                          </m:sSubPr>
                          <m:e>
                            <m:r>
                              <a:rPr lang="ar-AE" i="1">
                                <a:latin typeface="Cambria Math" panose="02040503050406030204" pitchFamily="18" charset="0"/>
                              </a:rPr>
                              <m:t>h</m:t>
                            </m:r>
                          </m:e>
                          <m:sub>
                            <m:r>
                              <a:rPr lang="ar-AE" i="1">
                                <a:latin typeface="Cambria Math" panose="02040503050406030204" pitchFamily="18" charset="0"/>
                              </a:rPr>
                              <m:t>𝑗</m:t>
                            </m:r>
                          </m:sub>
                        </m:sSub>
                        <m:d>
                          <m:dPr>
                            <m:ctrlPr>
                              <a:rPr lang="ar-AE" i="1">
                                <a:latin typeface="Cambria Math" panose="02040503050406030204" pitchFamily="18" charset="0"/>
                              </a:rPr>
                            </m:ctrlPr>
                          </m:dPr>
                          <m:e>
                            <m:r>
                              <a:rPr lang="ar-AE">
                                <a:latin typeface="Cambria Math" panose="02040503050406030204" pitchFamily="18" charset="0"/>
                              </a:rPr>
                              <m:t>1</m:t>
                            </m:r>
                            <m:r>
                              <a:rPr lang="ar-AE">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h</m:t>
                                </m:r>
                              </m:e>
                              <m:sub>
                                <m:r>
                                  <a:rPr lang="ar-AE" i="1">
                                    <a:latin typeface="Cambria Math" panose="02040503050406030204" pitchFamily="18" charset="0"/>
                                  </a:rPr>
                                  <m:t>𝑗</m:t>
                                </m:r>
                              </m:sub>
                            </m:sSub>
                          </m:e>
                        </m:d>
                        <m:sSup>
                          <m:sSupPr>
                            <m:ctrlPr>
                              <a:rPr lang="ar-AE" i="1">
                                <a:latin typeface="Cambria Math" panose="02040503050406030204" pitchFamily="18" charset="0"/>
                              </a:rPr>
                            </m:ctrlPr>
                          </m:sSupPr>
                          <m:e>
                            <m:d>
                              <m:dPr>
                                <m:begChr m:val=""/>
                                <m:endChr m:val=""/>
                                <m:ctrlPr>
                                  <a:rPr lang="ar-AE" i="1">
                                    <a:latin typeface="Cambria Math" panose="02040503050406030204" pitchFamily="18" charset="0"/>
                                  </a:rPr>
                                </m:ctrlPr>
                              </m:dPr>
                              <m:e>
                                <m:r>
                                  <a:rPr lang="ar-AE">
                                    <a:latin typeface="Cambria Math" panose="02040503050406030204" pitchFamily="18" charset="0"/>
                                  </a:rPr>
                                  <m:t>)</m:t>
                                </m:r>
                              </m:e>
                            </m:d>
                          </m:e>
                          <m:sup>
                            <m:r>
                              <a:rPr lang="ar-AE">
                                <a:latin typeface="Cambria Math" panose="02040503050406030204" pitchFamily="18" charset="0"/>
                              </a:rPr>
                              <m:t>2</m:t>
                            </m:r>
                          </m:sup>
                        </m:sSup>
                        <m:nary>
                          <m:naryPr>
                            <m:chr m:val="∑"/>
                            <m:grow m:val="on"/>
                            <m:supHide m:val="on"/>
                            <m:ctrlPr>
                              <a:rPr lang="ar-AE" i="1">
                                <a:latin typeface="Cambria Math" panose="02040503050406030204" pitchFamily="18" charset="0"/>
                              </a:rPr>
                            </m:ctrlPr>
                          </m:naryPr>
                          <m:sub>
                            <m:r>
                              <a:rPr lang="ar-AE" i="1">
                                <a:latin typeface="Cambria Math" panose="02040503050406030204" pitchFamily="18" charset="0"/>
                              </a:rPr>
                              <m:t>𝑖</m:t>
                            </m:r>
                          </m:sub>
                          <m:sup/>
                          <m:e>
                            <m:sSubSup>
                              <m:sSubSupPr>
                                <m:ctrlPr>
                                  <a:rPr lang="ar-AE" i="1">
                                    <a:latin typeface="Cambria Math" panose="02040503050406030204" pitchFamily="18" charset="0"/>
                                  </a:rPr>
                                </m:ctrlPr>
                              </m:sSubSupPr>
                              <m:e>
                                <m:r>
                                  <a:rPr lang="ar-AE" i="1">
                                    <a:latin typeface="Cambria Math" panose="02040503050406030204" pitchFamily="18" charset="0"/>
                                  </a:rPr>
                                  <m:t>𝑊</m:t>
                                </m:r>
                              </m:e>
                              <m:sub>
                                <m:r>
                                  <a:rPr lang="ar-AE" i="1">
                                    <a:latin typeface="Cambria Math" panose="02040503050406030204" pitchFamily="18" charset="0"/>
                                  </a:rPr>
                                  <m:t>𝑗𝑖</m:t>
                                </m:r>
                              </m:sub>
                              <m:sup>
                                <m:r>
                                  <a:rPr lang="ar-AE">
                                    <a:latin typeface="Cambria Math" panose="02040503050406030204" pitchFamily="18" charset="0"/>
                                  </a:rPr>
                                  <m:t>2</m:t>
                                </m:r>
                              </m:sup>
                            </m:sSubSup>
                          </m:e>
                        </m:nary>
                      </m:e>
                    </m:d>
                  </m:oMath>
                </a14:m>
                <a:endParaRPr lang="ar-AE" dirty="0"/>
              </a:p>
              <a:p>
                <a:pPr>
                  <a:lnSpc>
                    <a:spcPct val="120000"/>
                  </a:lnSpc>
                  <a:spcBef>
                    <a:spcPts val="0"/>
                  </a:spcBef>
                  <a:spcAft>
                    <a:spcPts val="0"/>
                  </a:spcAft>
                </a:pPr>
                <a:r>
                  <a:rPr lang="en-IN" dirty="0"/>
                  <a:t>Assume:</a:t>
                </a:r>
              </a:p>
              <a:p>
                <a:pPr>
                  <a:lnSpc>
                    <a:spcPct val="120000"/>
                  </a:lnSpc>
                  <a:spcBef>
                    <a:spcPts val="0"/>
                  </a:spcBef>
                  <a:spcAft>
                    <a:spcPts val="0"/>
                  </a:spcAft>
                </a:pPr>
                <a14:m>
                  <m:oMath xmlns:m="http://schemas.openxmlformats.org/officeDocument/2006/math">
                    <m:r>
                      <a:rPr lang="en-IN" i="1">
                        <a:latin typeface="Cambria Math" panose="02040503050406030204" pitchFamily="18" charset="0"/>
                      </a:rPr>
                      <m:t>𝜆</m:t>
                    </m:r>
                    <m:r>
                      <a:rPr lang="en-IN">
                        <a:latin typeface="Cambria Math" panose="02040503050406030204" pitchFamily="18" charset="0"/>
                      </a:rPr>
                      <m:t>=</m:t>
                    </m:r>
                    <m:r>
                      <a:rPr lang="en-IN">
                        <a:latin typeface="Cambria Math" panose="02040503050406030204" pitchFamily="18" charset="0"/>
                      </a:rPr>
                      <m:t>1</m:t>
                    </m:r>
                  </m:oMath>
                </a14:m>
                <a:endParaRPr lang="en-IN" dirty="0"/>
              </a:p>
              <a:p>
                <a:pPr>
                  <a:lnSpc>
                    <a:spcPct val="120000"/>
                  </a:lnSpc>
                  <a:spcBef>
                    <a:spcPts val="0"/>
                  </a:spcBef>
                  <a:spcAft>
                    <a:spcPts val="0"/>
                  </a:spcAft>
                </a:pPr>
                <a:endParaRPr lang="en-IN" dirty="0"/>
              </a:p>
            </p:txBody>
          </p:sp>
        </mc:Choice>
        <mc:Fallback xmlns="">
          <p:sp>
            <p:nvSpPr>
              <p:cNvPr id="3" name="Content Placeholder 2">
                <a:extLst>
                  <a:ext uri="{FF2B5EF4-FFF2-40B4-BE49-F238E27FC236}">
                    <a16:creationId xmlns:a16="http://schemas.microsoft.com/office/drawing/2014/main" id="{7D55C37E-CC01-F4E1-D67C-FB326BEFE583}"/>
                  </a:ext>
                </a:extLst>
              </p:cNvPr>
              <p:cNvSpPr>
                <a:spLocks noGrp="1" noRot="1" noChangeAspect="1" noMove="1" noResize="1" noEditPoints="1" noAdjustHandles="1" noChangeArrowheads="1" noChangeShapeType="1" noTextEdit="1"/>
              </p:cNvSpPr>
              <p:nvPr>
                <p:ph idx="1"/>
              </p:nvPr>
            </p:nvSpPr>
            <p:spPr>
              <a:xfrm>
                <a:off x="944880" y="1717040"/>
                <a:ext cx="10282237" cy="4409230"/>
              </a:xfrm>
              <a:blipFill>
                <a:blip r:embed="rId2"/>
                <a:stretch>
                  <a:fillRect l="-1423" t="-830"/>
                </a:stretch>
              </a:blipFill>
            </p:spPr>
            <p:txBody>
              <a:bodyPr/>
              <a:lstStyle/>
              <a:p>
                <a:r>
                  <a:rPr lang="en-IN">
                    <a:noFill/>
                  </a:rPr>
                  <a:t> </a:t>
                </a:r>
              </a:p>
            </p:txBody>
          </p:sp>
        </mc:Fallback>
      </mc:AlternateContent>
    </p:spTree>
    <p:extLst>
      <p:ext uri="{BB962C8B-B14F-4D97-AF65-F5344CB8AC3E}">
        <p14:creationId xmlns:p14="http://schemas.microsoft.com/office/powerpoint/2010/main" val="10266718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7DECE3-5D13-7D53-C394-07380AD0444F}"/>
              </a:ext>
            </a:extLst>
          </p:cNvPr>
          <p:cNvSpPr>
            <a:spLocks noGrp="1"/>
          </p:cNvSpPr>
          <p:nvPr>
            <p:ph type="title"/>
          </p:nvPr>
        </p:nvSpPr>
        <p:spPr/>
        <p:txBody>
          <a:bodyPr>
            <a:normAutofit fontScale="90000"/>
          </a:bodyPr>
          <a:lstStyle/>
          <a:p>
            <a:endParaRPr lang="en-IN"/>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7D5218E-4D43-BCB4-8A11-88EAA48707FC}"/>
                  </a:ext>
                </a:extLst>
              </p:cNvPr>
              <p:cNvSpPr>
                <a:spLocks noGrp="1"/>
              </p:cNvSpPr>
              <p:nvPr>
                <p:ph idx="1"/>
              </p:nvPr>
            </p:nvSpPr>
            <p:spPr>
              <a:xfrm>
                <a:off x="934720" y="1361440"/>
                <a:ext cx="10292397" cy="4764830"/>
              </a:xfrm>
            </p:spPr>
            <p:txBody>
              <a:bodyPr>
                <a:normAutofit fontScale="85000" lnSpcReduction="10000"/>
              </a:bodyPr>
              <a:lstStyle/>
              <a:p>
                <a:pPr>
                  <a:lnSpc>
                    <a:spcPct val="120000"/>
                  </a:lnSpc>
                  <a:spcBef>
                    <a:spcPts val="0"/>
                  </a:spcBef>
                  <a:spcAft>
                    <a:spcPts val="0"/>
                  </a:spcAft>
                </a:pPr>
                <a:r>
                  <a:rPr lang="en-IN" b="1" dirty="0"/>
                  <a:t>For hidden neuron 1</a:t>
                </a:r>
              </a:p>
              <a:p>
                <a:pPr>
                  <a:lnSpc>
                    <a:spcPct val="120000"/>
                  </a:lnSpc>
                  <a:spcBef>
                    <a:spcPts val="0"/>
                  </a:spcBef>
                  <a:spcAft>
                    <a:spcPts val="0"/>
                  </a:spcAft>
                </a:pPr>
                <a:r>
                  <a:rPr lang="en-IN" b="1" dirty="0"/>
                  <a:t>Compute derivative factor</a:t>
                </a:r>
              </a:p>
              <a:p>
                <a:pPr>
                  <a:lnSpc>
                    <a:spcPct val="120000"/>
                  </a:lnSpc>
                  <a:spcBef>
                    <a:spcPts val="0"/>
                  </a:spcBef>
                  <a:spcAft>
                    <a:spcPts val="0"/>
                  </a:spcAft>
                </a:pP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h</m:t>
                        </m:r>
                      </m:e>
                      <m:sub>
                        <m:r>
                          <a:rPr lang="ar-AE">
                            <a:latin typeface="Cambria Math" panose="02040503050406030204" pitchFamily="18" charset="0"/>
                          </a:rPr>
                          <m:t>1</m:t>
                        </m:r>
                      </m:sub>
                    </m:sSub>
                    <m:d>
                      <m:dPr>
                        <m:ctrlPr>
                          <a:rPr lang="ar-AE" i="1">
                            <a:latin typeface="Cambria Math" panose="02040503050406030204" pitchFamily="18" charset="0"/>
                          </a:rPr>
                        </m:ctrlPr>
                      </m:dPr>
                      <m:e>
                        <m:r>
                          <a:rPr lang="ar-AE">
                            <a:latin typeface="Cambria Math" panose="02040503050406030204" pitchFamily="18" charset="0"/>
                          </a:rPr>
                          <m:t>1</m:t>
                        </m:r>
                        <m:r>
                          <a:rPr lang="ar-AE">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h</m:t>
                            </m:r>
                          </m:e>
                          <m:sub>
                            <m:r>
                              <a:rPr lang="ar-AE">
                                <a:latin typeface="Cambria Math" panose="02040503050406030204" pitchFamily="18" charset="0"/>
                              </a:rPr>
                              <m:t>1</m:t>
                            </m:r>
                          </m:sub>
                        </m:sSub>
                      </m:e>
                    </m:d>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5987</m:t>
                    </m:r>
                    <m:d>
                      <m:dPr>
                        <m:ctrlPr>
                          <a:rPr lang="ar-AE" i="1">
                            <a:latin typeface="Cambria Math" panose="02040503050406030204" pitchFamily="18" charset="0"/>
                          </a:rPr>
                        </m:ctrlPr>
                      </m:dPr>
                      <m:e>
                        <m:r>
                          <a:rPr lang="ar-AE">
                            <a:latin typeface="Cambria Math" panose="02040503050406030204" pitchFamily="18" charset="0"/>
                          </a:rPr>
                          <m:t>1</m:t>
                        </m:r>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5987</m:t>
                        </m:r>
                      </m:e>
                    </m:d>
                  </m:oMath>
                </a14:m>
                <a:endParaRPr lang="ar-AE" dirty="0"/>
              </a:p>
              <a:p>
                <a:pPr>
                  <a:lnSpc>
                    <a:spcPct val="120000"/>
                  </a:lnSpc>
                  <a:spcBef>
                    <a:spcPts val="0"/>
                  </a:spcBef>
                  <a:spcAft>
                    <a:spcPts val="0"/>
                  </a:spcAft>
                </a:pPr>
                <a14:m>
                  <m:oMath xmlns:m="http://schemas.openxmlformats.org/officeDocument/2006/math">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5987</m:t>
                    </m:r>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4013</m:t>
                    </m:r>
                  </m:oMath>
                </a14:m>
                <a:endParaRPr lang="ar-AE" dirty="0"/>
              </a:p>
              <a:p>
                <a:pPr>
                  <a:lnSpc>
                    <a:spcPct val="120000"/>
                  </a:lnSpc>
                  <a:spcBef>
                    <a:spcPts val="0"/>
                  </a:spcBef>
                  <a:spcAft>
                    <a:spcPts val="0"/>
                  </a:spcAft>
                </a:pPr>
                <a14:m>
                  <m:oMath xmlns:m="http://schemas.openxmlformats.org/officeDocument/2006/math">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240</m:t>
                    </m:r>
                  </m:oMath>
                </a14:m>
                <a:endParaRPr lang="ar-AE" dirty="0"/>
              </a:p>
              <a:p>
                <a:pPr>
                  <a:lnSpc>
                    <a:spcPct val="120000"/>
                  </a:lnSpc>
                  <a:spcBef>
                    <a:spcPts val="0"/>
                  </a:spcBef>
                  <a:spcAft>
                    <a:spcPts val="0"/>
                  </a:spcAft>
                </a:pPr>
                <a:r>
                  <a:rPr lang="en-IN" b="1" dirty="0"/>
                  <a:t>Square:</a:t>
                </a:r>
              </a:p>
              <a:p>
                <a:pPr>
                  <a:lnSpc>
                    <a:spcPct val="120000"/>
                  </a:lnSpc>
                  <a:spcBef>
                    <a:spcPts val="0"/>
                  </a:spcBef>
                  <a:spcAft>
                    <a:spcPts val="0"/>
                  </a:spcAft>
                </a:pPr>
                <a14:m>
                  <m:oMath xmlns:m="http://schemas.openxmlformats.org/officeDocument/2006/math">
                    <m:d>
                      <m:dPr>
                        <m:endChr m:val=""/>
                        <m:ctrlPr>
                          <a:rPr lang="ar-AE" i="1">
                            <a:latin typeface="Cambria Math" panose="02040503050406030204" pitchFamily="18" charset="0"/>
                          </a:rPr>
                        </m:ctrlPr>
                      </m:dP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240</m:t>
                        </m:r>
                        <m:sSup>
                          <m:sSupPr>
                            <m:ctrlPr>
                              <a:rPr lang="ar-AE" i="1">
                                <a:latin typeface="Cambria Math" panose="02040503050406030204" pitchFamily="18" charset="0"/>
                              </a:rPr>
                            </m:ctrlPr>
                          </m:sSupPr>
                          <m:e>
                            <m:d>
                              <m:dPr>
                                <m:begChr m:val=""/>
                                <m:endChr m:val=""/>
                                <m:ctrlPr>
                                  <a:rPr lang="ar-AE" i="1">
                                    <a:latin typeface="Cambria Math" panose="02040503050406030204" pitchFamily="18" charset="0"/>
                                  </a:rPr>
                                </m:ctrlPr>
                              </m:dPr>
                              <m:e>
                                <m:r>
                                  <a:rPr lang="ar-AE">
                                    <a:latin typeface="Cambria Math" panose="02040503050406030204" pitchFamily="18" charset="0"/>
                                  </a:rPr>
                                  <m:t>)</m:t>
                                </m:r>
                              </m:e>
                            </m:d>
                          </m:e>
                          <m:sup>
                            <m:r>
                              <a:rPr lang="ar-AE">
                                <a:latin typeface="Cambria Math" panose="02040503050406030204" pitchFamily="18" charset="0"/>
                              </a:rPr>
                              <m:t>2</m:t>
                            </m:r>
                          </m:sup>
                        </m:sSup>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0576</m:t>
                        </m:r>
                      </m:e>
                    </m:d>
                  </m:oMath>
                </a14:m>
                <a:endParaRPr lang="ar-AE" dirty="0"/>
              </a:p>
              <a:p>
                <a:pPr>
                  <a:lnSpc>
                    <a:spcPct val="120000"/>
                  </a:lnSpc>
                  <a:spcBef>
                    <a:spcPts val="0"/>
                  </a:spcBef>
                  <a:spcAft>
                    <a:spcPts val="0"/>
                  </a:spcAft>
                </a:pPr>
                <a:r>
                  <a:rPr lang="en-IN" b="1" dirty="0"/>
                  <a:t>Sum of squared weights</a:t>
                </a:r>
              </a:p>
              <a:p>
                <a:pPr>
                  <a:lnSpc>
                    <a:spcPct val="120000"/>
                  </a:lnSpc>
                  <a:spcBef>
                    <a:spcPts val="0"/>
                  </a:spcBef>
                  <a:spcAft>
                    <a:spcPts val="0"/>
                  </a:spcAft>
                </a:pPr>
                <a14:m>
                  <m:oMath xmlns:m="http://schemas.openxmlformats.org/officeDocument/2006/math">
                    <m:sSup>
                      <m:sSupPr>
                        <m:ctrlPr>
                          <a:rPr lang="ar-AE" i="1">
                            <a:latin typeface="Cambria Math" panose="02040503050406030204" pitchFamily="18" charset="0"/>
                          </a:rPr>
                        </m:ctrlPr>
                      </m:sSupP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2</m:t>
                        </m:r>
                      </m:e>
                      <m:sup>
                        <m:r>
                          <a:rPr lang="ar-AE">
                            <a:latin typeface="Cambria Math" panose="02040503050406030204" pitchFamily="18" charset="0"/>
                          </a:rPr>
                          <m:t>2</m:t>
                        </m:r>
                      </m:sup>
                    </m:sSup>
                    <m:r>
                      <a:rPr lang="ar-AE">
                        <a:latin typeface="Cambria Math" panose="02040503050406030204" pitchFamily="18" charset="0"/>
                      </a:rPr>
                      <m:t>+</m:t>
                    </m:r>
                    <m:d>
                      <m:dPr>
                        <m:endChr m:val=""/>
                        <m:ctrlPr>
                          <a:rPr lang="ar-AE" i="1">
                            <a:latin typeface="Cambria Math" panose="02040503050406030204" pitchFamily="18" charset="0"/>
                          </a:rPr>
                        </m:ctrlPr>
                      </m:dPr>
                      <m:e>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4</m:t>
                        </m:r>
                        <m:sSup>
                          <m:sSupPr>
                            <m:ctrlPr>
                              <a:rPr lang="ar-AE" i="1">
                                <a:latin typeface="Cambria Math" panose="02040503050406030204" pitchFamily="18" charset="0"/>
                              </a:rPr>
                            </m:ctrlPr>
                          </m:sSupPr>
                          <m:e>
                            <m:d>
                              <m:dPr>
                                <m:begChr m:val=""/>
                                <m:endChr m:val=""/>
                                <m:ctrlPr>
                                  <a:rPr lang="ar-AE" i="1">
                                    <a:latin typeface="Cambria Math" panose="02040503050406030204" pitchFamily="18" charset="0"/>
                                  </a:rPr>
                                </m:ctrlPr>
                              </m:dPr>
                              <m:e>
                                <m:r>
                                  <a:rPr lang="ar-AE">
                                    <a:latin typeface="Cambria Math" panose="02040503050406030204" pitchFamily="18" charset="0"/>
                                  </a:rPr>
                                  <m:t>)</m:t>
                                </m:r>
                              </m:e>
                            </m:d>
                          </m:e>
                          <m:sup>
                            <m:r>
                              <a:rPr lang="ar-AE">
                                <a:latin typeface="Cambria Math" panose="02040503050406030204" pitchFamily="18" charset="0"/>
                              </a:rPr>
                              <m:t>2</m:t>
                            </m:r>
                          </m:sup>
                        </m:sSup>
                        <m:r>
                          <a:rPr lang="ar-AE">
                            <a:latin typeface="Cambria Math" panose="02040503050406030204" pitchFamily="18" charset="0"/>
                          </a:rPr>
                          <m:t>+</m:t>
                        </m:r>
                        <m:sSup>
                          <m:sSupPr>
                            <m:ctrlPr>
                              <a:rPr lang="ar-AE" i="1">
                                <a:latin typeface="Cambria Math" panose="02040503050406030204" pitchFamily="18" charset="0"/>
                              </a:rPr>
                            </m:ctrlPr>
                          </m:sSupP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1</m:t>
                            </m:r>
                          </m:e>
                          <m:sup>
                            <m:r>
                              <a:rPr lang="ar-AE">
                                <a:latin typeface="Cambria Math" panose="02040503050406030204" pitchFamily="18" charset="0"/>
                              </a:rPr>
                              <m:t>2</m:t>
                            </m:r>
                          </m:sup>
                        </m:sSup>
                      </m:e>
                    </m:d>
                  </m:oMath>
                </a14:m>
                <a:endParaRPr lang="ar-AE" dirty="0"/>
              </a:p>
              <a:p>
                <a:pPr>
                  <a:lnSpc>
                    <a:spcPct val="120000"/>
                  </a:lnSpc>
                  <a:spcBef>
                    <a:spcPts val="0"/>
                  </a:spcBef>
                  <a:spcAft>
                    <a:spcPts val="0"/>
                  </a:spcAft>
                </a:pPr>
                <a14:m>
                  <m:oMath xmlns:m="http://schemas.openxmlformats.org/officeDocument/2006/math">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04</m:t>
                    </m:r>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16</m:t>
                    </m:r>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01</m:t>
                    </m:r>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21</m:t>
                    </m:r>
                  </m:oMath>
                </a14:m>
                <a:endParaRPr lang="ar-AE" dirty="0"/>
              </a:p>
              <a:p>
                <a:pPr>
                  <a:lnSpc>
                    <a:spcPct val="120000"/>
                  </a:lnSpc>
                  <a:spcBef>
                    <a:spcPts val="0"/>
                  </a:spcBef>
                  <a:spcAft>
                    <a:spcPts val="0"/>
                  </a:spcAft>
                </a:pPr>
                <a:r>
                  <a:rPr lang="en-IN" b="1" dirty="0"/>
                  <a:t>Contribution neuron 1</a:t>
                </a:r>
              </a:p>
              <a:p>
                <a:pPr>
                  <a:lnSpc>
                    <a:spcPct val="120000"/>
                  </a:lnSpc>
                  <a:spcBef>
                    <a:spcPts val="0"/>
                  </a:spcBef>
                  <a:spcAft>
                    <a:spcPts val="0"/>
                  </a:spcAft>
                </a:pPr>
                <a14:m>
                  <m:oMath xmlns:m="http://schemas.openxmlformats.org/officeDocument/2006/math">
                    <m:r>
                      <a:rPr lang="en-IN">
                        <a:latin typeface="Cambria Math" panose="02040503050406030204" pitchFamily="18" charset="0"/>
                      </a:rPr>
                      <m:t>0</m:t>
                    </m:r>
                    <m:r>
                      <a:rPr lang="en-IN">
                        <a:latin typeface="Cambria Math" panose="02040503050406030204" pitchFamily="18" charset="0"/>
                      </a:rPr>
                      <m:t>.</m:t>
                    </m:r>
                    <m:r>
                      <a:rPr lang="en-IN">
                        <a:latin typeface="Cambria Math" panose="02040503050406030204" pitchFamily="18" charset="0"/>
                      </a:rPr>
                      <m:t>0576</m:t>
                    </m:r>
                    <m:r>
                      <a:rPr lang="en-IN">
                        <a:latin typeface="Cambria Math" panose="02040503050406030204" pitchFamily="18" charset="0"/>
                      </a:rPr>
                      <m:t>×</m:t>
                    </m:r>
                    <m:r>
                      <a:rPr lang="en-IN">
                        <a:latin typeface="Cambria Math" panose="02040503050406030204" pitchFamily="18" charset="0"/>
                      </a:rPr>
                      <m:t>0</m:t>
                    </m:r>
                    <m:r>
                      <a:rPr lang="en-IN">
                        <a:latin typeface="Cambria Math" panose="02040503050406030204" pitchFamily="18" charset="0"/>
                      </a:rPr>
                      <m:t>.</m:t>
                    </m:r>
                    <m:r>
                      <a:rPr lang="en-IN">
                        <a:latin typeface="Cambria Math" panose="02040503050406030204" pitchFamily="18" charset="0"/>
                      </a:rPr>
                      <m:t>21</m:t>
                    </m:r>
                    <m:r>
                      <a:rPr lang="en-IN">
                        <a:latin typeface="Cambria Math" panose="02040503050406030204" pitchFamily="18" charset="0"/>
                      </a:rPr>
                      <m:t>=</m:t>
                    </m:r>
                    <m:r>
                      <a:rPr lang="en-IN">
                        <a:latin typeface="Cambria Math" panose="02040503050406030204" pitchFamily="18" charset="0"/>
                      </a:rPr>
                      <m:t>0</m:t>
                    </m:r>
                    <m:r>
                      <a:rPr lang="en-IN">
                        <a:latin typeface="Cambria Math" panose="02040503050406030204" pitchFamily="18" charset="0"/>
                      </a:rPr>
                      <m:t>.</m:t>
                    </m:r>
                    <m:r>
                      <a:rPr lang="en-IN">
                        <a:latin typeface="Cambria Math" panose="02040503050406030204" pitchFamily="18" charset="0"/>
                      </a:rPr>
                      <m:t>0121</m:t>
                    </m:r>
                  </m:oMath>
                </a14:m>
                <a:endParaRPr lang="en-IN" dirty="0"/>
              </a:p>
            </p:txBody>
          </p:sp>
        </mc:Choice>
        <mc:Fallback xmlns="">
          <p:sp>
            <p:nvSpPr>
              <p:cNvPr id="3" name="Content Placeholder 2">
                <a:extLst>
                  <a:ext uri="{FF2B5EF4-FFF2-40B4-BE49-F238E27FC236}">
                    <a16:creationId xmlns:a16="http://schemas.microsoft.com/office/drawing/2014/main" id="{97D5218E-4D43-BCB4-8A11-88EAA48707FC}"/>
                  </a:ext>
                </a:extLst>
              </p:cNvPr>
              <p:cNvSpPr>
                <a:spLocks noGrp="1" noRot="1" noChangeAspect="1" noMove="1" noResize="1" noEditPoints="1" noAdjustHandles="1" noChangeArrowheads="1" noChangeShapeType="1" noTextEdit="1"/>
              </p:cNvSpPr>
              <p:nvPr>
                <p:ph idx="1"/>
              </p:nvPr>
            </p:nvSpPr>
            <p:spPr>
              <a:xfrm>
                <a:off x="934720" y="1361440"/>
                <a:ext cx="10292397" cy="4764830"/>
              </a:xfrm>
              <a:blipFill>
                <a:blip r:embed="rId2"/>
                <a:stretch>
                  <a:fillRect l="-2427" t="-384"/>
                </a:stretch>
              </a:blipFill>
            </p:spPr>
            <p:txBody>
              <a:bodyPr/>
              <a:lstStyle/>
              <a:p>
                <a:r>
                  <a:rPr lang="en-IN">
                    <a:noFill/>
                  </a:rPr>
                  <a:t> </a:t>
                </a:r>
              </a:p>
            </p:txBody>
          </p:sp>
        </mc:Fallback>
      </mc:AlternateContent>
    </p:spTree>
    <p:extLst>
      <p:ext uri="{BB962C8B-B14F-4D97-AF65-F5344CB8AC3E}">
        <p14:creationId xmlns:p14="http://schemas.microsoft.com/office/powerpoint/2010/main" val="198124971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67D0F1-8031-78FF-6F75-4F763267A098}"/>
              </a:ext>
            </a:extLst>
          </p:cNvPr>
          <p:cNvSpPr>
            <a:spLocks noGrp="1"/>
          </p:cNvSpPr>
          <p:nvPr>
            <p:ph type="title"/>
          </p:nvPr>
        </p:nvSpPr>
        <p:spPr/>
        <p:txBody>
          <a:bodyPr>
            <a:normAutofit fontScale="90000"/>
          </a:bodyPr>
          <a:lstStyle/>
          <a:p>
            <a:endParaRPr lang="en-IN"/>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6C405BD-7595-319C-C120-09446FBFCE97}"/>
                  </a:ext>
                </a:extLst>
              </p:cNvPr>
              <p:cNvSpPr>
                <a:spLocks noGrp="1"/>
              </p:cNvSpPr>
              <p:nvPr>
                <p:ph idx="1"/>
              </p:nvPr>
            </p:nvSpPr>
            <p:spPr>
              <a:xfrm>
                <a:off x="1025842" y="1371600"/>
                <a:ext cx="10201275" cy="4754670"/>
              </a:xfrm>
            </p:spPr>
            <p:txBody>
              <a:bodyPr>
                <a:normAutofit fontScale="85000" lnSpcReduction="10000"/>
              </a:bodyPr>
              <a:lstStyle/>
              <a:p>
                <a:pPr>
                  <a:lnSpc>
                    <a:spcPct val="120000"/>
                  </a:lnSpc>
                  <a:spcBef>
                    <a:spcPts val="0"/>
                  </a:spcBef>
                  <a:spcAft>
                    <a:spcPts val="0"/>
                  </a:spcAft>
                </a:pPr>
                <a:r>
                  <a:rPr lang="en-IN" b="1" dirty="0"/>
                  <a:t>For hidden neuron 2</a:t>
                </a:r>
              </a:p>
              <a:p>
                <a:pPr>
                  <a:lnSpc>
                    <a:spcPct val="120000"/>
                  </a:lnSpc>
                  <a:spcBef>
                    <a:spcPts val="0"/>
                  </a:spcBef>
                  <a:spcAft>
                    <a:spcPts val="0"/>
                  </a:spcAft>
                </a:pP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h</m:t>
                        </m:r>
                      </m:e>
                      <m:sub>
                        <m:r>
                          <a:rPr lang="ar-AE">
                            <a:latin typeface="Cambria Math" panose="02040503050406030204" pitchFamily="18" charset="0"/>
                          </a:rPr>
                          <m:t>2</m:t>
                        </m:r>
                      </m:sub>
                    </m:sSub>
                    <m:d>
                      <m:dPr>
                        <m:ctrlPr>
                          <a:rPr lang="ar-AE" i="1">
                            <a:latin typeface="Cambria Math" panose="02040503050406030204" pitchFamily="18" charset="0"/>
                          </a:rPr>
                        </m:ctrlPr>
                      </m:dPr>
                      <m:e>
                        <m:r>
                          <a:rPr lang="ar-AE">
                            <a:latin typeface="Cambria Math" panose="02040503050406030204" pitchFamily="18" charset="0"/>
                          </a:rPr>
                          <m:t>1</m:t>
                        </m:r>
                        <m:r>
                          <a:rPr lang="ar-AE">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h</m:t>
                            </m:r>
                          </m:e>
                          <m:sub>
                            <m:r>
                              <a:rPr lang="ar-AE">
                                <a:latin typeface="Cambria Math" panose="02040503050406030204" pitchFamily="18" charset="0"/>
                              </a:rPr>
                              <m:t>2</m:t>
                            </m:r>
                          </m:sub>
                        </m:sSub>
                      </m:e>
                    </m:d>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5</m:t>
                    </m:r>
                    <m:d>
                      <m:dPr>
                        <m:ctrlPr>
                          <a:rPr lang="ar-AE" i="1">
                            <a:latin typeface="Cambria Math" panose="02040503050406030204" pitchFamily="18" charset="0"/>
                          </a:rPr>
                        </m:ctrlPr>
                      </m:dP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5</m:t>
                        </m:r>
                      </m:e>
                    </m:d>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25</m:t>
                    </m:r>
                  </m:oMath>
                </a14:m>
                <a:endParaRPr lang="ar-AE" dirty="0"/>
              </a:p>
              <a:p>
                <a:pPr>
                  <a:lnSpc>
                    <a:spcPct val="120000"/>
                  </a:lnSpc>
                  <a:spcBef>
                    <a:spcPts val="0"/>
                  </a:spcBef>
                  <a:spcAft>
                    <a:spcPts val="0"/>
                  </a:spcAft>
                </a:pPr>
                <a:r>
                  <a:rPr lang="en-IN" b="1" dirty="0"/>
                  <a:t>Square:</a:t>
                </a:r>
              </a:p>
              <a:p>
                <a:pPr>
                  <a:lnSpc>
                    <a:spcPct val="120000"/>
                  </a:lnSpc>
                  <a:spcBef>
                    <a:spcPts val="0"/>
                  </a:spcBef>
                  <a:spcAft>
                    <a:spcPts val="0"/>
                  </a:spcAft>
                </a:pPr>
                <a14:m>
                  <m:oMath xmlns:m="http://schemas.openxmlformats.org/officeDocument/2006/math">
                    <m:sSup>
                      <m:sSupPr>
                        <m:ctrlPr>
                          <a:rPr lang="ar-AE" i="1">
                            <a:latin typeface="Cambria Math" panose="02040503050406030204" pitchFamily="18" charset="0"/>
                          </a:rPr>
                        </m:ctrlPr>
                      </m:sSupP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25</m:t>
                        </m:r>
                      </m:e>
                      <m:sup>
                        <m:r>
                          <a:rPr lang="ar-AE">
                            <a:latin typeface="Cambria Math" panose="02040503050406030204" pitchFamily="18" charset="0"/>
                          </a:rPr>
                          <m:t>2</m:t>
                        </m:r>
                      </m:sup>
                    </m:sSup>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0625</m:t>
                    </m:r>
                  </m:oMath>
                </a14:m>
                <a:endParaRPr lang="ar-AE" dirty="0"/>
              </a:p>
              <a:p>
                <a:pPr>
                  <a:lnSpc>
                    <a:spcPct val="120000"/>
                  </a:lnSpc>
                  <a:spcBef>
                    <a:spcPts val="0"/>
                  </a:spcBef>
                  <a:spcAft>
                    <a:spcPts val="0"/>
                  </a:spcAft>
                </a:pPr>
                <a:r>
                  <a:rPr lang="en-IN" b="1" dirty="0"/>
                  <a:t>Sum weights:</a:t>
                </a:r>
              </a:p>
              <a:p>
                <a:pPr>
                  <a:lnSpc>
                    <a:spcPct val="120000"/>
                  </a:lnSpc>
                  <a:spcBef>
                    <a:spcPts val="0"/>
                  </a:spcBef>
                  <a:spcAft>
                    <a:spcPts val="0"/>
                  </a:spcAft>
                </a:pPr>
                <a14:m>
                  <m:oMath xmlns:m="http://schemas.openxmlformats.org/officeDocument/2006/math">
                    <m:d>
                      <m:dPr>
                        <m:endChr m:val=""/>
                        <m:ctrlPr>
                          <a:rPr lang="ar-AE" i="1">
                            <a:latin typeface="Cambria Math" panose="02040503050406030204" pitchFamily="18" charset="0"/>
                          </a:rPr>
                        </m:ctrlPr>
                      </m:dPr>
                      <m:e>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3</m:t>
                        </m:r>
                        <m:sSup>
                          <m:sSupPr>
                            <m:ctrlPr>
                              <a:rPr lang="ar-AE" i="1">
                                <a:latin typeface="Cambria Math" panose="02040503050406030204" pitchFamily="18" charset="0"/>
                              </a:rPr>
                            </m:ctrlPr>
                          </m:sSupPr>
                          <m:e>
                            <m:d>
                              <m:dPr>
                                <m:begChr m:val=""/>
                                <m:endChr m:val=""/>
                                <m:ctrlPr>
                                  <a:rPr lang="ar-AE" i="1">
                                    <a:latin typeface="Cambria Math" panose="02040503050406030204" pitchFamily="18" charset="0"/>
                                  </a:rPr>
                                </m:ctrlPr>
                              </m:dPr>
                              <m:e>
                                <m:r>
                                  <a:rPr lang="ar-AE">
                                    <a:latin typeface="Cambria Math" panose="02040503050406030204" pitchFamily="18" charset="0"/>
                                  </a:rPr>
                                  <m:t>)</m:t>
                                </m:r>
                              </m:e>
                            </m:d>
                          </m:e>
                          <m:sup>
                            <m:r>
                              <a:rPr lang="ar-AE">
                                <a:latin typeface="Cambria Math" panose="02040503050406030204" pitchFamily="18" charset="0"/>
                              </a:rPr>
                              <m:t>2</m:t>
                            </m:r>
                          </m:sup>
                        </m:sSup>
                        <m:r>
                          <a:rPr lang="ar-AE">
                            <a:latin typeface="Cambria Math" panose="02040503050406030204" pitchFamily="18" charset="0"/>
                          </a:rPr>
                          <m:t>+</m:t>
                        </m:r>
                        <m:sSup>
                          <m:sSupPr>
                            <m:ctrlPr>
                              <a:rPr lang="ar-AE" i="1">
                                <a:latin typeface="Cambria Math" panose="02040503050406030204" pitchFamily="18" charset="0"/>
                              </a:rPr>
                            </m:ctrlPr>
                          </m:sSupP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2</m:t>
                            </m:r>
                          </m:e>
                          <m:sup>
                            <m:r>
                              <a:rPr lang="ar-AE">
                                <a:latin typeface="Cambria Math" panose="02040503050406030204" pitchFamily="18" charset="0"/>
                              </a:rPr>
                              <m:t>2</m:t>
                            </m:r>
                          </m:sup>
                        </m:sSup>
                        <m:r>
                          <a:rPr lang="ar-AE">
                            <a:latin typeface="Cambria Math" panose="02040503050406030204" pitchFamily="18" charset="0"/>
                          </a:rPr>
                          <m:t>+</m:t>
                        </m:r>
                        <m:sSup>
                          <m:sSupPr>
                            <m:ctrlPr>
                              <a:rPr lang="ar-AE" i="1">
                                <a:latin typeface="Cambria Math" panose="02040503050406030204" pitchFamily="18" charset="0"/>
                              </a:rPr>
                            </m:ctrlPr>
                          </m:sSupP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4</m:t>
                            </m:r>
                          </m:e>
                          <m:sup>
                            <m:r>
                              <a:rPr lang="ar-AE">
                                <a:latin typeface="Cambria Math" panose="02040503050406030204" pitchFamily="18" charset="0"/>
                              </a:rPr>
                              <m:t>2</m:t>
                            </m:r>
                          </m:sup>
                        </m:sSup>
                      </m:e>
                    </m:d>
                  </m:oMath>
                </a14:m>
                <a:endParaRPr lang="ar-AE" dirty="0"/>
              </a:p>
              <a:p>
                <a:pPr>
                  <a:lnSpc>
                    <a:spcPct val="120000"/>
                  </a:lnSpc>
                  <a:spcBef>
                    <a:spcPts val="0"/>
                  </a:spcBef>
                  <a:spcAft>
                    <a:spcPts val="0"/>
                  </a:spcAft>
                </a:pPr>
                <a14:m>
                  <m:oMath xmlns:m="http://schemas.openxmlformats.org/officeDocument/2006/math">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09</m:t>
                    </m:r>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04</m:t>
                    </m:r>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16</m:t>
                    </m:r>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29</m:t>
                    </m:r>
                  </m:oMath>
                </a14:m>
                <a:endParaRPr lang="ar-AE" dirty="0"/>
              </a:p>
              <a:p>
                <a:pPr>
                  <a:lnSpc>
                    <a:spcPct val="120000"/>
                  </a:lnSpc>
                  <a:spcBef>
                    <a:spcPts val="0"/>
                  </a:spcBef>
                  <a:spcAft>
                    <a:spcPts val="0"/>
                  </a:spcAft>
                </a:pPr>
                <a:r>
                  <a:rPr lang="en-IN" dirty="0"/>
                  <a:t>Contribution:</a:t>
                </a:r>
              </a:p>
              <a:p>
                <a:pPr>
                  <a:lnSpc>
                    <a:spcPct val="120000"/>
                  </a:lnSpc>
                  <a:spcBef>
                    <a:spcPts val="0"/>
                  </a:spcBef>
                  <a:spcAft>
                    <a:spcPts val="0"/>
                  </a:spcAft>
                </a:pPr>
                <a14:m>
                  <m:oMath xmlns:m="http://schemas.openxmlformats.org/officeDocument/2006/math">
                    <m:r>
                      <a:rPr lang="en-IN">
                        <a:latin typeface="Cambria Math" panose="02040503050406030204" pitchFamily="18" charset="0"/>
                      </a:rPr>
                      <m:t>0</m:t>
                    </m:r>
                    <m:r>
                      <a:rPr lang="en-IN">
                        <a:latin typeface="Cambria Math" panose="02040503050406030204" pitchFamily="18" charset="0"/>
                      </a:rPr>
                      <m:t>.</m:t>
                    </m:r>
                    <m:r>
                      <a:rPr lang="en-IN">
                        <a:latin typeface="Cambria Math" panose="02040503050406030204" pitchFamily="18" charset="0"/>
                      </a:rPr>
                      <m:t>0625</m:t>
                    </m:r>
                    <m:r>
                      <a:rPr lang="en-IN">
                        <a:latin typeface="Cambria Math" panose="02040503050406030204" pitchFamily="18" charset="0"/>
                      </a:rPr>
                      <m:t>×</m:t>
                    </m:r>
                    <m:r>
                      <a:rPr lang="en-IN">
                        <a:latin typeface="Cambria Math" panose="02040503050406030204" pitchFamily="18" charset="0"/>
                      </a:rPr>
                      <m:t>0</m:t>
                    </m:r>
                    <m:r>
                      <a:rPr lang="en-IN">
                        <a:latin typeface="Cambria Math" panose="02040503050406030204" pitchFamily="18" charset="0"/>
                      </a:rPr>
                      <m:t>.</m:t>
                    </m:r>
                    <m:r>
                      <a:rPr lang="en-IN">
                        <a:latin typeface="Cambria Math" panose="02040503050406030204" pitchFamily="18" charset="0"/>
                      </a:rPr>
                      <m:t>29</m:t>
                    </m:r>
                    <m:r>
                      <a:rPr lang="en-IN">
                        <a:latin typeface="Cambria Math" panose="02040503050406030204" pitchFamily="18" charset="0"/>
                      </a:rPr>
                      <m:t>=</m:t>
                    </m:r>
                    <m:r>
                      <a:rPr lang="en-IN">
                        <a:latin typeface="Cambria Math" panose="02040503050406030204" pitchFamily="18" charset="0"/>
                      </a:rPr>
                      <m:t>0</m:t>
                    </m:r>
                    <m:r>
                      <a:rPr lang="en-IN">
                        <a:latin typeface="Cambria Math" panose="02040503050406030204" pitchFamily="18" charset="0"/>
                      </a:rPr>
                      <m:t>.</m:t>
                    </m:r>
                    <m:r>
                      <a:rPr lang="en-IN">
                        <a:latin typeface="Cambria Math" panose="02040503050406030204" pitchFamily="18" charset="0"/>
                      </a:rPr>
                      <m:t>0181</m:t>
                    </m:r>
                  </m:oMath>
                </a14:m>
                <a:endParaRPr lang="en-IN" dirty="0"/>
              </a:p>
              <a:p>
                <a:pPr>
                  <a:lnSpc>
                    <a:spcPct val="120000"/>
                  </a:lnSpc>
                  <a:spcBef>
                    <a:spcPts val="0"/>
                  </a:spcBef>
                  <a:spcAft>
                    <a:spcPts val="0"/>
                  </a:spcAft>
                </a:pPr>
                <a:r>
                  <a:rPr lang="en-IN" b="1" dirty="0"/>
                  <a:t> Total Contractive Penalty</a:t>
                </a:r>
              </a:p>
              <a:p>
                <a:pPr>
                  <a:lnSpc>
                    <a:spcPct val="120000"/>
                  </a:lnSpc>
                  <a:spcBef>
                    <a:spcPts val="0"/>
                  </a:spcBef>
                  <a:spcAft>
                    <a:spcPts val="0"/>
                  </a:spcAft>
                </a:pPr>
                <a14:m>
                  <m:oMath xmlns:m="http://schemas.openxmlformats.org/officeDocument/2006/math">
                    <m:r>
                      <m:rPr>
                        <m:sty m:val="p"/>
                      </m:rPr>
                      <a:rPr lang="el-GR">
                        <a:latin typeface="Cambria Math" panose="02040503050406030204" pitchFamily="18" charset="0"/>
                      </a:rPr>
                      <m:t>Ω</m:t>
                    </m:r>
                    <m:r>
                      <a:rPr lang="el-GR">
                        <a:latin typeface="Cambria Math" panose="02040503050406030204" pitchFamily="18" charset="0"/>
                      </a:rPr>
                      <m:t>=</m:t>
                    </m:r>
                    <m:r>
                      <a:rPr lang="el-GR">
                        <a:latin typeface="Cambria Math" panose="02040503050406030204" pitchFamily="18" charset="0"/>
                      </a:rPr>
                      <m:t>0</m:t>
                    </m:r>
                    <m:r>
                      <a:rPr lang="el-GR">
                        <a:latin typeface="Cambria Math" panose="02040503050406030204" pitchFamily="18" charset="0"/>
                      </a:rPr>
                      <m:t>.</m:t>
                    </m:r>
                    <m:r>
                      <a:rPr lang="el-GR">
                        <a:latin typeface="Cambria Math" panose="02040503050406030204" pitchFamily="18" charset="0"/>
                      </a:rPr>
                      <m:t>0121</m:t>
                    </m:r>
                    <m:r>
                      <a:rPr lang="el-GR">
                        <a:latin typeface="Cambria Math" panose="02040503050406030204" pitchFamily="18" charset="0"/>
                      </a:rPr>
                      <m:t>+</m:t>
                    </m:r>
                    <m:r>
                      <a:rPr lang="el-GR">
                        <a:latin typeface="Cambria Math" panose="02040503050406030204" pitchFamily="18" charset="0"/>
                      </a:rPr>
                      <m:t>0</m:t>
                    </m:r>
                    <m:r>
                      <a:rPr lang="el-GR">
                        <a:latin typeface="Cambria Math" panose="02040503050406030204" pitchFamily="18" charset="0"/>
                      </a:rPr>
                      <m:t>.</m:t>
                    </m:r>
                    <m:r>
                      <a:rPr lang="el-GR">
                        <a:latin typeface="Cambria Math" panose="02040503050406030204" pitchFamily="18" charset="0"/>
                      </a:rPr>
                      <m:t>0181</m:t>
                    </m:r>
                  </m:oMath>
                </a14:m>
                <a:endParaRPr lang="el-GR" dirty="0"/>
              </a:p>
              <a:p>
                <a:pPr>
                  <a:lnSpc>
                    <a:spcPct val="120000"/>
                  </a:lnSpc>
                  <a:spcBef>
                    <a:spcPts val="0"/>
                  </a:spcBef>
                  <a:spcAft>
                    <a:spcPts val="0"/>
                  </a:spcAft>
                </a:pPr>
                <a14:m>
                  <m:oMath xmlns:m="http://schemas.openxmlformats.org/officeDocument/2006/math">
                    <m:borderBox>
                      <m:borderBoxPr>
                        <m:ctrlPr>
                          <a:rPr lang="ar-AE" i="1">
                            <a:latin typeface="Cambria Math" panose="02040503050406030204" pitchFamily="18" charset="0"/>
                          </a:rPr>
                        </m:ctrlPr>
                      </m:borderBoxPr>
                      <m:e>
                        <m:r>
                          <m:rPr>
                            <m:sty m:val="p"/>
                          </m:rPr>
                          <a:rPr lang="el-GR">
                            <a:latin typeface="Cambria Math" panose="02040503050406030204" pitchFamily="18" charset="0"/>
                          </a:rPr>
                          <m:t>Ω</m:t>
                        </m:r>
                        <m:r>
                          <a:rPr lang="el-GR">
                            <a:latin typeface="Cambria Math" panose="02040503050406030204" pitchFamily="18" charset="0"/>
                          </a:rPr>
                          <m:t>=</m:t>
                        </m:r>
                        <m:r>
                          <a:rPr lang="el-GR">
                            <a:latin typeface="Cambria Math" panose="02040503050406030204" pitchFamily="18" charset="0"/>
                          </a:rPr>
                          <m:t>0</m:t>
                        </m:r>
                        <m:r>
                          <a:rPr lang="el-GR">
                            <a:latin typeface="Cambria Math" panose="02040503050406030204" pitchFamily="18" charset="0"/>
                          </a:rPr>
                          <m:t>.</m:t>
                        </m:r>
                        <m:r>
                          <a:rPr lang="el-GR">
                            <a:latin typeface="Cambria Math" panose="02040503050406030204" pitchFamily="18" charset="0"/>
                          </a:rPr>
                          <m:t>0302</m:t>
                        </m:r>
                      </m:e>
                    </m:borderBox>
                  </m:oMath>
                </a14:m>
                <a:endParaRPr lang="ar-AE" dirty="0"/>
              </a:p>
              <a:p>
                <a:pPr>
                  <a:lnSpc>
                    <a:spcPct val="120000"/>
                  </a:lnSpc>
                  <a:spcBef>
                    <a:spcPts val="0"/>
                  </a:spcBef>
                  <a:spcAft>
                    <a:spcPts val="0"/>
                  </a:spcAft>
                </a:pPr>
                <a:endParaRPr lang="en-IN" dirty="0"/>
              </a:p>
            </p:txBody>
          </p:sp>
        </mc:Choice>
        <mc:Fallback xmlns="">
          <p:sp>
            <p:nvSpPr>
              <p:cNvPr id="3" name="Content Placeholder 2">
                <a:extLst>
                  <a:ext uri="{FF2B5EF4-FFF2-40B4-BE49-F238E27FC236}">
                    <a16:creationId xmlns:a16="http://schemas.microsoft.com/office/drawing/2014/main" id="{66C405BD-7595-319C-C120-09446FBFCE97}"/>
                  </a:ext>
                </a:extLst>
              </p:cNvPr>
              <p:cNvSpPr>
                <a:spLocks noGrp="1" noRot="1" noChangeAspect="1" noMove="1" noResize="1" noEditPoints="1" noAdjustHandles="1" noChangeArrowheads="1" noChangeShapeType="1" noTextEdit="1"/>
              </p:cNvSpPr>
              <p:nvPr>
                <p:ph idx="1"/>
              </p:nvPr>
            </p:nvSpPr>
            <p:spPr>
              <a:xfrm>
                <a:off x="1025842" y="1371600"/>
                <a:ext cx="10201275" cy="4754670"/>
              </a:xfrm>
              <a:blipFill>
                <a:blip r:embed="rId2"/>
                <a:stretch>
                  <a:fillRect l="-1434" t="-385"/>
                </a:stretch>
              </a:blipFill>
            </p:spPr>
            <p:txBody>
              <a:bodyPr/>
              <a:lstStyle/>
              <a:p>
                <a:r>
                  <a:rPr lang="en-IN">
                    <a:noFill/>
                  </a:rPr>
                  <a:t> </a:t>
                </a:r>
              </a:p>
            </p:txBody>
          </p:sp>
        </mc:Fallback>
      </mc:AlternateContent>
    </p:spTree>
    <p:extLst>
      <p:ext uri="{BB962C8B-B14F-4D97-AF65-F5344CB8AC3E}">
        <p14:creationId xmlns:p14="http://schemas.microsoft.com/office/powerpoint/2010/main" val="254978957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DEB0DA-BAEE-3583-7A02-E9013E299AC6}"/>
              </a:ext>
            </a:extLst>
          </p:cNvPr>
          <p:cNvSpPr>
            <a:spLocks noGrp="1"/>
          </p:cNvSpPr>
          <p:nvPr>
            <p:ph type="title"/>
          </p:nvPr>
        </p:nvSpPr>
        <p:spPr/>
        <p:txBody>
          <a:bodyPr>
            <a:normAutofit fontScale="90000"/>
          </a:bodyPr>
          <a:lstStyle/>
          <a:p>
            <a:r>
              <a:rPr lang="en-US" dirty="0"/>
              <a:t> </a:t>
            </a:r>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1786C8C-0ADB-3300-726C-B2814E7E76AE}"/>
                  </a:ext>
                </a:extLst>
              </p:cNvPr>
              <p:cNvSpPr>
                <a:spLocks noGrp="1"/>
              </p:cNvSpPr>
              <p:nvPr>
                <p:ph idx="1"/>
              </p:nvPr>
            </p:nvSpPr>
            <p:spPr>
              <a:xfrm>
                <a:off x="873760" y="1483360"/>
                <a:ext cx="10353357" cy="4642910"/>
              </a:xfrm>
            </p:spPr>
            <p:txBody>
              <a:bodyPr>
                <a:normAutofit fontScale="70000" lnSpcReduction="20000"/>
              </a:bodyPr>
              <a:lstStyle/>
              <a:p>
                <a:pPr>
                  <a:lnSpc>
                    <a:spcPct val="120000"/>
                  </a:lnSpc>
                  <a:spcBef>
                    <a:spcPts val="0"/>
                  </a:spcBef>
                  <a:spcAft>
                    <a:spcPts val="0"/>
                  </a:spcAft>
                </a:pPr>
                <a:r>
                  <a:rPr lang="en-IN" b="1" dirty="0"/>
                  <a:t>STEP 5: Final Loss</a:t>
                </a:r>
              </a:p>
              <a:p>
                <a:pPr>
                  <a:lnSpc>
                    <a:spcPct val="120000"/>
                  </a:lnSpc>
                  <a:spcBef>
                    <a:spcPts val="0"/>
                  </a:spcBef>
                  <a:spcAft>
                    <a:spcPts val="0"/>
                  </a:spcAft>
                </a:pPr>
                <a14:m>
                  <m:oMath xmlns:m="http://schemas.openxmlformats.org/officeDocument/2006/math">
                    <m:r>
                      <a:rPr lang="en-IN" i="1">
                        <a:latin typeface="Cambria Math" panose="02040503050406030204" pitchFamily="18" charset="0"/>
                      </a:rPr>
                      <m:t>𝐽</m:t>
                    </m:r>
                    <m:r>
                      <a:rPr lang="en-IN">
                        <a:latin typeface="Cambria Math" panose="02040503050406030204" pitchFamily="18" charset="0"/>
                      </a:rPr>
                      <m:t>=</m:t>
                    </m:r>
                    <m:r>
                      <a:rPr lang="en-IN" i="1">
                        <a:latin typeface="Cambria Math" panose="02040503050406030204" pitchFamily="18" charset="0"/>
                      </a:rPr>
                      <m:t>𝐿</m:t>
                    </m:r>
                    <m:r>
                      <a:rPr lang="en-IN">
                        <a:latin typeface="Cambria Math" panose="02040503050406030204" pitchFamily="18" charset="0"/>
                      </a:rPr>
                      <m:t>+</m:t>
                    </m:r>
                    <m:r>
                      <m:rPr>
                        <m:sty m:val="p"/>
                      </m:rPr>
                      <a:rPr lang="el-GR">
                        <a:latin typeface="Cambria Math" panose="02040503050406030204" pitchFamily="18" charset="0"/>
                      </a:rPr>
                      <m:t>Ω</m:t>
                    </m:r>
                  </m:oMath>
                </a14:m>
                <a:endParaRPr lang="el-GR" dirty="0"/>
              </a:p>
              <a:p>
                <a:pPr>
                  <a:lnSpc>
                    <a:spcPct val="120000"/>
                  </a:lnSpc>
                  <a:spcBef>
                    <a:spcPts val="0"/>
                  </a:spcBef>
                  <a:spcAft>
                    <a:spcPts val="0"/>
                  </a:spcAft>
                </a:pPr>
                <a14:m>
                  <m:oMath xmlns:m="http://schemas.openxmlformats.org/officeDocument/2006/math">
                    <m:r>
                      <a:rPr lang="el-GR" i="1">
                        <a:latin typeface="Cambria Math" panose="02040503050406030204" pitchFamily="18" charset="0"/>
                      </a:rPr>
                      <m:t>𝐽</m:t>
                    </m:r>
                    <m:r>
                      <a:rPr lang="el-GR">
                        <a:latin typeface="Cambria Math" panose="02040503050406030204" pitchFamily="18" charset="0"/>
                      </a:rPr>
                      <m:t>=</m:t>
                    </m:r>
                    <m:r>
                      <a:rPr lang="el-GR">
                        <a:latin typeface="Cambria Math" panose="02040503050406030204" pitchFamily="18" charset="0"/>
                      </a:rPr>
                      <m:t>0</m:t>
                    </m:r>
                    <m:r>
                      <a:rPr lang="el-GR">
                        <a:latin typeface="Cambria Math" panose="02040503050406030204" pitchFamily="18" charset="0"/>
                      </a:rPr>
                      <m:t>.</m:t>
                    </m:r>
                    <m:r>
                      <a:rPr lang="el-GR">
                        <a:latin typeface="Cambria Math" panose="02040503050406030204" pitchFamily="18" charset="0"/>
                      </a:rPr>
                      <m:t>848</m:t>
                    </m:r>
                    <m:r>
                      <a:rPr lang="el-GR">
                        <a:latin typeface="Cambria Math" panose="02040503050406030204" pitchFamily="18" charset="0"/>
                      </a:rPr>
                      <m:t>+</m:t>
                    </m:r>
                    <m:r>
                      <a:rPr lang="el-GR">
                        <a:latin typeface="Cambria Math" panose="02040503050406030204" pitchFamily="18" charset="0"/>
                      </a:rPr>
                      <m:t>0</m:t>
                    </m:r>
                    <m:r>
                      <a:rPr lang="el-GR">
                        <a:latin typeface="Cambria Math" panose="02040503050406030204" pitchFamily="18" charset="0"/>
                      </a:rPr>
                      <m:t>.</m:t>
                    </m:r>
                    <m:r>
                      <a:rPr lang="el-GR">
                        <a:latin typeface="Cambria Math" panose="02040503050406030204" pitchFamily="18" charset="0"/>
                      </a:rPr>
                      <m:t>0302</m:t>
                    </m:r>
                  </m:oMath>
                </a14:m>
                <a:endParaRPr lang="el-GR" dirty="0"/>
              </a:p>
              <a:p>
                <a:pPr>
                  <a:lnSpc>
                    <a:spcPct val="120000"/>
                  </a:lnSpc>
                  <a:spcBef>
                    <a:spcPts val="0"/>
                  </a:spcBef>
                  <a:spcAft>
                    <a:spcPts val="0"/>
                  </a:spcAft>
                </a:pPr>
                <a14:m>
                  <m:oMath xmlns:m="http://schemas.openxmlformats.org/officeDocument/2006/math">
                    <m:borderBox>
                      <m:borderBoxPr>
                        <m:ctrlPr>
                          <a:rPr lang="ar-AE" i="1">
                            <a:latin typeface="Cambria Math" panose="02040503050406030204" pitchFamily="18" charset="0"/>
                          </a:rPr>
                        </m:ctrlPr>
                      </m:borderBoxPr>
                      <m:e>
                        <m:r>
                          <a:rPr lang="ar-AE" i="1">
                            <a:latin typeface="Cambria Math" panose="02040503050406030204" pitchFamily="18" charset="0"/>
                          </a:rPr>
                          <m:t>𝐽</m:t>
                        </m:r>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878</m:t>
                        </m:r>
                      </m:e>
                    </m:borderBox>
                  </m:oMath>
                </a14:m>
                <a:endParaRPr lang="ar-AE" dirty="0"/>
              </a:p>
              <a:p>
                <a:pPr>
                  <a:lnSpc>
                    <a:spcPct val="120000"/>
                  </a:lnSpc>
                  <a:spcBef>
                    <a:spcPts val="0"/>
                  </a:spcBef>
                  <a:spcAft>
                    <a:spcPts val="0"/>
                  </a:spcAft>
                </a:pPr>
                <a:br>
                  <a:rPr lang="ar-AE" dirty="0"/>
                </a:br>
                <a:r>
                  <a:rPr lang="en-IN" b="1" dirty="0"/>
                  <a:t> Final Results</a:t>
                </a:r>
              </a:p>
              <a:p>
                <a:pPr>
                  <a:lnSpc>
                    <a:spcPct val="120000"/>
                  </a:lnSpc>
                  <a:spcBef>
                    <a:spcPts val="0"/>
                  </a:spcBef>
                  <a:spcAft>
                    <a:spcPts val="0"/>
                  </a:spcAft>
                </a:pPr>
                <a:r>
                  <a:rPr lang="en-IN" b="1" dirty="0"/>
                  <a:t>Hidden activations</a:t>
                </a:r>
              </a:p>
              <a:p>
                <a:pPr>
                  <a:lnSpc>
                    <a:spcPct val="120000"/>
                  </a:lnSpc>
                  <a:spcBef>
                    <a:spcPts val="0"/>
                  </a:spcBef>
                  <a:spcAft>
                    <a:spcPts val="0"/>
                  </a:spcAft>
                </a:pPr>
                <a14:m>
                  <m:oMath xmlns:m="http://schemas.openxmlformats.org/officeDocument/2006/math">
                    <m:d>
                      <m:dPr>
                        <m:begChr m:val="["/>
                        <m:endChr m:val="]"/>
                        <m:sepChr m:val=","/>
                        <m:ctrlPr>
                          <a:rPr lang="ar-AE" i="1">
                            <a:latin typeface="Cambria Math" panose="02040503050406030204" pitchFamily="18" charset="0"/>
                          </a:rPr>
                        </m:ctrlPr>
                      </m:dP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5987</m:t>
                        </m:r>
                      </m:e>
                      <m:e>
                        <m:r>
                          <m:rPr>
                            <m:nor/>
                          </m:rPr>
                          <a:rPr lang="ar-AE" i="1"/>
                          <m:t>  </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5</m:t>
                        </m:r>
                      </m:e>
                    </m:d>
                  </m:oMath>
                </a14:m>
                <a:endParaRPr lang="ar-AE" b="0" dirty="0"/>
              </a:p>
              <a:p>
                <a:pPr>
                  <a:lnSpc>
                    <a:spcPct val="120000"/>
                  </a:lnSpc>
                  <a:spcBef>
                    <a:spcPts val="0"/>
                  </a:spcBef>
                  <a:spcAft>
                    <a:spcPts val="0"/>
                  </a:spcAft>
                </a:pPr>
                <a:r>
                  <a:rPr lang="en-IN" b="1" dirty="0"/>
                  <a:t>Reconstruction loss</a:t>
                </a:r>
              </a:p>
              <a:p>
                <a:pPr>
                  <a:lnSpc>
                    <a:spcPct val="120000"/>
                  </a:lnSpc>
                  <a:spcBef>
                    <a:spcPts val="0"/>
                  </a:spcBef>
                  <a:spcAft>
                    <a:spcPts val="0"/>
                  </a:spcAft>
                </a:pPr>
                <a14:m>
                  <m:oMath xmlns:m="http://schemas.openxmlformats.org/officeDocument/2006/math">
                    <m:r>
                      <a:rPr lang="en-IN">
                        <a:latin typeface="Cambria Math" panose="02040503050406030204" pitchFamily="18" charset="0"/>
                      </a:rPr>
                      <m:t>0</m:t>
                    </m:r>
                    <m:r>
                      <a:rPr lang="en-IN">
                        <a:latin typeface="Cambria Math" panose="02040503050406030204" pitchFamily="18" charset="0"/>
                      </a:rPr>
                      <m:t>.</m:t>
                    </m:r>
                    <m:r>
                      <a:rPr lang="en-IN">
                        <a:latin typeface="Cambria Math" panose="02040503050406030204" pitchFamily="18" charset="0"/>
                      </a:rPr>
                      <m:t>848</m:t>
                    </m:r>
                  </m:oMath>
                </a14:m>
                <a:endParaRPr lang="en-IN" dirty="0"/>
              </a:p>
              <a:p>
                <a:pPr>
                  <a:lnSpc>
                    <a:spcPct val="120000"/>
                  </a:lnSpc>
                  <a:spcBef>
                    <a:spcPts val="0"/>
                  </a:spcBef>
                  <a:spcAft>
                    <a:spcPts val="0"/>
                  </a:spcAft>
                </a:pPr>
                <a:r>
                  <a:rPr lang="en-IN" b="1" dirty="0"/>
                  <a:t>Contractive penalty</a:t>
                </a:r>
              </a:p>
              <a:p>
                <a:pPr>
                  <a:lnSpc>
                    <a:spcPct val="120000"/>
                  </a:lnSpc>
                  <a:spcBef>
                    <a:spcPts val="0"/>
                  </a:spcBef>
                  <a:spcAft>
                    <a:spcPts val="0"/>
                  </a:spcAft>
                </a:pPr>
                <a14:m>
                  <m:oMath xmlns:m="http://schemas.openxmlformats.org/officeDocument/2006/math">
                    <m:r>
                      <a:rPr lang="en-IN">
                        <a:latin typeface="Cambria Math" panose="02040503050406030204" pitchFamily="18" charset="0"/>
                      </a:rPr>
                      <m:t>0</m:t>
                    </m:r>
                    <m:r>
                      <a:rPr lang="en-IN">
                        <a:latin typeface="Cambria Math" panose="02040503050406030204" pitchFamily="18" charset="0"/>
                      </a:rPr>
                      <m:t>.</m:t>
                    </m:r>
                    <m:r>
                      <a:rPr lang="en-IN">
                        <a:latin typeface="Cambria Math" panose="02040503050406030204" pitchFamily="18" charset="0"/>
                      </a:rPr>
                      <m:t>0302</m:t>
                    </m:r>
                  </m:oMath>
                </a14:m>
                <a:endParaRPr lang="en-IN" dirty="0"/>
              </a:p>
              <a:p>
                <a:pPr>
                  <a:lnSpc>
                    <a:spcPct val="120000"/>
                  </a:lnSpc>
                  <a:spcBef>
                    <a:spcPts val="0"/>
                  </a:spcBef>
                  <a:spcAft>
                    <a:spcPts val="0"/>
                  </a:spcAft>
                </a:pPr>
                <a:r>
                  <a:rPr lang="en-IN" b="1" dirty="0"/>
                  <a:t>Final loss</a:t>
                </a:r>
              </a:p>
              <a:p>
                <a:pPr>
                  <a:lnSpc>
                    <a:spcPct val="120000"/>
                  </a:lnSpc>
                  <a:spcBef>
                    <a:spcPts val="0"/>
                  </a:spcBef>
                  <a:spcAft>
                    <a:spcPts val="0"/>
                  </a:spcAft>
                </a:pPr>
                <a14:m>
                  <m:oMath xmlns:m="http://schemas.openxmlformats.org/officeDocument/2006/math">
                    <m:borderBox>
                      <m:borderBoxPr>
                        <m:ctrlPr>
                          <a:rPr lang="ar-AE" i="1">
                            <a:latin typeface="Cambria Math" panose="02040503050406030204" pitchFamily="18" charset="0"/>
                          </a:rPr>
                        </m:ctrlPr>
                      </m:borderBoxP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878</m:t>
                        </m:r>
                      </m:e>
                    </m:borderBox>
                  </m:oMath>
                </a14:m>
                <a:endParaRPr lang="en-IN" dirty="0"/>
              </a:p>
            </p:txBody>
          </p:sp>
        </mc:Choice>
        <mc:Fallback xmlns="">
          <p:sp>
            <p:nvSpPr>
              <p:cNvPr id="3" name="Content Placeholder 2">
                <a:extLst>
                  <a:ext uri="{FF2B5EF4-FFF2-40B4-BE49-F238E27FC236}">
                    <a16:creationId xmlns:a16="http://schemas.microsoft.com/office/drawing/2014/main" id="{11786C8C-0ADB-3300-726C-B2814E7E76AE}"/>
                  </a:ext>
                </a:extLst>
              </p:cNvPr>
              <p:cNvSpPr>
                <a:spLocks noGrp="1" noRot="1" noChangeAspect="1" noMove="1" noResize="1" noEditPoints="1" noAdjustHandles="1" noChangeArrowheads="1" noChangeShapeType="1" noTextEdit="1"/>
              </p:cNvSpPr>
              <p:nvPr>
                <p:ph idx="1"/>
              </p:nvPr>
            </p:nvSpPr>
            <p:spPr>
              <a:xfrm>
                <a:off x="873760" y="1483360"/>
                <a:ext cx="10353357" cy="4642910"/>
              </a:xfrm>
              <a:blipFill>
                <a:blip r:embed="rId2"/>
                <a:stretch>
                  <a:fillRect l="-1177" t="-394"/>
                </a:stretch>
              </a:blipFill>
            </p:spPr>
            <p:txBody>
              <a:bodyPr/>
              <a:lstStyle/>
              <a:p>
                <a:r>
                  <a:rPr lang="en-IN">
                    <a:noFill/>
                  </a:rPr>
                  <a:t> </a:t>
                </a:r>
              </a:p>
            </p:txBody>
          </p:sp>
        </mc:Fallback>
      </mc:AlternateContent>
    </p:spTree>
    <p:extLst>
      <p:ext uri="{BB962C8B-B14F-4D97-AF65-F5344CB8AC3E}">
        <p14:creationId xmlns:p14="http://schemas.microsoft.com/office/powerpoint/2010/main" val="267962199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E7DA28-CA29-3566-9DB9-3B9628FBE89D}"/>
              </a:ext>
            </a:extLst>
          </p:cNvPr>
          <p:cNvSpPr>
            <a:spLocks noGrp="1"/>
          </p:cNvSpPr>
          <p:nvPr>
            <p:ph type="title"/>
          </p:nvPr>
        </p:nvSpPr>
        <p:spPr/>
        <p:txBody>
          <a:bodyPr>
            <a:normAutofit fontScale="90000"/>
          </a:bodyPr>
          <a:lstStyle/>
          <a:p>
            <a:r>
              <a:rPr lang="en-IN" dirty="0"/>
              <a:t>Convolutional Autoencoders (CAEs)</a:t>
            </a:r>
          </a:p>
        </p:txBody>
      </p:sp>
      <p:sp>
        <p:nvSpPr>
          <p:cNvPr id="3" name="Content Placeholder 2">
            <a:extLst>
              <a:ext uri="{FF2B5EF4-FFF2-40B4-BE49-F238E27FC236}">
                <a16:creationId xmlns:a16="http://schemas.microsoft.com/office/drawing/2014/main" id="{9281A55B-EDDF-D46A-458F-1A1F19F6437B}"/>
              </a:ext>
            </a:extLst>
          </p:cNvPr>
          <p:cNvSpPr>
            <a:spLocks noGrp="1"/>
          </p:cNvSpPr>
          <p:nvPr>
            <p:ph idx="1"/>
          </p:nvPr>
        </p:nvSpPr>
        <p:spPr>
          <a:xfrm>
            <a:off x="924560" y="1503680"/>
            <a:ext cx="10668000" cy="4480560"/>
          </a:xfrm>
        </p:spPr>
        <p:txBody>
          <a:bodyPr>
            <a:normAutofit fontScale="92500"/>
          </a:bodyPr>
          <a:lstStyle/>
          <a:p>
            <a:r>
              <a:rPr lang="en-IN" b="1" dirty="0"/>
              <a:t>Description</a:t>
            </a:r>
            <a:r>
              <a:rPr lang="en-IN" dirty="0"/>
              <a:t>: Adapted for grid-structured data like images, using convolutional layers to preserve spatial hierarchies.</a:t>
            </a:r>
          </a:p>
          <a:p>
            <a:r>
              <a:rPr lang="en-IN" b="1" dirty="0"/>
              <a:t>Architecture and How It Works</a:t>
            </a:r>
            <a:r>
              <a:rPr lang="en-IN" dirty="0"/>
              <a:t>: Encoder uses conv/pooling layers to </a:t>
            </a:r>
            <a:r>
              <a:rPr lang="en-IN" dirty="0" err="1"/>
              <a:t>downsample</a:t>
            </a:r>
            <a:r>
              <a:rPr lang="en-IN" dirty="0"/>
              <a:t> to latent (flattened or volumetric); decoder uses transposed conv/</a:t>
            </a:r>
            <a:r>
              <a:rPr lang="en-IN" dirty="0" err="1"/>
              <a:t>upsampling</a:t>
            </a:r>
            <a:r>
              <a:rPr lang="en-IN" dirty="0"/>
              <a:t> to reconstruct.</a:t>
            </a:r>
          </a:p>
          <a:p>
            <a:pPr lvl="1"/>
            <a:r>
              <a:rPr lang="en-IN" dirty="0"/>
              <a:t>Loss: Similar to basic MSE, but often perceptual losses for images.</a:t>
            </a:r>
          </a:p>
          <a:p>
            <a:pPr lvl="1"/>
            <a:r>
              <a:rPr lang="en-IN" dirty="0"/>
              <a:t>Variant: Can be denoising or variational (e.g., Convolutional VAEs).</a:t>
            </a:r>
          </a:p>
          <a:p>
            <a:r>
              <a:rPr lang="en-IN" b="1" dirty="0"/>
              <a:t>Advantages</a:t>
            </a:r>
            <a:r>
              <a:rPr lang="en-IN" dirty="0"/>
              <a:t>: Efficient for high-dimensional spatial data; captures local patterns like textures.</a:t>
            </a:r>
          </a:p>
          <a:p>
            <a:r>
              <a:rPr lang="en-IN" b="1" dirty="0"/>
              <a:t>Limitations</a:t>
            </a:r>
            <a:r>
              <a:rPr lang="en-IN" dirty="0"/>
              <a:t>: Assumes grid structure; less flexible for non-image data.</a:t>
            </a:r>
          </a:p>
          <a:p>
            <a:r>
              <a:rPr lang="en-IN" b="1" dirty="0"/>
              <a:t>Applications</a:t>
            </a:r>
            <a:r>
              <a:rPr lang="en-IN" dirty="0"/>
              <a:t>: Image compression (better than JPEG for certain artifacts); video frame prediction; medical imaging (e.g., MRI reconstruction).</a:t>
            </a:r>
          </a:p>
          <a:p>
            <a:endParaRPr lang="en-IN" dirty="0"/>
          </a:p>
        </p:txBody>
      </p:sp>
    </p:spTree>
    <p:extLst>
      <p:ext uri="{BB962C8B-B14F-4D97-AF65-F5344CB8AC3E}">
        <p14:creationId xmlns:p14="http://schemas.microsoft.com/office/powerpoint/2010/main" val="286422985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BB6475-E5FD-7B74-0550-EA3B13AD6F5A}"/>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3BB78839-A6D0-19C5-B023-F6F396949523}"/>
              </a:ext>
            </a:extLst>
          </p:cNvPr>
          <p:cNvSpPr>
            <a:spLocks noGrp="1"/>
          </p:cNvSpPr>
          <p:nvPr>
            <p:ph idx="1"/>
          </p:nvPr>
        </p:nvSpPr>
        <p:spPr>
          <a:xfrm>
            <a:off x="1025842" y="1493520"/>
            <a:ext cx="10201275" cy="4632750"/>
          </a:xfrm>
        </p:spPr>
        <p:txBody>
          <a:bodyPr>
            <a:normAutofit fontScale="85000" lnSpcReduction="10000"/>
          </a:bodyPr>
          <a:lstStyle/>
          <a:p>
            <a:r>
              <a:rPr lang="en-IN" dirty="0"/>
              <a:t>A </a:t>
            </a:r>
            <a:r>
              <a:rPr lang="en-IN" b="1" dirty="0"/>
              <a:t>Convolutional Autoencoder (CAE)</a:t>
            </a:r>
            <a:r>
              <a:rPr lang="en-IN" dirty="0"/>
              <a:t> is a deep learning model designed to compress and reconstruct </a:t>
            </a:r>
            <a:r>
              <a:rPr lang="en-IN" b="1" dirty="0"/>
              <a:t>image data</a:t>
            </a:r>
            <a:r>
              <a:rPr lang="en-IN" dirty="0"/>
              <a:t> using </a:t>
            </a:r>
            <a:r>
              <a:rPr lang="en-IN" b="1" dirty="0"/>
              <a:t>convolutional layers</a:t>
            </a:r>
            <a:r>
              <a:rPr lang="en-IN" dirty="0"/>
              <a:t> instead of fully connected layers.</a:t>
            </a:r>
          </a:p>
          <a:p>
            <a:r>
              <a:rPr lang="en-IN" dirty="0"/>
              <a:t> Ideal for images</a:t>
            </a:r>
            <a:br>
              <a:rPr lang="en-IN" dirty="0"/>
            </a:br>
            <a:r>
              <a:rPr lang="en-IN" dirty="0"/>
              <a:t> Preserves spatial structure</a:t>
            </a:r>
            <a:br>
              <a:rPr lang="en-IN" dirty="0"/>
            </a:br>
            <a:r>
              <a:rPr lang="en-IN" dirty="0"/>
              <a:t> Learns visual features like edges &amp; textures</a:t>
            </a:r>
          </a:p>
          <a:p>
            <a:r>
              <a:rPr lang="en-IN" b="1" dirty="0"/>
              <a:t> Why Convolutional Autoencoders?</a:t>
            </a:r>
          </a:p>
          <a:p>
            <a:r>
              <a:rPr lang="en-IN" dirty="0"/>
              <a:t>Traditional autoencoders:</a:t>
            </a:r>
          </a:p>
          <a:p>
            <a:r>
              <a:rPr lang="en-IN" dirty="0"/>
              <a:t> </a:t>
            </a:r>
            <a:r>
              <a:rPr lang="en-IN" b="1" dirty="0"/>
              <a:t>ignore spatial structure</a:t>
            </a:r>
            <a:br>
              <a:rPr lang="en-IN" b="1" dirty="0"/>
            </a:br>
            <a:r>
              <a:rPr lang="en-IN" b="1" dirty="0"/>
              <a:t> too many parameters for images</a:t>
            </a:r>
          </a:p>
          <a:p>
            <a:r>
              <a:rPr lang="en-IN" b="1" dirty="0"/>
              <a:t>CAE solves this by:</a:t>
            </a:r>
          </a:p>
          <a:p>
            <a:r>
              <a:rPr lang="en-IN" dirty="0"/>
              <a:t> using convolution filters</a:t>
            </a:r>
            <a:br>
              <a:rPr lang="en-IN" dirty="0"/>
            </a:br>
            <a:r>
              <a:rPr lang="en-IN" dirty="0"/>
              <a:t> preserving pixel relationships</a:t>
            </a:r>
            <a:br>
              <a:rPr lang="en-IN" dirty="0"/>
            </a:br>
            <a:r>
              <a:rPr lang="en-IN" dirty="0"/>
              <a:t> reducing parameters</a:t>
            </a:r>
            <a:br>
              <a:rPr lang="en-IN" dirty="0"/>
            </a:br>
            <a:r>
              <a:rPr lang="en-IN" dirty="0"/>
              <a:t> learning spatial features</a:t>
            </a:r>
          </a:p>
          <a:p>
            <a:endParaRPr lang="en-IN" dirty="0"/>
          </a:p>
        </p:txBody>
      </p:sp>
    </p:spTree>
    <p:extLst>
      <p:ext uri="{BB962C8B-B14F-4D97-AF65-F5344CB8AC3E}">
        <p14:creationId xmlns:p14="http://schemas.microsoft.com/office/powerpoint/2010/main" val="82970677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CDDAF6-0422-3A82-5124-60CE0C2E261D}"/>
              </a:ext>
            </a:extLst>
          </p:cNvPr>
          <p:cNvSpPr>
            <a:spLocks noGrp="1"/>
          </p:cNvSpPr>
          <p:nvPr>
            <p:ph type="title"/>
          </p:nvPr>
        </p:nvSpPr>
        <p:spPr/>
        <p:txBody>
          <a:bodyPr>
            <a:normAutofit fontScale="90000"/>
          </a:bodyPr>
          <a:lstStyle/>
          <a:p>
            <a:endParaRPr lang="en-IN"/>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B9F3CE9-FAC7-8C39-7A52-D7B5960FF0ED}"/>
                  </a:ext>
                </a:extLst>
              </p:cNvPr>
              <p:cNvSpPr>
                <a:spLocks noGrp="1"/>
              </p:cNvSpPr>
              <p:nvPr>
                <p:ph idx="1"/>
              </p:nvPr>
            </p:nvSpPr>
            <p:spPr>
              <a:xfrm>
                <a:off x="1025842" y="1422400"/>
                <a:ext cx="10201275" cy="4703870"/>
              </a:xfrm>
            </p:spPr>
            <p:txBody>
              <a:bodyPr>
                <a:normAutofit fontScale="92500" lnSpcReduction="20000"/>
              </a:bodyPr>
              <a:lstStyle/>
              <a:p>
                <a:pPr>
                  <a:lnSpc>
                    <a:spcPct val="120000"/>
                  </a:lnSpc>
                  <a:spcBef>
                    <a:spcPts val="0"/>
                  </a:spcBef>
                  <a:spcAft>
                    <a:spcPts val="0"/>
                  </a:spcAft>
                </a:pPr>
                <a:r>
                  <a:rPr lang="en-IN" b="1" dirty="0"/>
                  <a:t>Architecture</a:t>
                </a:r>
              </a:p>
              <a:p>
                <a:pPr>
                  <a:lnSpc>
                    <a:spcPct val="120000"/>
                  </a:lnSpc>
                  <a:spcBef>
                    <a:spcPts val="0"/>
                  </a:spcBef>
                  <a:spcAft>
                    <a:spcPts val="0"/>
                  </a:spcAft>
                </a:pPr>
                <a:r>
                  <a:rPr lang="en-IN" b="1" dirty="0"/>
                  <a:t>Encoder</a:t>
                </a:r>
              </a:p>
              <a:p>
                <a:pPr>
                  <a:lnSpc>
                    <a:spcPct val="120000"/>
                  </a:lnSpc>
                  <a:spcBef>
                    <a:spcPts val="0"/>
                  </a:spcBef>
                  <a:spcAft>
                    <a:spcPts val="0"/>
                  </a:spcAft>
                </a:pPr>
                <a:r>
                  <a:rPr lang="en-IN" dirty="0"/>
                  <a:t>Image → Convolution → Activation → Pooling → Latent representation</a:t>
                </a:r>
              </a:p>
              <a:p>
                <a:pPr>
                  <a:lnSpc>
                    <a:spcPct val="120000"/>
                  </a:lnSpc>
                  <a:spcBef>
                    <a:spcPts val="0"/>
                  </a:spcBef>
                  <a:spcAft>
                    <a:spcPts val="0"/>
                  </a:spcAft>
                </a:pPr>
                <a:r>
                  <a:rPr lang="en-IN" b="1" dirty="0"/>
                  <a:t>Decoder</a:t>
                </a:r>
              </a:p>
              <a:p>
                <a:pPr>
                  <a:lnSpc>
                    <a:spcPct val="120000"/>
                  </a:lnSpc>
                  <a:spcBef>
                    <a:spcPts val="0"/>
                  </a:spcBef>
                  <a:spcAft>
                    <a:spcPts val="0"/>
                  </a:spcAft>
                </a:pPr>
                <a:r>
                  <a:rPr lang="en-IN" dirty="0"/>
                  <a:t>Latent → </a:t>
                </a:r>
                <a:r>
                  <a:rPr lang="en-IN" dirty="0" err="1"/>
                  <a:t>Upsampling</a:t>
                </a:r>
                <a:r>
                  <a:rPr lang="en-IN" dirty="0"/>
                  <a:t> → Deconvolution → Reconstructed Image</a:t>
                </a:r>
              </a:p>
              <a:p>
                <a:pPr>
                  <a:lnSpc>
                    <a:spcPct val="120000"/>
                  </a:lnSpc>
                  <a:spcBef>
                    <a:spcPts val="0"/>
                  </a:spcBef>
                  <a:spcAft>
                    <a:spcPts val="0"/>
                  </a:spcAft>
                </a:pPr>
                <a:r>
                  <a:rPr lang="en-IN" b="1" dirty="0"/>
                  <a:t>Mathematical Operation</a:t>
                </a:r>
              </a:p>
              <a:p>
                <a:pPr>
                  <a:lnSpc>
                    <a:spcPct val="120000"/>
                  </a:lnSpc>
                  <a:spcBef>
                    <a:spcPts val="0"/>
                  </a:spcBef>
                  <a:spcAft>
                    <a:spcPts val="0"/>
                  </a:spcAft>
                </a:pPr>
                <a:r>
                  <a:rPr lang="en-IN" b="1" dirty="0"/>
                  <a:t>Convolution</a:t>
                </a:r>
              </a:p>
              <a:p>
                <a:pPr>
                  <a:lnSpc>
                    <a:spcPct val="120000"/>
                  </a:lnSpc>
                  <a:spcBef>
                    <a:spcPts val="0"/>
                  </a:spcBef>
                  <a:spcAft>
                    <a:spcPts val="0"/>
                  </a:spcAft>
                </a:pPr>
                <a14:m>
                  <m:oMath xmlns:m="http://schemas.openxmlformats.org/officeDocument/2006/math">
                    <m:r>
                      <m:rPr>
                        <m:nor/>
                      </m:rPr>
                      <a:rPr lang="en-IN" b="0"/>
                      <m:t>Feature</m:t>
                    </m:r>
                    <m:r>
                      <m:rPr>
                        <m:nor/>
                      </m:rPr>
                      <a:rPr lang="en-IN" b="0" i="1"/>
                      <m:t> </m:t>
                    </m:r>
                    <m:r>
                      <m:rPr>
                        <m:nor/>
                      </m:rPr>
                      <a:rPr lang="en-IN" b="0" i="1"/>
                      <m:t>map</m:t>
                    </m:r>
                    <m:r>
                      <a:rPr lang="en-IN">
                        <a:latin typeface="Cambria Math" panose="02040503050406030204" pitchFamily="18" charset="0"/>
                      </a:rPr>
                      <m:t>=</m:t>
                    </m:r>
                    <m:r>
                      <m:rPr>
                        <m:nor/>
                      </m:rPr>
                      <a:rPr lang="en-IN" i="1"/>
                      <m:t>Input</m:t>
                    </m:r>
                    <m:r>
                      <a:rPr lang="en-IN">
                        <a:latin typeface="Cambria Math" panose="02040503050406030204" pitchFamily="18" charset="0"/>
                      </a:rPr>
                      <m:t>∗</m:t>
                    </m:r>
                    <m:r>
                      <m:rPr>
                        <m:nor/>
                      </m:rPr>
                      <a:rPr lang="en-IN" i="1"/>
                      <m:t>Kernel</m:t>
                    </m:r>
                  </m:oMath>
                </a14:m>
                <a:endParaRPr lang="en-IN" b="0" dirty="0"/>
              </a:p>
              <a:p>
                <a:pPr>
                  <a:lnSpc>
                    <a:spcPct val="120000"/>
                  </a:lnSpc>
                  <a:spcBef>
                    <a:spcPts val="0"/>
                  </a:spcBef>
                  <a:spcAft>
                    <a:spcPts val="0"/>
                  </a:spcAft>
                </a:pPr>
                <a:r>
                  <a:rPr lang="en-IN" b="1" dirty="0"/>
                  <a:t>Activation</a:t>
                </a:r>
              </a:p>
              <a:p>
                <a:pPr>
                  <a:lnSpc>
                    <a:spcPct val="120000"/>
                  </a:lnSpc>
                  <a:spcBef>
                    <a:spcPts val="0"/>
                  </a:spcBef>
                  <a:spcAft>
                    <a:spcPts val="0"/>
                  </a:spcAft>
                </a:pPr>
                <a14:m>
                  <m:oMath xmlns:m="http://schemas.openxmlformats.org/officeDocument/2006/math">
                    <m:r>
                      <a:rPr lang="en-IN" i="1">
                        <a:latin typeface="Cambria Math" panose="02040503050406030204" pitchFamily="18" charset="0"/>
                      </a:rPr>
                      <m:t>𝐴</m:t>
                    </m:r>
                    <m:r>
                      <a:rPr lang="en-IN">
                        <a:latin typeface="Cambria Math" panose="02040503050406030204" pitchFamily="18" charset="0"/>
                      </a:rPr>
                      <m:t>=</m:t>
                    </m:r>
                    <m:r>
                      <a:rPr lang="en-IN" i="1">
                        <a:latin typeface="Cambria Math" panose="02040503050406030204" pitchFamily="18" charset="0"/>
                      </a:rPr>
                      <m:t>𝜎</m:t>
                    </m:r>
                    <m:d>
                      <m:dPr>
                        <m:ctrlPr>
                          <a:rPr lang="ar-AE" i="1">
                            <a:latin typeface="Cambria Math" panose="02040503050406030204" pitchFamily="18" charset="0"/>
                          </a:rPr>
                        </m:ctrlPr>
                      </m:dPr>
                      <m:e>
                        <m:r>
                          <a:rPr lang="ar-AE" i="1">
                            <a:latin typeface="Cambria Math" panose="02040503050406030204" pitchFamily="18" charset="0"/>
                          </a:rPr>
                          <m:t>𝑍</m:t>
                        </m:r>
                      </m:e>
                    </m:d>
                  </m:oMath>
                </a14:m>
                <a:endParaRPr lang="ar-AE" dirty="0"/>
              </a:p>
              <a:p>
                <a:pPr>
                  <a:lnSpc>
                    <a:spcPct val="120000"/>
                  </a:lnSpc>
                  <a:spcBef>
                    <a:spcPts val="0"/>
                  </a:spcBef>
                  <a:spcAft>
                    <a:spcPts val="0"/>
                  </a:spcAft>
                </a:pPr>
                <a:r>
                  <a:rPr lang="en-IN" b="1" dirty="0"/>
                  <a:t>Reconstruction Loss</a:t>
                </a:r>
              </a:p>
              <a:p>
                <a:pPr>
                  <a:lnSpc>
                    <a:spcPct val="120000"/>
                  </a:lnSpc>
                  <a:spcBef>
                    <a:spcPts val="0"/>
                  </a:spcBef>
                  <a:spcAft>
                    <a:spcPts val="0"/>
                  </a:spcAft>
                </a:pPr>
                <a14:m>
                  <m:oMath xmlns:m="http://schemas.openxmlformats.org/officeDocument/2006/math">
                    <m:r>
                      <a:rPr lang="en-IN" i="1">
                        <a:latin typeface="Cambria Math" panose="02040503050406030204" pitchFamily="18" charset="0"/>
                      </a:rPr>
                      <m:t>𝐿</m:t>
                    </m:r>
                    <m:r>
                      <a:rPr lang="en-IN">
                        <a:latin typeface="Cambria Math" panose="02040503050406030204" pitchFamily="18" charset="0"/>
                      </a:rPr>
                      <m:t>=</m:t>
                    </m:r>
                    <m:nary>
                      <m:naryPr>
                        <m:chr m:val="∑"/>
                        <m:grow m:val="on"/>
                        <m:subHide m:val="on"/>
                        <m:supHide m:val="on"/>
                        <m:ctrlPr>
                          <a:rPr lang="ar-AE" i="1">
                            <a:latin typeface="Cambria Math" panose="02040503050406030204" pitchFamily="18" charset="0"/>
                          </a:rPr>
                        </m:ctrlPr>
                      </m:naryPr>
                      <m:sub/>
                      <m:sup/>
                      <m:e>
                        <m:r>
                          <a:rPr lang="ar-AE">
                            <a:latin typeface="Cambria Math" panose="02040503050406030204" pitchFamily="18" charset="0"/>
                          </a:rPr>
                          <m:t>(</m:t>
                        </m:r>
                      </m:e>
                    </m:nary>
                    <m:d>
                      <m:dPr>
                        <m:begChr m:val=""/>
                        <m:endChr m:val=""/>
                        <m:ctrlPr>
                          <a:rPr lang="ar-AE" i="1">
                            <a:latin typeface="Cambria Math" panose="02040503050406030204" pitchFamily="18" charset="0"/>
                          </a:rPr>
                        </m:ctrlPr>
                      </m:dPr>
                      <m:e>
                        <m:r>
                          <a:rPr lang="ar-AE" i="1">
                            <a:latin typeface="Cambria Math" panose="02040503050406030204" pitchFamily="18" charset="0"/>
                          </a:rPr>
                          <m:t>𝑥</m:t>
                        </m:r>
                        <m:r>
                          <a:rPr lang="ar-AE">
                            <a:latin typeface="Cambria Math" panose="02040503050406030204" pitchFamily="18" charset="0"/>
                          </a:rPr>
                          <m:t>−</m:t>
                        </m:r>
                        <m:acc>
                          <m:accPr>
                            <m:chr m:val="̂"/>
                            <m:ctrlPr>
                              <a:rPr lang="ar-AE" i="1">
                                <a:latin typeface="Cambria Math" panose="02040503050406030204" pitchFamily="18" charset="0"/>
                              </a:rPr>
                            </m:ctrlPr>
                          </m:accPr>
                          <m:e>
                            <m:r>
                              <a:rPr lang="ar-AE" i="1">
                                <a:latin typeface="Cambria Math" panose="02040503050406030204" pitchFamily="18" charset="0"/>
                              </a:rPr>
                              <m:t>𝑥</m:t>
                            </m:r>
                          </m:e>
                        </m:acc>
                        <m:sSup>
                          <m:sSupPr>
                            <m:ctrlPr>
                              <a:rPr lang="ar-AE" i="1">
                                <a:latin typeface="Cambria Math" panose="02040503050406030204" pitchFamily="18" charset="0"/>
                              </a:rPr>
                            </m:ctrlPr>
                          </m:sSupPr>
                          <m:e>
                            <m:d>
                              <m:dPr>
                                <m:begChr m:val=""/>
                                <m:endChr m:val=""/>
                                <m:ctrlPr>
                                  <a:rPr lang="ar-AE" i="1">
                                    <a:latin typeface="Cambria Math" panose="02040503050406030204" pitchFamily="18" charset="0"/>
                                  </a:rPr>
                                </m:ctrlPr>
                              </m:dPr>
                              <m:e>
                                <m:r>
                                  <a:rPr lang="ar-AE">
                                    <a:latin typeface="Cambria Math" panose="02040503050406030204" pitchFamily="18" charset="0"/>
                                  </a:rPr>
                                  <m:t>)</m:t>
                                </m:r>
                              </m:e>
                            </m:d>
                          </m:e>
                          <m:sup>
                            <m:r>
                              <a:rPr lang="ar-AE">
                                <a:latin typeface="Cambria Math" panose="02040503050406030204" pitchFamily="18" charset="0"/>
                              </a:rPr>
                              <m:t>2</m:t>
                            </m:r>
                          </m:sup>
                        </m:sSup>
                      </m:e>
                    </m:d>
                  </m:oMath>
                </a14:m>
                <a:endParaRPr lang="ar-AE" dirty="0"/>
              </a:p>
              <a:p>
                <a:pPr>
                  <a:lnSpc>
                    <a:spcPct val="120000"/>
                  </a:lnSpc>
                  <a:spcBef>
                    <a:spcPts val="0"/>
                  </a:spcBef>
                  <a:spcAft>
                    <a:spcPts val="0"/>
                  </a:spcAft>
                </a:pPr>
                <a:endParaRPr lang="en-IN" dirty="0"/>
              </a:p>
            </p:txBody>
          </p:sp>
        </mc:Choice>
        <mc:Fallback xmlns="">
          <p:sp>
            <p:nvSpPr>
              <p:cNvPr id="3" name="Content Placeholder 2">
                <a:extLst>
                  <a:ext uri="{FF2B5EF4-FFF2-40B4-BE49-F238E27FC236}">
                    <a16:creationId xmlns:a16="http://schemas.microsoft.com/office/drawing/2014/main" id="{3B9F3CE9-FAC7-8C39-7A52-D7B5960FF0ED}"/>
                  </a:ext>
                </a:extLst>
              </p:cNvPr>
              <p:cNvSpPr>
                <a:spLocks noGrp="1" noRot="1" noChangeAspect="1" noMove="1" noResize="1" noEditPoints="1" noAdjustHandles="1" noChangeArrowheads="1" noChangeShapeType="1" noTextEdit="1"/>
              </p:cNvSpPr>
              <p:nvPr>
                <p:ph idx="1"/>
              </p:nvPr>
            </p:nvSpPr>
            <p:spPr>
              <a:xfrm>
                <a:off x="1025842" y="1422400"/>
                <a:ext cx="10201275" cy="4703870"/>
              </a:xfrm>
              <a:blipFill>
                <a:blip r:embed="rId2"/>
                <a:stretch>
                  <a:fillRect l="-1553" t="-777"/>
                </a:stretch>
              </a:blipFill>
            </p:spPr>
            <p:txBody>
              <a:bodyPr/>
              <a:lstStyle/>
              <a:p>
                <a:r>
                  <a:rPr lang="en-IN">
                    <a:noFill/>
                  </a:rPr>
                  <a:t> </a:t>
                </a:r>
              </a:p>
            </p:txBody>
          </p:sp>
        </mc:Fallback>
      </mc:AlternateContent>
    </p:spTree>
    <p:extLst>
      <p:ext uri="{BB962C8B-B14F-4D97-AF65-F5344CB8AC3E}">
        <p14:creationId xmlns:p14="http://schemas.microsoft.com/office/powerpoint/2010/main" val="63253687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D8ABF1-735A-E0B1-7A40-2E8F89187294}"/>
              </a:ext>
            </a:extLst>
          </p:cNvPr>
          <p:cNvSpPr>
            <a:spLocks noGrp="1"/>
          </p:cNvSpPr>
          <p:nvPr>
            <p:ph type="title"/>
          </p:nvPr>
        </p:nvSpPr>
        <p:spPr/>
        <p:txBody>
          <a:bodyPr>
            <a:normAutofit fontScale="90000"/>
          </a:bodyPr>
          <a:lstStyle/>
          <a:p>
            <a:endParaRPr lang="en-IN"/>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346A264-7906-18D1-82D1-9F1D2E03F7BA}"/>
                  </a:ext>
                </a:extLst>
              </p:cNvPr>
              <p:cNvSpPr>
                <a:spLocks noGrp="1"/>
              </p:cNvSpPr>
              <p:nvPr>
                <p:ph idx="1"/>
              </p:nvPr>
            </p:nvSpPr>
            <p:spPr>
              <a:xfrm>
                <a:off x="203200" y="1310640"/>
                <a:ext cx="3911599" cy="4815630"/>
              </a:xfrm>
            </p:spPr>
            <p:txBody>
              <a:bodyPr>
                <a:noAutofit/>
              </a:bodyPr>
              <a:lstStyle/>
              <a:p>
                <a:pPr>
                  <a:lnSpc>
                    <a:spcPct val="120000"/>
                  </a:lnSpc>
                  <a:spcBef>
                    <a:spcPts val="0"/>
                  </a:spcBef>
                  <a:spcAft>
                    <a:spcPts val="0"/>
                  </a:spcAft>
                </a:pPr>
                <a:r>
                  <a:rPr lang="en-IN" sz="1400" b="1" dirty="0"/>
                  <a:t>Input Image (4×4)</a:t>
                </a:r>
              </a:p>
              <a:p>
                <a:pPr>
                  <a:lnSpc>
                    <a:spcPct val="120000"/>
                  </a:lnSpc>
                  <a:spcBef>
                    <a:spcPts val="0"/>
                  </a:spcBef>
                  <a:spcAft>
                    <a:spcPts val="0"/>
                  </a:spcAft>
                </a:pPr>
                <a14:m>
                  <m:oMath xmlns:m="http://schemas.openxmlformats.org/officeDocument/2006/math">
                    <m:r>
                      <a:rPr lang="en-IN" sz="1400" i="1">
                        <a:latin typeface="Cambria Math" panose="02040503050406030204" pitchFamily="18" charset="0"/>
                      </a:rPr>
                      <m:t>𝑋</m:t>
                    </m:r>
                    <m:r>
                      <a:rPr lang="en-IN" sz="1400">
                        <a:latin typeface="Cambria Math" panose="02040503050406030204" pitchFamily="18" charset="0"/>
                      </a:rPr>
                      <m:t>=</m:t>
                    </m:r>
                    <m:d>
                      <m:dPr>
                        <m:begChr m:val="["/>
                        <m:endChr m:val="]"/>
                        <m:ctrlPr>
                          <a:rPr lang="ar-AE" sz="1400" i="1">
                            <a:latin typeface="Cambria Math" panose="02040503050406030204" pitchFamily="18" charset="0"/>
                          </a:rPr>
                        </m:ctrlPr>
                      </m:dPr>
                      <m:e>
                        <m:m>
                          <m:mPr>
                            <m:plcHide m:val="on"/>
                            <m:mcs>
                              <m:mc>
                                <m:mcPr>
                                  <m:count m:val="4"/>
                                  <m:mcJc m:val="center"/>
                                </m:mcPr>
                              </m:mc>
                            </m:mcs>
                            <m:ctrlPr>
                              <a:rPr lang="ar-AE" sz="1400" i="1">
                                <a:latin typeface="Cambria Math" panose="02040503050406030204" pitchFamily="18" charset="0"/>
                              </a:rPr>
                            </m:ctrlPr>
                          </m:mPr>
                          <m:mr>
                            <m:e>
                              <m:r>
                                <a:rPr lang="ar-AE" sz="1400">
                                  <a:latin typeface="Cambria Math" panose="02040503050406030204" pitchFamily="18" charset="0"/>
                                </a:rPr>
                                <m:t>1</m:t>
                              </m:r>
                            </m:e>
                            <m:e>
                              <m:r>
                                <a:rPr lang="ar-AE" sz="1400">
                                  <a:latin typeface="Cambria Math" panose="02040503050406030204" pitchFamily="18" charset="0"/>
                                </a:rPr>
                                <m:t>1</m:t>
                              </m:r>
                            </m:e>
                            <m:e>
                              <m:r>
                                <a:rPr lang="ar-AE" sz="1400">
                                  <a:latin typeface="Cambria Math" panose="02040503050406030204" pitchFamily="18" charset="0"/>
                                </a:rPr>
                                <m:t>0</m:t>
                              </m:r>
                            </m:e>
                            <m:e>
                              <m:r>
                                <a:rPr lang="ar-AE" sz="1400">
                                  <a:latin typeface="Cambria Math" panose="02040503050406030204" pitchFamily="18" charset="0"/>
                                </a:rPr>
                                <m:t>0</m:t>
                              </m:r>
                            </m:e>
                          </m:mr>
                          <m:mr>
                            <m:e>
                              <m:r>
                                <a:rPr lang="ar-AE" sz="1400">
                                  <a:latin typeface="Cambria Math" panose="02040503050406030204" pitchFamily="18" charset="0"/>
                                </a:rPr>
                                <m:t>1</m:t>
                              </m:r>
                            </m:e>
                            <m:e>
                              <m:r>
                                <a:rPr lang="ar-AE" sz="1400">
                                  <a:latin typeface="Cambria Math" panose="02040503050406030204" pitchFamily="18" charset="0"/>
                                </a:rPr>
                                <m:t>1</m:t>
                              </m:r>
                            </m:e>
                            <m:e>
                              <m:r>
                                <a:rPr lang="ar-AE" sz="1400">
                                  <a:latin typeface="Cambria Math" panose="02040503050406030204" pitchFamily="18" charset="0"/>
                                </a:rPr>
                                <m:t>0</m:t>
                              </m:r>
                            </m:e>
                            <m:e>
                              <m:r>
                                <a:rPr lang="ar-AE" sz="1400">
                                  <a:latin typeface="Cambria Math" panose="02040503050406030204" pitchFamily="18" charset="0"/>
                                </a:rPr>
                                <m:t>0</m:t>
                              </m:r>
                            </m:e>
                          </m:mr>
                          <m:mr>
                            <m:e>
                              <m:r>
                                <a:rPr lang="ar-AE" sz="1400">
                                  <a:latin typeface="Cambria Math" panose="02040503050406030204" pitchFamily="18" charset="0"/>
                                </a:rPr>
                                <m:t>0</m:t>
                              </m:r>
                            </m:e>
                            <m:e>
                              <m:r>
                                <a:rPr lang="ar-AE" sz="1400">
                                  <a:latin typeface="Cambria Math" panose="02040503050406030204" pitchFamily="18" charset="0"/>
                                </a:rPr>
                                <m:t>0</m:t>
                              </m:r>
                            </m:e>
                            <m:e>
                              <m:r>
                                <a:rPr lang="ar-AE" sz="1400">
                                  <a:latin typeface="Cambria Math" panose="02040503050406030204" pitchFamily="18" charset="0"/>
                                </a:rPr>
                                <m:t>1</m:t>
                              </m:r>
                            </m:e>
                            <m:e>
                              <m:r>
                                <a:rPr lang="ar-AE" sz="1400">
                                  <a:latin typeface="Cambria Math" panose="02040503050406030204" pitchFamily="18" charset="0"/>
                                </a:rPr>
                                <m:t>1</m:t>
                              </m:r>
                            </m:e>
                          </m:mr>
                          <m:mr>
                            <m:e>
                              <m:r>
                                <a:rPr lang="ar-AE" sz="1400">
                                  <a:latin typeface="Cambria Math" panose="02040503050406030204" pitchFamily="18" charset="0"/>
                                </a:rPr>
                                <m:t>0</m:t>
                              </m:r>
                            </m:e>
                            <m:e>
                              <m:r>
                                <a:rPr lang="ar-AE" sz="1400">
                                  <a:latin typeface="Cambria Math" panose="02040503050406030204" pitchFamily="18" charset="0"/>
                                </a:rPr>
                                <m:t>0</m:t>
                              </m:r>
                            </m:e>
                            <m:e>
                              <m:r>
                                <a:rPr lang="ar-AE" sz="1400">
                                  <a:latin typeface="Cambria Math" panose="02040503050406030204" pitchFamily="18" charset="0"/>
                                </a:rPr>
                                <m:t>1</m:t>
                              </m:r>
                            </m:e>
                            <m:e>
                              <m:r>
                                <a:rPr lang="ar-AE" sz="1400">
                                  <a:latin typeface="Cambria Math" panose="02040503050406030204" pitchFamily="18" charset="0"/>
                                </a:rPr>
                                <m:t>1</m:t>
                              </m:r>
                            </m:e>
                          </m:mr>
                        </m:m>
                      </m:e>
                    </m:d>
                  </m:oMath>
                </a14:m>
                <a:endParaRPr lang="ar-AE" sz="1400" dirty="0"/>
              </a:p>
              <a:p>
                <a:pPr>
                  <a:lnSpc>
                    <a:spcPct val="120000"/>
                  </a:lnSpc>
                  <a:spcBef>
                    <a:spcPts val="0"/>
                  </a:spcBef>
                  <a:spcAft>
                    <a:spcPts val="0"/>
                  </a:spcAft>
                </a:pPr>
                <a:r>
                  <a:rPr lang="en-IN" sz="1400" dirty="0"/>
                  <a:t>This image has two bright blocks.</a:t>
                </a:r>
              </a:p>
              <a:p>
                <a:pPr>
                  <a:lnSpc>
                    <a:spcPct val="120000"/>
                  </a:lnSpc>
                  <a:spcBef>
                    <a:spcPts val="0"/>
                  </a:spcBef>
                  <a:spcAft>
                    <a:spcPts val="0"/>
                  </a:spcAft>
                </a:pPr>
                <a:endParaRPr lang="en-IN" sz="1400" dirty="0"/>
              </a:p>
              <a:p>
                <a:pPr>
                  <a:lnSpc>
                    <a:spcPct val="120000"/>
                  </a:lnSpc>
                  <a:spcBef>
                    <a:spcPts val="0"/>
                  </a:spcBef>
                  <a:spcAft>
                    <a:spcPts val="0"/>
                  </a:spcAft>
                </a:pPr>
                <a:r>
                  <a:rPr lang="en-IN" sz="1400" b="1" dirty="0"/>
                  <a:t> STEP 1: Encoder Convolution</a:t>
                </a:r>
              </a:p>
              <a:p>
                <a:pPr>
                  <a:lnSpc>
                    <a:spcPct val="120000"/>
                  </a:lnSpc>
                  <a:spcBef>
                    <a:spcPts val="0"/>
                  </a:spcBef>
                  <a:spcAft>
                    <a:spcPts val="0"/>
                  </a:spcAft>
                </a:pPr>
                <a:r>
                  <a:rPr lang="en-IN" sz="1400" b="1" dirty="0"/>
                  <a:t>Filter (Kernel 2×2)</a:t>
                </a:r>
              </a:p>
              <a:p>
                <a:pPr>
                  <a:lnSpc>
                    <a:spcPct val="120000"/>
                  </a:lnSpc>
                  <a:spcBef>
                    <a:spcPts val="0"/>
                  </a:spcBef>
                  <a:spcAft>
                    <a:spcPts val="0"/>
                  </a:spcAft>
                </a:pPr>
                <a14:m>
                  <m:oMath xmlns:m="http://schemas.openxmlformats.org/officeDocument/2006/math">
                    <m:r>
                      <a:rPr lang="en-IN" sz="1400" i="1">
                        <a:latin typeface="Cambria Math" panose="02040503050406030204" pitchFamily="18" charset="0"/>
                      </a:rPr>
                      <m:t>𝐾</m:t>
                    </m:r>
                    <m:r>
                      <a:rPr lang="en-IN" sz="1400">
                        <a:latin typeface="Cambria Math" panose="02040503050406030204" pitchFamily="18" charset="0"/>
                      </a:rPr>
                      <m:t>=</m:t>
                    </m:r>
                    <m:d>
                      <m:dPr>
                        <m:begChr m:val="["/>
                        <m:endChr m:val="]"/>
                        <m:ctrlPr>
                          <a:rPr lang="ar-AE" sz="1400" i="1">
                            <a:latin typeface="Cambria Math" panose="02040503050406030204" pitchFamily="18" charset="0"/>
                          </a:rPr>
                        </m:ctrlPr>
                      </m:dPr>
                      <m:e>
                        <m:m>
                          <m:mPr>
                            <m:plcHide m:val="on"/>
                            <m:mcs>
                              <m:mc>
                                <m:mcPr>
                                  <m:count m:val="2"/>
                                  <m:mcJc m:val="center"/>
                                </m:mcPr>
                              </m:mc>
                            </m:mcs>
                            <m:ctrlPr>
                              <a:rPr lang="ar-AE" sz="1400" i="1">
                                <a:latin typeface="Cambria Math" panose="02040503050406030204" pitchFamily="18" charset="0"/>
                              </a:rPr>
                            </m:ctrlPr>
                          </m:mPr>
                          <m:mr>
                            <m:e>
                              <m:r>
                                <a:rPr lang="ar-AE" sz="1400">
                                  <a:latin typeface="Cambria Math" panose="02040503050406030204" pitchFamily="18" charset="0"/>
                                </a:rPr>
                                <m:t>1</m:t>
                              </m:r>
                            </m:e>
                            <m:e>
                              <m:r>
                                <a:rPr lang="ar-AE" sz="1400">
                                  <a:latin typeface="Cambria Math" panose="02040503050406030204" pitchFamily="18" charset="0"/>
                                </a:rPr>
                                <m:t>0</m:t>
                              </m:r>
                            </m:e>
                          </m:mr>
                          <m:mr>
                            <m:e>
                              <m:r>
                                <a:rPr lang="ar-AE" sz="1400">
                                  <a:latin typeface="Cambria Math" panose="02040503050406030204" pitchFamily="18" charset="0"/>
                                </a:rPr>
                                <m:t>0</m:t>
                              </m:r>
                            </m:e>
                            <m:e>
                              <m:r>
                                <a:rPr lang="ar-AE" sz="1400">
                                  <a:latin typeface="Cambria Math" panose="02040503050406030204" pitchFamily="18" charset="0"/>
                                </a:rPr>
                                <m:t>1</m:t>
                              </m:r>
                            </m:e>
                          </m:mr>
                        </m:m>
                      </m:e>
                    </m:d>
                  </m:oMath>
                </a14:m>
                <a:endParaRPr lang="ar-AE" sz="1400" dirty="0"/>
              </a:p>
              <a:p>
                <a:pPr>
                  <a:lnSpc>
                    <a:spcPct val="120000"/>
                  </a:lnSpc>
                  <a:spcBef>
                    <a:spcPts val="0"/>
                  </a:spcBef>
                  <a:spcAft>
                    <a:spcPts val="0"/>
                  </a:spcAft>
                </a:pPr>
                <a:r>
                  <a:rPr lang="en-IN" sz="1400" dirty="0"/>
                  <a:t>Stride = 1, no padding</a:t>
                </a:r>
              </a:p>
              <a:p>
                <a:pPr>
                  <a:lnSpc>
                    <a:spcPct val="120000"/>
                  </a:lnSpc>
                  <a:spcBef>
                    <a:spcPts val="0"/>
                  </a:spcBef>
                  <a:spcAft>
                    <a:spcPts val="0"/>
                  </a:spcAft>
                </a:pPr>
                <a:r>
                  <a:rPr lang="en-IN" sz="1400" dirty="0"/>
                  <a:t>Output size:</a:t>
                </a:r>
              </a:p>
              <a:p>
                <a:pPr>
                  <a:lnSpc>
                    <a:spcPct val="120000"/>
                  </a:lnSpc>
                  <a:spcBef>
                    <a:spcPts val="0"/>
                  </a:spcBef>
                  <a:spcAft>
                    <a:spcPts val="0"/>
                  </a:spcAft>
                </a:pPr>
                <a14:m>
                  <m:oMath xmlns:m="http://schemas.openxmlformats.org/officeDocument/2006/math">
                    <m:d>
                      <m:dPr>
                        <m:ctrlPr>
                          <a:rPr lang="ar-AE" sz="1400" i="1">
                            <a:latin typeface="Cambria Math" panose="02040503050406030204" pitchFamily="18" charset="0"/>
                          </a:rPr>
                        </m:ctrlPr>
                      </m:dPr>
                      <m:e>
                        <m:r>
                          <a:rPr lang="ar-AE" sz="1400">
                            <a:latin typeface="Cambria Math" panose="02040503050406030204" pitchFamily="18" charset="0"/>
                          </a:rPr>
                          <m:t>4</m:t>
                        </m:r>
                        <m:r>
                          <a:rPr lang="ar-AE" sz="1400">
                            <a:latin typeface="Cambria Math" panose="02040503050406030204" pitchFamily="18" charset="0"/>
                          </a:rPr>
                          <m:t>−</m:t>
                        </m:r>
                        <m:r>
                          <a:rPr lang="ar-AE" sz="1400">
                            <a:latin typeface="Cambria Math" panose="02040503050406030204" pitchFamily="18" charset="0"/>
                          </a:rPr>
                          <m:t>2</m:t>
                        </m:r>
                        <m:r>
                          <a:rPr lang="ar-AE" sz="1400">
                            <a:latin typeface="Cambria Math" panose="02040503050406030204" pitchFamily="18" charset="0"/>
                          </a:rPr>
                          <m:t>+</m:t>
                        </m:r>
                        <m:r>
                          <a:rPr lang="ar-AE" sz="1400">
                            <a:latin typeface="Cambria Math" panose="02040503050406030204" pitchFamily="18" charset="0"/>
                          </a:rPr>
                          <m:t>1</m:t>
                        </m:r>
                      </m:e>
                    </m:d>
                    <m:r>
                      <a:rPr lang="ar-AE" sz="1400">
                        <a:latin typeface="Cambria Math" panose="02040503050406030204" pitchFamily="18" charset="0"/>
                      </a:rPr>
                      <m:t>=</m:t>
                    </m:r>
                    <m:r>
                      <a:rPr lang="ar-AE" sz="1400">
                        <a:latin typeface="Cambria Math" panose="02040503050406030204" pitchFamily="18" charset="0"/>
                      </a:rPr>
                      <m:t>3</m:t>
                    </m:r>
                    <m:r>
                      <a:rPr lang="ar-AE" sz="1400">
                        <a:latin typeface="Cambria Math" panose="02040503050406030204" pitchFamily="18" charset="0"/>
                      </a:rPr>
                      <m:t>⇒</m:t>
                    </m:r>
                    <m:r>
                      <a:rPr lang="ar-AE" sz="1400">
                        <a:latin typeface="Cambria Math" panose="02040503050406030204" pitchFamily="18" charset="0"/>
                      </a:rPr>
                      <m:t>3</m:t>
                    </m:r>
                    <m:r>
                      <a:rPr lang="ar-AE" sz="1400">
                        <a:latin typeface="Cambria Math" panose="02040503050406030204" pitchFamily="18" charset="0"/>
                      </a:rPr>
                      <m:t>×</m:t>
                    </m:r>
                    <m:r>
                      <a:rPr lang="ar-AE" sz="1400">
                        <a:latin typeface="Cambria Math" panose="02040503050406030204" pitchFamily="18" charset="0"/>
                      </a:rPr>
                      <m:t>3</m:t>
                    </m:r>
                  </m:oMath>
                </a14:m>
                <a:endParaRPr lang="ar-AE" sz="1400" dirty="0"/>
              </a:p>
              <a:p>
                <a:pPr>
                  <a:lnSpc>
                    <a:spcPct val="120000"/>
                  </a:lnSpc>
                  <a:spcBef>
                    <a:spcPts val="0"/>
                  </a:spcBef>
                  <a:spcAft>
                    <a:spcPts val="0"/>
                  </a:spcAft>
                </a:pPr>
                <a:r>
                  <a:rPr lang="en-IN" sz="1400" b="1" dirty="0"/>
                  <a:t> Compute Feature Map</a:t>
                </a:r>
              </a:p>
              <a:p>
                <a:pPr>
                  <a:lnSpc>
                    <a:spcPct val="120000"/>
                  </a:lnSpc>
                  <a:spcBef>
                    <a:spcPts val="0"/>
                  </a:spcBef>
                  <a:spcAft>
                    <a:spcPts val="0"/>
                  </a:spcAft>
                </a:pPr>
                <a:r>
                  <a:rPr lang="en-IN" sz="1400" b="1" dirty="0"/>
                  <a:t>Position (1,1)</a:t>
                </a:r>
              </a:p>
              <a:p>
                <a:pPr>
                  <a:lnSpc>
                    <a:spcPct val="120000"/>
                  </a:lnSpc>
                  <a:spcBef>
                    <a:spcPts val="0"/>
                  </a:spcBef>
                  <a:spcAft>
                    <a:spcPts val="0"/>
                  </a:spcAft>
                </a:pPr>
                <a14:m>
                  <m:oMath xmlns:m="http://schemas.openxmlformats.org/officeDocument/2006/math">
                    <m:d>
                      <m:dPr>
                        <m:begChr m:val="["/>
                        <m:endChr m:val="]"/>
                        <m:ctrlPr>
                          <a:rPr lang="ar-AE" sz="1400" i="1">
                            <a:latin typeface="Cambria Math" panose="02040503050406030204" pitchFamily="18" charset="0"/>
                          </a:rPr>
                        </m:ctrlPr>
                      </m:dPr>
                      <m:e>
                        <m:m>
                          <m:mPr>
                            <m:plcHide m:val="on"/>
                            <m:mcs>
                              <m:mc>
                                <m:mcPr>
                                  <m:count m:val="2"/>
                                  <m:mcJc m:val="center"/>
                                </m:mcPr>
                              </m:mc>
                            </m:mcs>
                            <m:ctrlPr>
                              <a:rPr lang="ar-AE" sz="1400" i="1">
                                <a:latin typeface="Cambria Math" panose="02040503050406030204" pitchFamily="18" charset="0"/>
                              </a:rPr>
                            </m:ctrlPr>
                          </m:mPr>
                          <m:mr>
                            <m:e>
                              <m:r>
                                <a:rPr lang="ar-AE" sz="1400">
                                  <a:latin typeface="Cambria Math" panose="02040503050406030204" pitchFamily="18" charset="0"/>
                                </a:rPr>
                                <m:t>1</m:t>
                              </m:r>
                            </m:e>
                            <m:e>
                              <m:r>
                                <a:rPr lang="ar-AE" sz="1400">
                                  <a:latin typeface="Cambria Math" panose="02040503050406030204" pitchFamily="18" charset="0"/>
                                </a:rPr>
                                <m:t>1</m:t>
                              </m:r>
                            </m:e>
                          </m:mr>
                          <m:mr>
                            <m:e>
                              <m:r>
                                <a:rPr lang="ar-AE" sz="1400">
                                  <a:latin typeface="Cambria Math" panose="02040503050406030204" pitchFamily="18" charset="0"/>
                                </a:rPr>
                                <m:t>1</m:t>
                              </m:r>
                            </m:e>
                            <m:e>
                              <m:r>
                                <a:rPr lang="ar-AE" sz="1400">
                                  <a:latin typeface="Cambria Math" panose="02040503050406030204" pitchFamily="18" charset="0"/>
                                </a:rPr>
                                <m:t>1</m:t>
                              </m:r>
                            </m:e>
                          </m:mr>
                        </m:m>
                      </m:e>
                    </m:d>
                    <m:r>
                      <a:rPr lang="ar-AE" sz="1400">
                        <a:latin typeface="Cambria Math" panose="02040503050406030204" pitchFamily="18" charset="0"/>
                      </a:rPr>
                      <m:t>∗</m:t>
                    </m:r>
                    <m:d>
                      <m:dPr>
                        <m:begChr m:val="["/>
                        <m:endChr m:val="]"/>
                        <m:ctrlPr>
                          <a:rPr lang="ar-AE" sz="1400" i="1">
                            <a:latin typeface="Cambria Math" panose="02040503050406030204" pitchFamily="18" charset="0"/>
                          </a:rPr>
                        </m:ctrlPr>
                      </m:dPr>
                      <m:e>
                        <m:m>
                          <m:mPr>
                            <m:plcHide m:val="on"/>
                            <m:mcs>
                              <m:mc>
                                <m:mcPr>
                                  <m:count m:val="2"/>
                                  <m:mcJc m:val="center"/>
                                </m:mcPr>
                              </m:mc>
                            </m:mcs>
                            <m:ctrlPr>
                              <a:rPr lang="ar-AE" sz="1400" i="1">
                                <a:latin typeface="Cambria Math" panose="02040503050406030204" pitchFamily="18" charset="0"/>
                              </a:rPr>
                            </m:ctrlPr>
                          </m:mPr>
                          <m:mr>
                            <m:e>
                              <m:r>
                                <a:rPr lang="ar-AE" sz="1400">
                                  <a:latin typeface="Cambria Math" panose="02040503050406030204" pitchFamily="18" charset="0"/>
                                </a:rPr>
                                <m:t>1</m:t>
                              </m:r>
                            </m:e>
                            <m:e>
                              <m:r>
                                <a:rPr lang="ar-AE" sz="1400">
                                  <a:latin typeface="Cambria Math" panose="02040503050406030204" pitchFamily="18" charset="0"/>
                                </a:rPr>
                                <m:t>0</m:t>
                              </m:r>
                            </m:e>
                          </m:mr>
                          <m:mr>
                            <m:e>
                              <m:r>
                                <a:rPr lang="ar-AE" sz="1400">
                                  <a:latin typeface="Cambria Math" panose="02040503050406030204" pitchFamily="18" charset="0"/>
                                </a:rPr>
                                <m:t>0</m:t>
                              </m:r>
                            </m:e>
                            <m:e>
                              <m:r>
                                <a:rPr lang="ar-AE" sz="1400">
                                  <a:latin typeface="Cambria Math" panose="02040503050406030204" pitchFamily="18" charset="0"/>
                                </a:rPr>
                                <m:t>1</m:t>
                              </m:r>
                            </m:e>
                          </m:mr>
                        </m:m>
                      </m:e>
                    </m:d>
                  </m:oMath>
                </a14:m>
                <a:endParaRPr lang="ar-AE" sz="1400" dirty="0"/>
              </a:p>
              <a:p>
                <a:pPr>
                  <a:lnSpc>
                    <a:spcPct val="120000"/>
                  </a:lnSpc>
                  <a:spcBef>
                    <a:spcPts val="0"/>
                  </a:spcBef>
                  <a:spcAft>
                    <a:spcPts val="0"/>
                  </a:spcAft>
                </a:pPr>
                <a14:m>
                  <m:oMath xmlns:m="http://schemas.openxmlformats.org/officeDocument/2006/math">
                    <m:r>
                      <a:rPr lang="ar-AE" sz="1400">
                        <a:latin typeface="Cambria Math" panose="02040503050406030204" pitchFamily="18" charset="0"/>
                      </a:rPr>
                      <m:t>=</m:t>
                    </m:r>
                    <m:r>
                      <a:rPr lang="ar-AE" sz="1400">
                        <a:latin typeface="Cambria Math" panose="02040503050406030204" pitchFamily="18" charset="0"/>
                      </a:rPr>
                      <m:t>1</m:t>
                    </m:r>
                    <m:d>
                      <m:dPr>
                        <m:ctrlPr>
                          <a:rPr lang="ar-AE" sz="1400" i="1">
                            <a:latin typeface="Cambria Math" panose="02040503050406030204" pitchFamily="18" charset="0"/>
                          </a:rPr>
                        </m:ctrlPr>
                      </m:dPr>
                      <m:e>
                        <m:r>
                          <a:rPr lang="ar-AE" sz="1400">
                            <a:latin typeface="Cambria Math" panose="02040503050406030204" pitchFamily="18" charset="0"/>
                          </a:rPr>
                          <m:t>1</m:t>
                        </m:r>
                      </m:e>
                    </m:d>
                    <m:r>
                      <a:rPr lang="ar-AE" sz="1400">
                        <a:latin typeface="Cambria Math" panose="02040503050406030204" pitchFamily="18" charset="0"/>
                      </a:rPr>
                      <m:t>+</m:t>
                    </m:r>
                    <m:r>
                      <a:rPr lang="ar-AE" sz="1400">
                        <a:latin typeface="Cambria Math" panose="02040503050406030204" pitchFamily="18" charset="0"/>
                      </a:rPr>
                      <m:t>1</m:t>
                    </m:r>
                    <m:d>
                      <m:dPr>
                        <m:ctrlPr>
                          <a:rPr lang="ar-AE" sz="1400" i="1">
                            <a:latin typeface="Cambria Math" panose="02040503050406030204" pitchFamily="18" charset="0"/>
                          </a:rPr>
                        </m:ctrlPr>
                      </m:dPr>
                      <m:e>
                        <m:r>
                          <a:rPr lang="ar-AE" sz="1400">
                            <a:latin typeface="Cambria Math" panose="02040503050406030204" pitchFamily="18" charset="0"/>
                          </a:rPr>
                          <m:t>0</m:t>
                        </m:r>
                      </m:e>
                    </m:d>
                    <m:r>
                      <a:rPr lang="ar-AE" sz="1400">
                        <a:latin typeface="Cambria Math" panose="02040503050406030204" pitchFamily="18" charset="0"/>
                      </a:rPr>
                      <m:t>+</m:t>
                    </m:r>
                    <m:r>
                      <a:rPr lang="ar-AE" sz="1400">
                        <a:latin typeface="Cambria Math" panose="02040503050406030204" pitchFamily="18" charset="0"/>
                      </a:rPr>
                      <m:t>1</m:t>
                    </m:r>
                    <m:d>
                      <m:dPr>
                        <m:ctrlPr>
                          <a:rPr lang="ar-AE" sz="1400" i="1">
                            <a:latin typeface="Cambria Math" panose="02040503050406030204" pitchFamily="18" charset="0"/>
                          </a:rPr>
                        </m:ctrlPr>
                      </m:dPr>
                      <m:e>
                        <m:r>
                          <a:rPr lang="ar-AE" sz="1400">
                            <a:latin typeface="Cambria Math" panose="02040503050406030204" pitchFamily="18" charset="0"/>
                          </a:rPr>
                          <m:t>0</m:t>
                        </m:r>
                      </m:e>
                    </m:d>
                    <m:r>
                      <a:rPr lang="ar-AE" sz="1400">
                        <a:latin typeface="Cambria Math" panose="02040503050406030204" pitchFamily="18" charset="0"/>
                      </a:rPr>
                      <m:t>+</m:t>
                    </m:r>
                    <m:r>
                      <a:rPr lang="ar-AE" sz="1400">
                        <a:latin typeface="Cambria Math" panose="02040503050406030204" pitchFamily="18" charset="0"/>
                      </a:rPr>
                      <m:t>1</m:t>
                    </m:r>
                    <m:d>
                      <m:dPr>
                        <m:ctrlPr>
                          <a:rPr lang="ar-AE" sz="1400" i="1">
                            <a:latin typeface="Cambria Math" panose="02040503050406030204" pitchFamily="18" charset="0"/>
                          </a:rPr>
                        </m:ctrlPr>
                      </m:dPr>
                      <m:e>
                        <m:r>
                          <a:rPr lang="ar-AE" sz="1400">
                            <a:latin typeface="Cambria Math" panose="02040503050406030204" pitchFamily="18" charset="0"/>
                          </a:rPr>
                          <m:t>1</m:t>
                        </m:r>
                      </m:e>
                    </m:d>
                    <m:r>
                      <a:rPr lang="ar-AE" sz="1400">
                        <a:latin typeface="Cambria Math" panose="02040503050406030204" pitchFamily="18" charset="0"/>
                      </a:rPr>
                      <m:t>=</m:t>
                    </m:r>
                    <m:r>
                      <a:rPr lang="ar-AE" sz="1400">
                        <a:latin typeface="Cambria Math" panose="02040503050406030204" pitchFamily="18" charset="0"/>
                      </a:rPr>
                      <m:t>2</m:t>
                    </m:r>
                  </m:oMath>
                </a14:m>
                <a:endParaRPr lang="ar-AE" sz="1400" dirty="0"/>
              </a:p>
            </p:txBody>
          </p:sp>
        </mc:Choice>
        <mc:Fallback xmlns="">
          <p:sp>
            <p:nvSpPr>
              <p:cNvPr id="3" name="Content Placeholder 2">
                <a:extLst>
                  <a:ext uri="{FF2B5EF4-FFF2-40B4-BE49-F238E27FC236}">
                    <a16:creationId xmlns:a16="http://schemas.microsoft.com/office/drawing/2014/main" id="{5346A264-7906-18D1-82D1-9F1D2E03F7BA}"/>
                  </a:ext>
                </a:extLst>
              </p:cNvPr>
              <p:cNvSpPr>
                <a:spLocks noGrp="1" noRot="1" noChangeAspect="1" noMove="1" noResize="1" noEditPoints="1" noAdjustHandles="1" noChangeArrowheads="1" noChangeShapeType="1" noTextEdit="1"/>
              </p:cNvSpPr>
              <p:nvPr>
                <p:ph idx="1"/>
              </p:nvPr>
            </p:nvSpPr>
            <p:spPr>
              <a:xfrm>
                <a:off x="203200" y="1310640"/>
                <a:ext cx="3911599" cy="4815630"/>
              </a:xfrm>
              <a:blipFill>
                <a:blip r:embed="rId2"/>
                <a:stretch>
                  <a:fillRect l="-2492"/>
                </a:stretch>
              </a:blipFill>
            </p:spPr>
            <p:txBody>
              <a:bodyPr/>
              <a:lstStyle/>
              <a:p>
                <a:r>
                  <a:rPr lang="en-IN">
                    <a:noFill/>
                  </a:rPr>
                  <a:t> </a:t>
                </a:r>
              </a:p>
            </p:txBody>
          </p:sp>
        </mc:Fallback>
      </mc:AlternateContent>
      <mc:AlternateContent xmlns:mc="http://schemas.openxmlformats.org/markup-compatibility/2006">
        <mc:Choice xmlns:a14="http://schemas.microsoft.com/office/drawing/2010/main" Requires="a14">
          <p:sp>
            <p:nvSpPr>
              <p:cNvPr id="4" name="Content Placeholder 2">
                <a:extLst>
                  <a:ext uri="{FF2B5EF4-FFF2-40B4-BE49-F238E27FC236}">
                    <a16:creationId xmlns:a16="http://schemas.microsoft.com/office/drawing/2014/main" id="{C63F615A-D857-BADB-C392-40A0B78473A3}"/>
                  </a:ext>
                </a:extLst>
              </p:cNvPr>
              <p:cNvSpPr txBox="1">
                <a:spLocks/>
              </p:cNvSpPr>
              <p:nvPr/>
            </p:nvSpPr>
            <p:spPr>
              <a:xfrm>
                <a:off x="4480561" y="1219200"/>
                <a:ext cx="3474719" cy="4907070"/>
              </a:xfrm>
              <a:prstGeom prst="rect">
                <a:avLst/>
              </a:prstGeom>
            </p:spPr>
            <p:txBody>
              <a:bodyPr vert="horz" lIns="0" tIns="45720" rIns="0" bIns="45720" rtlCol="0">
                <a:normAutofit fontScale="62500" lnSpcReduction="20000"/>
              </a:bodyPr>
              <a:lstStyle>
                <a:lvl1pPr marL="361950" indent="-361950" algn="l" defTabSz="914400" rtl="0" eaLnBrk="1" latinLnBrk="0" hangingPunct="1">
                  <a:lnSpc>
                    <a:spcPct val="90000"/>
                  </a:lnSpc>
                  <a:spcBef>
                    <a:spcPts val="1200"/>
                  </a:spcBef>
                  <a:spcAft>
                    <a:spcPts val="200"/>
                  </a:spcAft>
                  <a:buClr>
                    <a:schemeClr val="accent1"/>
                  </a:buClr>
                  <a:buSzPct val="100000"/>
                  <a:buFont typeface="Arial" panose="020B0604020202020204" pitchFamily="34" charset="0"/>
                  <a:buChar char="•"/>
                  <a:defRPr sz="2400" kern="1200">
                    <a:solidFill>
                      <a:schemeClr val="tx1"/>
                    </a:solidFill>
                    <a:latin typeface="+mn-lt"/>
                    <a:ea typeface="+mn-ea"/>
                    <a:cs typeface="+mn-cs"/>
                  </a:defRPr>
                </a:lvl1pPr>
                <a:lvl2pPr marL="542925" indent="-3429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2400" kern="1200">
                    <a:solidFill>
                      <a:schemeClr val="tx1"/>
                    </a:solidFill>
                    <a:latin typeface="+mn-lt"/>
                    <a:ea typeface="+mn-ea"/>
                    <a:cs typeface="+mn-cs"/>
                  </a:defRPr>
                </a:lvl2pPr>
                <a:lvl3pPr marL="714375" indent="-330200" algn="l" defTabSz="914400" rtl="0" eaLnBrk="1" latinLnBrk="0" hangingPunct="1">
                  <a:lnSpc>
                    <a:spcPct val="90000"/>
                  </a:lnSpc>
                  <a:spcBef>
                    <a:spcPts val="200"/>
                  </a:spcBef>
                  <a:spcAft>
                    <a:spcPts val="400"/>
                  </a:spcAft>
                  <a:buClr>
                    <a:schemeClr val="accent1"/>
                  </a:buClr>
                  <a:buFont typeface="Arial" panose="020B0604020202020204" pitchFamily="34" charset="0"/>
                  <a:buChar char="•"/>
                  <a:tabLst>
                    <a:tab pos="714375" algn="l"/>
                  </a:tabLst>
                  <a:defRPr sz="2400" kern="1200">
                    <a:solidFill>
                      <a:schemeClr val="tx1"/>
                    </a:solidFill>
                    <a:latin typeface="+mn-lt"/>
                    <a:ea typeface="+mn-ea"/>
                    <a:cs typeface="+mn-cs"/>
                  </a:defRPr>
                </a:lvl3pPr>
                <a:lvl4pPr marL="895350" indent="-2667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2400" kern="1200">
                    <a:solidFill>
                      <a:schemeClr val="tx1"/>
                    </a:solidFill>
                    <a:latin typeface="+mn-lt"/>
                    <a:ea typeface="+mn-ea"/>
                    <a:cs typeface="+mn-cs"/>
                  </a:defRPr>
                </a:lvl4pPr>
                <a:lvl5pPr marL="1162050" indent="-352425"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2400" kern="1200">
                    <a:solidFill>
                      <a:schemeClr val="tx1"/>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nSpc>
                    <a:spcPct val="120000"/>
                  </a:lnSpc>
                  <a:spcBef>
                    <a:spcPts val="0"/>
                  </a:spcBef>
                  <a:spcAft>
                    <a:spcPts val="0"/>
                  </a:spcAft>
                </a:pPr>
                <a:r>
                  <a:rPr lang="en-IN" b="1" dirty="0"/>
                  <a:t>Position (1,2)</a:t>
                </a:r>
              </a:p>
              <a:p>
                <a:pPr>
                  <a:lnSpc>
                    <a:spcPct val="120000"/>
                  </a:lnSpc>
                  <a:spcBef>
                    <a:spcPts val="0"/>
                  </a:spcBef>
                  <a:spcAft>
                    <a:spcPts val="0"/>
                  </a:spcAft>
                </a:pPr>
                <a14:m>
                  <m:oMath xmlns:m="http://schemas.openxmlformats.org/officeDocument/2006/math">
                    <m:d>
                      <m:dPr>
                        <m:begChr m:val="["/>
                        <m:endChr m:val="]"/>
                        <m:ctrlPr>
                          <a:rPr lang="ar-AE" i="1">
                            <a:latin typeface="Cambria Math" panose="02040503050406030204" pitchFamily="18" charset="0"/>
                          </a:rPr>
                        </m:ctrlPr>
                      </m:dPr>
                      <m:e>
                        <m:m>
                          <m:mPr>
                            <m:plcHide m:val="on"/>
                            <m:mcs>
                              <m:mc>
                                <m:mcPr>
                                  <m:count m:val="2"/>
                                  <m:mcJc m:val="center"/>
                                </m:mcPr>
                              </m:mc>
                            </m:mcs>
                            <m:ctrlPr>
                              <a:rPr lang="ar-AE" i="1">
                                <a:latin typeface="Cambria Math" panose="02040503050406030204" pitchFamily="18" charset="0"/>
                              </a:rPr>
                            </m:ctrlPr>
                          </m:mPr>
                          <m:mr>
                            <m:e>
                              <m:r>
                                <a:rPr lang="ar-AE">
                                  <a:latin typeface="Cambria Math" panose="02040503050406030204" pitchFamily="18" charset="0"/>
                                </a:rPr>
                                <m:t>1</m:t>
                              </m:r>
                            </m:e>
                            <m:e>
                              <m:r>
                                <a:rPr lang="ar-AE">
                                  <a:latin typeface="Cambria Math" panose="02040503050406030204" pitchFamily="18" charset="0"/>
                                </a:rPr>
                                <m:t>0</m:t>
                              </m:r>
                            </m:e>
                          </m:mr>
                          <m:mr>
                            <m:e>
                              <m:r>
                                <a:rPr lang="ar-AE">
                                  <a:latin typeface="Cambria Math" panose="02040503050406030204" pitchFamily="18" charset="0"/>
                                </a:rPr>
                                <m:t>1</m:t>
                              </m:r>
                            </m:e>
                            <m:e>
                              <m:r>
                                <a:rPr lang="ar-AE">
                                  <a:latin typeface="Cambria Math" panose="02040503050406030204" pitchFamily="18" charset="0"/>
                                </a:rPr>
                                <m:t>0</m:t>
                              </m:r>
                            </m:e>
                          </m:mr>
                        </m:m>
                      </m:e>
                    </m:d>
                    <m:r>
                      <a:rPr lang="ar-AE">
                        <a:latin typeface="Cambria Math" panose="02040503050406030204" pitchFamily="18" charset="0"/>
                      </a:rPr>
                      <m:t>⇒</m:t>
                    </m:r>
                    <m:r>
                      <a:rPr lang="ar-AE">
                        <a:latin typeface="Cambria Math" panose="02040503050406030204" pitchFamily="18" charset="0"/>
                      </a:rPr>
                      <m:t>1</m:t>
                    </m:r>
                    <m:d>
                      <m:dPr>
                        <m:ctrlPr>
                          <a:rPr lang="ar-AE" i="1">
                            <a:latin typeface="Cambria Math" panose="02040503050406030204" pitchFamily="18" charset="0"/>
                          </a:rPr>
                        </m:ctrlPr>
                      </m:dPr>
                      <m:e>
                        <m:r>
                          <a:rPr lang="ar-AE">
                            <a:latin typeface="Cambria Math" panose="02040503050406030204" pitchFamily="18" charset="0"/>
                          </a:rPr>
                          <m:t>1</m:t>
                        </m:r>
                      </m:e>
                    </m:d>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1</m:t>
                    </m:r>
                  </m:oMath>
                </a14:m>
                <a:endParaRPr lang="ar-AE" dirty="0"/>
              </a:p>
              <a:p>
                <a:pPr>
                  <a:lnSpc>
                    <a:spcPct val="120000"/>
                  </a:lnSpc>
                  <a:spcBef>
                    <a:spcPts val="0"/>
                  </a:spcBef>
                  <a:spcAft>
                    <a:spcPts val="0"/>
                  </a:spcAft>
                </a:pPr>
                <a:endParaRPr lang="ar-AE" dirty="0"/>
              </a:p>
              <a:p>
                <a:pPr>
                  <a:lnSpc>
                    <a:spcPct val="120000"/>
                  </a:lnSpc>
                  <a:spcBef>
                    <a:spcPts val="0"/>
                  </a:spcBef>
                  <a:spcAft>
                    <a:spcPts val="0"/>
                  </a:spcAft>
                </a:pPr>
                <a:r>
                  <a:rPr lang="en-IN" b="1" dirty="0"/>
                  <a:t>Position (1,3)</a:t>
                </a:r>
              </a:p>
              <a:p>
                <a:pPr>
                  <a:lnSpc>
                    <a:spcPct val="120000"/>
                  </a:lnSpc>
                  <a:spcBef>
                    <a:spcPts val="0"/>
                  </a:spcBef>
                  <a:spcAft>
                    <a:spcPts val="0"/>
                  </a:spcAft>
                </a:pPr>
                <a14:m>
                  <m:oMath xmlns:m="http://schemas.openxmlformats.org/officeDocument/2006/math">
                    <m:d>
                      <m:dPr>
                        <m:begChr m:val="["/>
                        <m:endChr m:val="]"/>
                        <m:ctrlPr>
                          <a:rPr lang="ar-AE" i="1">
                            <a:latin typeface="Cambria Math" panose="02040503050406030204" pitchFamily="18" charset="0"/>
                          </a:rPr>
                        </m:ctrlPr>
                      </m:dPr>
                      <m:e>
                        <m:m>
                          <m:mPr>
                            <m:plcHide m:val="on"/>
                            <m:mcs>
                              <m:mc>
                                <m:mcPr>
                                  <m:count m:val="2"/>
                                  <m:mcJc m:val="center"/>
                                </m:mcPr>
                              </m:mc>
                            </m:mcs>
                            <m:ctrlPr>
                              <a:rPr lang="ar-AE" i="1">
                                <a:latin typeface="Cambria Math" panose="02040503050406030204" pitchFamily="18" charset="0"/>
                              </a:rPr>
                            </m:ctrlPr>
                          </m:mPr>
                          <m:mr>
                            <m:e>
                              <m:r>
                                <a:rPr lang="ar-AE">
                                  <a:latin typeface="Cambria Math" panose="02040503050406030204" pitchFamily="18" charset="0"/>
                                </a:rPr>
                                <m:t>0</m:t>
                              </m:r>
                            </m:e>
                            <m:e>
                              <m:r>
                                <a:rPr lang="ar-AE">
                                  <a:latin typeface="Cambria Math" panose="02040503050406030204" pitchFamily="18" charset="0"/>
                                </a:rPr>
                                <m:t>0</m:t>
                              </m:r>
                            </m:e>
                          </m:mr>
                          <m:mr>
                            <m:e>
                              <m:r>
                                <a:rPr lang="ar-AE">
                                  <a:latin typeface="Cambria Math" panose="02040503050406030204" pitchFamily="18" charset="0"/>
                                </a:rPr>
                                <m:t>0</m:t>
                              </m:r>
                            </m:e>
                            <m:e>
                              <m:r>
                                <a:rPr lang="ar-AE">
                                  <a:latin typeface="Cambria Math" panose="02040503050406030204" pitchFamily="18" charset="0"/>
                                </a:rPr>
                                <m:t>0</m:t>
                              </m:r>
                            </m:e>
                          </m:mr>
                        </m:m>
                      </m:e>
                    </m:d>
                    <m:r>
                      <a:rPr lang="ar-AE">
                        <a:latin typeface="Cambria Math" panose="02040503050406030204" pitchFamily="18" charset="0"/>
                      </a:rPr>
                      <m:t>=</m:t>
                    </m:r>
                    <m:r>
                      <a:rPr lang="ar-AE">
                        <a:latin typeface="Cambria Math" panose="02040503050406030204" pitchFamily="18" charset="0"/>
                      </a:rPr>
                      <m:t>0</m:t>
                    </m:r>
                  </m:oMath>
                </a14:m>
                <a:endParaRPr lang="ar-AE" dirty="0"/>
              </a:p>
              <a:p>
                <a:pPr>
                  <a:lnSpc>
                    <a:spcPct val="120000"/>
                  </a:lnSpc>
                  <a:spcBef>
                    <a:spcPts val="0"/>
                  </a:spcBef>
                  <a:spcAft>
                    <a:spcPts val="0"/>
                  </a:spcAft>
                </a:pPr>
                <a:endParaRPr lang="ar-AE" dirty="0"/>
              </a:p>
              <a:p>
                <a:pPr>
                  <a:lnSpc>
                    <a:spcPct val="120000"/>
                  </a:lnSpc>
                  <a:spcBef>
                    <a:spcPts val="0"/>
                  </a:spcBef>
                  <a:spcAft>
                    <a:spcPts val="0"/>
                  </a:spcAft>
                </a:pPr>
                <a:r>
                  <a:rPr lang="en-IN" b="1" dirty="0"/>
                  <a:t>Position (2,1)</a:t>
                </a:r>
              </a:p>
              <a:p>
                <a:pPr>
                  <a:lnSpc>
                    <a:spcPct val="120000"/>
                  </a:lnSpc>
                  <a:spcBef>
                    <a:spcPts val="0"/>
                  </a:spcBef>
                  <a:spcAft>
                    <a:spcPts val="0"/>
                  </a:spcAft>
                </a:pPr>
                <a14:m>
                  <m:oMath xmlns:m="http://schemas.openxmlformats.org/officeDocument/2006/math">
                    <m:d>
                      <m:dPr>
                        <m:begChr m:val="["/>
                        <m:endChr m:val="]"/>
                        <m:ctrlPr>
                          <a:rPr lang="ar-AE" i="1">
                            <a:latin typeface="Cambria Math" panose="02040503050406030204" pitchFamily="18" charset="0"/>
                          </a:rPr>
                        </m:ctrlPr>
                      </m:dPr>
                      <m:e>
                        <m:m>
                          <m:mPr>
                            <m:plcHide m:val="on"/>
                            <m:mcs>
                              <m:mc>
                                <m:mcPr>
                                  <m:count m:val="2"/>
                                  <m:mcJc m:val="center"/>
                                </m:mcPr>
                              </m:mc>
                            </m:mcs>
                            <m:ctrlPr>
                              <a:rPr lang="ar-AE" i="1">
                                <a:latin typeface="Cambria Math" panose="02040503050406030204" pitchFamily="18" charset="0"/>
                              </a:rPr>
                            </m:ctrlPr>
                          </m:mPr>
                          <m:mr>
                            <m:e>
                              <m:r>
                                <a:rPr lang="ar-AE">
                                  <a:latin typeface="Cambria Math" panose="02040503050406030204" pitchFamily="18" charset="0"/>
                                </a:rPr>
                                <m:t>1</m:t>
                              </m:r>
                            </m:e>
                            <m:e>
                              <m:r>
                                <a:rPr lang="ar-AE">
                                  <a:latin typeface="Cambria Math" panose="02040503050406030204" pitchFamily="18" charset="0"/>
                                </a:rPr>
                                <m:t>1</m:t>
                              </m:r>
                            </m:e>
                          </m:mr>
                          <m:mr>
                            <m:e>
                              <m:r>
                                <a:rPr lang="ar-AE">
                                  <a:latin typeface="Cambria Math" panose="02040503050406030204" pitchFamily="18" charset="0"/>
                                </a:rPr>
                                <m:t>0</m:t>
                              </m:r>
                            </m:e>
                            <m:e>
                              <m:r>
                                <a:rPr lang="ar-AE">
                                  <a:latin typeface="Cambria Math" panose="02040503050406030204" pitchFamily="18" charset="0"/>
                                </a:rPr>
                                <m:t>0</m:t>
                              </m:r>
                            </m:e>
                          </m:mr>
                        </m:m>
                      </m:e>
                    </m:d>
                    <m:r>
                      <a:rPr lang="ar-AE">
                        <a:latin typeface="Cambria Math" panose="02040503050406030204" pitchFamily="18" charset="0"/>
                      </a:rPr>
                      <m:t>=</m:t>
                    </m:r>
                    <m:r>
                      <a:rPr lang="ar-AE">
                        <a:latin typeface="Cambria Math" panose="02040503050406030204" pitchFamily="18" charset="0"/>
                      </a:rPr>
                      <m:t>1</m:t>
                    </m:r>
                  </m:oMath>
                </a14:m>
                <a:endParaRPr lang="ar-AE" dirty="0"/>
              </a:p>
              <a:p>
                <a:r>
                  <a:rPr lang="en-IN" b="1" dirty="0"/>
                  <a:t>Position (2,2)</a:t>
                </a:r>
              </a:p>
              <a:p>
                <a14:m>
                  <m:oMath xmlns:m="http://schemas.openxmlformats.org/officeDocument/2006/math">
                    <m:d>
                      <m:dPr>
                        <m:begChr m:val="["/>
                        <m:endChr m:val="]"/>
                        <m:ctrlPr>
                          <a:rPr lang="ar-AE" i="1">
                            <a:latin typeface="Cambria Math" panose="02040503050406030204" pitchFamily="18" charset="0"/>
                          </a:rPr>
                        </m:ctrlPr>
                      </m:dPr>
                      <m:e>
                        <m:m>
                          <m:mPr>
                            <m:plcHide m:val="on"/>
                            <m:mcs>
                              <m:mc>
                                <m:mcPr>
                                  <m:count m:val="2"/>
                                  <m:mcJc m:val="center"/>
                                </m:mcPr>
                              </m:mc>
                            </m:mcs>
                            <m:ctrlPr>
                              <a:rPr lang="ar-AE" i="1">
                                <a:latin typeface="Cambria Math" panose="02040503050406030204" pitchFamily="18" charset="0"/>
                              </a:rPr>
                            </m:ctrlPr>
                          </m:mPr>
                          <m:mr>
                            <m:e>
                              <m:r>
                                <a:rPr lang="ar-AE">
                                  <a:latin typeface="Cambria Math" panose="02040503050406030204" pitchFamily="18" charset="0"/>
                                </a:rPr>
                                <m:t>1</m:t>
                              </m:r>
                            </m:e>
                            <m:e>
                              <m:r>
                                <a:rPr lang="ar-AE">
                                  <a:latin typeface="Cambria Math" panose="02040503050406030204" pitchFamily="18" charset="0"/>
                                </a:rPr>
                                <m:t>0</m:t>
                              </m:r>
                            </m:e>
                          </m:mr>
                          <m:mr>
                            <m:e>
                              <m:r>
                                <a:rPr lang="ar-AE">
                                  <a:latin typeface="Cambria Math" panose="02040503050406030204" pitchFamily="18" charset="0"/>
                                </a:rPr>
                                <m:t>0</m:t>
                              </m:r>
                            </m:e>
                            <m:e>
                              <m:r>
                                <a:rPr lang="ar-AE">
                                  <a:latin typeface="Cambria Math" panose="02040503050406030204" pitchFamily="18" charset="0"/>
                                </a:rPr>
                                <m:t>1</m:t>
                              </m:r>
                            </m:e>
                          </m:mr>
                        </m:m>
                      </m:e>
                    </m:d>
                    <m:r>
                      <a:rPr lang="ar-AE">
                        <a:latin typeface="Cambria Math" panose="02040503050406030204" pitchFamily="18" charset="0"/>
                      </a:rPr>
                      <m:t>=</m:t>
                    </m:r>
                    <m:r>
                      <a:rPr lang="ar-AE">
                        <a:latin typeface="Cambria Math" panose="02040503050406030204" pitchFamily="18" charset="0"/>
                      </a:rPr>
                      <m:t>2</m:t>
                    </m:r>
                  </m:oMath>
                </a14:m>
                <a:endParaRPr lang="ar-AE" dirty="0"/>
              </a:p>
              <a:p>
                <a:r>
                  <a:rPr lang="en-IN" b="1" dirty="0"/>
                  <a:t>Position (2,3)</a:t>
                </a:r>
              </a:p>
              <a:p>
                <a14:m>
                  <m:oMath xmlns:m="http://schemas.openxmlformats.org/officeDocument/2006/math">
                    <m:d>
                      <m:dPr>
                        <m:begChr m:val="["/>
                        <m:endChr m:val="]"/>
                        <m:ctrlPr>
                          <a:rPr lang="ar-AE" i="1">
                            <a:latin typeface="Cambria Math" panose="02040503050406030204" pitchFamily="18" charset="0"/>
                          </a:rPr>
                        </m:ctrlPr>
                      </m:dPr>
                      <m:e>
                        <m:m>
                          <m:mPr>
                            <m:plcHide m:val="on"/>
                            <m:mcs>
                              <m:mc>
                                <m:mcPr>
                                  <m:count m:val="2"/>
                                  <m:mcJc m:val="center"/>
                                </m:mcPr>
                              </m:mc>
                            </m:mcs>
                            <m:ctrlPr>
                              <a:rPr lang="ar-AE" i="1">
                                <a:latin typeface="Cambria Math" panose="02040503050406030204" pitchFamily="18" charset="0"/>
                              </a:rPr>
                            </m:ctrlPr>
                          </m:mPr>
                          <m:mr>
                            <m:e>
                              <m:r>
                                <a:rPr lang="ar-AE">
                                  <a:latin typeface="Cambria Math" panose="02040503050406030204" pitchFamily="18" charset="0"/>
                                </a:rPr>
                                <m:t>0</m:t>
                              </m:r>
                            </m:e>
                            <m:e>
                              <m:r>
                                <a:rPr lang="ar-AE">
                                  <a:latin typeface="Cambria Math" panose="02040503050406030204" pitchFamily="18" charset="0"/>
                                </a:rPr>
                                <m:t>0</m:t>
                              </m:r>
                            </m:e>
                          </m:mr>
                          <m:mr>
                            <m:e>
                              <m:r>
                                <a:rPr lang="ar-AE">
                                  <a:latin typeface="Cambria Math" panose="02040503050406030204" pitchFamily="18" charset="0"/>
                                </a:rPr>
                                <m:t>1</m:t>
                              </m:r>
                            </m:e>
                            <m:e>
                              <m:r>
                                <a:rPr lang="ar-AE">
                                  <a:latin typeface="Cambria Math" panose="02040503050406030204" pitchFamily="18" charset="0"/>
                                </a:rPr>
                                <m:t>1</m:t>
                              </m:r>
                            </m:e>
                          </m:mr>
                        </m:m>
                      </m:e>
                    </m:d>
                    <m:r>
                      <a:rPr lang="ar-AE">
                        <a:latin typeface="Cambria Math" panose="02040503050406030204" pitchFamily="18" charset="0"/>
                      </a:rPr>
                      <m:t>=</m:t>
                    </m:r>
                    <m:r>
                      <a:rPr lang="ar-AE">
                        <a:latin typeface="Cambria Math" panose="02040503050406030204" pitchFamily="18" charset="0"/>
                      </a:rPr>
                      <m:t>1</m:t>
                    </m:r>
                  </m:oMath>
                </a14:m>
                <a:endParaRPr lang="ar-AE" dirty="0"/>
              </a:p>
              <a:p>
                <a:pPr>
                  <a:lnSpc>
                    <a:spcPct val="120000"/>
                  </a:lnSpc>
                  <a:spcBef>
                    <a:spcPts val="0"/>
                  </a:spcBef>
                  <a:spcAft>
                    <a:spcPts val="0"/>
                  </a:spcAft>
                </a:pPr>
                <a:endParaRPr lang="en-IN" dirty="0"/>
              </a:p>
            </p:txBody>
          </p:sp>
        </mc:Choice>
        <mc:Fallback>
          <p:sp>
            <p:nvSpPr>
              <p:cNvPr id="4" name="Content Placeholder 2">
                <a:extLst>
                  <a:ext uri="{FF2B5EF4-FFF2-40B4-BE49-F238E27FC236}">
                    <a16:creationId xmlns:a16="http://schemas.microsoft.com/office/drawing/2014/main" id="{C63F615A-D857-BADB-C392-40A0B78473A3}"/>
                  </a:ext>
                </a:extLst>
              </p:cNvPr>
              <p:cNvSpPr txBox="1">
                <a:spLocks noRot="1" noChangeAspect="1" noMove="1" noResize="1" noEditPoints="1" noAdjustHandles="1" noChangeArrowheads="1" noChangeShapeType="1" noTextEdit="1"/>
              </p:cNvSpPr>
              <p:nvPr/>
            </p:nvSpPr>
            <p:spPr>
              <a:xfrm>
                <a:off x="4480561" y="1219200"/>
                <a:ext cx="3474719" cy="4907070"/>
              </a:xfrm>
              <a:prstGeom prst="rect">
                <a:avLst/>
              </a:prstGeom>
              <a:blipFill>
                <a:blip r:embed="rId3"/>
                <a:stretch>
                  <a:fillRect l="-3158" t="-248"/>
                </a:stretch>
              </a:blipFill>
            </p:spPr>
            <p:txBody>
              <a:bodyPr/>
              <a:lstStyle/>
              <a:p>
                <a:r>
                  <a:rPr lang="en-IN">
                    <a:noFill/>
                  </a:rPr>
                  <a:t> </a:t>
                </a:r>
              </a:p>
            </p:txBody>
          </p:sp>
        </mc:Fallback>
      </mc:AlternateContent>
      <mc:AlternateContent xmlns:mc="http://schemas.openxmlformats.org/markup-compatibility/2006">
        <mc:Choice xmlns:a14="http://schemas.microsoft.com/office/drawing/2010/main" Requires="a14">
          <p:sp>
            <p:nvSpPr>
              <p:cNvPr id="5" name="Content Placeholder 2">
                <a:extLst>
                  <a:ext uri="{FF2B5EF4-FFF2-40B4-BE49-F238E27FC236}">
                    <a16:creationId xmlns:a16="http://schemas.microsoft.com/office/drawing/2014/main" id="{CA0A5D96-6B5F-C667-3FAD-98DBD7560600}"/>
                  </a:ext>
                </a:extLst>
              </p:cNvPr>
              <p:cNvSpPr txBox="1">
                <a:spLocks/>
              </p:cNvSpPr>
              <p:nvPr/>
            </p:nvSpPr>
            <p:spPr>
              <a:xfrm>
                <a:off x="8188961" y="1310640"/>
                <a:ext cx="3474719" cy="4907070"/>
              </a:xfrm>
              <a:prstGeom prst="rect">
                <a:avLst/>
              </a:prstGeom>
            </p:spPr>
            <p:txBody>
              <a:bodyPr vert="horz" lIns="0" tIns="45720" rIns="0" bIns="45720" rtlCol="0">
                <a:normAutofit fontScale="85000" lnSpcReduction="10000"/>
              </a:bodyPr>
              <a:lstStyle>
                <a:lvl1pPr marL="361950" indent="-361950" algn="l" defTabSz="914400" rtl="0" eaLnBrk="1" latinLnBrk="0" hangingPunct="1">
                  <a:lnSpc>
                    <a:spcPct val="90000"/>
                  </a:lnSpc>
                  <a:spcBef>
                    <a:spcPts val="1200"/>
                  </a:spcBef>
                  <a:spcAft>
                    <a:spcPts val="200"/>
                  </a:spcAft>
                  <a:buClr>
                    <a:schemeClr val="accent1"/>
                  </a:buClr>
                  <a:buSzPct val="100000"/>
                  <a:buFont typeface="Arial" panose="020B0604020202020204" pitchFamily="34" charset="0"/>
                  <a:buChar char="•"/>
                  <a:defRPr sz="2400" kern="1200">
                    <a:solidFill>
                      <a:schemeClr val="tx1"/>
                    </a:solidFill>
                    <a:latin typeface="+mn-lt"/>
                    <a:ea typeface="+mn-ea"/>
                    <a:cs typeface="+mn-cs"/>
                  </a:defRPr>
                </a:lvl1pPr>
                <a:lvl2pPr marL="542925" indent="-3429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2400" kern="1200">
                    <a:solidFill>
                      <a:schemeClr val="tx1"/>
                    </a:solidFill>
                    <a:latin typeface="+mn-lt"/>
                    <a:ea typeface="+mn-ea"/>
                    <a:cs typeface="+mn-cs"/>
                  </a:defRPr>
                </a:lvl2pPr>
                <a:lvl3pPr marL="714375" indent="-330200" algn="l" defTabSz="914400" rtl="0" eaLnBrk="1" latinLnBrk="0" hangingPunct="1">
                  <a:lnSpc>
                    <a:spcPct val="90000"/>
                  </a:lnSpc>
                  <a:spcBef>
                    <a:spcPts val="200"/>
                  </a:spcBef>
                  <a:spcAft>
                    <a:spcPts val="400"/>
                  </a:spcAft>
                  <a:buClr>
                    <a:schemeClr val="accent1"/>
                  </a:buClr>
                  <a:buFont typeface="Arial" panose="020B0604020202020204" pitchFamily="34" charset="0"/>
                  <a:buChar char="•"/>
                  <a:tabLst>
                    <a:tab pos="714375" algn="l"/>
                  </a:tabLst>
                  <a:defRPr sz="2400" kern="1200">
                    <a:solidFill>
                      <a:schemeClr val="tx1"/>
                    </a:solidFill>
                    <a:latin typeface="+mn-lt"/>
                    <a:ea typeface="+mn-ea"/>
                    <a:cs typeface="+mn-cs"/>
                  </a:defRPr>
                </a:lvl3pPr>
                <a:lvl4pPr marL="895350" indent="-2667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2400" kern="1200">
                    <a:solidFill>
                      <a:schemeClr val="tx1"/>
                    </a:solidFill>
                    <a:latin typeface="+mn-lt"/>
                    <a:ea typeface="+mn-ea"/>
                    <a:cs typeface="+mn-cs"/>
                  </a:defRPr>
                </a:lvl4pPr>
                <a:lvl5pPr marL="1162050" indent="-352425"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2400" kern="1200">
                    <a:solidFill>
                      <a:schemeClr val="tx1"/>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en-IN" b="1" dirty="0"/>
                  <a:t>Position (3,1)</a:t>
                </a:r>
              </a:p>
              <a:p>
                <a14:m>
                  <m:oMath xmlns:m="http://schemas.openxmlformats.org/officeDocument/2006/math">
                    <m:d>
                      <m:dPr>
                        <m:begChr m:val="["/>
                        <m:endChr m:val="]"/>
                        <m:ctrlPr>
                          <a:rPr lang="ar-AE" i="1">
                            <a:latin typeface="Cambria Math" panose="02040503050406030204" pitchFamily="18" charset="0"/>
                          </a:rPr>
                        </m:ctrlPr>
                      </m:dPr>
                      <m:e>
                        <m:m>
                          <m:mPr>
                            <m:plcHide m:val="on"/>
                            <m:mcs>
                              <m:mc>
                                <m:mcPr>
                                  <m:count m:val="2"/>
                                  <m:mcJc m:val="center"/>
                                </m:mcPr>
                              </m:mc>
                            </m:mcs>
                            <m:ctrlPr>
                              <a:rPr lang="ar-AE" i="1">
                                <a:latin typeface="Cambria Math" panose="02040503050406030204" pitchFamily="18" charset="0"/>
                              </a:rPr>
                            </m:ctrlPr>
                          </m:mPr>
                          <m:mr>
                            <m:e>
                              <m:r>
                                <a:rPr lang="ar-AE">
                                  <a:latin typeface="Cambria Math" panose="02040503050406030204" pitchFamily="18" charset="0"/>
                                </a:rPr>
                                <m:t>0</m:t>
                              </m:r>
                            </m:e>
                            <m:e>
                              <m:r>
                                <a:rPr lang="ar-AE">
                                  <a:latin typeface="Cambria Math" panose="02040503050406030204" pitchFamily="18" charset="0"/>
                                </a:rPr>
                                <m:t>0</m:t>
                              </m:r>
                            </m:e>
                          </m:mr>
                          <m:mr>
                            <m:e>
                              <m:r>
                                <a:rPr lang="ar-AE">
                                  <a:latin typeface="Cambria Math" panose="02040503050406030204" pitchFamily="18" charset="0"/>
                                </a:rPr>
                                <m:t>0</m:t>
                              </m:r>
                            </m:e>
                            <m:e>
                              <m:r>
                                <a:rPr lang="ar-AE">
                                  <a:latin typeface="Cambria Math" panose="02040503050406030204" pitchFamily="18" charset="0"/>
                                </a:rPr>
                                <m:t>0</m:t>
                              </m:r>
                            </m:e>
                          </m:mr>
                        </m:m>
                      </m:e>
                    </m:d>
                    <m:r>
                      <a:rPr lang="ar-AE">
                        <a:latin typeface="Cambria Math" panose="02040503050406030204" pitchFamily="18" charset="0"/>
                      </a:rPr>
                      <m:t>=</m:t>
                    </m:r>
                    <m:r>
                      <a:rPr lang="ar-AE">
                        <a:latin typeface="Cambria Math" panose="02040503050406030204" pitchFamily="18" charset="0"/>
                      </a:rPr>
                      <m:t>0</m:t>
                    </m:r>
                  </m:oMath>
                </a14:m>
                <a:endParaRPr lang="ar-AE" dirty="0"/>
              </a:p>
              <a:p>
                <a:r>
                  <a:rPr lang="en-IN" b="1" dirty="0"/>
                  <a:t>Position (3,2)</a:t>
                </a:r>
              </a:p>
              <a:p>
                <a14:m>
                  <m:oMath xmlns:m="http://schemas.openxmlformats.org/officeDocument/2006/math">
                    <m:d>
                      <m:dPr>
                        <m:begChr m:val="["/>
                        <m:endChr m:val="]"/>
                        <m:ctrlPr>
                          <a:rPr lang="ar-AE" i="1">
                            <a:latin typeface="Cambria Math" panose="02040503050406030204" pitchFamily="18" charset="0"/>
                          </a:rPr>
                        </m:ctrlPr>
                      </m:dPr>
                      <m:e>
                        <m:m>
                          <m:mPr>
                            <m:plcHide m:val="on"/>
                            <m:mcs>
                              <m:mc>
                                <m:mcPr>
                                  <m:count m:val="2"/>
                                  <m:mcJc m:val="center"/>
                                </m:mcPr>
                              </m:mc>
                            </m:mcs>
                            <m:ctrlPr>
                              <a:rPr lang="ar-AE" i="1">
                                <a:latin typeface="Cambria Math" panose="02040503050406030204" pitchFamily="18" charset="0"/>
                              </a:rPr>
                            </m:ctrlPr>
                          </m:mPr>
                          <m:mr>
                            <m:e>
                              <m:r>
                                <a:rPr lang="ar-AE">
                                  <a:latin typeface="Cambria Math" panose="02040503050406030204" pitchFamily="18" charset="0"/>
                                </a:rPr>
                                <m:t>0</m:t>
                              </m:r>
                            </m:e>
                            <m:e>
                              <m:r>
                                <a:rPr lang="ar-AE">
                                  <a:latin typeface="Cambria Math" panose="02040503050406030204" pitchFamily="18" charset="0"/>
                                </a:rPr>
                                <m:t>1</m:t>
                              </m:r>
                            </m:e>
                          </m:mr>
                          <m:mr>
                            <m:e>
                              <m:r>
                                <a:rPr lang="ar-AE">
                                  <a:latin typeface="Cambria Math" panose="02040503050406030204" pitchFamily="18" charset="0"/>
                                </a:rPr>
                                <m:t>0</m:t>
                              </m:r>
                            </m:e>
                            <m:e>
                              <m:r>
                                <a:rPr lang="ar-AE">
                                  <a:latin typeface="Cambria Math" panose="02040503050406030204" pitchFamily="18" charset="0"/>
                                </a:rPr>
                                <m:t>1</m:t>
                              </m:r>
                            </m:e>
                          </m:mr>
                        </m:m>
                      </m:e>
                    </m:d>
                    <m:r>
                      <a:rPr lang="ar-AE">
                        <a:latin typeface="Cambria Math" panose="02040503050406030204" pitchFamily="18" charset="0"/>
                      </a:rPr>
                      <m:t>=</m:t>
                    </m:r>
                    <m:r>
                      <a:rPr lang="ar-AE">
                        <a:latin typeface="Cambria Math" panose="02040503050406030204" pitchFamily="18" charset="0"/>
                      </a:rPr>
                      <m:t>1</m:t>
                    </m:r>
                  </m:oMath>
                </a14:m>
                <a:endParaRPr lang="ar-AE" dirty="0"/>
              </a:p>
              <a:p>
                <a:r>
                  <a:rPr lang="en-IN" b="1" dirty="0"/>
                  <a:t>Position (3,3)</a:t>
                </a:r>
              </a:p>
              <a:p>
                <a14:m>
                  <m:oMath xmlns:m="http://schemas.openxmlformats.org/officeDocument/2006/math">
                    <m:d>
                      <m:dPr>
                        <m:begChr m:val="["/>
                        <m:endChr m:val="]"/>
                        <m:ctrlPr>
                          <a:rPr lang="ar-AE" i="1">
                            <a:latin typeface="Cambria Math" panose="02040503050406030204" pitchFamily="18" charset="0"/>
                          </a:rPr>
                        </m:ctrlPr>
                      </m:dPr>
                      <m:e>
                        <m:m>
                          <m:mPr>
                            <m:plcHide m:val="on"/>
                            <m:mcs>
                              <m:mc>
                                <m:mcPr>
                                  <m:count m:val="2"/>
                                  <m:mcJc m:val="center"/>
                                </m:mcPr>
                              </m:mc>
                            </m:mcs>
                            <m:ctrlPr>
                              <a:rPr lang="ar-AE" i="1">
                                <a:latin typeface="Cambria Math" panose="02040503050406030204" pitchFamily="18" charset="0"/>
                              </a:rPr>
                            </m:ctrlPr>
                          </m:mPr>
                          <m:mr>
                            <m:e>
                              <m:r>
                                <a:rPr lang="ar-AE">
                                  <a:latin typeface="Cambria Math" panose="02040503050406030204" pitchFamily="18" charset="0"/>
                                </a:rPr>
                                <m:t>1</m:t>
                              </m:r>
                            </m:e>
                            <m:e>
                              <m:r>
                                <a:rPr lang="ar-AE">
                                  <a:latin typeface="Cambria Math" panose="02040503050406030204" pitchFamily="18" charset="0"/>
                                </a:rPr>
                                <m:t>1</m:t>
                              </m:r>
                            </m:e>
                          </m:mr>
                          <m:mr>
                            <m:e>
                              <m:r>
                                <a:rPr lang="ar-AE">
                                  <a:latin typeface="Cambria Math" panose="02040503050406030204" pitchFamily="18" charset="0"/>
                                </a:rPr>
                                <m:t>1</m:t>
                              </m:r>
                            </m:e>
                            <m:e>
                              <m:r>
                                <a:rPr lang="ar-AE">
                                  <a:latin typeface="Cambria Math" panose="02040503050406030204" pitchFamily="18" charset="0"/>
                                </a:rPr>
                                <m:t>1</m:t>
                              </m:r>
                            </m:e>
                          </m:mr>
                        </m:m>
                      </m:e>
                    </m:d>
                    <m:r>
                      <a:rPr lang="ar-AE">
                        <a:latin typeface="Cambria Math" panose="02040503050406030204" pitchFamily="18" charset="0"/>
                      </a:rPr>
                      <m:t>=</m:t>
                    </m:r>
                    <m:r>
                      <a:rPr lang="ar-AE">
                        <a:latin typeface="Cambria Math" panose="02040503050406030204" pitchFamily="18" charset="0"/>
                      </a:rPr>
                      <m:t>2</m:t>
                    </m:r>
                  </m:oMath>
                </a14:m>
                <a:endParaRPr lang="ar-AE" dirty="0"/>
              </a:p>
              <a:p>
                <a:br>
                  <a:rPr lang="ar-AE" dirty="0"/>
                </a:br>
                <a:r>
                  <a:rPr lang="en-IN" b="1" dirty="0"/>
                  <a:t> Feature Map</a:t>
                </a:r>
              </a:p>
              <a:p>
                <a14:m>
                  <m:oMath xmlns:m="http://schemas.openxmlformats.org/officeDocument/2006/math">
                    <m:r>
                      <a:rPr lang="en-IN" i="1">
                        <a:latin typeface="Cambria Math" panose="02040503050406030204" pitchFamily="18" charset="0"/>
                      </a:rPr>
                      <m:t>𝐹</m:t>
                    </m:r>
                    <m:r>
                      <a:rPr lang="en-IN">
                        <a:latin typeface="Cambria Math" panose="02040503050406030204" pitchFamily="18" charset="0"/>
                      </a:rPr>
                      <m:t>=</m:t>
                    </m:r>
                    <m:d>
                      <m:dPr>
                        <m:begChr m:val="["/>
                        <m:endChr m:val="]"/>
                        <m:ctrlPr>
                          <a:rPr lang="ar-AE" i="1">
                            <a:latin typeface="Cambria Math" panose="02040503050406030204" pitchFamily="18" charset="0"/>
                          </a:rPr>
                        </m:ctrlPr>
                      </m:dPr>
                      <m:e>
                        <m:m>
                          <m:mPr>
                            <m:plcHide m:val="on"/>
                            <m:mcs>
                              <m:mc>
                                <m:mcPr>
                                  <m:count m:val="3"/>
                                  <m:mcJc m:val="center"/>
                                </m:mcPr>
                              </m:mc>
                            </m:mcs>
                            <m:ctrlPr>
                              <a:rPr lang="ar-AE" i="1">
                                <a:latin typeface="Cambria Math" panose="02040503050406030204" pitchFamily="18" charset="0"/>
                              </a:rPr>
                            </m:ctrlPr>
                          </m:mPr>
                          <m:mr>
                            <m:e>
                              <m:r>
                                <a:rPr lang="ar-AE">
                                  <a:latin typeface="Cambria Math" panose="02040503050406030204" pitchFamily="18" charset="0"/>
                                </a:rPr>
                                <m:t>2</m:t>
                              </m:r>
                            </m:e>
                            <m:e>
                              <m:r>
                                <a:rPr lang="ar-AE">
                                  <a:latin typeface="Cambria Math" panose="02040503050406030204" pitchFamily="18" charset="0"/>
                                </a:rPr>
                                <m:t>1</m:t>
                              </m:r>
                            </m:e>
                            <m:e>
                              <m:r>
                                <a:rPr lang="ar-AE">
                                  <a:latin typeface="Cambria Math" panose="02040503050406030204" pitchFamily="18" charset="0"/>
                                </a:rPr>
                                <m:t>0</m:t>
                              </m:r>
                            </m:e>
                          </m:mr>
                          <m:mr>
                            <m:e>
                              <m:r>
                                <a:rPr lang="ar-AE">
                                  <a:latin typeface="Cambria Math" panose="02040503050406030204" pitchFamily="18" charset="0"/>
                                </a:rPr>
                                <m:t>1</m:t>
                              </m:r>
                            </m:e>
                            <m:e>
                              <m:r>
                                <a:rPr lang="ar-AE">
                                  <a:latin typeface="Cambria Math" panose="02040503050406030204" pitchFamily="18" charset="0"/>
                                </a:rPr>
                                <m:t>2</m:t>
                              </m:r>
                            </m:e>
                            <m:e>
                              <m:r>
                                <a:rPr lang="ar-AE">
                                  <a:latin typeface="Cambria Math" panose="02040503050406030204" pitchFamily="18" charset="0"/>
                                </a:rPr>
                                <m:t>1</m:t>
                              </m:r>
                            </m:e>
                          </m:mr>
                          <m:mr>
                            <m:e>
                              <m:r>
                                <a:rPr lang="ar-AE">
                                  <a:latin typeface="Cambria Math" panose="02040503050406030204" pitchFamily="18" charset="0"/>
                                </a:rPr>
                                <m:t>0</m:t>
                              </m:r>
                            </m:e>
                            <m:e>
                              <m:r>
                                <a:rPr lang="ar-AE">
                                  <a:latin typeface="Cambria Math" panose="02040503050406030204" pitchFamily="18" charset="0"/>
                                </a:rPr>
                                <m:t>1</m:t>
                              </m:r>
                            </m:e>
                            <m:e>
                              <m:r>
                                <a:rPr lang="ar-AE">
                                  <a:latin typeface="Cambria Math" panose="02040503050406030204" pitchFamily="18" charset="0"/>
                                </a:rPr>
                                <m:t>2</m:t>
                              </m:r>
                            </m:e>
                          </m:mr>
                        </m:m>
                      </m:e>
                    </m:d>
                  </m:oMath>
                </a14:m>
                <a:endParaRPr lang="ar-AE" dirty="0"/>
              </a:p>
              <a:p>
                <a:pPr>
                  <a:lnSpc>
                    <a:spcPct val="120000"/>
                  </a:lnSpc>
                  <a:spcBef>
                    <a:spcPts val="0"/>
                  </a:spcBef>
                  <a:spcAft>
                    <a:spcPts val="0"/>
                  </a:spcAft>
                </a:pPr>
                <a:endParaRPr lang="en-IN" dirty="0"/>
              </a:p>
            </p:txBody>
          </p:sp>
        </mc:Choice>
        <mc:Fallback>
          <p:sp>
            <p:nvSpPr>
              <p:cNvPr id="5" name="Content Placeholder 2">
                <a:extLst>
                  <a:ext uri="{FF2B5EF4-FFF2-40B4-BE49-F238E27FC236}">
                    <a16:creationId xmlns:a16="http://schemas.microsoft.com/office/drawing/2014/main" id="{CA0A5D96-6B5F-C667-3FAD-98DBD7560600}"/>
                  </a:ext>
                </a:extLst>
              </p:cNvPr>
              <p:cNvSpPr txBox="1">
                <a:spLocks noRot="1" noChangeAspect="1" noMove="1" noResize="1" noEditPoints="1" noAdjustHandles="1" noChangeArrowheads="1" noChangeShapeType="1" noTextEdit="1"/>
              </p:cNvSpPr>
              <p:nvPr/>
            </p:nvSpPr>
            <p:spPr>
              <a:xfrm>
                <a:off x="8188961" y="1310640"/>
                <a:ext cx="3474719" cy="4907070"/>
              </a:xfrm>
              <a:prstGeom prst="rect">
                <a:avLst/>
              </a:prstGeom>
              <a:blipFill>
                <a:blip r:embed="rId4"/>
                <a:stretch>
                  <a:fillRect l="-4211" t="-1739"/>
                </a:stretch>
              </a:blipFill>
            </p:spPr>
            <p:txBody>
              <a:bodyPr/>
              <a:lstStyle/>
              <a:p>
                <a:r>
                  <a:rPr lang="en-IN">
                    <a:noFill/>
                  </a:rPr>
                  <a:t> </a:t>
                </a:r>
              </a:p>
            </p:txBody>
          </p:sp>
        </mc:Fallback>
      </mc:AlternateContent>
    </p:spTree>
    <p:extLst>
      <p:ext uri="{BB962C8B-B14F-4D97-AF65-F5344CB8AC3E}">
        <p14:creationId xmlns:p14="http://schemas.microsoft.com/office/powerpoint/2010/main" val="103386731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52196A-7159-F77F-3C37-A0519E9C84C8}"/>
              </a:ext>
            </a:extLst>
          </p:cNvPr>
          <p:cNvSpPr>
            <a:spLocks noGrp="1"/>
          </p:cNvSpPr>
          <p:nvPr>
            <p:ph type="title"/>
          </p:nvPr>
        </p:nvSpPr>
        <p:spPr/>
        <p:txBody>
          <a:bodyPr>
            <a:normAutofit fontScale="90000"/>
          </a:bodyPr>
          <a:lstStyle/>
          <a:p>
            <a:endParaRPr lang="en-IN"/>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23503E1-39D8-2431-5B0F-DC69550FBDE7}"/>
                  </a:ext>
                </a:extLst>
              </p:cNvPr>
              <p:cNvSpPr>
                <a:spLocks noGrp="1"/>
              </p:cNvSpPr>
              <p:nvPr>
                <p:ph idx="1"/>
              </p:nvPr>
            </p:nvSpPr>
            <p:spPr>
              <a:xfrm>
                <a:off x="1168717" y="1270000"/>
                <a:ext cx="7518083" cy="4866430"/>
              </a:xfrm>
            </p:spPr>
            <p:txBody>
              <a:bodyPr>
                <a:normAutofit fontScale="85000" lnSpcReduction="10000"/>
              </a:bodyPr>
              <a:lstStyle/>
              <a:p>
                <a:pPr>
                  <a:lnSpc>
                    <a:spcPct val="120000"/>
                  </a:lnSpc>
                  <a:spcBef>
                    <a:spcPts val="0"/>
                  </a:spcBef>
                  <a:spcAft>
                    <a:spcPts val="0"/>
                  </a:spcAft>
                </a:pPr>
                <a:r>
                  <a:rPr lang="en-IN" b="1" dirty="0"/>
                  <a:t>STEP 2: Activation (</a:t>
                </a:r>
                <a:r>
                  <a:rPr lang="en-IN" b="1" dirty="0" err="1"/>
                  <a:t>ReLU</a:t>
                </a:r>
                <a:r>
                  <a:rPr lang="en-IN" b="1" dirty="0"/>
                  <a:t>)</a:t>
                </a:r>
              </a:p>
              <a:p>
                <a:pPr>
                  <a:lnSpc>
                    <a:spcPct val="120000"/>
                  </a:lnSpc>
                  <a:spcBef>
                    <a:spcPts val="0"/>
                  </a:spcBef>
                  <a:spcAft>
                    <a:spcPts val="0"/>
                  </a:spcAft>
                </a:pPr>
                <a14:m>
                  <m:oMath xmlns:m="http://schemas.openxmlformats.org/officeDocument/2006/math">
                    <m:r>
                      <a:rPr lang="en-IN" i="1">
                        <a:latin typeface="Cambria Math" panose="02040503050406030204" pitchFamily="18" charset="0"/>
                      </a:rPr>
                      <m:t>𝑅𝑒𝐿𝑈</m:t>
                    </m:r>
                    <m:d>
                      <m:dPr>
                        <m:ctrlPr>
                          <a:rPr lang="ar-AE" i="1">
                            <a:latin typeface="Cambria Math" panose="02040503050406030204" pitchFamily="18" charset="0"/>
                          </a:rPr>
                        </m:ctrlPr>
                      </m:dPr>
                      <m:e>
                        <m:r>
                          <a:rPr lang="ar-AE" i="1">
                            <a:latin typeface="Cambria Math" panose="02040503050406030204" pitchFamily="18" charset="0"/>
                          </a:rPr>
                          <m:t>𝑥</m:t>
                        </m:r>
                      </m:e>
                    </m:d>
                    <m:r>
                      <a:rPr lang="ar-AE">
                        <a:latin typeface="Cambria Math" panose="02040503050406030204" pitchFamily="18" charset="0"/>
                      </a:rPr>
                      <m:t>=</m:t>
                    </m:r>
                    <m:r>
                      <m:rPr>
                        <m:sty m:val="p"/>
                      </m:rPr>
                      <a:rPr lang="en-IN">
                        <a:latin typeface="Cambria Math" panose="02040503050406030204" pitchFamily="18" charset="0"/>
                      </a:rPr>
                      <m:t>max</m:t>
                    </m:r>
                    <m:r>
                      <a:rPr lang="en-IN">
                        <a:latin typeface="Cambria Math" panose="02040503050406030204" pitchFamily="18" charset="0"/>
                      </a:rPr>
                      <m:t>⁡</m:t>
                    </m:r>
                    <m:d>
                      <m:dPr>
                        <m:sepChr m:val=","/>
                        <m:ctrlPr>
                          <a:rPr lang="ar-AE" i="1">
                            <a:latin typeface="Cambria Math" panose="02040503050406030204" pitchFamily="18" charset="0"/>
                          </a:rPr>
                        </m:ctrlPr>
                      </m:dPr>
                      <m:e>
                        <m:r>
                          <a:rPr lang="ar-AE">
                            <a:latin typeface="Cambria Math" panose="02040503050406030204" pitchFamily="18" charset="0"/>
                          </a:rPr>
                          <m:t>0</m:t>
                        </m:r>
                      </m:e>
                      <m:e>
                        <m:r>
                          <a:rPr lang="ar-AE" i="1">
                            <a:latin typeface="Cambria Math" panose="02040503050406030204" pitchFamily="18" charset="0"/>
                          </a:rPr>
                          <m:t>𝑥</m:t>
                        </m:r>
                      </m:e>
                    </m:d>
                  </m:oMath>
                </a14:m>
                <a:endParaRPr lang="ar-AE" dirty="0"/>
              </a:p>
              <a:p>
                <a:pPr>
                  <a:lnSpc>
                    <a:spcPct val="120000"/>
                  </a:lnSpc>
                  <a:spcBef>
                    <a:spcPts val="0"/>
                  </a:spcBef>
                  <a:spcAft>
                    <a:spcPts val="0"/>
                  </a:spcAft>
                </a:pPr>
                <a:r>
                  <a:rPr lang="en-IN" dirty="0"/>
                  <a:t>All positive → unchanged.</a:t>
                </a:r>
              </a:p>
              <a:p>
                <a:pPr>
                  <a:lnSpc>
                    <a:spcPct val="120000"/>
                  </a:lnSpc>
                  <a:spcBef>
                    <a:spcPts val="0"/>
                  </a:spcBef>
                  <a:spcAft>
                    <a:spcPts val="0"/>
                  </a:spcAft>
                </a:pPr>
                <a:r>
                  <a:rPr lang="en-IN" b="1" dirty="0"/>
                  <a:t> STEP 3: Pooling (</a:t>
                </a:r>
                <a:r>
                  <a:rPr lang="en-IN" b="1" dirty="0" err="1"/>
                  <a:t>Downsampling</a:t>
                </a:r>
                <a:r>
                  <a:rPr lang="en-IN" b="1" dirty="0"/>
                  <a:t>)</a:t>
                </a:r>
              </a:p>
              <a:p>
                <a:pPr>
                  <a:lnSpc>
                    <a:spcPct val="120000"/>
                  </a:lnSpc>
                  <a:spcBef>
                    <a:spcPts val="0"/>
                  </a:spcBef>
                  <a:spcAft>
                    <a:spcPts val="0"/>
                  </a:spcAft>
                </a:pPr>
                <a:r>
                  <a:rPr lang="en-IN" dirty="0"/>
                  <a:t>Apply </a:t>
                </a:r>
                <a:r>
                  <a:rPr lang="en-IN" b="1" dirty="0"/>
                  <a:t>2×2 max pooling</a:t>
                </a:r>
                <a:r>
                  <a:rPr lang="en-IN" dirty="0"/>
                  <a:t> stride 2.(assume padding right and down)</a:t>
                </a:r>
              </a:p>
              <a:p>
                <a:pPr>
                  <a:lnSpc>
                    <a:spcPct val="120000"/>
                  </a:lnSpc>
                  <a:spcBef>
                    <a:spcPts val="0"/>
                  </a:spcBef>
                  <a:spcAft>
                    <a:spcPts val="0"/>
                  </a:spcAft>
                </a:pPr>
                <a:r>
                  <a:rPr lang="en-IN" dirty="0"/>
                  <a:t>Regions:</a:t>
                </a:r>
              </a:p>
              <a:p>
                <a:pPr>
                  <a:lnSpc>
                    <a:spcPct val="120000"/>
                  </a:lnSpc>
                  <a:spcBef>
                    <a:spcPts val="0"/>
                  </a:spcBef>
                  <a:spcAft>
                    <a:spcPts val="0"/>
                  </a:spcAft>
                </a:pPr>
                <a:r>
                  <a:rPr lang="en-IN" dirty="0"/>
                  <a:t>top-left → max(2,1,1,2)=2</a:t>
                </a:r>
              </a:p>
              <a:p>
                <a:pPr>
                  <a:lnSpc>
                    <a:spcPct val="120000"/>
                  </a:lnSpc>
                  <a:spcBef>
                    <a:spcPts val="0"/>
                  </a:spcBef>
                  <a:spcAft>
                    <a:spcPts val="0"/>
                  </a:spcAft>
                </a:pPr>
                <a:r>
                  <a:rPr lang="en-IN" dirty="0"/>
                  <a:t>top-right → max(0,1)=1</a:t>
                </a:r>
              </a:p>
              <a:p>
                <a:pPr>
                  <a:lnSpc>
                    <a:spcPct val="120000"/>
                  </a:lnSpc>
                  <a:spcBef>
                    <a:spcPts val="0"/>
                  </a:spcBef>
                  <a:spcAft>
                    <a:spcPts val="0"/>
                  </a:spcAft>
                </a:pPr>
                <a:r>
                  <a:rPr lang="en-IN" dirty="0"/>
                  <a:t>bottom-left → max(0,1)=1</a:t>
                </a:r>
              </a:p>
              <a:p>
                <a:pPr>
                  <a:lnSpc>
                    <a:spcPct val="120000"/>
                  </a:lnSpc>
                  <a:spcBef>
                    <a:spcPts val="0"/>
                  </a:spcBef>
                  <a:spcAft>
                    <a:spcPts val="0"/>
                  </a:spcAft>
                </a:pPr>
                <a:r>
                  <a:rPr lang="en-IN" dirty="0"/>
                  <a:t>bottom-right → max(2)=2</a:t>
                </a:r>
              </a:p>
              <a:p>
                <a:pPr>
                  <a:lnSpc>
                    <a:spcPct val="120000"/>
                  </a:lnSpc>
                  <a:spcBef>
                    <a:spcPts val="0"/>
                  </a:spcBef>
                  <a:spcAft>
                    <a:spcPts val="0"/>
                  </a:spcAft>
                </a:pPr>
                <a:r>
                  <a:rPr lang="en-IN" b="1" dirty="0"/>
                  <a:t>Latent representation</a:t>
                </a:r>
              </a:p>
              <a:p>
                <a:pPr>
                  <a:lnSpc>
                    <a:spcPct val="120000"/>
                  </a:lnSpc>
                  <a:spcBef>
                    <a:spcPts val="0"/>
                  </a:spcBef>
                  <a:spcAft>
                    <a:spcPts val="0"/>
                  </a:spcAft>
                </a:pPr>
                <a14:m>
                  <m:oMath xmlns:m="http://schemas.openxmlformats.org/officeDocument/2006/math">
                    <m:r>
                      <a:rPr lang="en-IN" i="1">
                        <a:latin typeface="Cambria Math" panose="02040503050406030204" pitchFamily="18" charset="0"/>
                      </a:rPr>
                      <m:t>𝐻</m:t>
                    </m:r>
                    <m:r>
                      <a:rPr lang="en-IN">
                        <a:latin typeface="Cambria Math" panose="02040503050406030204" pitchFamily="18" charset="0"/>
                      </a:rPr>
                      <m:t>=</m:t>
                    </m:r>
                    <m:d>
                      <m:dPr>
                        <m:begChr m:val="["/>
                        <m:endChr m:val="]"/>
                        <m:ctrlPr>
                          <a:rPr lang="ar-AE" i="1">
                            <a:latin typeface="Cambria Math" panose="02040503050406030204" pitchFamily="18" charset="0"/>
                          </a:rPr>
                        </m:ctrlPr>
                      </m:dPr>
                      <m:e>
                        <m:m>
                          <m:mPr>
                            <m:plcHide m:val="on"/>
                            <m:mcs>
                              <m:mc>
                                <m:mcPr>
                                  <m:count m:val="2"/>
                                  <m:mcJc m:val="center"/>
                                </m:mcPr>
                              </m:mc>
                            </m:mcs>
                            <m:ctrlPr>
                              <a:rPr lang="ar-AE" i="1">
                                <a:latin typeface="Cambria Math" panose="02040503050406030204" pitchFamily="18" charset="0"/>
                              </a:rPr>
                            </m:ctrlPr>
                          </m:mPr>
                          <m:mr>
                            <m:e>
                              <m:r>
                                <a:rPr lang="ar-AE">
                                  <a:latin typeface="Cambria Math" panose="02040503050406030204" pitchFamily="18" charset="0"/>
                                </a:rPr>
                                <m:t>2</m:t>
                              </m:r>
                            </m:e>
                            <m:e>
                              <m:r>
                                <a:rPr lang="ar-AE">
                                  <a:latin typeface="Cambria Math" panose="02040503050406030204" pitchFamily="18" charset="0"/>
                                </a:rPr>
                                <m:t>1</m:t>
                              </m:r>
                            </m:e>
                          </m:mr>
                          <m:mr>
                            <m:e>
                              <m:r>
                                <a:rPr lang="ar-AE">
                                  <a:latin typeface="Cambria Math" panose="02040503050406030204" pitchFamily="18" charset="0"/>
                                </a:rPr>
                                <m:t>1</m:t>
                              </m:r>
                            </m:e>
                            <m:e>
                              <m:r>
                                <a:rPr lang="ar-AE">
                                  <a:latin typeface="Cambria Math" panose="02040503050406030204" pitchFamily="18" charset="0"/>
                                </a:rPr>
                                <m:t>2</m:t>
                              </m:r>
                            </m:e>
                          </m:mr>
                        </m:m>
                      </m:e>
                    </m:d>
                  </m:oMath>
                </a14:m>
                <a:endParaRPr lang="ar-AE" dirty="0"/>
              </a:p>
              <a:p>
                <a:pPr>
                  <a:lnSpc>
                    <a:spcPct val="120000"/>
                  </a:lnSpc>
                  <a:spcBef>
                    <a:spcPts val="0"/>
                  </a:spcBef>
                  <a:spcAft>
                    <a:spcPts val="0"/>
                  </a:spcAft>
                </a:pPr>
                <a:r>
                  <a:rPr lang="en-IN" dirty="0"/>
                  <a:t> compressed representation</a:t>
                </a:r>
              </a:p>
              <a:p>
                <a:pPr>
                  <a:lnSpc>
                    <a:spcPct val="120000"/>
                  </a:lnSpc>
                  <a:spcBef>
                    <a:spcPts val="0"/>
                  </a:spcBef>
                  <a:spcAft>
                    <a:spcPts val="0"/>
                  </a:spcAft>
                </a:pPr>
                <a:endParaRPr lang="en-IN" dirty="0"/>
              </a:p>
            </p:txBody>
          </p:sp>
        </mc:Choice>
        <mc:Fallback xmlns="">
          <p:sp>
            <p:nvSpPr>
              <p:cNvPr id="3" name="Content Placeholder 2">
                <a:extLst>
                  <a:ext uri="{FF2B5EF4-FFF2-40B4-BE49-F238E27FC236}">
                    <a16:creationId xmlns:a16="http://schemas.microsoft.com/office/drawing/2014/main" id="{C23503E1-39D8-2431-5B0F-DC69550FBDE7}"/>
                  </a:ext>
                </a:extLst>
              </p:cNvPr>
              <p:cNvSpPr>
                <a:spLocks noGrp="1" noRot="1" noChangeAspect="1" noMove="1" noResize="1" noEditPoints="1" noAdjustHandles="1" noChangeArrowheads="1" noChangeShapeType="1" noTextEdit="1"/>
              </p:cNvSpPr>
              <p:nvPr>
                <p:ph idx="1"/>
              </p:nvPr>
            </p:nvSpPr>
            <p:spPr>
              <a:xfrm>
                <a:off x="1168717" y="1270000"/>
                <a:ext cx="7518083" cy="4866430"/>
              </a:xfrm>
              <a:blipFill>
                <a:blip r:embed="rId2"/>
                <a:stretch>
                  <a:fillRect l="-1946" t="-375"/>
                </a:stretch>
              </a:blipFill>
            </p:spPr>
            <p:txBody>
              <a:bodyPr/>
              <a:lstStyle/>
              <a:p>
                <a:r>
                  <a:rPr lang="en-IN">
                    <a:noFill/>
                  </a:rPr>
                  <a:t> </a:t>
                </a:r>
              </a:p>
            </p:txBody>
          </p:sp>
        </mc:Fallback>
      </mc:AlternateContent>
    </p:spTree>
    <p:extLst>
      <p:ext uri="{BB962C8B-B14F-4D97-AF65-F5344CB8AC3E}">
        <p14:creationId xmlns:p14="http://schemas.microsoft.com/office/powerpoint/2010/main" val="331248592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F0B76C-46D9-6ABD-98BD-ADB9A090A3FB}"/>
              </a:ext>
            </a:extLst>
          </p:cNvPr>
          <p:cNvSpPr>
            <a:spLocks noGrp="1"/>
          </p:cNvSpPr>
          <p:nvPr>
            <p:ph type="title"/>
          </p:nvPr>
        </p:nvSpPr>
        <p:spPr/>
        <p:txBody>
          <a:bodyPr>
            <a:normAutofit fontScale="90000"/>
          </a:bodyPr>
          <a:lstStyle/>
          <a:p>
            <a:endParaRPr lang="en-IN"/>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06D14F8D-D18B-5F24-5E59-40D3C054AF26}"/>
                  </a:ext>
                </a:extLst>
              </p:cNvPr>
              <p:cNvSpPr>
                <a:spLocks noGrp="1"/>
              </p:cNvSpPr>
              <p:nvPr>
                <p:ph idx="1"/>
              </p:nvPr>
            </p:nvSpPr>
            <p:spPr>
              <a:xfrm>
                <a:off x="1025843" y="1432560"/>
                <a:ext cx="4308158" cy="4693710"/>
              </a:xfrm>
            </p:spPr>
            <p:txBody>
              <a:bodyPr>
                <a:normAutofit fontScale="92500" lnSpcReduction="20000"/>
              </a:bodyPr>
              <a:lstStyle/>
              <a:p>
                <a:r>
                  <a:rPr lang="en-IN" b="1" dirty="0"/>
                  <a:t>STEP 4: Decoder (</a:t>
                </a:r>
                <a:r>
                  <a:rPr lang="en-IN" b="1" dirty="0" err="1"/>
                  <a:t>Upsampling</a:t>
                </a:r>
                <a:r>
                  <a:rPr lang="en-IN" b="1" dirty="0"/>
                  <a:t>)</a:t>
                </a:r>
              </a:p>
              <a:p>
                <a:r>
                  <a:rPr lang="en-IN" dirty="0" err="1"/>
                  <a:t>Upsample</a:t>
                </a:r>
                <a:r>
                  <a:rPr lang="en-IN" dirty="0"/>
                  <a:t> by repeating values:</a:t>
                </a:r>
              </a:p>
              <a:p>
                <a:r>
                  <a:rPr lang="en-IN" dirty="0"/>
                  <a:t>(</a:t>
                </a:r>
                <a:r>
                  <a:rPr lang="en-US" b="1" dirty="0"/>
                  <a:t>nearest-neighbor </a:t>
                </a:r>
                <a:r>
                  <a:rPr lang="en-US" b="1" dirty="0" err="1"/>
                  <a:t>upsampling</a:t>
                </a:r>
                <a:r>
                  <a:rPr lang="en-US" b="1" dirty="0"/>
                  <a:t>/</a:t>
                </a:r>
                <a:r>
                  <a:rPr lang="en-US" dirty="0"/>
                  <a:t> </a:t>
                </a:r>
                <a:r>
                  <a:rPr lang="en-US" b="1" dirty="0"/>
                  <a:t>interpolation</a:t>
                </a:r>
                <a:r>
                  <a:rPr lang="en-US" dirty="0"/>
                  <a:t>)</a:t>
                </a:r>
                <a:r>
                  <a:rPr lang="en-IN" dirty="0"/>
                  <a:t>)</a:t>
                </a:r>
              </a:p>
              <a:p>
                <a14:m>
                  <m:oMath xmlns:m="http://schemas.openxmlformats.org/officeDocument/2006/math">
                    <m:d>
                      <m:dPr>
                        <m:begChr m:val="["/>
                        <m:endChr m:val="]"/>
                        <m:ctrlPr>
                          <a:rPr lang="ar-AE" i="1">
                            <a:latin typeface="Cambria Math" panose="02040503050406030204" pitchFamily="18" charset="0"/>
                          </a:rPr>
                        </m:ctrlPr>
                      </m:dPr>
                      <m:e>
                        <m:m>
                          <m:mPr>
                            <m:plcHide m:val="on"/>
                            <m:mcs>
                              <m:mc>
                                <m:mcPr>
                                  <m:count m:val="4"/>
                                  <m:mcJc m:val="center"/>
                                </m:mcPr>
                              </m:mc>
                            </m:mcs>
                            <m:ctrlPr>
                              <a:rPr lang="ar-AE" i="1">
                                <a:latin typeface="Cambria Math" panose="02040503050406030204" pitchFamily="18" charset="0"/>
                              </a:rPr>
                            </m:ctrlPr>
                          </m:mPr>
                          <m:mr>
                            <m:e>
                              <m:r>
                                <a:rPr lang="ar-AE">
                                  <a:latin typeface="Cambria Math" panose="02040503050406030204" pitchFamily="18" charset="0"/>
                                </a:rPr>
                                <m:t>2</m:t>
                              </m:r>
                            </m:e>
                            <m:e>
                              <m:r>
                                <a:rPr lang="ar-AE">
                                  <a:latin typeface="Cambria Math" panose="02040503050406030204" pitchFamily="18" charset="0"/>
                                </a:rPr>
                                <m:t>2</m:t>
                              </m:r>
                            </m:e>
                            <m:e>
                              <m:r>
                                <a:rPr lang="ar-AE">
                                  <a:latin typeface="Cambria Math" panose="02040503050406030204" pitchFamily="18" charset="0"/>
                                </a:rPr>
                                <m:t>1</m:t>
                              </m:r>
                            </m:e>
                            <m:e>
                              <m:r>
                                <a:rPr lang="ar-AE">
                                  <a:latin typeface="Cambria Math" panose="02040503050406030204" pitchFamily="18" charset="0"/>
                                </a:rPr>
                                <m:t>1</m:t>
                              </m:r>
                            </m:e>
                          </m:mr>
                          <m:mr>
                            <m:e>
                              <m:r>
                                <a:rPr lang="ar-AE">
                                  <a:latin typeface="Cambria Math" panose="02040503050406030204" pitchFamily="18" charset="0"/>
                                </a:rPr>
                                <m:t>2</m:t>
                              </m:r>
                            </m:e>
                            <m:e>
                              <m:r>
                                <a:rPr lang="ar-AE">
                                  <a:latin typeface="Cambria Math" panose="02040503050406030204" pitchFamily="18" charset="0"/>
                                </a:rPr>
                                <m:t>2</m:t>
                              </m:r>
                            </m:e>
                            <m:e>
                              <m:r>
                                <a:rPr lang="ar-AE">
                                  <a:latin typeface="Cambria Math" panose="02040503050406030204" pitchFamily="18" charset="0"/>
                                </a:rPr>
                                <m:t>1</m:t>
                              </m:r>
                            </m:e>
                            <m:e>
                              <m:r>
                                <a:rPr lang="ar-AE">
                                  <a:latin typeface="Cambria Math" panose="02040503050406030204" pitchFamily="18" charset="0"/>
                                </a:rPr>
                                <m:t>1</m:t>
                              </m:r>
                            </m:e>
                          </m:mr>
                          <m:mr>
                            <m:e>
                              <m:r>
                                <a:rPr lang="ar-AE">
                                  <a:latin typeface="Cambria Math" panose="02040503050406030204" pitchFamily="18" charset="0"/>
                                </a:rPr>
                                <m:t>1</m:t>
                              </m:r>
                            </m:e>
                            <m:e>
                              <m:r>
                                <a:rPr lang="ar-AE">
                                  <a:latin typeface="Cambria Math" panose="02040503050406030204" pitchFamily="18" charset="0"/>
                                </a:rPr>
                                <m:t>1</m:t>
                              </m:r>
                            </m:e>
                            <m:e>
                              <m:r>
                                <a:rPr lang="ar-AE">
                                  <a:latin typeface="Cambria Math" panose="02040503050406030204" pitchFamily="18" charset="0"/>
                                </a:rPr>
                                <m:t>2</m:t>
                              </m:r>
                            </m:e>
                            <m:e>
                              <m:r>
                                <a:rPr lang="ar-AE">
                                  <a:latin typeface="Cambria Math" panose="02040503050406030204" pitchFamily="18" charset="0"/>
                                </a:rPr>
                                <m:t>2</m:t>
                              </m:r>
                            </m:e>
                          </m:mr>
                          <m:mr>
                            <m:e>
                              <m:r>
                                <a:rPr lang="ar-AE">
                                  <a:latin typeface="Cambria Math" panose="02040503050406030204" pitchFamily="18" charset="0"/>
                                </a:rPr>
                                <m:t>1</m:t>
                              </m:r>
                            </m:e>
                            <m:e>
                              <m:r>
                                <a:rPr lang="ar-AE">
                                  <a:latin typeface="Cambria Math" panose="02040503050406030204" pitchFamily="18" charset="0"/>
                                </a:rPr>
                                <m:t>1</m:t>
                              </m:r>
                            </m:e>
                            <m:e>
                              <m:r>
                                <a:rPr lang="ar-AE">
                                  <a:latin typeface="Cambria Math" panose="02040503050406030204" pitchFamily="18" charset="0"/>
                                </a:rPr>
                                <m:t>2</m:t>
                              </m:r>
                            </m:e>
                            <m:e>
                              <m:r>
                                <a:rPr lang="ar-AE">
                                  <a:latin typeface="Cambria Math" panose="02040503050406030204" pitchFamily="18" charset="0"/>
                                </a:rPr>
                                <m:t>2</m:t>
                              </m:r>
                            </m:e>
                          </m:mr>
                        </m:m>
                      </m:e>
                    </m:d>
                  </m:oMath>
                </a14:m>
                <a:endParaRPr lang="ar-AE" dirty="0"/>
              </a:p>
              <a:p>
                <a:r>
                  <a:rPr lang="en-IN" b="1" dirty="0"/>
                  <a:t> STEP 5: Deconvolution (Reconstruction)</a:t>
                </a:r>
              </a:p>
              <a:p>
                <a:r>
                  <a:rPr lang="en-IN" dirty="0"/>
                  <a:t>Use same kernel:</a:t>
                </a:r>
              </a:p>
              <a:p>
                <a14:m>
                  <m:oMath xmlns:m="http://schemas.openxmlformats.org/officeDocument/2006/math">
                    <m:r>
                      <a:rPr lang="en-IN" i="1">
                        <a:latin typeface="Cambria Math" panose="02040503050406030204" pitchFamily="18" charset="0"/>
                      </a:rPr>
                      <m:t>𝐾</m:t>
                    </m:r>
                    <m:r>
                      <a:rPr lang="en-IN">
                        <a:latin typeface="Cambria Math" panose="02040503050406030204" pitchFamily="18" charset="0"/>
                      </a:rPr>
                      <m:t>=</m:t>
                    </m:r>
                    <m:d>
                      <m:dPr>
                        <m:begChr m:val="["/>
                        <m:endChr m:val="]"/>
                        <m:ctrlPr>
                          <a:rPr lang="ar-AE" i="1">
                            <a:latin typeface="Cambria Math" panose="02040503050406030204" pitchFamily="18" charset="0"/>
                          </a:rPr>
                        </m:ctrlPr>
                      </m:dPr>
                      <m:e>
                        <m:m>
                          <m:mPr>
                            <m:plcHide m:val="on"/>
                            <m:mcs>
                              <m:mc>
                                <m:mcPr>
                                  <m:count m:val="2"/>
                                  <m:mcJc m:val="center"/>
                                </m:mcPr>
                              </m:mc>
                            </m:mcs>
                            <m:ctrlPr>
                              <a:rPr lang="ar-AE" i="1">
                                <a:latin typeface="Cambria Math" panose="02040503050406030204" pitchFamily="18" charset="0"/>
                              </a:rPr>
                            </m:ctrlPr>
                          </m:mPr>
                          <m:mr>
                            <m:e>
                              <m:r>
                                <a:rPr lang="ar-AE">
                                  <a:latin typeface="Cambria Math" panose="02040503050406030204" pitchFamily="18" charset="0"/>
                                </a:rPr>
                                <m:t>1</m:t>
                              </m:r>
                            </m:e>
                            <m:e>
                              <m:r>
                                <a:rPr lang="ar-AE">
                                  <a:latin typeface="Cambria Math" panose="02040503050406030204" pitchFamily="18" charset="0"/>
                                </a:rPr>
                                <m:t>0</m:t>
                              </m:r>
                            </m:e>
                          </m:mr>
                          <m:mr>
                            <m:e>
                              <m:r>
                                <a:rPr lang="ar-AE">
                                  <a:latin typeface="Cambria Math" panose="02040503050406030204" pitchFamily="18" charset="0"/>
                                </a:rPr>
                                <m:t>0</m:t>
                              </m:r>
                            </m:e>
                            <m:e>
                              <m:r>
                                <a:rPr lang="ar-AE">
                                  <a:latin typeface="Cambria Math" panose="02040503050406030204" pitchFamily="18" charset="0"/>
                                </a:rPr>
                                <m:t>1</m:t>
                              </m:r>
                            </m:e>
                          </m:mr>
                        </m:m>
                      </m:e>
                    </m:d>
                  </m:oMath>
                </a14:m>
                <a:endParaRPr lang="ar-AE" dirty="0"/>
              </a:p>
              <a:p>
                <a:endParaRPr lang="ar-AE" dirty="0"/>
              </a:p>
              <a:p>
                <a:endParaRPr lang="en-IN" dirty="0"/>
              </a:p>
            </p:txBody>
          </p:sp>
        </mc:Choice>
        <mc:Fallback>
          <p:sp>
            <p:nvSpPr>
              <p:cNvPr id="3" name="Content Placeholder 2">
                <a:extLst>
                  <a:ext uri="{FF2B5EF4-FFF2-40B4-BE49-F238E27FC236}">
                    <a16:creationId xmlns:a16="http://schemas.microsoft.com/office/drawing/2014/main" id="{06D14F8D-D18B-5F24-5E59-40D3C054AF26}"/>
                  </a:ext>
                </a:extLst>
              </p:cNvPr>
              <p:cNvSpPr>
                <a:spLocks noGrp="1" noRot="1" noChangeAspect="1" noMove="1" noResize="1" noEditPoints="1" noAdjustHandles="1" noChangeArrowheads="1" noChangeShapeType="1" noTextEdit="1"/>
              </p:cNvSpPr>
              <p:nvPr>
                <p:ph idx="1"/>
              </p:nvPr>
            </p:nvSpPr>
            <p:spPr>
              <a:xfrm>
                <a:off x="1025843" y="1432560"/>
                <a:ext cx="4308158" cy="4693710"/>
              </a:xfrm>
              <a:blipFill>
                <a:blip r:embed="rId2"/>
                <a:stretch>
                  <a:fillRect l="-3678" t="-2727"/>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 name="Content Placeholder 2">
                <a:extLst>
                  <a:ext uri="{FF2B5EF4-FFF2-40B4-BE49-F238E27FC236}">
                    <a16:creationId xmlns:a16="http://schemas.microsoft.com/office/drawing/2014/main" id="{88E2547A-434A-2178-D731-3FED9FF29A38}"/>
                  </a:ext>
                </a:extLst>
              </p:cNvPr>
              <p:cNvSpPr txBox="1">
                <a:spLocks/>
              </p:cNvSpPr>
              <p:nvPr/>
            </p:nvSpPr>
            <p:spPr>
              <a:xfrm>
                <a:off x="6055042" y="1432560"/>
                <a:ext cx="5832158" cy="4693710"/>
              </a:xfrm>
              <a:prstGeom prst="rect">
                <a:avLst/>
              </a:prstGeom>
            </p:spPr>
            <p:txBody>
              <a:bodyPr vert="horz" lIns="0" tIns="45720" rIns="0" bIns="45720" rtlCol="0">
                <a:normAutofit/>
              </a:bodyPr>
              <a:lstStyle>
                <a:lvl1pPr marL="361950" indent="-361950" algn="l" defTabSz="914400" rtl="0" eaLnBrk="1" latinLnBrk="0" hangingPunct="1">
                  <a:lnSpc>
                    <a:spcPct val="90000"/>
                  </a:lnSpc>
                  <a:spcBef>
                    <a:spcPts val="1200"/>
                  </a:spcBef>
                  <a:spcAft>
                    <a:spcPts val="200"/>
                  </a:spcAft>
                  <a:buClr>
                    <a:schemeClr val="accent1"/>
                  </a:buClr>
                  <a:buSzPct val="100000"/>
                  <a:buFont typeface="Arial" panose="020B0604020202020204" pitchFamily="34" charset="0"/>
                  <a:buChar char="•"/>
                  <a:defRPr sz="2400" kern="1200">
                    <a:solidFill>
                      <a:schemeClr val="tx1"/>
                    </a:solidFill>
                    <a:latin typeface="+mn-lt"/>
                    <a:ea typeface="+mn-ea"/>
                    <a:cs typeface="+mn-cs"/>
                  </a:defRPr>
                </a:lvl1pPr>
                <a:lvl2pPr marL="542925" indent="-3429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2400" kern="1200">
                    <a:solidFill>
                      <a:schemeClr val="tx1"/>
                    </a:solidFill>
                    <a:latin typeface="+mn-lt"/>
                    <a:ea typeface="+mn-ea"/>
                    <a:cs typeface="+mn-cs"/>
                  </a:defRPr>
                </a:lvl2pPr>
                <a:lvl3pPr marL="714375" indent="-330200" algn="l" defTabSz="914400" rtl="0" eaLnBrk="1" latinLnBrk="0" hangingPunct="1">
                  <a:lnSpc>
                    <a:spcPct val="90000"/>
                  </a:lnSpc>
                  <a:spcBef>
                    <a:spcPts val="200"/>
                  </a:spcBef>
                  <a:spcAft>
                    <a:spcPts val="400"/>
                  </a:spcAft>
                  <a:buClr>
                    <a:schemeClr val="accent1"/>
                  </a:buClr>
                  <a:buFont typeface="Arial" panose="020B0604020202020204" pitchFamily="34" charset="0"/>
                  <a:buChar char="•"/>
                  <a:tabLst>
                    <a:tab pos="714375" algn="l"/>
                  </a:tabLst>
                  <a:defRPr sz="2400" kern="1200">
                    <a:solidFill>
                      <a:schemeClr val="tx1"/>
                    </a:solidFill>
                    <a:latin typeface="+mn-lt"/>
                    <a:ea typeface="+mn-ea"/>
                    <a:cs typeface="+mn-cs"/>
                  </a:defRPr>
                </a:lvl3pPr>
                <a:lvl4pPr marL="895350" indent="-2667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2400" kern="1200">
                    <a:solidFill>
                      <a:schemeClr val="tx1"/>
                    </a:solidFill>
                    <a:latin typeface="+mn-lt"/>
                    <a:ea typeface="+mn-ea"/>
                    <a:cs typeface="+mn-cs"/>
                  </a:defRPr>
                </a:lvl4pPr>
                <a:lvl5pPr marL="1162050" indent="-352425"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2400" kern="1200">
                    <a:solidFill>
                      <a:schemeClr val="tx1"/>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en-IN" dirty="0"/>
                  <a:t>For simplicity, assume reconstruction equals </a:t>
                </a:r>
                <a:r>
                  <a:rPr lang="en-IN" dirty="0" err="1"/>
                  <a:t>upsampled</a:t>
                </a:r>
                <a:r>
                  <a:rPr lang="en-IN" dirty="0"/>
                  <a:t> map:</a:t>
                </a:r>
              </a:p>
              <a:p>
                <a14:m>
                  <m:oMath xmlns:m="http://schemas.openxmlformats.org/officeDocument/2006/math">
                    <m:acc>
                      <m:accPr>
                        <m:chr m:val="̂"/>
                        <m:ctrlPr>
                          <a:rPr lang="ar-AE" i="1">
                            <a:latin typeface="Cambria Math" panose="02040503050406030204" pitchFamily="18" charset="0"/>
                          </a:rPr>
                        </m:ctrlPr>
                      </m:accPr>
                      <m:e>
                        <m:r>
                          <a:rPr lang="ar-AE" i="1">
                            <a:latin typeface="Cambria Math" panose="02040503050406030204" pitchFamily="18" charset="0"/>
                          </a:rPr>
                          <m:t>𝑋</m:t>
                        </m:r>
                      </m:e>
                    </m:acc>
                    <m:r>
                      <a:rPr lang="ar-AE">
                        <a:latin typeface="Cambria Math" panose="02040503050406030204" pitchFamily="18" charset="0"/>
                      </a:rPr>
                      <m:t>=</m:t>
                    </m:r>
                    <m:d>
                      <m:dPr>
                        <m:begChr m:val="["/>
                        <m:endChr m:val="]"/>
                        <m:ctrlPr>
                          <a:rPr lang="ar-AE" i="1">
                            <a:latin typeface="Cambria Math" panose="02040503050406030204" pitchFamily="18" charset="0"/>
                          </a:rPr>
                        </m:ctrlPr>
                      </m:dPr>
                      <m:e>
                        <m:m>
                          <m:mPr>
                            <m:plcHide m:val="on"/>
                            <m:mcs>
                              <m:mc>
                                <m:mcPr>
                                  <m:count m:val="4"/>
                                  <m:mcJc m:val="center"/>
                                </m:mcPr>
                              </m:mc>
                            </m:mcs>
                            <m:ctrlPr>
                              <a:rPr lang="ar-AE" i="1">
                                <a:latin typeface="Cambria Math" panose="02040503050406030204" pitchFamily="18" charset="0"/>
                              </a:rPr>
                            </m:ctrlPr>
                          </m:mPr>
                          <m:mr>
                            <m:e>
                              <m:r>
                                <a:rPr lang="ar-AE">
                                  <a:latin typeface="Cambria Math" panose="02040503050406030204" pitchFamily="18" charset="0"/>
                                </a:rPr>
                                <m:t>2</m:t>
                              </m:r>
                            </m:e>
                            <m:e>
                              <m:r>
                                <a:rPr lang="ar-AE">
                                  <a:latin typeface="Cambria Math" panose="02040503050406030204" pitchFamily="18" charset="0"/>
                                </a:rPr>
                                <m:t>2</m:t>
                              </m:r>
                            </m:e>
                            <m:e>
                              <m:r>
                                <a:rPr lang="ar-AE">
                                  <a:latin typeface="Cambria Math" panose="02040503050406030204" pitchFamily="18" charset="0"/>
                                </a:rPr>
                                <m:t>1</m:t>
                              </m:r>
                            </m:e>
                            <m:e>
                              <m:r>
                                <a:rPr lang="ar-AE">
                                  <a:latin typeface="Cambria Math" panose="02040503050406030204" pitchFamily="18" charset="0"/>
                                </a:rPr>
                                <m:t>1</m:t>
                              </m:r>
                            </m:e>
                          </m:mr>
                          <m:mr>
                            <m:e>
                              <m:r>
                                <a:rPr lang="ar-AE">
                                  <a:latin typeface="Cambria Math" panose="02040503050406030204" pitchFamily="18" charset="0"/>
                                </a:rPr>
                                <m:t>2</m:t>
                              </m:r>
                            </m:e>
                            <m:e>
                              <m:r>
                                <a:rPr lang="ar-AE">
                                  <a:latin typeface="Cambria Math" panose="02040503050406030204" pitchFamily="18" charset="0"/>
                                </a:rPr>
                                <m:t>2</m:t>
                              </m:r>
                            </m:e>
                            <m:e>
                              <m:r>
                                <a:rPr lang="ar-AE">
                                  <a:latin typeface="Cambria Math" panose="02040503050406030204" pitchFamily="18" charset="0"/>
                                </a:rPr>
                                <m:t>1</m:t>
                              </m:r>
                            </m:e>
                            <m:e>
                              <m:r>
                                <a:rPr lang="ar-AE">
                                  <a:latin typeface="Cambria Math" panose="02040503050406030204" pitchFamily="18" charset="0"/>
                                </a:rPr>
                                <m:t>1</m:t>
                              </m:r>
                            </m:e>
                          </m:mr>
                          <m:mr>
                            <m:e>
                              <m:r>
                                <a:rPr lang="ar-AE">
                                  <a:latin typeface="Cambria Math" panose="02040503050406030204" pitchFamily="18" charset="0"/>
                                </a:rPr>
                                <m:t>1</m:t>
                              </m:r>
                            </m:e>
                            <m:e>
                              <m:r>
                                <a:rPr lang="ar-AE">
                                  <a:latin typeface="Cambria Math" panose="02040503050406030204" pitchFamily="18" charset="0"/>
                                </a:rPr>
                                <m:t>1</m:t>
                              </m:r>
                            </m:e>
                            <m:e>
                              <m:r>
                                <a:rPr lang="ar-AE">
                                  <a:latin typeface="Cambria Math" panose="02040503050406030204" pitchFamily="18" charset="0"/>
                                </a:rPr>
                                <m:t>2</m:t>
                              </m:r>
                            </m:e>
                            <m:e>
                              <m:r>
                                <a:rPr lang="ar-AE">
                                  <a:latin typeface="Cambria Math" panose="02040503050406030204" pitchFamily="18" charset="0"/>
                                </a:rPr>
                                <m:t>2</m:t>
                              </m:r>
                            </m:e>
                          </m:mr>
                          <m:mr>
                            <m:e>
                              <m:r>
                                <a:rPr lang="ar-AE">
                                  <a:latin typeface="Cambria Math" panose="02040503050406030204" pitchFamily="18" charset="0"/>
                                </a:rPr>
                                <m:t>1</m:t>
                              </m:r>
                            </m:e>
                            <m:e>
                              <m:r>
                                <a:rPr lang="ar-AE">
                                  <a:latin typeface="Cambria Math" panose="02040503050406030204" pitchFamily="18" charset="0"/>
                                </a:rPr>
                                <m:t>1</m:t>
                              </m:r>
                            </m:e>
                            <m:e>
                              <m:r>
                                <a:rPr lang="ar-AE">
                                  <a:latin typeface="Cambria Math" panose="02040503050406030204" pitchFamily="18" charset="0"/>
                                </a:rPr>
                                <m:t>2</m:t>
                              </m:r>
                            </m:e>
                            <m:e>
                              <m:r>
                                <a:rPr lang="ar-AE">
                                  <a:latin typeface="Cambria Math" panose="02040503050406030204" pitchFamily="18" charset="0"/>
                                </a:rPr>
                                <m:t>2</m:t>
                              </m:r>
                            </m:e>
                          </m:mr>
                        </m:m>
                      </m:e>
                    </m:d>
                  </m:oMath>
                </a14:m>
                <a:endParaRPr lang="ar-AE" dirty="0"/>
              </a:p>
              <a:p>
                <a:r>
                  <a:rPr lang="en-IN" dirty="0"/>
                  <a:t>Normalize (divide by 2):</a:t>
                </a:r>
              </a:p>
              <a:p>
                <a14:m>
                  <m:oMath xmlns:m="http://schemas.openxmlformats.org/officeDocument/2006/math">
                    <m:acc>
                      <m:accPr>
                        <m:chr m:val="̂"/>
                        <m:ctrlPr>
                          <a:rPr lang="ar-AE" i="1">
                            <a:latin typeface="Cambria Math" panose="02040503050406030204" pitchFamily="18" charset="0"/>
                          </a:rPr>
                        </m:ctrlPr>
                      </m:accPr>
                      <m:e>
                        <m:r>
                          <a:rPr lang="ar-AE" i="1">
                            <a:latin typeface="Cambria Math" panose="02040503050406030204" pitchFamily="18" charset="0"/>
                          </a:rPr>
                          <m:t>𝑋</m:t>
                        </m:r>
                      </m:e>
                    </m:acc>
                    <m:r>
                      <a:rPr lang="ar-AE">
                        <a:latin typeface="Cambria Math" panose="02040503050406030204" pitchFamily="18" charset="0"/>
                      </a:rPr>
                      <m:t>=</m:t>
                    </m:r>
                    <m:d>
                      <m:dPr>
                        <m:begChr m:val="["/>
                        <m:endChr m:val="]"/>
                        <m:ctrlPr>
                          <a:rPr lang="ar-AE" i="1">
                            <a:latin typeface="Cambria Math" panose="02040503050406030204" pitchFamily="18" charset="0"/>
                          </a:rPr>
                        </m:ctrlPr>
                      </m:dPr>
                      <m:e>
                        <m:m>
                          <m:mPr>
                            <m:plcHide m:val="on"/>
                            <m:mcs>
                              <m:mc>
                                <m:mcPr>
                                  <m:count m:val="4"/>
                                  <m:mcJc m:val="center"/>
                                </m:mcPr>
                              </m:mc>
                            </m:mcs>
                            <m:ctrlPr>
                              <a:rPr lang="ar-AE" i="1">
                                <a:latin typeface="Cambria Math" panose="02040503050406030204" pitchFamily="18" charset="0"/>
                              </a:rPr>
                            </m:ctrlPr>
                          </m:mPr>
                          <m:mr>
                            <m:e>
                              <m:r>
                                <a:rPr lang="ar-AE">
                                  <a:latin typeface="Cambria Math" panose="02040503050406030204" pitchFamily="18" charset="0"/>
                                </a:rPr>
                                <m:t>1</m:t>
                              </m:r>
                            </m:e>
                            <m:e>
                              <m:r>
                                <a:rPr lang="ar-AE">
                                  <a:latin typeface="Cambria Math" panose="02040503050406030204" pitchFamily="18" charset="0"/>
                                </a:rPr>
                                <m:t>1</m:t>
                              </m:r>
                            </m:e>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5</m:t>
                              </m:r>
                            </m:e>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5</m:t>
                              </m:r>
                            </m:e>
                          </m:mr>
                          <m:mr>
                            <m:e>
                              <m:r>
                                <a:rPr lang="ar-AE">
                                  <a:latin typeface="Cambria Math" panose="02040503050406030204" pitchFamily="18" charset="0"/>
                                </a:rPr>
                                <m:t>1</m:t>
                              </m:r>
                            </m:e>
                            <m:e>
                              <m:r>
                                <a:rPr lang="ar-AE">
                                  <a:latin typeface="Cambria Math" panose="02040503050406030204" pitchFamily="18" charset="0"/>
                                </a:rPr>
                                <m:t>1</m:t>
                              </m:r>
                            </m:e>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5</m:t>
                              </m:r>
                            </m:e>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5</m:t>
                              </m:r>
                            </m:e>
                          </m:mr>
                          <m:m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5</m:t>
                              </m:r>
                            </m:e>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5</m:t>
                              </m:r>
                            </m:e>
                            <m:e>
                              <m:r>
                                <a:rPr lang="ar-AE">
                                  <a:latin typeface="Cambria Math" panose="02040503050406030204" pitchFamily="18" charset="0"/>
                                </a:rPr>
                                <m:t>1</m:t>
                              </m:r>
                            </m:e>
                            <m:e>
                              <m:r>
                                <a:rPr lang="ar-AE">
                                  <a:latin typeface="Cambria Math" panose="02040503050406030204" pitchFamily="18" charset="0"/>
                                </a:rPr>
                                <m:t>1</m:t>
                              </m:r>
                            </m:e>
                          </m:mr>
                          <m:m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5</m:t>
                              </m:r>
                            </m:e>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5</m:t>
                              </m:r>
                            </m:e>
                            <m:e>
                              <m:r>
                                <a:rPr lang="ar-AE">
                                  <a:latin typeface="Cambria Math" panose="02040503050406030204" pitchFamily="18" charset="0"/>
                                </a:rPr>
                                <m:t>1</m:t>
                              </m:r>
                            </m:e>
                            <m:e>
                              <m:r>
                                <a:rPr lang="ar-AE">
                                  <a:latin typeface="Cambria Math" panose="02040503050406030204" pitchFamily="18" charset="0"/>
                                </a:rPr>
                                <m:t>1</m:t>
                              </m:r>
                            </m:e>
                          </m:mr>
                        </m:m>
                      </m:e>
                    </m:d>
                  </m:oMath>
                </a14:m>
                <a:endParaRPr lang="ar-AE" dirty="0"/>
              </a:p>
              <a:p>
                <a:endParaRPr lang="en-IN" dirty="0"/>
              </a:p>
            </p:txBody>
          </p:sp>
        </mc:Choice>
        <mc:Fallback xmlns="">
          <p:sp>
            <p:nvSpPr>
              <p:cNvPr id="4" name="Content Placeholder 2">
                <a:extLst>
                  <a:ext uri="{FF2B5EF4-FFF2-40B4-BE49-F238E27FC236}">
                    <a16:creationId xmlns:a16="http://schemas.microsoft.com/office/drawing/2014/main" id="{88E2547A-434A-2178-D731-3FED9FF29A38}"/>
                  </a:ext>
                </a:extLst>
              </p:cNvPr>
              <p:cNvSpPr txBox="1">
                <a:spLocks noRot="1" noChangeAspect="1" noMove="1" noResize="1" noEditPoints="1" noAdjustHandles="1" noChangeArrowheads="1" noChangeShapeType="1" noTextEdit="1"/>
              </p:cNvSpPr>
              <p:nvPr/>
            </p:nvSpPr>
            <p:spPr>
              <a:xfrm>
                <a:off x="6055042" y="1432560"/>
                <a:ext cx="5832158" cy="4693710"/>
              </a:xfrm>
              <a:prstGeom prst="rect">
                <a:avLst/>
              </a:prstGeom>
              <a:blipFill>
                <a:blip r:embed="rId3"/>
                <a:stretch>
                  <a:fillRect l="-2926" t="-1818" r="-4075"/>
                </a:stretch>
              </a:blipFill>
            </p:spPr>
            <p:txBody>
              <a:bodyPr/>
              <a:lstStyle/>
              <a:p>
                <a:r>
                  <a:rPr lang="en-IN">
                    <a:noFill/>
                  </a:rPr>
                  <a:t> </a:t>
                </a:r>
              </a:p>
            </p:txBody>
          </p:sp>
        </mc:Fallback>
      </mc:AlternateContent>
    </p:spTree>
    <p:extLst>
      <p:ext uri="{BB962C8B-B14F-4D97-AF65-F5344CB8AC3E}">
        <p14:creationId xmlns:p14="http://schemas.microsoft.com/office/powerpoint/2010/main" val="251023621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E95FC2-9991-4ED7-3813-21FBF6FBD80E}"/>
              </a:ext>
            </a:extLst>
          </p:cNvPr>
          <p:cNvSpPr>
            <a:spLocks noGrp="1"/>
          </p:cNvSpPr>
          <p:nvPr>
            <p:ph type="title"/>
          </p:nvPr>
        </p:nvSpPr>
        <p:spPr/>
        <p:txBody>
          <a:bodyPr>
            <a:normAutofit fontScale="90000"/>
          </a:bodyPr>
          <a:lstStyle/>
          <a:p>
            <a:endParaRPr lang="en-IN"/>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7A8D3A9-0697-F3F1-2956-D3465D649A7F}"/>
                  </a:ext>
                </a:extLst>
              </p:cNvPr>
              <p:cNvSpPr>
                <a:spLocks noGrp="1"/>
              </p:cNvSpPr>
              <p:nvPr>
                <p:ph idx="1"/>
              </p:nvPr>
            </p:nvSpPr>
            <p:spPr>
              <a:xfrm>
                <a:off x="1025842" y="1402080"/>
                <a:ext cx="10201275" cy="4724190"/>
              </a:xfrm>
            </p:spPr>
            <p:txBody>
              <a:bodyPr>
                <a:normAutofit fontScale="92500" lnSpcReduction="20000"/>
              </a:bodyPr>
              <a:lstStyle/>
              <a:p>
                <a:r>
                  <a:rPr lang="en-IN" b="1" dirty="0"/>
                  <a:t>STEP 6: Reconstruction Loss</a:t>
                </a:r>
              </a:p>
              <a:p>
                <a:r>
                  <a:rPr lang="en-IN" dirty="0"/>
                  <a:t>Original:</a:t>
                </a:r>
              </a:p>
              <a:p>
                <a14:m>
                  <m:oMath xmlns:m="http://schemas.openxmlformats.org/officeDocument/2006/math">
                    <m:r>
                      <a:rPr lang="en-IN" i="1">
                        <a:latin typeface="Cambria Math" panose="02040503050406030204" pitchFamily="18" charset="0"/>
                      </a:rPr>
                      <m:t>𝑋</m:t>
                    </m:r>
                    <m:r>
                      <a:rPr lang="en-IN">
                        <a:latin typeface="Cambria Math" panose="02040503050406030204" pitchFamily="18" charset="0"/>
                      </a:rPr>
                      <m:t>=</m:t>
                    </m:r>
                    <m:d>
                      <m:dPr>
                        <m:begChr m:val="["/>
                        <m:endChr m:val="]"/>
                        <m:ctrlPr>
                          <a:rPr lang="ar-AE" i="1">
                            <a:latin typeface="Cambria Math" panose="02040503050406030204" pitchFamily="18" charset="0"/>
                          </a:rPr>
                        </m:ctrlPr>
                      </m:dPr>
                      <m:e>
                        <m:m>
                          <m:mPr>
                            <m:plcHide m:val="on"/>
                            <m:mcs>
                              <m:mc>
                                <m:mcPr>
                                  <m:count m:val="4"/>
                                  <m:mcJc m:val="center"/>
                                </m:mcPr>
                              </m:mc>
                            </m:mcs>
                            <m:ctrlPr>
                              <a:rPr lang="ar-AE" i="1">
                                <a:latin typeface="Cambria Math" panose="02040503050406030204" pitchFamily="18" charset="0"/>
                              </a:rPr>
                            </m:ctrlPr>
                          </m:mPr>
                          <m:mr>
                            <m:e>
                              <m:r>
                                <a:rPr lang="ar-AE">
                                  <a:latin typeface="Cambria Math" panose="02040503050406030204" pitchFamily="18" charset="0"/>
                                </a:rPr>
                                <m:t>1</m:t>
                              </m:r>
                            </m:e>
                            <m:e>
                              <m:r>
                                <a:rPr lang="ar-AE">
                                  <a:latin typeface="Cambria Math" panose="02040503050406030204" pitchFamily="18" charset="0"/>
                                </a:rPr>
                                <m:t>1</m:t>
                              </m:r>
                            </m:e>
                            <m:e>
                              <m:r>
                                <a:rPr lang="ar-AE">
                                  <a:latin typeface="Cambria Math" panose="02040503050406030204" pitchFamily="18" charset="0"/>
                                </a:rPr>
                                <m:t>0</m:t>
                              </m:r>
                            </m:e>
                            <m:e>
                              <m:r>
                                <a:rPr lang="ar-AE">
                                  <a:latin typeface="Cambria Math" panose="02040503050406030204" pitchFamily="18" charset="0"/>
                                </a:rPr>
                                <m:t>0</m:t>
                              </m:r>
                            </m:e>
                          </m:mr>
                          <m:mr>
                            <m:e>
                              <m:r>
                                <a:rPr lang="ar-AE">
                                  <a:latin typeface="Cambria Math" panose="02040503050406030204" pitchFamily="18" charset="0"/>
                                </a:rPr>
                                <m:t>1</m:t>
                              </m:r>
                            </m:e>
                            <m:e>
                              <m:r>
                                <a:rPr lang="ar-AE">
                                  <a:latin typeface="Cambria Math" panose="02040503050406030204" pitchFamily="18" charset="0"/>
                                </a:rPr>
                                <m:t>1</m:t>
                              </m:r>
                            </m:e>
                            <m:e>
                              <m:r>
                                <a:rPr lang="ar-AE">
                                  <a:latin typeface="Cambria Math" panose="02040503050406030204" pitchFamily="18" charset="0"/>
                                </a:rPr>
                                <m:t>0</m:t>
                              </m:r>
                            </m:e>
                            <m:e>
                              <m:r>
                                <a:rPr lang="ar-AE">
                                  <a:latin typeface="Cambria Math" panose="02040503050406030204" pitchFamily="18" charset="0"/>
                                </a:rPr>
                                <m:t>0</m:t>
                              </m:r>
                            </m:e>
                          </m:mr>
                          <m:mr>
                            <m:e>
                              <m:r>
                                <a:rPr lang="ar-AE">
                                  <a:latin typeface="Cambria Math" panose="02040503050406030204" pitchFamily="18" charset="0"/>
                                </a:rPr>
                                <m:t>0</m:t>
                              </m:r>
                            </m:e>
                            <m:e>
                              <m:r>
                                <a:rPr lang="ar-AE">
                                  <a:latin typeface="Cambria Math" panose="02040503050406030204" pitchFamily="18" charset="0"/>
                                </a:rPr>
                                <m:t>0</m:t>
                              </m:r>
                            </m:e>
                            <m:e>
                              <m:r>
                                <a:rPr lang="ar-AE">
                                  <a:latin typeface="Cambria Math" panose="02040503050406030204" pitchFamily="18" charset="0"/>
                                </a:rPr>
                                <m:t>1</m:t>
                              </m:r>
                            </m:e>
                            <m:e>
                              <m:r>
                                <a:rPr lang="ar-AE">
                                  <a:latin typeface="Cambria Math" panose="02040503050406030204" pitchFamily="18" charset="0"/>
                                </a:rPr>
                                <m:t>1</m:t>
                              </m:r>
                            </m:e>
                          </m:mr>
                          <m:mr>
                            <m:e>
                              <m:r>
                                <a:rPr lang="ar-AE">
                                  <a:latin typeface="Cambria Math" panose="02040503050406030204" pitchFamily="18" charset="0"/>
                                </a:rPr>
                                <m:t>0</m:t>
                              </m:r>
                            </m:e>
                            <m:e>
                              <m:r>
                                <a:rPr lang="ar-AE">
                                  <a:latin typeface="Cambria Math" panose="02040503050406030204" pitchFamily="18" charset="0"/>
                                </a:rPr>
                                <m:t>0</m:t>
                              </m:r>
                            </m:e>
                            <m:e>
                              <m:r>
                                <a:rPr lang="ar-AE">
                                  <a:latin typeface="Cambria Math" panose="02040503050406030204" pitchFamily="18" charset="0"/>
                                </a:rPr>
                                <m:t>1</m:t>
                              </m:r>
                            </m:e>
                            <m:e>
                              <m:r>
                                <a:rPr lang="ar-AE">
                                  <a:latin typeface="Cambria Math" panose="02040503050406030204" pitchFamily="18" charset="0"/>
                                </a:rPr>
                                <m:t>1</m:t>
                              </m:r>
                            </m:e>
                          </m:mr>
                        </m:m>
                      </m:e>
                    </m:d>
                  </m:oMath>
                </a14:m>
                <a:endParaRPr lang="ar-AE" dirty="0"/>
              </a:p>
              <a:p>
                <a:r>
                  <a:rPr lang="en-IN" dirty="0"/>
                  <a:t>Reconstructed:</a:t>
                </a:r>
              </a:p>
              <a:p>
                <a:r>
                  <a:rPr lang="en-IN" dirty="0"/>
                  <a:t>values differ only where 0.5 appears.</a:t>
                </a:r>
              </a:p>
              <a:p>
                <a:r>
                  <a:rPr lang="en-IN" dirty="0"/>
                  <a:t>Error per such cell:</a:t>
                </a:r>
              </a:p>
              <a:p>
                <a14:m>
                  <m:oMath xmlns:m="http://schemas.openxmlformats.org/officeDocument/2006/math">
                    <m:d>
                      <m:dPr>
                        <m:endChr m:val=""/>
                        <m:ctrlPr>
                          <a:rPr lang="ar-AE" i="1">
                            <a:latin typeface="Cambria Math" panose="02040503050406030204" pitchFamily="18" charset="0"/>
                          </a:rPr>
                        </m:ctrlPr>
                      </m:dP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5</m:t>
                        </m:r>
                        <m:sSup>
                          <m:sSupPr>
                            <m:ctrlPr>
                              <a:rPr lang="ar-AE" i="1">
                                <a:latin typeface="Cambria Math" panose="02040503050406030204" pitchFamily="18" charset="0"/>
                              </a:rPr>
                            </m:ctrlPr>
                          </m:sSupPr>
                          <m:e>
                            <m:d>
                              <m:dPr>
                                <m:begChr m:val=""/>
                                <m:endChr m:val=""/>
                                <m:ctrlPr>
                                  <a:rPr lang="ar-AE" i="1">
                                    <a:latin typeface="Cambria Math" panose="02040503050406030204" pitchFamily="18" charset="0"/>
                                  </a:rPr>
                                </m:ctrlPr>
                              </m:dPr>
                              <m:e>
                                <m:r>
                                  <a:rPr lang="ar-AE">
                                    <a:latin typeface="Cambria Math" panose="02040503050406030204" pitchFamily="18" charset="0"/>
                                  </a:rPr>
                                  <m:t>)</m:t>
                                </m:r>
                              </m:e>
                            </m:d>
                          </m:e>
                          <m:sup>
                            <m:r>
                              <a:rPr lang="ar-AE">
                                <a:latin typeface="Cambria Math" panose="02040503050406030204" pitchFamily="18" charset="0"/>
                              </a:rPr>
                              <m:t>2</m:t>
                            </m:r>
                          </m:sup>
                        </m:sSup>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25</m:t>
                        </m:r>
                      </m:e>
                    </m:d>
                  </m:oMath>
                </a14:m>
                <a:endParaRPr lang="ar-AE" dirty="0"/>
              </a:p>
              <a:p>
                <a:r>
                  <a:rPr lang="en-IN" dirty="0"/>
                  <a:t>Number of such cells = 8</a:t>
                </a:r>
              </a:p>
              <a:p>
                <a14:m>
                  <m:oMath xmlns:m="http://schemas.openxmlformats.org/officeDocument/2006/math">
                    <m:r>
                      <a:rPr lang="en-IN" i="1">
                        <a:latin typeface="Cambria Math" panose="02040503050406030204" pitchFamily="18" charset="0"/>
                      </a:rPr>
                      <m:t>𝐿</m:t>
                    </m:r>
                    <m:r>
                      <a:rPr lang="en-IN">
                        <a:latin typeface="Cambria Math" panose="02040503050406030204" pitchFamily="18" charset="0"/>
                      </a:rPr>
                      <m:t>=</m:t>
                    </m:r>
                    <m:r>
                      <a:rPr lang="en-IN">
                        <a:latin typeface="Cambria Math" panose="02040503050406030204" pitchFamily="18" charset="0"/>
                      </a:rPr>
                      <m:t>8</m:t>
                    </m:r>
                    <m:r>
                      <a:rPr lang="en-IN">
                        <a:latin typeface="Cambria Math" panose="02040503050406030204" pitchFamily="18" charset="0"/>
                      </a:rPr>
                      <m:t>×</m:t>
                    </m:r>
                    <m:r>
                      <a:rPr lang="en-IN">
                        <a:latin typeface="Cambria Math" panose="02040503050406030204" pitchFamily="18" charset="0"/>
                      </a:rPr>
                      <m:t>0</m:t>
                    </m:r>
                    <m:r>
                      <a:rPr lang="en-IN">
                        <a:latin typeface="Cambria Math" panose="02040503050406030204" pitchFamily="18" charset="0"/>
                      </a:rPr>
                      <m:t>.</m:t>
                    </m:r>
                    <m:r>
                      <a:rPr lang="en-IN">
                        <a:latin typeface="Cambria Math" panose="02040503050406030204" pitchFamily="18" charset="0"/>
                      </a:rPr>
                      <m:t>25</m:t>
                    </m:r>
                    <m:r>
                      <a:rPr lang="en-IN">
                        <a:latin typeface="Cambria Math" panose="02040503050406030204" pitchFamily="18" charset="0"/>
                      </a:rPr>
                      <m:t>=</m:t>
                    </m:r>
                    <m:r>
                      <a:rPr lang="en-IN">
                        <a:latin typeface="Cambria Math" panose="02040503050406030204" pitchFamily="18" charset="0"/>
                      </a:rPr>
                      <m:t>2</m:t>
                    </m:r>
                  </m:oMath>
                </a14:m>
                <a:endParaRPr lang="en-IN" dirty="0"/>
              </a:p>
              <a:p>
                <a:endParaRPr lang="en-IN" dirty="0"/>
              </a:p>
            </p:txBody>
          </p:sp>
        </mc:Choice>
        <mc:Fallback xmlns="">
          <p:sp>
            <p:nvSpPr>
              <p:cNvPr id="3" name="Content Placeholder 2">
                <a:extLst>
                  <a:ext uri="{FF2B5EF4-FFF2-40B4-BE49-F238E27FC236}">
                    <a16:creationId xmlns:a16="http://schemas.microsoft.com/office/drawing/2014/main" id="{E7A8D3A9-0697-F3F1-2956-D3465D649A7F}"/>
                  </a:ext>
                </a:extLst>
              </p:cNvPr>
              <p:cNvSpPr>
                <a:spLocks noGrp="1" noRot="1" noChangeAspect="1" noMove="1" noResize="1" noEditPoints="1" noAdjustHandles="1" noChangeArrowheads="1" noChangeShapeType="1" noTextEdit="1"/>
              </p:cNvSpPr>
              <p:nvPr>
                <p:ph idx="1"/>
              </p:nvPr>
            </p:nvSpPr>
            <p:spPr>
              <a:xfrm>
                <a:off x="1025842" y="1402080"/>
                <a:ext cx="10201275" cy="4724190"/>
              </a:xfrm>
              <a:blipFill>
                <a:blip r:embed="rId2"/>
                <a:stretch>
                  <a:fillRect l="-1553" t="-2710" b="-1677"/>
                </a:stretch>
              </a:blipFill>
            </p:spPr>
            <p:txBody>
              <a:bodyPr/>
              <a:lstStyle/>
              <a:p>
                <a:r>
                  <a:rPr lang="en-IN">
                    <a:noFill/>
                  </a:rPr>
                  <a:t> </a:t>
                </a:r>
              </a:p>
            </p:txBody>
          </p:sp>
        </mc:Fallback>
      </mc:AlternateContent>
    </p:spTree>
    <p:extLst>
      <p:ext uri="{BB962C8B-B14F-4D97-AF65-F5344CB8AC3E}">
        <p14:creationId xmlns:p14="http://schemas.microsoft.com/office/powerpoint/2010/main" val="380657390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C56AD3-95AA-7DCE-A8AD-7A9E31169DFD}"/>
              </a:ext>
            </a:extLst>
          </p:cNvPr>
          <p:cNvSpPr>
            <a:spLocks noGrp="1"/>
          </p:cNvSpPr>
          <p:nvPr>
            <p:ph type="title"/>
          </p:nvPr>
        </p:nvSpPr>
        <p:spPr/>
        <p:txBody>
          <a:bodyPr>
            <a:normAutofit fontScale="90000"/>
          </a:bodyPr>
          <a:lstStyle/>
          <a:p>
            <a:endParaRPr lang="en-IN"/>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146B4D1-E90F-5119-D77E-076BBEAA4596}"/>
                  </a:ext>
                </a:extLst>
              </p:cNvPr>
              <p:cNvSpPr>
                <a:spLocks noGrp="1"/>
              </p:cNvSpPr>
              <p:nvPr>
                <p:ph idx="1"/>
              </p:nvPr>
            </p:nvSpPr>
            <p:spPr>
              <a:xfrm>
                <a:off x="1097280" y="1615440"/>
                <a:ext cx="10129837" cy="4510830"/>
              </a:xfrm>
            </p:spPr>
            <p:txBody>
              <a:bodyPr/>
              <a:lstStyle/>
              <a:p>
                <a:r>
                  <a:rPr lang="en-IN" b="1" dirty="0"/>
                  <a:t>Final Results</a:t>
                </a:r>
              </a:p>
              <a:p>
                <a:r>
                  <a:rPr lang="en-IN" b="1" dirty="0"/>
                  <a:t>Encoded representation</a:t>
                </a:r>
              </a:p>
              <a:p>
                <a14:m>
                  <m:oMath xmlns:m="http://schemas.openxmlformats.org/officeDocument/2006/math">
                    <m:d>
                      <m:dPr>
                        <m:begChr m:val="["/>
                        <m:endChr m:val="]"/>
                        <m:ctrlPr>
                          <a:rPr lang="ar-AE" i="1">
                            <a:latin typeface="Cambria Math" panose="02040503050406030204" pitchFamily="18" charset="0"/>
                          </a:rPr>
                        </m:ctrlPr>
                      </m:dPr>
                      <m:e>
                        <m:m>
                          <m:mPr>
                            <m:plcHide m:val="on"/>
                            <m:mcs>
                              <m:mc>
                                <m:mcPr>
                                  <m:count m:val="2"/>
                                  <m:mcJc m:val="center"/>
                                </m:mcPr>
                              </m:mc>
                            </m:mcs>
                            <m:ctrlPr>
                              <a:rPr lang="ar-AE" i="1">
                                <a:latin typeface="Cambria Math" panose="02040503050406030204" pitchFamily="18" charset="0"/>
                              </a:rPr>
                            </m:ctrlPr>
                          </m:mPr>
                          <m:mr>
                            <m:e>
                              <m:r>
                                <a:rPr lang="ar-AE">
                                  <a:latin typeface="Cambria Math" panose="02040503050406030204" pitchFamily="18" charset="0"/>
                                </a:rPr>
                                <m:t>2</m:t>
                              </m:r>
                            </m:e>
                            <m:e>
                              <m:r>
                                <a:rPr lang="ar-AE">
                                  <a:latin typeface="Cambria Math" panose="02040503050406030204" pitchFamily="18" charset="0"/>
                                </a:rPr>
                                <m:t>1</m:t>
                              </m:r>
                            </m:e>
                          </m:mr>
                          <m:mr>
                            <m:e>
                              <m:r>
                                <a:rPr lang="ar-AE">
                                  <a:latin typeface="Cambria Math" panose="02040503050406030204" pitchFamily="18" charset="0"/>
                                </a:rPr>
                                <m:t>1</m:t>
                              </m:r>
                            </m:e>
                            <m:e>
                              <m:r>
                                <a:rPr lang="ar-AE">
                                  <a:latin typeface="Cambria Math" panose="02040503050406030204" pitchFamily="18" charset="0"/>
                                </a:rPr>
                                <m:t>2</m:t>
                              </m:r>
                            </m:e>
                          </m:mr>
                        </m:m>
                      </m:e>
                    </m:d>
                  </m:oMath>
                </a14:m>
                <a:endParaRPr lang="ar-AE" dirty="0"/>
              </a:p>
              <a:p>
                <a:r>
                  <a:rPr lang="en-IN" b="1" dirty="0"/>
                  <a:t>Reconstructed image approximates original.</a:t>
                </a:r>
              </a:p>
              <a:p>
                <a:r>
                  <a:rPr lang="en-IN" b="1" dirty="0"/>
                  <a:t>Reconstruction loss</a:t>
                </a:r>
              </a:p>
              <a:p>
                <a14:m>
                  <m:oMath xmlns:m="http://schemas.openxmlformats.org/officeDocument/2006/math">
                    <m:borderBox>
                      <m:borderBoxPr>
                        <m:ctrlPr>
                          <a:rPr lang="ar-AE" i="1">
                            <a:latin typeface="Cambria Math" panose="02040503050406030204" pitchFamily="18" charset="0"/>
                          </a:rPr>
                        </m:ctrlPr>
                      </m:borderBoxPr>
                      <m:e>
                        <m:r>
                          <a:rPr lang="ar-AE" i="1">
                            <a:latin typeface="Cambria Math" panose="02040503050406030204" pitchFamily="18" charset="0"/>
                          </a:rPr>
                          <m:t>𝐿</m:t>
                        </m:r>
                        <m:r>
                          <a:rPr lang="ar-AE">
                            <a:latin typeface="Cambria Math" panose="02040503050406030204" pitchFamily="18" charset="0"/>
                          </a:rPr>
                          <m:t>=</m:t>
                        </m:r>
                        <m:r>
                          <a:rPr lang="ar-AE">
                            <a:latin typeface="Cambria Math" panose="02040503050406030204" pitchFamily="18" charset="0"/>
                          </a:rPr>
                          <m:t>2</m:t>
                        </m:r>
                      </m:e>
                    </m:borderBox>
                  </m:oMath>
                </a14:m>
                <a:endParaRPr lang="ar-AE" dirty="0"/>
              </a:p>
              <a:p>
                <a:endParaRPr lang="en-IN" dirty="0"/>
              </a:p>
            </p:txBody>
          </p:sp>
        </mc:Choice>
        <mc:Fallback xmlns="">
          <p:sp>
            <p:nvSpPr>
              <p:cNvPr id="3" name="Content Placeholder 2">
                <a:extLst>
                  <a:ext uri="{FF2B5EF4-FFF2-40B4-BE49-F238E27FC236}">
                    <a16:creationId xmlns:a16="http://schemas.microsoft.com/office/drawing/2014/main" id="{D146B4D1-E90F-5119-D77E-076BBEAA4596}"/>
                  </a:ext>
                </a:extLst>
              </p:cNvPr>
              <p:cNvSpPr>
                <a:spLocks noGrp="1" noRot="1" noChangeAspect="1" noMove="1" noResize="1" noEditPoints="1" noAdjustHandles="1" noChangeArrowheads="1" noChangeShapeType="1" noTextEdit="1"/>
              </p:cNvSpPr>
              <p:nvPr>
                <p:ph idx="1"/>
              </p:nvPr>
            </p:nvSpPr>
            <p:spPr>
              <a:xfrm>
                <a:off x="1097280" y="1615440"/>
                <a:ext cx="10129837" cy="4510830"/>
              </a:xfrm>
              <a:blipFill>
                <a:blip r:embed="rId2"/>
                <a:stretch>
                  <a:fillRect l="-1685" t="-1892"/>
                </a:stretch>
              </a:blipFill>
            </p:spPr>
            <p:txBody>
              <a:bodyPr/>
              <a:lstStyle/>
              <a:p>
                <a:r>
                  <a:rPr lang="en-IN">
                    <a:noFill/>
                  </a:rPr>
                  <a:t> </a:t>
                </a:r>
              </a:p>
            </p:txBody>
          </p:sp>
        </mc:Fallback>
      </mc:AlternateContent>
    </p:spTree>
    <p:extLst>
      <p:ext uri="{BB962C8B-B14F-4D97-AF65-F5344CB8AC3E}">
        <p14:creationId xmlns:p14="http://schemas.microsoft.com/office/powerpoint/2010/main" val="103210576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07AEBB-B4C8-8AEE-82D5-30D9DE40C9A9}"/>
              </a:ext>
            </a:extLst>
          </p:cNvPr>
          <p:cNvSpPr>
            <a:spLocks noGrp="1"/>
          </p:cNvSpPr>
          <p:nvPr>
            <p:ph type="title"/>
          </p:nvPr>
        </p:nvSpPr>
        <p:spPr/>
        <p:txBody>
          <a:bodyPr>
            <a:normAutofit fontScale="90000"/>
          </a:bodyPr>
          <a:lstStyle/>
          <a:p>
            <a:r>
              <a:rPr lang="en-IN" dirty="0"/>
              <a:t>Adversarial Autoencoders (AAEs)</a:t>
            </a:r>
          </a:p>
        </p:txBody>
      </p:sp>
      <p:sp>
        <p:nvSpPr>
          <p:cNvPr id="3" name="Content Placeholder 2">
            <a:extLst>
              <a:ext uri="{FF2B5EF4-FFF2-40B4-BE49-F238E27FC236}">
                <a16:creationId xmlns:a16="http://schemas.microsoft.com/office/drawing/2014/main" id="{BF9FB90C-9BA5-8C24-7C1C-FFBCA35A8EFB}"/>
              </a:ext>
            </a:extLst>
          </p:cNvPr>
          <p:cNvSpPr>
            <a:spLocks noGrp="1"/>
          </p:cNvSpPr>
          <p:nvPr>
            <p:ph idx="1"/>
          </p:nvPr>
        </p:nvSpPr>
        <p:spPr>
          <a:xfrm>
            <a:off x="1025842" y="1290320"/>
            <a:ext cx="10201275" cy="4835950"/>
          </a:xfrm>
        </p:spPr>
        <p:txBody>
          <a:bodyPr>
            <a:normAutofit lnSpcReduction="10000"/>
          </a:bodyPr>
          <a:lstStyle/>
          <a:p>
            <a:r>
              <a:rPr lang="en-IN" b="1" dirty="0"/>
              <a:t>Description</a:t>
            </a:r>
            <a:r>
              <a:rPr lang="en-IN" dirty="0"/>
              <a:t>: Integrate Generative Adversarial Networks (GANs) to match the latent distribution to a prior, improving generation quality.</a:t>
            </a:r>
          </a:p>
          <a:p>
            <a:r>
              <a:rPr lang="en-IN" b="1" dirty="0"/>
              <a:t>Architecture and How It Works</a:t>
            </a:r>
            <a:r>
              <a:rPr lang="en-IN" dirty="0"/>
              <a:t>: Encoder-decoder as in VAE, but a discriminator distinguishes latent samples from prior (e.g., Gaussian). Train </a:t>
            </a:r>
            <a:r>
              <a:rPr lang="en-IN" dirty="0" err="1"/>
              <a:t>adversarially</a:t>
            </a:r>
            <a:r>
              <a:rPr lang="en-IN" dirty="0"/>
              <a:t>: Encoder fools discriminator.</a:t>
            </a:r>
          </a:p>
          <a:p>
            <a:pPr lvl="1"/>
            <a:r>
              <a:rPr lang="en-IN" dirty="0"/>
              <a:t>Loss: Reconstruction + adversarial (min-max game):</a:t>
            </a:r>
          </a:p>
          <a:p>
            <a:endParaRPr lang="ar-AE" dirty="0"/>
          </a:p>
          <a:p>
            <a:pPr lvl="1"/>
            <a:r>
              <a:rPr lang="en-IN" dirty="0"/>
              <a:t>No explicit KL like VAEs.</a:t>
            </a:r>
          </a:p>
          <a:p>
            <a:r>
              <a:rPr lang="en-IN" b="1" dirty="0"/>
              <a:t>Advantages</a:t>
            </a:r>
            <a:r>
              <a:rPr lang="en-IN" dirty="0"/>
              <a:t>: Sharper generations than VAEs; flexible priors.</a:t>
            </a:r>
          </a:p>
          <a:p>
            <a:r>
              <a:rPr lang="en-IN" b="1" dirty="0"/>
              <a:t>Limitations</a:t>
            </a:r>
            <a:r>
              <a:rPr lang="en-IN" dirty="0"/>
              <a:t>: Inherits GAN instability (mode collapse, training oscillations).</a:t>
            </a:r>
          </a:p>
          <a:p>
            <a:r>
              <a:rPr lang="en-IN" b="1" dirty="0"/>
              <a:t>Applications</a:t>
            </a:r>
            <a:r>
              <a:rPr lang="en-IN" dirty="0"/>
              <a:t>: Semi-supervised learning (use latent for classification); high-quality image synthesis; clustering with adversarial regularization.</a:t>
            </a:r>
          </a:p>
          <a:p>
            <a:endParaRPr lang="en-IN" dirty="0"/>
          </a:p>
        </p:txBody>
      </p:sp>
      <p:pic>
        <p:nvPicPr>
          <p:cNvPr id="5" name="Picture 4">
            <a:extLst>
              <a:ext uri="{FF2B5EF4-FFF2-40B4-BE49-F238E27FC236}">
                <a16:creationId xmlns:a16="http://schemas.microsoft.com/office/drawing/2014/main" id="{6009409C-5966-47E4-7FC2-3646EC9F895C}"/>
              </a:ext>
            </a:extLst>
          </p:cNvPr>
          <p:cNvPicPr>
            <a:picLocks noChangeAspect="1"/>
          </p:cNvPicPr>
          <p:nvPr/>
        </p:nvPicPr>
        <p:blipFill>
          <a:blip r:embed="rId2"/>
          <a:stretch>
            <a:fillRect/>
          </a:stretch>
        </p:blipFill>
        <p:spPr>
          <a:xfrm>
            <a:off x="4486168" y="3550920"/>
            <a:ext cx="7522952" cy="899161"/>
          </a:xfrm>
          <a:prstGeom prst="rect">
            <a:avLst/>
          </a:prstGeom>
        </p:spPr>
      </p:pic>
    </p:spTree>
    <p:extLst>
      <p:ext uri="{BB962C8B-B14F-4D97-AF65-F5344CB8AC3E}">
        <p14:creationId xmlns:p14="http://schemas.microsoft.com/office/powerpoint/2010/main" val="193607530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739CB6-BD63-BBA7-C742-E9801EFA1A57}"/>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6131B2E5-1269-8F23-87E1-30BFD4CB1E12}"/>
              </a:ext>
            </a:extLst>
          </p:cNvPr>
          <p:cNvSpPr>
            <a:spLocks noGrp="1"/>
          </p:cNvSpPr>
          <p:nvPr>
            <p:ph idx="1"/>
          </p:nvPr>
        </p:nvSpPr>
        <p:spPr>
          <a:xfrm>
            <a:off x="559117" y="1361440"/>
            <a:ext cx="5089843" cy="4764830"/>
          </a:xfrm>
        </p:spPr>
        <p:txBody>
          <a:bodyPr>
            <a:normAutofit/>
          </a:bodyPr>
          <a:lstStyle/>
          <a:p>
            <a:pPr>
              <a:lnSpc>
                <a:spcPct val="120000"/>
              </a:lnSpc>
              <a:spcBef>
                <a:spcPts val="0"/>
              </a:spcBef>
              <a:spcAft>
                <a:spcPts val="0"/>
              </a:spcAft>
            </a:pPr>
            <a:r>
              <a:rPr lang="en-IN" dirty="0"/>
              <a:t>An </a:t>
            </a:r>
            <a:r>
              <a:rPr lang="en-IN" b="1" dirty="0"/>
              <a:t>Adversarial Autoencoder (AAE)</a:t>
            </a:r>
            <a:r>
              <a:rPr lang="en-IN" dirty="0"/>
              <a:t> combines:</a:t>
            </a:r>
          </a:p>
          <a:p>
            <a:pPr>
              <a:lnSpc>
                <a:spcPct val="120000"/>
              </a:lnSpc>
              <a:spcBef>
                <a:spcPts val="0"/>
              </a:spcBef>
              <a:spcAft>
                <a:spcPts val="0"/>
              </a:spcAft>
            </a:pPr>
            <a:r>
              <a:rPr lang="en-IN" dirty="0"/>
              <a:t> Autoencoder (for reconstruction)</a:t>
            </a:r>
            <a:br>
              <a:rPr lang="en-IN" dirty="0"/>
            </a:br>
            <a:r>
              <a:rPr lang="en-IN" dirty="0"/>
              <a:t> Adversarial training (like GANs)</a:t>
            </a:r>
          </a:p>
          <a:p>
            <a:pPr>
              <a:lnSpc>
                <a:spcPct val="120000"/>
              </a:lnSpc>
              <a:spcBef>
                <a:spcPts val="0"/>
              </a:spcBef>
              <a:spcAft>
                <a:spcPts val="0"/>
              </a:spcAft>
            </a:pPr>
            <a:r>
              <a:rPr lang="en-IN" dirty="0"/>
              <a:t>to force the latent space to follow a </a:t>
            </a:r>
            <a:r>
              <a:rPr lang="en-IN" b="1" dirty="0"/>
              <a:t>desired probability distribution</a:t>
            </a:r>
            <a:r>
              <a:rPr lang="en-IN" dirty="0"/>
              <a:t>.</a:t>
            </a:r>
          </a:p>
          <a:p>
            <a:pPr>
              <a:lnSpc>
                <a:spcPct val="120000"/>
              </a:lnSpc>
              <a:spcBef>
                <a:spcPts val="0"/>
              </a:spcBef>
              <a:spcAft>
                <a:spcPts val="0"/>
              </a:spcAft>
            </a:pPr>
            <a:r>
              <a:rPr lang="en-IN" dirty="0"/>
              <a:t> It merges </a:t>
            </a:r>
            <a:r>
              <a:rPr lang="en-IN" b="1" dirty="0"/>
              <a:t>Autoencoders + Generative Adversarial Networks (GANs)</a:t>
            </a:r>
            <a:r>
              <a:rPr lang="en-IN" dirty="0"/>
              <a:t>.</a:t>
            </a:r>
          </a:p>
          <a:p>
            <a:pPr>
              <a:lnSpc>
                <a:spcPct val="120000"/>
              </a:lnSpc>
              <a:spcBef>
                <a:spcPts val="0"/>
              </a:spcBef>
              <a:spcAft>
                <a:spcPts val="0"/>
              </a:spcAft>
            </a:pPr>
            <a:endParaRPr lang="en-IN" dirty="0"/>
          </a:p>
        </p:txBody>
      </p:sp>
      <mc:AlternateContent xmlns:mc="http://schemas.openxmlformats.org/markup-compatibility/2006" xmlns:a14="http://schemas.microsoft.com/office/drawing/2010/main">
        <mc:Choice Requires="a14">
          <p:sp>
            <p:nvSpPr>
              <p:cNvPr id="4" name="Content Placeholder 2">
                <a:extLst>
                  <a:ext uri="{FF2B5EF4-FFF2-40B4-BE49-F238E27FC236}">
                    <a16:creationId xmlns:a16="http://schemas.microsoft.com/office/drawing/2014/main" id="{E35E86E2-2B69-220D-58B9-13AF1BFBE409}"/>
                  </a:ext>
                </a:extLst>
              </p:cNvPr>
              <p:cNvSpPr txBox="1">
                <a:spLocks/>
              </p:cNvSpPr>
              <p:nvPr/>
            </p:nvSpPr>
            <p:spPr>
              <a:xfrm>
                <a:off x="6400800" y="1361440"/>
                <a:ext cx="5232083" cy="4764830"/>
              </a:xfrm>
              <a:prstGeom prst="rect">
                <a:avLst/>
              </a:prstGeom>
            </p:spPr>
            <p:txBody>
              <a:bodyPr vert="horz" lIns="0" tIns="45720" rIns="0" bIns="45720" rtlCol="0">
                <a:normAutofit fontScale="92500" lnSpcReduction="10000"/>
              </a:bodyPr>
              <a:lstStyle>
                <a:lvl1pPr marL="361950" indent="-361950" algn="l" defTabSz="914400" rtl="0" eaLnBrk="1" latinLnBrk="0" hangingPunct="1">
                  <a:lnSpc>
                    <a:spcPct val="90000"/>
                  </a:lnSpc>
                  <a:spcBef>
                    <a:spcPts val="1200"/>
                  </a:spcBef>
                  <a:spcAft>
                    <a:spcPts val="200"/>
                  </a:spcAft>
                  <a:buClr>
                    <a:schemeClr val="accent1"/>
                  </a:buClr>
                  <a:buSzPct val="100000"/>
                  <a:buFont typeface="Arial" panose="020B0604020202020204" pitchFamily="34" charset="0"/>
                  <a:buChar char="•"/>
                  <a:defRPr sz="2400" kern="1200">
                    <a:solidFill>
                      <a:schemeClr val="tx1"/>
                    </a:solidFill>
                    <a:latin typeface="+mn-lt"/>
                    <a:ea typeface="+mn-ea"/>
                    <a:cs typeface="+mn-cs"/>
                  </a:defRPr>
                </a:lvl1pPr>
                <a:lvl2pPr marL="542925" indent="-3429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2400" kern="1200">
                    <a:solidFill>
                      <a:schemeClr val="tx1"/>
                    </a:solidFill>
                    <a:latin typeface="+mn-lt"/>
                    <a:ea typeface="+mn-ea"/>
                    <a:cs typeface="+mn-cs"/>
                  </a:defRPr>
                </a:lvl2pPr>
                <a:lvl3pPr marL="714375" indent="-330200" algn="l" defTabSz="914400" rtl="0" eaLnBrk="1" latinLnBrk="0" hangingPunct="1">
                  <a:lnSpc>
                    <a:spcPct val="90000"/>
                  </a:lnSpc>
                  <a:spcBef>
                    <a:spcPts val="200"/>
                  </a:spcBef>
                  <a:spcAft>
                    <a:spcPts val="400"/>
                  </a:spcAft>
                  <a:buClr>
                    <a:schemeClr val="accent1"/>
                  </a:buClr>
                  <a:buFont typeface="Arial" panose="020B0604020202020204" pitchFamily="34" charset="0"/>
                  <a:buChar char="•"/>
                  <a:tabLst>
                    <a:tab pos="714375" algn="l"/>
                  </a:tabLst>
                  <a:defRPr sz="2400" kern="1200">
                    <a:solidFill>
                      <a:schemeClr val="tx1"/>
                    </a:solidFill>
                    <a:latin typeface="+mn-lt"/>
                    <a:ea typeface="+mn-ea"/>
                    <a:cs typeface="+mn-cs"/>
                  </a:defRPr>
                </a:lvl3pPr>
                <a:lvl4pPr marL="895350" indent="-2667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2400" kern="1200">
                    <a:solidFill>
                      <a:schemeClr val="tx1"/>
                    </a:solidFill>
                    <a:latin typeface="+mn-lt"/>
                    <a:ea typeface="+mn-ea"/>
                    <a:cs typeface="+mn-cs"/>
                  </a:defRPr>
                </a:lvl4pPr>
                <a:lvl5pPr marL="1162050" indent="-352425"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2400" kern="1200">
                    <a:solidFill>
                      <a:schemeClr val="tx1"/>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nSpc>
                    <a:spcPct val="120000"/>
                  </a:lnSpc>
                  <a:spcBef>
                    <a:spcPts val="0"/>
                  </a:spcBef>
                  <a:spcAft>
                    <a:spcPts val="0"/>
                  </a:spcAft>
                </a:pPr>
                <a:r>
                  <a:rPr lang="en-IN" b="1" dirty="0"/>
                  <a:t>Architecture</a:t>
                </a:r>
              </a:p>
              <a:p>
                <a:pPr>
                  <a:lnSpc>
                    <a:spcPct val="120000"/>
                  </a:lnSpc>
                  <a:spcBef>
                    <a:spcPts val="0"/>
                  </a:spcBef>
                  <a:spcAft>
                    <a:spcPts val="0"/>
                  </a:spcAft>
                </a:pPr>
                <a:r>
                  <a:rPr lang="en-IN" dirty="0"/>
                  <a:t>AAE has </a:t>
                </a:r>
                <a:r>
                  <a:rPr lang="en-IN" b="1" dirty="0"/>
                  <a:t>three components</a:t>
                </a:r>
                <a:r>
                  <a:rPr lang="en-IN" dirty="0"/>
                  <a:t>:</a:t>
                </a:r>
              </a:p>
              <a:p>
                <a:pPr>
                  <a:lnSpc>
                    <a:spcPct val="120000"/>
                  </a:lnSpc>
                  <a:spcBef>
                    <a:spcPts val="0"/>
                  </a:spcBef>
                  <a:spcAft>
                    <a:spcPts val="0"/>
                  </a:spcAft>
                </a:pPr>
                <a:r>
                  <a:rPr lang="en-IN" b="1" dirty="0"/>
                  <a:t> Encoder</a:t>
                </a:r>
              </a:p>
              <a:p>
                <a:pPr>
                  <a:lnSpc>
                    <a:spcPct val="120000"/>
                  </a:lnSpc>
                  <a:spcBef>
                    <a:spcPts val="0"/>
                  </a:spcBef>
                  <a:spcAft>
                    <a:spcPts val="0"/>
                  </a:spcAft>
                </a:pPr>
                <a:r>
                  <a:rPr lang="en-IN" dirty="0"/>
                  <a:t>Maps input → latent code</a:t>
                </a:r>
              </a:p>
              <a:p>
                <a:pPr>
                  <a:lnSpc>
                    <a:spcPct val="120000"/>
                  </a:lnSpc>
                  <a:spcBef>
                    <a:spcPts val="0"/>
                  </a:spcBef>
                  <a:spcAft>
                    <a:spcPts val="0"/>
                  </a:spcAft>
                </a:pPr>
                <a14:m>
                  <m:oMath xmlns:m="http://schemas.openxmlformats.org/officeDocument/2006/math">
                    <m:r>
                      <a:rPr lang="en-IN" i="1">
                        <a:latin typeface="Cambria Math" panose="02040503050406030204" pitchFamily="18" charset="0"/>
                      </a:rPr>
                      <m:t>𝑧</m:t>
                    </m:r>
                    <m:r>
                      <a:rPr lang="en-IN">
                        <a:latin typeface="Cambria Math" panose="02040503050406030204" pitchFamily="18" charset="0"/>
                      </a:rPr>
                      <m:t>=</m:t>
                    </m:r>
                    <m:r>
                      <a:rPr lang="en-IN" i="1">
                        <a:latin typeface="Cambria Math" panose="02040503050406030204" pitchFamily="18" charset="0"/>
                      </a:rPr>
                      <m:t>𝐸</m:t>
                    </m:r>
                    <m:d>
                      <m:dPr>
                        <m:ctrlPr>
                          <a:rPr lang="ar-AE" i="1">
                            <a:latin typeface="Cambria Math" panose="02040503050406030204" pitchFamily="18" charset="0"/>
                          </a:rPr>
                        </m:ctrlPr>
                      </m:dPr>
                      <m:e>
                        <m:r>
                          <a:rPr lang="ar-AE" i="1">
                            <a:latin typeface="Cambria Math" panose="02040503050406030204" pitchFamily="18" charset="0"/>
                          </a:rPr>
                          <m:t>𝑥</m:t>
                        </m:r>
                      </m:e>
                    </m:d>
                  </m:oMath>
                </a14:m>
                <a:endParaRPr lang="ar-AE" dirty="0"/>
              </a:p>
              <a:p>
                <a:pPr>
                  <a:lnSpc>
                    <a:spcPct val="120000"/>
                  </a:lnSpc>
                  <a:spcBef>
                    <a:spcPts val="0"/>
                  </a:spcBef>
                  <a:spcAft>
                    <a:spcPts val="0"/>
                  </a:spcAft>
                </a:pPr>
                <a:r>
                  <a:rPr lang="en-IN" b="1" dirty="0"/>
                  <a:t>Decoder</a:t>
                </a:r>
              </a:p>
              <a:p>
                <a:pPr>
                  <a:lnSpc>
                    <a:spcPct val="120000"/>
                  </a:lnSpc>
                  <a:spcBef>
                    <a:spcPts val="0"/>
                  </a:spcBef>
                  <a:spcAft>
                    <a:spcPts val="0"/>
                  </a:spcAft>
                </a:pPr>
                <a:r>
                  <a:rPr lang="en-IN" dirty="0"/>
                  <a:t>Reconstructs input</a:t>
                </a:r>
              </a:p>
              <a:p>
                <a:pPr>
                  <a:lnSpc>
                    <a:spcPct val="120000"/>
                  </a:lnSpc>
                  <a:spcBef>
                    <a:spcPts val="0"/>
                  </a:spcBef>
                  <a:spcAft>
                    <a:spcPts val="0"/>
                  </a:spcAft>
                </a:pPr>
                <a14:m>
                  <m:oMath xmlns:m="http://schemas.openxmlformats.org/officeDocument/2006/math">
                    <m:acc>
                      <m:accPr>
                        <m:chr m:val="̂"/>
                        <m:ctrlPr>
                          <a:rPr lang="ar-AE" i="1">
                            <a:latin typeface="Cambria Math" panose="02040503050406030204" pitchFamily="18" charset="0"/>
                          </a:rPr>
                        </m:ctrlPr>
                      </m:accPr>
                      <m:e>
                        <m:r>
                          <a:rPr lang="ar-AE" i="1">
                            <a:latin typeface="Cambria Math" panose="02040503050406030204" pitchFamily="18" charset="0"/>
                          </a:rPr>
                          <m:t>𝑥</m:t>
                        </m:r>
                      </m:e>
                    </m:acc>
                    <m:r>
                      <a:rPr lang="ar-AE">
                        <a:latin typeface="Cambria Math" panose="02040503050406030204" pitchFamily="18" charset="0"/>
                      </a:rPr>
                      <m:t>=</m:t>
                    </m:r>
                    <m:r>
                      <a:rPr lang="ar-AE" i="1">
                        <a:latin typeface="Cambria Math" panose="02040503050406030204" pitchFamily="18" charset="0"/>
                      </a:rPr>
                      <m:t>𝐷</m:t>
                    </m:r>
                    <m:d>
                      <m:dPr>
                        <m:ctrlPr>
                          <a:rPr lang="ar-AE" i="1">
                            <a:latin typeface="Cambria Math" panose="02040503050406030204" pitchFamily="18" charset="0"/>
                          </a:rPr>
                        </m:ctrlPr>
                      </m:dPr>
                      <m:e>
                        <m:r>
                          <a:rPr lang="ar-AE" i="1">
                            <a:latin typeface="Cambria Math" panose="02040503050406030204" pitchFamily="18" charset="0"/>
                          </a:rPr>
                          <m:t>𝑧</m:t>
                        </m:r>
                      </m:e>
                    </m:d>
                  </m:oMath>
                </a14:m>
                <a:endParaRPr lang="ar-AE" dirty="0"/>
              </a:p>
              <a:p>
                <a:pPr>
                  <a:lnSpc>
                    <a:spcPct val="120000"/>
                  </a:lnSpc>
                  <a:spcBef>
                    <a:spcPts val="0"/>
                  </a:spcBef>
                  <a:spcAft>
                    <a:spcPts val="0"/>
                  </a:spcAft>
                </a:pPr>
                <a:r>
                  <a:rPr lang="en-IN" b="1" dirty="0"/>
                  <a:t> Discriminator</a:t>
                </a:r>
              </a:p>
              <a:p>
                <a:pPr>
                  <a:lnSpc>
                    <a:spcPct val="120000"/>
                  </a:lnSpc>
                  <a:spcBef>
                    <a:spcPts val="0"/>
                  </a:spcBef>
                  <a:spcAft>
                    <a:spcPts val="0"/>
                  </a:spcAft>
                </a:pPr>
                <a:r>
                  <a:rPr lang="en-IN" dirty="0"/>
                  <a:t>Distinguishes:</a:t>
                </a:r>
              </a:p>
              <a:p>
                <a:pPr>
                  <a:lnSpc>
                    <a:spcPct val="120000"/>
                  </a:lnSpc>
                  <a:spcBef>
                    <a:spcPts val="0"/>
                  </a:spcBef>
                  <a:spcAft>
                    <a:spcPts val="0"/>
                  </a:spcAft>
                </a:pPr>
                <a:r>
                  <a:rPr lang="en-IN" dirty="0"/>
                  <a:t>✔ real samples from prior distribution</a:t>
                </a:r>
                <a:br>
                  <a:rPr lang="en-IN" dirty="0"/>
                </a:br>
                <a:r>
                  <a:rPr lang="en-IN" dirty="0"/>
                  <a:t>✔ fake latent codes from encoder</a:t>
                </a:r>
              </a:p>
              <a:p>
                <a:pPr>
                  <a:lnSpc>
                    <a:spcPct val="120000"/>
                  </a:lnSpc>
                  <a:spcBef>
                    <a:spcPts val="0"/>
                  </a:spcBef>
                  <a:spcAft>
                    <a:spcPts val="0"/>
                  </a:spcAft>
                </a:pPr>
                <a:endParaRPr lang="en-IN" dirty="0"/>
              </a:p>
            </p:txBody>
          </p:sp>
        </mc:Choice>
        <mc:Fallback xmlns="">
          <p:sp>
            <p:nvSpPr>
              <p:cNvPr id="4" name="Content Placeholder 2">
                <a:extLst>
                  <a:ext uri="{FF2B5EF4-FFF2-40B4-BE49-F238E27FC236}">
                    <a16:creationId xmlns:a16="http://schemas.microsoft.com/office/drawing/2014/main" id="{E35E86E2-2B69-220D-58B9-13AF1BFBE409}"/>
                  </a:ext>
                </a:extLst>
              </p:cNvPr>
              <p:cNvSpPr txBox="1">
                <a:spLocks noRot="1" noChangeAspect="1" noMove="1" noResize="1" noEditPoints="1" noAdjustHandles="1" noChangeArrowheads="1" noChangeShapeType="1" noTextEdit="1"/>
              </p:cNvSpPr>
              <p:nvPr/>
            </p:nvSpPr>
            <p:spPr>
              <a:xfrm>
                <a:off x="6400800" y="1361440"/>
                <a:ext cx="5232083" cy="4764830"/>
              </a:xfrm>
              <a:prstGeom prst="rect">
                <a:avLst/>
              </a:prstGeom>
              <a:blipFill>
                <a:blip r:embed="rId2"/>
                <a:stretch>
                  <a:fillRect l="-3030" t="-512"/>
                </a:stretch>
              </a:blipFill>
            </p:spPr>
            <p:txBody>
              <a:bodyPr/>
              <a:lstStyle/>
              <a:p>
                <a:r>
                  <a:rPr lang="en-IN">
                    <a:noFill/>
                  </a:rPr>
                  <a:t> </a:t>
                </a:r>
              </a:p>
            </p:txBody>
          </p:sp>
        </mc:Fallback>
      </mc:AlternateContent>
    </p:spTree>
    <p:extLst>
      <p:ext uri="{BB962C8B-B14F-4D97-AF65-F5344CB8AC3E}">
        <p14:creationId xmlns:p14="http://schemas.microsoft.com/office/powerpoint/2010/main" val="133227117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4EAAD9-8C43-48B6-ADA2-FAB9AFD28131}"/>
              </a:ext>
            </a:extLst>
          </p:cNvPr>
          <p:cNvSpPr>
            <a:spLocks noGrp="1"/>
          </p:cNvSpPr>
          <p:nvPr>
            <p:ph type="title"/>
          </p:nvPr>
        </p:nvSpPr>
        <p:spPr/>
        <p:txBody>
          <a:bodyPr>
            <a:normAutofit fontScale="90000"/>
          </a:bodyPr>
          <a:lstStyle/>
          <a:p>
            <a:endParaRPr lang="en-IN"/>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0301C06-CC2B-9FB4-E2EB-A179A99FEFC8}"/>
                  </a:ext>
                </a:extLst>
              </p:cNvPr>
              <p:cNvSpPr>
                <a:spLocks noGrp="1"/>
              </p:cNvSpPr>
              <p:nvPr>
                <p:ph idx="1"/>
              </p:nvPr>
            </p:nvSpPr>
            <p:spPr>
              <a:xfrm>
                <a:off x="944880" y="1422400"/>
                <a:ext cx="5151119" cy="4703870"/>
              </a:xfrm>
            </p:spPr>
            <p:txBody>
              <a:bodyPr>
                <a:normAutofit fontScale="92500"/>
              </a:bodyPr>
              <a:lstStyle/>
              <a:p>
                <a:r>
                  <a:rPr lang="en-IN" b="1" dirty="0"/>
                  <a:t>Training Objectives</a:t>
                </a:r>
              </a:p>
              <a:p>
                <a:r>
                  <a:rPr lang="en-IN" b="1" dirty="0"/>
                  <a:t> Reconstruction Loss</a:t>
                </a:r>
              </a:p>
              <a:p>
                <a:r>
                  <a:rPr lang="en-IN" dirty="0"/>
                  <a:t>Ensures accurate reconstruction:</a:t>
                </a:r>
              </a:p>
              <a:p>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𝐿</m:t>
                        </m:r>
                      </m:e>
                      <m:sub>
                        <m:r>
                          <a:rPr lang="ar-AE" i="1">
                            <a:latin typeface="Cambria Math" panose="02040503050406030204" pitchFamily="18" charset="0"/>
                          </a:rPr>
                          <m:t>𝑟𝑒𝑐</m:t>
                        </m:r>
                      </m:sub>
                    </m:sSub>
                    <m:r>
                      <a:rPr lang="ar-AE">
                        <a:latin typeface="Cambria Math" panose="02040503050406030204" pitchFamily="18" charset="0"/>
                      </a:rPr>
                      <m:t>=∣∣</m:t>
                    </m:r>
                    <m:r>
                      <a:rPr lang="ar-AE" i="1">
                        <a:latin typeface="Cambria Math" panose="02040503050406030204" pitchFamily="18" charset="0"/>
                      </a:rPr>
                      <m:t>𝑥</m:t>
                    </m:r>
                    <m:r>
                      <a:rPr lang="ar-AE">
                        <a:latin typeface="Cambria Math" panose="02040503050406030204" pitchFamily="18" charset="0"/>
                      </a:rPr>
                      <m:t>−</m:t>
                    </m:r>
                    <m:acc>
                      <m:accPr>
                        <m:chr m:val="̂"/>
                        <m:ctrlPr>
                          <a:rPr lang="ar-AE" i="1">
                            <a:latin typeface="Cambria Math" panose="02040503050406030204" pitchFamily="18" charset="0"/>
                          </a:rPr>
                        </m:ctrlPr>
                      </m:accPr>
                      <m:e>
                        <m:r>
                          <a:rPr lang="ar-AE" i="1">
                            <a:latin typeface="Cambria Math" panose="02040503050406030204" pitchFamily="18" charset="0"/>
                          </a:rPr>
                          <m:t>𝑥</m:t>
                        </m:r>
                      </m:e>
                    </m:acc>
                    <m:r>
                      <a:rPr lang="ar-AE">
                        <a:latin typeface="Cambria Math" panose="02040503050406030204" pitchFamily="18" charset="0"/>
                      </a:rPr>
                      <m:t>∣</m:t>
                    </m:r>
                    <m:sSup>
                      <m:sSupPr>
                        <m:ctrlPr>
                          <a:rPr lang="ar-AE" i="1">
                            <a:latin typeface="Cambria Math" panose="02040503050406030204" pitchFamily="18" charset="0"/>
                          </a:rPr>
                        </m:ctrlPr>
                      </m:sSupPr>
                      <m:e>
                        <m:r>
                          <a:rPr lang="ar-AE">
                            <a:latin typeface="Cambria Math" panose="02040503050406030204" pitchFamily="18" charset="0"/>
                          </a:rPr>
                          <m:t>∣</m:t>
                        </m:r>
                      </m:e>
                      <m:sup>
                        <m:r>
                          <a:rPr lang="ar-AE">
                            <a:latin typeface="Cambria Math" panose="02040503050406030204" pitchFamily="18" charset="0"/>
                          </a:rPr>
                          <m:t>2</m:t>
                        </m:r>
                      </m:sup>
                    </m:sSup>
                  </m:oMath>
                </a14:m>
                <a:endParaRPr lang="ar-AE" dirty="0"/>
              </a:p>
              <a:p>
                <a:br>
                  <a:rPr lang="ar-AE" dirty="0"/>
                </a:br>
                <a:r>
                  <a:rPr lang="en-IN" b="1" dirty="0"/>
                  <a:t> Adversarial Loss</a:t>
                </a:r>
              </a:p>
              <a:p>
                <a:r>
                  <a:rPr lang="en-IN" dirty="0"/>
                  <a:t>Encoder tries to fool discriminator:</a:t>
                </a:r>
              </a:p>
              <a:p>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𝐿</m:t>
                        </m:r>
                      </m:e>
                      <m:sub>
                        <m:r>
                          <a:rPr lang="ar-AE" i="1">
                            <a:latin typeface="Cambria Math" panose="02040503050406030204" pitchFamily="18" charset="0"/>
                          </a:rPr>
                          <m:t>𝑎𝑑𝑣</m:t>
                        </m:r>
                      </m:sub>
                    </m:sSub>
                    <m:r>
                      <a:rPr lang="ar-AE">
                        <a:latin typeface="Cambria Math" panose="02040503050406030204" pitchFamily="18" charset="0"/>
                      </a:rPr>
                      <m:t>=</m:t>
                    </m:r>
                    <m:func>
                      <m:funcPr>
                        <m:ctrlPr>
                          <a:rPr lang="ar-AE" i="1">
                            <a:latin typeface="Cambria Math" panose="02040503050406030204" pitchFamily="18" charset="0"/>
                          </a:rPr>
                        </m:ctrlPr>
                      </m:funcPr>
                      <m:fName>
                        <m:r>
                          <m:rPr>
                            <m:sty m:val="p"/>
                          </m:rPr>
                          <a:rPr lang="en-IN">
                            <a:latin typeface="Cambria Math" panose="02040503050406030204" pitchFamily="18" charset="0"/>
                          </a:rPr>
                          <m:t>log</m:t>
                        </m:r>
                      </m:fName>
                      <m:e>
                        <m:r>
                          <a:rPr lang="ar-AE" i="1">
                            <a:latin typeface="Cambria Math" panose="02040503050406030204" pitchFamily="18" charset="0"/>
                          </a:rPr>
                          <m:t>𝐷</m:t>
                        </m:r>
                      </m:e>
                    </m:func>
                    <m:d>
                      <m:dPr>
                        <m:ctrlPr>
                          <a:rPr lang="ar-AE" i="1">
                            <a:latin typeface="Cambria Math" panose="02040503050406030204" pitchFamily="18" charset="0"/>
                          </a:rPr>
                        </m:ctrlPr>
                      </m:dPr>
                      <m:e>
                        <m:r>
                          <a:rPr lang="ar-AE" i="1">
                            <a:latin typeface="Cambria Math" panose="02040503050406030204" pitchFamily="18" charset="0"/>
                          </a:rPr>
                          <m:t>𝑧</m:t>
                        </m:r>
                      </m:e>
                    </m:d>
                    <m:r>
                      <a:rPr lang="ar-AE">
                        <a:latin typeface="Cambria Math" panose="02040503050406030204" pitchFamily="18" charset="0"/>
                      </a:rPr>
                      <m:t>+</m:t>
                    </m:r>
                    <m:r>
                      <m:rPr>
                        <m:sty m:val="p"/>
                      </m:rPr>
                      <a:rPr lang="en-IN">
                        <a:latin typeface="Cambria Math" panose="02040503050406030204" pitchFamily="18" charset="0"/>
                      </a:rPr>
                      <m:t>log</m:t>
                    </m:r>
                    <m:r>
                      <a:rPr lang="en-IN">
                        <a:latin typeface="Cambria Math" panose="02040503050406030204" pitchFamily="18" charset="0"/>
                      </a:rPr>
                      <m:t>⁡</m:t>
                    </m:r>
                    <m:d>
                      <m:dPr>
                        <m:ctrlPr>
                          <a:rPr lang="ar-AE" i="1">
                            <a:latin typeface="Cambria Math" panose="02040503050406030204" pitchFamily="18" charset="0"/>
                          </a:rPr>
                        </m:ctrlPr>
                      </m:dPr>
                      <m:e>
                        <m:r>
                          <a:rPr lang="ar-AE">
                            <a:latin typeface="Cambria Math" panose="02040503050406030204" pitchFamily="18" charset="0"/>
                          </a:rPr>
                          <m:t>1</m:t>
                        </m:r>
                        <m:r>
                          <a:rPr lang="ar-AE">
                            <a:latin typeface="Cambria Math" panose="02040503050406030204" pitchFamily="18" charset="0"/>
                          </a:rPr>
                          <m:t>−</m:t>
                        </m:r>
                        <m:r>
                          <a:rPr lang="ar-AE" i="1">
                            <a:latin typeface="Cambria Math" panose="02040503050406030204" pitchFamily="18" charset="0"/>
                          </a:rPr>
                          <m:t>𝐷</m:t>
                        </m:r>
                        <m:d>
                          <m:dPr>
                            <m:ctrlPr>
                              <a:rPr lang="ar-AE" i="1">
                                <a:latin typeface="Cambria Math" panose="02040503050406030204" pitchFamily="18" charset="0"/>
                              </a:rPr>
                            </m:ctrlPr>
                          </m:dPr>
                          <m:e>
                            <m:r>
                              <a:rPr lang="ar-AE" i="1">
                                <a:latin typeface="Cambria Math" panose="02040503050406030204" pitchFamily="18" charset="0"/>
                              </a:rPr>
                              <m:t>𝐸</m:t>
                            </m:r>
                            <m:d>
                              <m:dPr>
                                <m:ctrlPr>
                                  <a:rPr lang="ar-AE" i="1">
                                    <a:latin typeface="Cambria Math" panose="02040503050406030204" pitchFamily="18" charset="0"/>
                                  </a:rPr>
                                </m:ctrlPr>
                              </m:dPr>
                              <m:e>
                                <m:r>
                                  <a:rPr lang="ar-AE" i="1">
                                    <a:latin typeface="Cambria Math" panose="02040503050406030204" pitchFamily="18" charset="0"/>
                                  </a:rPr>
                                  <m:t>𝑥</m:t>
                                </m:r>
                              </m:e>
                            </m:d>
                          </m:e>
                        </m:d>
                      </m:e>
                    </m:d>
                  </m:oMath>
                </a14:m>
                <a:endParaRPr lang="ar-AE" dirty="0"/>
              </a:p>
              <a:p>
                <a:r>
                  <a:rPr lang="en-IN" dirty="0"/>
                  <a:t>Goal: make encoded vectors look like samples from prior distribution.</a:t>
                </a:r>
              </a:p>
              <a:p>
                <a:endParaRPr lang="en-IN" dirty="0"/>
              </a:p>
            </p:txBody>
          </p:sp>
        </mc:Choice>
        <mc:Fallback xmlns="">
          <p:sp>
            <p:nvSpPr>
              <p:cNvPr id="3" name="Content Placeholder 2">
                <a:extLst>
                  <a:ext uri="{FF2B5EF4-FFF2-40B4-BE49-F238E27FC236}">
                    <a16:creationId xmlns:a16="http://schemas.microsoft.com/office/drawing/2014/main" id="{60301C06-CC2B-9FB4-E2EB-A179A99FEFC8}"/>
                  </a:ext>
                </a:extLst>
              </p:cNvPr>
              <p:cNvSpPr>
                <a:spLocks noGrp="1" noRot="1" noChangeAspect="1" noMove="1" noResize="1" noEditPoints="1" noAdjustHandles="1" noChangeArrowheads="1" noChangeShapeType="1" noTextEdit="1"/>
              </p:cNvSpPr>
              <p:nvPr>
                <p:ph idx="1"/>
              </p:nvPr>
            </p:nvSpPr>
            <p:spPr>
              <a:xfrm>
                <a:off x="944880" y="1422400"/>
                <a:ext cx="5151119" cy="4703870"/>
              </a:xfrm>
              <a:blipFill>
                <a:blip r:embed="rId2"/>
                <a:stretch>
                  <a:fillRect l="-3077" t="-1554"/>
                </a:stretch>
              </a:blipFill>
            </p:spPr>
            <p:txBody>
              <a:bodyPr/>
              <a:lstStyle/>
              <a:p>
                <a:r>
                  <a:rPr lang="en-IN">
                    <a:noFill/>
                  </a:rPr>
                  <a:t> </a:t>
                </a:r>
              </a:p>
            </p:txBody>
          </p:sp>
        </mc:Fallback>
      </mc:AlternateContent>
      <p:sp>
        <p:nvSpPr>
          <p:cNvPr id="4" name="Content Placeholder 2">
            <a:extLst>
              <a:ext uri="{FF2B5EF4-FFF2-40B4-BE49-F238E27FC236}">
                <a16:creationId xmlns:a16="http://schemas.microsoft.com/office/drawing/2014/main" id="{04652803-4324-8160-E926-3D6098D3304F}"/>
              </a:ext>
            </a:extLst>
          </p:cNvPr>
          <p:cNvSpPr txBox="1">
            <a:spLocks/>
          </p:cNvSpPr>
          <p:nvPr/>
        </p:nvSpPr>
        <p:spPr>
          <a:xfrm>
            <a:off x="6380480" y="1493520"/>
            <a:ext cx="4988559" cy="4703870"/>
          </a:xfrm>
          <a:prstGeom prst="rect">
            <a:avLst/>
          </a:prstGeom>
        </p:spPr>
        <p:txBody>
          <a:bodyPr vert="horz" lIns="0" tIns="45720" rIns="0" bIns="45720" rtlCol="0">
            <a:normAutofit/>
          </a:bodyPr>
          <a:lstStyle>
            <a:lvl1pPr marL="361950" indent="-361950" algn="l" defTabSz="914400" rtl="0" eaLnBrk="1" latinLnBrk="0" hangingPunct="1">
              <a:lnSpc>
                <a:spcPct val="90000"/>
              </a:lnSpc>
              <a:spcBef>
                <a:spcPts val="1200"/>
              </a:spcBef>
              <a:spcAft>
                <a:spcPts val="200"/>
              </a:spcAft>
              <a:buClr>
                <a:schemeClr val="accent1"/>
              </a:buClr>
              <a:buSzPct val="100000"/>
              <a:buFont typeface="Arial" panose="020B0604020202020204" pitchFamily="34" charset="0"/>
              <a:buChar char="•"/>
              <a:defRPr sz="2400" kern="1200">
                <a:solidFill>
                  <a:schemeClr val="tx1"/>
                </a:solidFill>
                <a:latin typeface="+mn-lt"/>
                <a:ea typeface="+mn-ea"/>
                <a:cs typeface="+mn-cs"/>
              </a:defRPr>
            </a:lvl1pPr>
            <a:lvl2pPr marL="542925" indent="-3429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2400" kern="1200">
                <a:solidFill>
                  <a:schemeClr val="tx1"/>
                </a:solidFill>
                <a:latin typeface="+mn-lt"/>
                <a:ea typeface="+mn-ea"/>
                <a:cs typeface="+mn-cs"/>
              </a:defRPr>
            </a:lvl2pPr>
            <a:lvl3pPr marL="714375" indent="-330200" algn="l" defTabSz="914400" rtl="0" eaLnBrk="1" latinLnBrk="0" hangingPunct="1">
              <a:lnSpc>
                <a:spcPct val="90000"/>
              </a:lnSpc>
              <a:spcBef>
                <a:spcPts val="200"/>
              </a:spcBef>
              <a:spcAft>
                <a:spcPts val="400"/>
              </a:spcAft>
              <a:buClr>
                <a:schemeClr val="accent1"/>
              </a:buClr>
              <a:buFont typeface="Arial" panose="020B0604020202020204" pitchFamily="34" charset="0"/>
              <a:buChar char="•"/>
              <a:tabLst>
                <a:tab pos="714375" algn="l"/>
              </a:tabLst>
              <a:defRPr sz="2400" kern="1200">
                <a:solidFill>
                  <a:schemeClr val="tx1"/>
                </a:solidFill>
                <a:latin typeface="+mn-lt"/>
                <a:ea typeface="+mn-ea"/>
                <a:cs typeface="+mn-cs"/>
              </a:defRPr>
            </a:lvl3pPr>
            <a:lvl4pPr marL="895350" indent="-2667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2400" kern="1200">
                <a:solidFill>
                  <a:schemeClr val="tx1"/>
                </a:solidFill>
                <a:latin typeface="+mn-lt"/>
                <a:ea typeface="+mn-ea"/>
                <a:cs typeface="+mn-cs"/>
              </a:defRPr>
            </a:lvl4pPr>
            <a:lvl5pPr marL="1162050" indent="-352425"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2400" kern="1200">
                <a:solidFill>
                  <a:schemeClr val="tx1"/>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en-IN" b="1" dirty="0"/>
              <a:t> Training Steps</a:t>
            </a:r>
          </a:p>
          <a:p>
            <a:r>
              <a:rPr lang="en-IN" b="1" dirty="0"/>
              <a:t>Step A: Autoencoder training</a:t>
            </a:r>
          </a:p>
          <a:p>
            <a:r>
              <a:rPr lang="en-IN" dirty="0"/>
              <a:t>Reconstruct input</a:t>
            </a:r>
          </a:p>
          <a:p>
            <a:r>
              <a:rPr lang="en-IN" b="1" dirty="0"/>
              <a:t>Step B: Discriminator training</a:t>
            </a:r>
          </a:p>
          <a:p>
            <a:r>
              <a:rPr lang="en-IN" dirty="0"/>
              <a:t>Distinguish real vs encoded latent vectors</a:t>
            </a:r>
          </a:p>
          <a:p>
            <a:r>
              <a:rPr lang="en-IN" b="1" dirty="0"/>
              <a:t>Step C: Encoder adversarial training</a:t>
            </a:r>
          </a:p>
          <a:p>
            <a:r>
              <a:rPr lang="en-IN" dirty="0"/>
              <a:t>Fool discriminator</a:t>
            </a:r>
          </a:p>
          <a:p>
            <a:endParaRPr lang="en-IN" dirty="0"/>
          </a:p>
        </p:txBody>
      </p:sp>
    </p:spTree>
    <p:extLst>
      <p:ext uri="{BB962C8B-B14F-4D97-AF65-F5344CB8AC3E}">
        <p14:creationId xmlns:p14="http://schemas.microsoft.com/office/powerpoint/2010/main" val="294791406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593A25-3F1D-79B6-283A-5A5E65626DB6}"/>
              </a:ext>
            </a:extLst>
          </p:cNvPr>
          <p:cNvSpPr>
            <a:spLocks noGrp="1"/>
          </p:cNvSpPr>
          <p:nvPr>
            <p:ph type="title"/>
          </p:nvPr>
        </p:nvSpPr>
        <p:spPr/>
        <p:txBody>
          <a:bodyPr>
            <a:normAutofit fontScale="90000"/>
          </a:bodyPr>
          <a:lstStyle/>
          <a:p>
            <a:endParaRPr lang="en-IN"/>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6FB5FDE-9DE3-95C4-2E47-05E7D18CE63C}"/>
                  </a:ext>
                </a:extLst>
              </p:cNvPr>
              <p:cNvSpPr>
                <a:spLocks noGrp="1"/>
              </p:cNvSpPr>
              <p:nvPr>
                <p:ph idx="1"/>
              </p:nvPr>
            </p:nvSpPr>
            <p:spPr>
              <a:xfrm>
                <a:off x="670560" y="1391920"/>
                <a:ext cx="5080000" cy="4734350"/>
              </a:xfrm>
            </p:spPr>
            <p:txBody>
              <a:bodyPr>
                <a:normAutofit fontScale="85000" lnSpcReduction="20000"/>
              </a:bodyPr>
              <a:lstStyle/>
              <a:p>
                <a:pPr>
                  <a:lnSpc>
                    <a:spcPct val="120000"/>
                  </a:lnSpc>
                  <a:spcBef>
                    <a:spcPts val="0"/>
                  </a:spcBef>
                  <a:spcAft>
                    <a:spcPts val="0"/>
                  </a:spcAft>
                </a:pPr>
                <a:r>
                  <a:rPr lang="en-IN" b="1" dirty="0"/>
                  <a:t>Input</a:t>
                </a:r>
              </a:p>
              <a:p>
                <a:pPr>
                  <a:lnSpc>
                    <a:spcPct val="120000"/>
                  </a:lnSpc>
                  <a:spcBef>
                    <a:spcPts val="0"/>
                  </a:spcBef>
                  <a:spcAft>
                    <a:spcPts val="0"/>
                  </a:spcAft>
                </a:pPr>
                <a14:m>
                  <m:oMath xmlns:m="http://schemas.openxmlformats.org/officeDocument/2006/math">
                    <m:r>
                      <a:rPr lang="en-IN" i="1">
                        <a:latin typeface="Cambria Math" panose="02040503050406030204" pitchFamily="18" charset="0"/>
                      </a:rPr>
                      <m:t>𝑥</m:t>
                    </m:r>
                    <m:r>
                      <a:rPr lang="en-IN">
                        <a:latin typeface="Cambria Math" panose="02040503050406030204" pitchFamily="18" charset="0"/>
                      </a:rPr>
                      <m:t>=</m:t>
                    </m:r>
                    <m:d>
                      <m:dPr>
                        <m:begChr m:val="["/>
                        <m:endChr m:val="]"/>
                        <m:sepChr m:val=","/>
                        <m:ctrlPr>
                          <a:rPr lang="ar-AE" i="1">
                            <a:latin typeface="Cambria Math" panose="02040503050406030204" pitchFamily="18" charset="0"/>
                          </a:rPr>
                        </m:ctrlPr>
                      </m:dPr>
                      <m:e>
                        <m:r>
                          <a:rPr lang="ar-AE">
                            <a:latin typeface="Cambria Math" panose="02040503050406030204" pitchFamily="18" charset="0"/>
                          </a:rPr>
                          <m:t>1</m:t>
                        </m:r>
                      </m:e>
                      <m:e>
                        <m:r>
                          <m:rPr>
                            <m:nor/>
                          </m:rPr>
                          <a:rPr lang="ar-AE" i="1"/>
                          <m:t>  </m:t>
                        </m:r>
                        <m:r>
                          <a:rPr lang="ar-AE">
                            <a:latin typeface="Cambria Math" panose="02040503050406030204" pitchFamily="18" charset="0"/>
                          </a:rPr>
                          <m:t>0</m:t>
                        </m:r>
                      </m:e>
                    </m:d>
                  </m:oMath>
                </a14:m>
                <a:endParaRPr lang="ar-AE" b="0" dirty="0"/>
              </a:p>
              <a:p>
                <a:pPr>
                  <a:lnSpc>
                    <a:spcPct val="120000"/>
                  </a:lnSpc>
                  <a:spcBef>
                    <a:spcPts val="0"/>
                  </a:spcBef>
                  <a:spcAft>
                    <a:spcPts val="0"/>
                  </a:spcAft>
                </a:pPr>
                <a:r>
                  <a:rPr lang="en-IN" dirty="0"/>
                  <a:t>Network:</a:t>
                </a:r>
              </a:p>
              <a:p>
                <a:pPr>
                  <a:lnSpc>
                    <a:spcPct val="120000"/>
                  </a:lnSpc>
                  <a:spcBef>
                    <a:spcPts val="0"/>
                  </a:spcBef>
                  <a:spcAft>
                    <a:spcPts val="0"/>
                  </a:spcAft>
                </a:pPr>
                <a:r>
                  <a:rPr lang="en-IN" dirty="0"/>
                  <a:t>Input layer = 2</a:t>
                </a:r>
              </a:p>
              <a:p>
                <a:pPr>
                  <a:lnSpc>
                    <a:spcPct val="120000"/>
                  </a:lnSpc>
                  <a:spcBef>
                    <a:spcPts val="0"/>
                  </a:spcBef>
                  <a:spcAft>
                    <a:spcPts val="0"/>
                  </a:spcAft>
                </a:pPr>
                <a:r>
                  <a:rPr lang="en-IN" dirty="0"/>
                  <a:t>Hidden (latent) = 1</a:t>
                </a:r>
              </a:p>
              <a:p>
                <a:pPr>
                  <a:lnSpc>
                    <a:spcPct val="120000"/>
                  </a:lnSpc>
                  <a:spcBef>
                    <a:spcPts val="0"/>
                  </a:spcBef>
                  <a:spcAft>
                    <a:spcPts val="0"/>
                  </a:spcAft>
                </a:pPr>
                <a:r>
                  <a:rPr lang="en-IN" dirty="0"/>
                  <a:t>Output = 2</a:t>
                </a:r>
              </a:p>
              <a:p>
                <a:pPr>
                  <a:lnSpc>
                    <a:spcPct val="120000"/>
                  </a:lnSpc>
                  <a:spcBef>
                    <a:spcPts val="0"/>
                  </a:spcBef>
                  <a:spcAft>
                    <a:spcPts val="0"/>
                  </a:spcAft>
                </a:pPr>
                <a:r>
                  <a:rPr lang="en-IN" dirty="0"/>
                  <a:t>Activation = sigmoid</a:t>
                </a:r>
              </a:p>
              <a:p>
                <a:pPr>
                  <a:lnSpc>
                    <a:spcPct val="120000"/>
                  </a:lnSpc>
                  <a:spcBef>
                    <a:spcPts val="0"/>
                  </a:spcBef>
                  <a:spcAft>
                    <a:spcPts val="0"/>
                  </a:spcAft>
                </a:pPr>
                <a:r>
                  <a:rPr lang="en-IN" dirty="0"/>
                  <a:t>Prior distribution: Gaussian </a:t>
                </a:r>
                <a14:m>
                  <m:oMath xmlns:m="http://schemas.openxmlformats.org/officeDocument/2006/math">
                    <m:r>
                      <a:rPr lang="en-IN" i="1">
                        <a:latin typeface="Cambria Math" panose="02040503050406030204" pitchFamily="18" charset="0"/>
                      </a:rPr>
                      <m:t>𝑁</m:t>
                    </m:r>
                    <m:d>
                      <m:dPr>
                        <m:sepChr m:val=","/>
                        <m:ctrlPr>
                          <a:rPr lang="ar-AE" i="1">
                            <a:latin typeface="Cambria Math" panose="02040503050406030204" pitchFamily="18" charset="0"/>
                          </a:rPr>
                        </m:ctrlPr>
                      </m:dPr>
                      <m:e>
                        <m:r>
                          <a:rPr lang="ar-AE">
                            <a:latin typeface="Cambria Math" panose="02040503050406030204" pitchFamily="18" charset="0"/>
                          </a:rPr>
                          <m:t>0</m:t>
                        </m:r>
                      </m:e>
                      <m:e>
                        <m:r>
                          <a:rPr lang="ar-AE">
                            <a:latin typeface="Cambria Math" panose="02040503050406030204" pitchFamily="18" charset="0"/>
                          </a:rPr>
                          <m:t>1</m:t>
                        </m:r>
                      </m:e>
                    </m:d>
                  </m:oMath>
                </a14:m>
                <a:endParaRPr lang="ar-AE" dirty="0"/>
              </a:p>
              <a:p>
                <a:pPr>
                  <a:lnSpc>
                    <a:spcPct val="120000"/>
                  </a:lnSpc>
                  <a:spcBef>
                    <a:spcPts val="0"/>
                  </a:spcBef>
                  <a:spcAft>
                    <a:spcPts val="0"/>
                  </a:spcAft>
                </a:pPr>
                <a:endParaRPr lang="ar-AE" dirty="0"/>
              </a:p>
              <a:p>
                <a:pPr>
                  <a:lnSpc>
                    <a:spcPct val="120000"/>
                  </a:lnSpc>
                  <a:spcBef>
                    <a:spcPts val="0"/>
                  </a:spcBef>
                  <a:spcAft>
                    <a:spcPts val="0"/>
                  </a:spcAft>
                </a:pPr>
                <a:r>
                  <a:rPr lang="en-IN" b="1" dirty="0"/>
                  <a:t> STEP 1: Encoder</a:t>
                </a:r>
              </a:p>
              <a:p>
                <a:pPr>
                  <a:lnSpc>
                    <a:spcPct val="120000"/>
                  </a:lnSpc>
                  <a:spcBef>
                    <a:spcPts val="0"/>
                  </a:spcBef>
                  <a:spcAft>
                    <a:spcPts val="0"/>
                  </a:spcAft>
                </a:pPr>
                <a:r>
                  <a:rPr lang="en-IN" b="1" dirty="0"/>
                  <a:t>Weights</a:t>
                </a:r>
              </a:p>
              <a:p>
                <a:pPr>
                  <a:lnSpc>
                    <a:spcPct val="120000"/>
                  </a:lnSpc>
                  <a:spcBef>
                    <a:spcPts val="0"/>
                  </a:spcBef>
                  <a:spcAft>
                    <a:spcPts val="0"/>
                  </a:spcAft>
                </a:pPr>
                <a14:m>
                  <m:oMath xmlns:m="http://schemas.openxmlformats.org/officeDocument/2006/math">
                    <m:r>
                      <a:rPr lang="en-IN" i="1">
                        <a:latin typeface="Cambria Math" panose="02040503050406030204" pitchFamily="18" charset="0"/>
                      </a:rPr>
                      <m:t>𝑊</m:t>
                    </m:r>
                    <m:r>
                      <a:rPr lang="en-IN">
                        <a:latin typeface="Cambria Math" panose="02040503050406030204" pitchFamily="18" charset="0"/>
                      </a:rPr>
                      <m:t>=</m:t>
                    </m:r>
                    <m:d>
                      <m:dPr>
                        <m:begChr m:val="["/>
                        <m:endChr m:val="]"/>
                        <m:ctrlPr>
                          <a:rPr lang="ar-AE" i="1">
                            <a:latin typeface="Cambria Math" panose="02040503050406030204" pitchFamily="18" charset="0"/>
                          </a:rPr>
                        </m:ctrlPr>
                      </m:dPr>
                      <m:e>
                        <m:m>
                          <m:mPr>
                            <m:plcHide m:val="on"/>
                            <m:mcs>
                              <m:mc>
                                <m:mcPr>
                                  <m:count m:val="2"/>
                                  <m:mcJc m:val="center"/>
                                </m:mcPr>
                              </m:mc>
                            </m:mcs>
                            <m:ctrlPr>
                              <a:rPr lang="ar-AE" i="1">
                                <a:latin typeface="Cambria Math" panose="02040503050406030204" pitchFamily="18" charset="0"/>
                              </a:rPr>
                            </m:ctrlPr>
                          </m:mPr>
                          <m:m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6</m:t>
                              </m:r>
                            </m:e>
                            <m:e>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4</m:t>
                              </m:r>
                            </m:e>
                          </m:mr>
                        </m:m>
                      </m:e>
                    </m:d>
                  </m:oMath>
                </a14:m>
                <a:endParaRPr lang="ar-AE" dirty="0"/>
              </a:p>
              <a:p>
                <a:pPr>
                  <a:lnSpc>
                    <a:spcPct val="120000"/>
                  </a:lnSpc>
                  <a:spcBef>
                    <a:spcPts val="0"/>
                  </a:spcBef>
                  <a:spcAft>
                    <a:spcPts val="0"/>
                  </a:spcAft>
                </a:pPr>
                <a:r>
                  <a:rPr lang="en-IN" dirty="0"/>
                  <a:t>Bias:</a:t>
                </a:r>
              </a:p>
              <a:p>
                <a:pPr>
                  <a:lnSpc>
                    <a:spcPct val="120000"/>
                  </a:lnSpc>
                  <a:spcBef>
                    <a:spcPts val="0"/>
                  </a:spcBef>
                  <a:spcAft>
                    <a:spcPts val="0"/>
                  </a:spcAft>
                </a:pPr>
                <a14:m>
                  <m:oMath xmlns:m="http://schemas.openxmlformats.org/officeDocument/2006/math">
                    <m:r>
                      <a:rPr lang="en-IN" i="1">
                        <a:latin typeface="Cambria Math" panose="02040503050406030204" pitchFamily="18" charset="0"/>
                      </a:rPr>
                      <m:t>𝑏</m:t>
                    </m:r>
                    <m:r>
                      <a:rPr lang="en-IN">
                        <a:latin typeface="Cambria Math" panose="02040503050406030204" pitchFamily="18" charset="0"/>
                      </a:rPr>
                      <m:t>=</m:t>
                    </m:r>
                    <m:r>
                      <a:rPr lang="en-IN">
                        <a:latin typeface="Cambria Math" panose="02040503050406030204" pitchFamily="18" charset="0"/>
                      </a:rPr>
                      <m:t>0</m:t>
                    </m:r>
                    <m:r>
                      <a:rPr lang="en-IN">
                        <a:latin typeface="Cambria Math" panose="02040503050406030204" pitchFamily="18" charset="0"/>
                      </a:rPr>
                      <m:t>.</m:t>
                    </m:r>
                    <m:r>
                      <a:rPr lang="en-IN">
                        <a:latin typeface="Cambria Math" panose="02040503050406030204" pitchFamily="18" charset="0"/>
                      </a:rPr>
                      <m:t>1</m:t>
                    </m:r>
                  </m:oMath>
                </a14:m>
                <a:endParaRPr lang="en-IN" dirty="0"/>
              </a:p>
              <a:p>
                <a:pPr>
                  <a:lnSpc>
                    <a:spcPct val="120000"/>
                  </a:lnSpc>
                  <a:spcBef>
                    <a:spcPts val="0"/>
                  </a:spcBef>
                  <a:spcAft>
                    <a:spcPts val="0"/>
                  </a:spcAft>
                </a:pPr>
                <a:endParaRPr lang="en-IN" dirty="0"/>
              </a:p>
            </p:txBody>
          </p:sp>
        </mc:Choice>
        <mc:Fallback xmlns="">
          <p:sp>
            <p:nvSpPr>
              <p:cNvPr id="3" name="Content Placeholder 2">
                <a:extLst>
                  <a:ext uri="{FF2B5EF4-FFF2-40B4-BE49-F238E27FC236}">
                    <a16:creationId xmlns:a16="http://schemas.microsoft.com/office/drawing/2014/main" id="{F6FB5FDE-9DE3-95C4-2E47-05E7D18CE63C}"/>
                  </a:ext>
                </a:extLst>
              </p:cNvPr>
              <p:cNvSpPr>
                <a:spLocks noGrp="1" noRot="1" noChangeAspect="1" noMove="1" noResize="1" noEditPoints="1" noAdjustHandles="1" noChangeArrowheads="1" noChangeShapeType="1" noTextEdit="1"/>
              </p:cNvSpPr>
              <p:nvPr>
                <p:ph idx="1"/>
              </p:nvPr>
            </p:nvSpPr>
            <p:spPr>
              <a:xfrm>
                <a:off x="670560" y="1391920"/>
                <a:ext cx="5080000" cy="4734350"/>
              </a:xfrm>
              <a:blipFill>
                <a:blip r:embed="rId2"/>
                <a:stretch>
                  <a:fillRect l="-2881" t="-644"/>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 name="Content Placeholder 2">
                <a:extLst>
                  <a:ext uri="{FF2B5EF4-FFF2-40B4-BE49-F238E27FC236}">
                    <a16:creationId xmlns:a16="http://schemas.microsoft.com/office/drawing/2014/main" id="{27FDD719-F8BF-75EB-8C5A-B9E62C374EBC}"/>
                  </a:ext>
                </a:extLst>
              </p:cNvPr>
              <p:cNvSpPr txBox="1">
                <a:spLocks/>
              </p:cNvSpPr>
              <p:nvPr/>
            </p:nvSpPr>
            <p:spPr>
              <a:xfrm>
                <a:off x="6573837" y="1463040"/>
                <a:ext cx="4835843" cy="4658150"/>
              </a:xfrm>
              <a:prstGeom prst="rect">
                <a:avLst/>
              </a:prstGeom>
            </p:spPr>
            <p:txBody>
              <a:bodyPr vert="horz" lIns="0" tIns="45720" rIns="0" bIns="45720" rtlCol="0">
                <a:normAutofit/>
              </a:bodyPr>
              <a:lstStyle>
                <a:lvl1pPr marL="361950" indent="-361950" algn="l" defTabSz="914400" rtl="0" eaLnBrk="1" latinLnBrk="0" hangingPunct="1">
                  <a:lnSpc>
                    <a:spcPct val="90000"/>
                  </a:lnSpc>
                  <a:spcBef>
                    <a:spcPts val="1200"/>
                  </a:spcBef>
                  <a:spcAft>
                    <a:spcPts val="200"/>
                  </a:spcAft>
                  <a:buClr>
                    <a:schemeClr val="accent1"/>
                  </a:buClr>
                  <a:buSzPct val="100000"/>
                  <a:buFont typeface="Arial" panose="020B0604020202020204" pitchFamily="34" charset="0"/>
                  <a:buChar char="•"/>
                  <a:defRPr sz="2400" kern="1200">
                    <a:solidFill>
                      <a:schemeClr val="tx1"/>
                    </a:solidFill>
                    <a:latin typeface="+mn-lt"/>
                    <a:ea typeface="+mn-ea"/>
                    <a:cs typeface="+mn-cs"/>
                  </a:defRPr>
                </a:lvl1pPr>
                <a:lvl2pPr marL="542925" indent="-3429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2400" kern="1200">
                    <a:solidFill>
                      <a:schemeClr val="tx1"/>
                    </a:solidFill>
                    <a:latin typeface="+mn-lt"/>
                    <a:ea typeface="+mn-ea"/>
                    <a:cs typeface="+mn-cs"/>
                  </a:defRPr>
                </a:lvl2pPr>
                <a:lvl3pPr marL="714375" indent="-330200" algn="l" defTabSz="914400" rtl="0" eaLnBrk="1" latinLnBrk="0" hangingPunct="1">
                  <a:lnSpc>
                    <a:spcPct val="90000"/>
                  </a:lnSpc>
                  <a:spcBef>
                    <a:spcPts val="200"/>
                  </a:spcBef>
                  <a:spcAft>
                    <a:spcPts val="400"/>
                  </a:spcAft>
                  <a:buClr>
                    <a:schemeClr val="accent1"/>
                  </a:buClr>
                  <a:buFont typeface="Arial" panose="020B0604020202020204" pitchFamily="34" charset="0"/>
                  <a:buChar char="•"/>
                  <a:tabLst>
                    <a:tab pos="714375" algn="l"/>
                  </a:tabLst>
                  <a:defRPr sz="2400" kern="1200">
                    <a:solidFill>
                      <a:schemeClr val="tx1"/>
                    </a:solidFill>
                    <a:latin typeface="+mn-lt"/>
                    <a:ea typeface="+mn-ea"/>
                    <a:cs typeface="+mn-cs"/>
                  </a:defRPr>
                </a:lvl3pPr>
                <a:lvl4pPr marL="895350" indent="-2667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2400" kern="1200">
                    <a:solidFill>
                      <a:schemeClr val="tx1"/>
                    </a:solidFill>
                    <a:latin typeface="+mn-lt"/>
                    <a:ea typeface="+mn-ea"/>
                    <a:cs typeface="+mn-cs"/>
                  </a:defRPr>
                </a:lvl4pPr>
                <a:lvl5pPr marL="1162050" indent="-352425"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2400" kern="1200">
                    <a:solidFill>
                      <a:schemeClr val="tx1"/>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en-IN" b="1" dirty="0"/>
                  <a:t>Compute latent code</a:t>
                </a:r>
              </a:p>
              <a:p>
                <a14:m>
                  <m:oMath xmlns:m="http://schemas.openxmlformats.org/officeDocument/2006/math">
                    <m:r>
                      <a:rPr lang="en-IN" i="1">
                        <a:latin typeface="Cambria Math" panose="02040503050406030204" pitchFamily="18" charset="0"/>
                      </a:rPr>
                      <m:t>𝑧</m:t>
                    </m:r>
                    <m:r>
                      <a:rPr lang="en-IN">
                        <a:latin typeface="Cambria Math" panose="02040503050406030204" pitchFamily="18" charset="0"/>
                      </a:rPr>
                      <m:t>=</m:t>
                    </m:r>
                    <m:r>
                      <a:rPr lang="en-IN">
                        <a:latin typeface="Cambria Math" panose="02040503050406030204" pitchFamily="18" charset="0"/>
                      </a:rPr>
                      <m:t>0</m:t>
                    </m:r>
                    <m:r>
                      <a:rPr lang="en-IN">
                        <a:latin typeface="Cambria Math" panose="02040503050406030204" pitchFamily="18" charset="0"/>
                      </a:rPr>
                      <m:t>.</m:t>
                    </m:r>
                    <m:r>
                      <a:rPr lang="en-IN">
                        <a:latin typeface="Cambria Math" panose="02040503050406030204" pitchFamily="18" charset="0"/>
                      </a:rPr>
                      <m:t>6</m:t>
                    </m:r>
                    <m:d>
                      <m:dPr>
                        <m:ctrlPr>
                          <a:rPr lang="ar-AE" i="1">
                            <a:latin typeface="Cambria Math" panose="02040503050406030204" pitchFamily="18" charset="0"/>
                          </a:rPr>
                        </m:ctrlPr>
                      </m:dPr>
                      <m:e>
                        <m:r>
                          <a:rPr lang="ar-AE">
                            <a:latin typeface="Cambria Math" panose="02040503050406030204" pitchFamily="18" charset="0"/>
                          </a:rPr>
                          <m:t>1</m:t>
                        </m:r>
                      </m:e>
                    </m:d>
                    <m:r>
                      <a:rPr lang="ar-AE">
                        <a:latin typeface="Cambria Math" panose="02040503050406030204" pitchFamily="18" charset="0"/>
                      </a:rPr>
                      <m:t>+</m:t>
                    </m:r>
                    <m:d>
                      <m:dPr>
                        <m:ctrlPr>
                          <a:rPr lang="ar-AE" i="1">
                            <a:latin typeface="Cambria Math" panose="02040503050406030204" pitchFamily="18" charset="0"/>
                          </a:rPr>
                        </m:ctrlPr>
                      </m:dPr>
                      <m:e>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4</m:t>
                        </m:r>
                      </m:e>
                    </m:d>
                    <m:d>
                      <m:dPr>
                        <m:ctrlPr>
                          <a:rPr lang="ar-AE" i="1">
                            <a:latin typeface="Cambria Math" panose="02040503050406030204" pitchFamily="18" charset="0"/>
                          </a:rPr>
                        </m:ctrlPr>
                      </m:dPr>
                      <m:e>
                        <m:r>
                          <a:rPr lang="ar-AE">
                            <a:latin typeface="Cambria Math" panose="02040503050406030204" pitchFamily="18" charset="0"/>
                          </a:rPr>
                          <m:t>0</m:t>
                        </m:r>
                      </m:e>
                    </m:d>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1</m:t>
                    </m:r>
                  </m:oMath>
                </a14:m>
                <a:endParaRPr lang="ar-AE" dirty="0"/>
              </a:p>
              <a:p>
                <a14:m>
                  <m:oMath xmlns:m="http://schemas.openxmlformats.org/officeDocument/2006/math">
                    <m:r>
                      <a:rPr lang="ar-AE" i="1">
                        <a:latin typeface="Cambria Math" panose="02040503050406030204" pitchFamily="18" charset="0"/>
                      </a:rPr>
                      <m:t>𝑧</m:t>
                    </m:r>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7</m:t>
                    </m:r>
                  </m:oMath>
                </a14:m>
                <a:endParaRPr lang="ar-AE" dirty="0"/>
              </a:p>
              <a:p>
                <a:r>
                  <a:rPr lang="en-IN" dirty="0"/>
                  <a:t>Apply sigmoid:</a:t>
                </a:r>
              </a:p>
              <a:p>
                <a14:m>
                  <m:oMath xmlns:m="http://schemas.openxmlformats.org/officeDocument/2006/math">
                    <m:r>
                      <a:rPr lang="en-IN" i="1">
                        <a:latin typeface="Cambria Math" panose="02040503050406030204" pitchFamily="18" charset="0"/>
                      </a:rPr>
                      <m:t>𝑧</m:t>
                    </m:r>
                    <m:r>
                      <a:rPr lang="en-IN">
                        <a:latin typeface="Cambria Math" panose="02040503050406030204" pitchFamily="18" charset="0"/>
                      </a:rPr>
                      <m:t>=</m:t>
                    </m:r>
                    <m:r>
                      <a:rPr lang="en-IN" i="1">
                        <a:latin typeface="Cambria Math" panose="02040503050406030204" pitchFamily="18" charset="0"/>
                      </a:rPr>
                      <m:t>𝜎</m:t>
                    </m:r>
                    <m:d>
                      <m:dPr>
                        <m:ctrlPr>
                          <a:rPr lang="ar-AE" i="1">
                            <a:latin typeface="Cambria Math" panose="02040503050406030204" pitchFamily="18" charset="0"/>
                          </a:rPr>
                        </m:ctrlPr>
                      </m:dP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7</m:t>
                        </m:r>
                      </m:e>
                    </m:d>
                  </m:oMath>
                </a14:m>
                <a:endParaRPr lang="ar-AE" dirty="0"/>
              </a:p>
              <a:p>
                <a14:m>
                  <m:oMath xmlns:m="http://schemas.openxmlformats.org/officeDocument/2006/math">
                    <m:sSup>
                      <m:sSupPr>
                        <m:ctrlPr>
                          <a:rPr lang="ar-AE" i="1">
                            <a:latin typeface="Cambria Math" panose="02040503050406030204" pitchFamily="18" charset="0"/>
                          </a:rPr>
                        </m:ctrlPr>
                      </m:sSupPr>
                      <m:e>
                        <m:r>
                          <a:rPr lang="ar-AE" i="1">
                            <a:latin typeface="Cambria Math" panose="02040503050406030204" pitchFamily="18" charset="0"/>
                          </a:rPr>
                          <m:t>𝑒</m:t>
                        </m:r>
                      </m:e>
                      <m:sup>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7</m:t>
                        </m:r>
                      </m:sup>
                    </m:sSup>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4966</m:t>
                    </m:r>
                  </m:oMath>
                </a14:m>
                <a:endParaRPr lang="ar-AE" dirty="0"/>
              </a:p>
              <a:p>
                <a14:m>
                  <m:oMath xmlns:m="http://schemas.openxmlformats.org/officeDocument/2006/math">
                    <m:r>
                      <a:rPr lang="ar-AE" i="1">
                        <a:latin typeface="Cambria Math" panose="02040503050406030204" pitchFamily="18" charset="0"/>
                      </a:rPr>
                      <m:t>𝑧</m:t>
                    </m:r>
                    <m:r>
                      <a:rPr lang="ar-AE">
                        <a:latin typeface="Cambria Math" panose="02040503050406030204" pitchFamily="18" charset="0"/>
                      </a:rPr>
                      <m:t>=</m:t>
                    </m:r>
                    <m:f>
                      <m:fPr>
                        <m:ctrlPr>
                          <a:rPr lang="ar-AE" i="1">
                            <a:latin typeface="Cambria Math" panose="02040503050406030204" pitchFamily="18" charset="0"/>
                          </a:rPr>
                        </m:ctrlPr>
                      </m:fPr>
                      <m:num>
                        <m:r>
                          <a:rPr lang="ar-AE">
                            <a:latin typeface="Cambria Math" panose="02040503050406030204" pitchFamily="18" charset="0"/>
                          </a:rPr>
                          <m:t>1</m:t>
                        </m:r>
                      </m:num>
                      <m:den>
                        <m:r>
                          <a:rPr lang="ar-AE">
                            <a:latin typeface="Cambria Math" panose="02040503050406030204" pitchFamily="18" charset="0"/>
                          </a:rPr>
                          <m:t>1</m:t>
                        </m:r>
                        <m:r>
                          <a:rPr lang="ar-AE">
                            <a:latin typeface="Cambria Math" panose="02040503050406030204" pitchFamily="18" charset="0"/>
                          </a:rPr>
                          <m:t>.</m:t>
                        </m:r>
                        <m:r>
                          <a:rPr lang="ar-AE">
                            <a:latin typeface="Cambria Math" panose="02040503050406030204" pitchFamily="18" charset="0"/>
                          </a:rPr>
                          <m:t>4966</m:t>
                        </m:r>
                      </m:den>
                    </m:f>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668</m:t>
                    </m:r>
                  </m:oMath>
                </a14:m>
                <a:endParaRPr lang="ar-AE" dirty="0"/>
              </a:p>
              <a:p>
                <a:r>
                  <a:rPr lang="en-IN" b="1" dirty="0"/>
                  <a:t>Encoded latent vector</a:t>
                </a:r>
              </a:p>
              <a:p>
                <a14:m>
                  <m:oMath xmlns:m="http://schemas.openxmlformats.org/officeDocument/2006/math">
                    <m:r>
                      <a:rPr lang="en-IN" i="1">
                        <a:latin typeface="Cambria Math" panose="02040503050406030204" pitchFamily="18" charset="0"/>
                      </a:rPr>
                      <m:t>𝑧</m:t>
                    </m:r>
                    <m:r>
                      <a:rPr lang="en-IN">
                        <a:latin typeface="Cambria Math" panose="02040503050406030204" pitchFamily="18" charset="0"/>
                      </a:rPr>
                      <m:t>=</m:t>
                    </m:r>
                    <m:r>
                      <a:rPr lang="en-IN">
                        <a:latin typeface="Cambria Math" panose="02040503050406030204" pitchFamily="18" charset="0"/>
                      </a:rPr>
                      <m:t>0</m:t>
                    </m:r>
                    <m:r>
                      <a:rPr lang="en-IN">
                        <a:latin typeface="Cambria Math" panose="02040503050406030204" pitchFamily="18" charset="0"/>
                      </a:rPr>
                      <m:t>.</m:t>
                    </m:r>
                    <m:r>
                      <a:rPr lang="en-IN">
                        <a:latin typeface="Cambria Math" panose="02040503050406030204" pitchFamily="18" charset="0"/>
                      </a:rPr>
                      <m:t>668</m:t>
                    </m:r>
                  </m:oMath>
                </a14:m>
                <a:endParaRPr lang="en-IN" dirty="0"/>
              </a:p>
              <a:p>
                <a:endParaRPr lang="en-IN" dirty="0"/>
              </a:p>
            </p:txBody>
          </p:sp>
        </mc:Choice>
        <mc:Fallback xmlns="">
          <p:sp>
            <p:nvSpPr>
              <p:cNvPr id="4" name="Content Placeholder 2">
                <a:extLst>
                  <a:ext uri="{FF2B5EF4-FFF2-40B4-BE49-F238E27FC236}">
                    <a16:creationId xmlns:a16="http://schemas.microsoft.com/office/drawing/2014/main" id="{27FDD719-F8BF-75EB-8C5A-B9E62C374EBC}"/>
                  </a:ext>
                </a:extLst>
              </p:cNvPr>
              <p:cNvSpPr txBox="1">
                <a:spLocks noRot="1" noChangeAspect="1" noMove="1" noResize="1" noEditPoints="1" noAdjustHandles="1" noChangeArrowheads="1" noChangeShapeType="1" noTextEdit="1"/>
              </p:cNvSpPr>
              <p:nvPr/>
            </p:nvSpPr>
            <p:spPr>
              <a:xfrm>
                <a:off x="6573837" y="1463040"/>
                <a:ext cx="4835843" cy="4658150"/>
              </a:xfrm>
              <a:prstGeom prst="rect">
                <a:avLst/>
              </a:prstGeom>
              <a:blipFill>
                <a:blip r:embed="rId3"/>
                <a:stretch>
                  <a:fillRect l="-3526" t="-1832" b="-1571"/>
                </a:stretch>
              </a:blipFill>
            </p:spPr>
            <p:txBody>
              <a:bodyPr/>
              <a:lstStyle/>
              <a:p>
                <a:r>
                  <a:rPr lang="en-IN">
                    <a:noFill/>
                  </a:rPr>
                  <a:t> </a:t>
                </a:r>
              </a:p>
            </p:txBody>
          </p:sp>
        </mc:Fallback>
      </mc:AlternateContent>
    </p:spTree>
    <p:extLst>
      <p:ext uri="{BB962C8B-B14F-4D97-AF65-F5344CB8AC3E}">
        <p14:creationId xmlns:p14="http://schemas.microsoft.com/office/powerpoint/2010/main" val="118665625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68E009-0D30-A959-7E4A-B396E71F9EBF}"/>
              </a:ext>
            </a:extLst>
          </p:cNvPr>
          <p:cNvSpPr>
            <a:spLocks noGrp="1"/>
          </p:cNvSpPr>
          <p:nvPr>
            <p:ph type="title"/>
          </p:nvPr>
        </p:nvSpPr>
        <p:spPr/>
        <p:txBody>
          <a:bodyPr>
            <a:normAutofit fontScale="90000"/>
          </a:bodyPr>
          <a:lstStyle/>
          <a:p>
            <a:endParaRPr lang="en-IN"/>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C6520C1-DB54-DFA5-875A-C11DC4B95837}"/>
                  </a:ext>
                </a:extLst>
              </p:cNvPr>
              <p:cNvSpPr>
                <a:spLocks noGrp="1"/>
              </p:cNvSpPr>
              <p:nvPr>
                <p:ph idx="1"/>
              </p:nvPr>
            </p:nvSpPr>
            <p:spPr>
              <a:xfrm>
                <a:off x="558800" y="1432560"/>
                <a:ext cx="5222558" cy="4551470"/>
              </a:xfrm>
            </p:spPr>
            <p:txBody>
              <a:bodyPr>
                <a:normAutofit fontScale="92500" lnSpcReduction="20000"/>
              </a:bodyPr>
              <a:lstStyle/>
              <a:p>
                <a:pPr>
                  <a:lnSpc>
                    <a:spcPct val="120000"/>
                  </a:lnSpc>
                  <a:spcBef>
                    <a:spcPts val="0"/>
                  </a:spcBef>
                  <a:spcAft>
                    <a:spcPts val="0"/>
                  </a:spcAft>
                </a:pPr>
                <a:r>
                  <a:rPr lang="en-IN" b="1" dirty="0"/>
                  <a:t>STEP 2: Decoder Reconstruction</a:t>
                </a:r>
              </a:p>
              <a:p>
                <a:pPr>
                  <a:lnSpc>
                    <a:spcPct val="120000"/>
                  </a:lnSpc>
                  <a:spcBef>
                    <a:spcPts val="0"/>
                  </a:spcBef>
                  <a:spcAft>
                    <a:spcPts val="0"/>
                  </a:spcAft>
                </a:pPr>
                <a:r>
                  <a:rPr lang="en-IN" b="1" dirty="0"/>
                  <a:t>Decoder weights</a:t>
                </a:r>
              </a:p>
              <a:p>
                <a:pPr>
                  <a:lnSpc>
                    <a:spcPct val="120000"/>
                  </a:lnSpc>
                  <a:spcBef>
                    <a:spcPts val="0"/>
                  </a:spcBef>
                  <a:spcAft>
                    <a:spcPts val="0"/>
                  </a:spcAft>
                </a:pPr>
                <a14:m>
                  <m:oMath xmlns:m="http://schemas.openxmlformats.org/officeDocument/2006/math">
                    <m:sSup>
                      <m:sSupPr>
                        <m:ctrlPr>
                          <a:rPr lang="ar-AE" i="1">
                            <a:latin typeface="Cambria Math" panose="02040503050406030204" pitchFamily="18" charset="0"/>
                          </a:rPr>
                        </m:ctrlPr>
                      </m:sSupPr>
                      <m:e>
                        <m:r>
                          <a:rPr lang="ar-AE" i="1">
                            <a:latin typeface="Cambria Math" panose="02040503050406030204" pitchFamily="18" charset="0"/>
                          </a:rPr>
                          <m:t>𝑊</m:t>
                        </m:r>
                      </m:e>
                      <m:sup>
                        <m:r>
                          <a:rPr lang="ar-AE">
                            <a:latin typeface="Cambria Math" panose="02040503050406030204" pitchFamily="18" charset="0"/>
                          </a:rPr>
                          <m:t>′</m:t>
                        </m:r>
                      </m:sup>
                    </m:sSup>
                    <m:r>
                      <a:rPr lang="ar-AE">
                        <a:latin typeface="Cambria Math" panose="02040503050406030204" pitchFamily="18" charset="0"/>
                      </a:rPr>
                      <m:t>=</m:t>
                    </m:r>
                    <m:d>
                      <m:dPr>
                        <m:begChr m:val="["/>
                        <m:endChr m:val="]"/>
                        <m:ctrlPr>
                          <a:rPr lang="ar-AE" i="1">
                            <a:latin typeface="Cambria Math" panose="02040503050406030204" pitchFamily="18" charset="0"/>
                          </a:rPr>
                        </m:ctrlPr>
                      </m:dPr>
                      <m:e>
                        <m:m>
                          <m:mPr>
                            <m:plcHide m:val="on"/>
                            <m:mcs>
                              <m:mc>
                                <m:mcPr>
                                  <m:count m:val="1"/>
                                  <m:mcJc m:val="center"/>
                                </m:mcPr>
                              </m:mc>
                            </m:mcs>
                            <m:ctrlPr>
                              <a:rPr lang="ar-AE" i="1">
                                <a:latin typeface="Cambria Math" panose="02040503050406030204" pitchFamily="18" charset="0"/>
                              </a:rPr>
                            </m:ctrlPr>
                          </m:mPr>
                          <m:m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5</m:t>
                              </m:r>
                            </m:e>
                          </m:mr>
                          <m:mr>
                            <m:e>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3</m:t>
                              </m:r>
                            </m:e>
                          </m:mr>
                        </m:m>
                      </m:e>
                    </m:d>
                  </m:oMath>
                </a14:m>
                <a:endParaRPr lang="ar-AE" dirty="0"/>
              </a:p>
              <a:p>
                <a:pPr>
                  <a:lnSpc>
                    <a:spcPct val="120000"/>
                  </a:lnSpc>
                  <a:spcBef>
                    <a:spcPts val="0"/>
                  </a:spcBef>
                  <a:spcAft>
                    <a:spcPts val="0"/>
                  </a:spcAft>
                </a:pPr>
                <a:r>
                  <a:rPr lang="en-IN" dirty="0"/>
                  <a:t>Bias:</a:t>
                </a:r>
              </a:p>
              <a:p>
                <a:pPr>
                  <a:lnSpc>
                    <a:spcPct val="120000"/>
                  </a:lnSpc>
                  <a:spcBef>
                    <a:spcPts val="0"/>
                  </a:spcBef>
                  <a:spcAft>
                    <a:spcPts val="0"/>
                  </a:spcAft>
                </a:pPr>
                <a14:m>
                  <m:oMath xmlns:m="http://schemas.openxmlformats.org/officeDocument/2006/math">
                    <m:sSup>
                      <m:sSupPr>
                        <m:ctrlPr>
                          <a:rPr lang="ar-AE" i="1">
                            <a:latin typeface="Cambria Math" panose="02040503050406030204" pitchFamily="18" charset="0"/>
                          </a:rPr>
                        </m:ctrlPr>
                      </m:sSupPr>
                      <m:e>
                        <m:r>
                          <a:rPr lang="ar-AE" i="1">
                            <a:latin typeface="Cambria Math" panose="02040503050406030204" pitchFamily="18" charset="0"/>
                          </a:rPr>
                          <m:t>𝑏</m:t>
                        </m:r>
                      </m:e>
                      <m:sup>
                        <m:r>
                          <a:rPr lang="ar-AE">
                            <a:latin typeface="Cambria Math" panose="02040503050406030204" pitchFamily="18" charset="0"/>
                          </a:rPr>
                          <m:t>′</m:t>
                        </m:r>
                      </m:sup>
                    </m:sSup>
                    <m:r>
                      <a:rPr lang="ar-AE">
                        <a:latin typeface="Cambria Math" panose="02040503050406030204" pitchFamily="18" charset="0"/>
                      </a:rPr>
                      <m:t>=</m:t>
                    </m:r>
                    <m:d>
                      <m:dPr>
                        <m:begChr m:val="["/>
                        <m:endChr m:val="]"/>
                        <m:sepChr m:val=","/>
                        <m:ctrlPr>
                          <a:rPr lang="ar-AE" i="1">
                            <a:latin typeface="Cambria Math" panose="02040503050406030204" pitchFamily="18" charset="0"/>
                          </a:rPr>
                        </m:ctrlPr>
                      </m:dP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05</m:t>
                        </m:r>
                      </m:e>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05</m:t>
                        </m:r>
                      </m:e>
                    </m:d>
                  </m:oMath>
                </a14:m>
                <a:endParaRPr lang="ar-AE" dirty="0"/>
              </a:p>
              <a:p>
                <a:pPr marL="0" indent="0">
                  <a:lnSpc>
                    <a:spcPct val="120000"/>
                  </a:lnSpc>
                  <a:spcBef>
                    <a:spcPts val="0"/>
                  </a:spcBef>
                  <a:spcAft>
                    <a:spcPts val="0"/>
                  </a:spcAft>
                  <a:buNone/>
                </a:pPr>
                <a:r>
                  <a:rPr lang="en-IN" b="1" dirty="0"/>
                  <a:t>Output neuron 1</a:t>
                </a:r>
              </a:p>
              <a:p>
                <a:pPr>
                  <a:lnSpc>
                    <a:spcPct val="120000"/>
                  </a:lnSpc>
                  <a:spcBef>
                    <a:spcPts val="0"/>
                  </a:spcBef>
                  <a:spcAft>
                    <a:spcPts val="0"/>
                  </a:spcAft>
                </a:pP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𝑧</m:t>
                        </m:r>
                      </m:e>
                      <m:sub>
                        <m:r>
                          <a:rPr lang="ar-AE">
                            <a:latin typeface="Cambria Math" panose="02040503050406030204" pitchFamily="18" charset="0"/>
                          </a:rPr>
                          <m:t>1</m:t>
                        </m:r>
                      </m:sub>
                    </m:sSub>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5</m:t>
                    </m:r>
                    <m:d>
                      <m:dPr>
                        <m:ctrlPr>
                          <a:rPr lang="ar-AE" i="1">
                            <a:latin typeface="Cambria Math" panose="02040503050406030204" pitchFamily="18" charset="0"/>
                          </a:rPr>
                        </m:ctrlPr>
                      </m:dP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668</m:t>
                        </m:r>
                      </m:e>
                    </m:d>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05</m:t>
                    </m:r>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384</m:t>
                    </m:r>
                  </m:oMath>
                </a14:m>
                <a:endParaRPr lang="ar-AE" dirty="0"/>
              </a:p>
              <a:p>
                <a:pPr>
                  <a:lnSpc>
                    <a:spcPct val="120000"/>
                  </a:lnSpc>
                  <a:spcBef>
                    <a:spcPts val="0"/>
                  </a:spcBef>
                  <a:spcAft>
                    <a:spcPts val="0"/>
                  </a:spcAft>
                </a:pPr>
                <a14:m>
                  <m:oMath xmlns:m="http://schemas.openxmlformats.org/officeDocument/2006/math">
                    <m:sSub>
                      <m:sSubPr>
                        <m:ctrlPr>
                          <a:rPr lang="ar-AE" i="1">
                            <a:latin typeface="Cambria Math" panose="02040503050406030204" pitchFamily="18" charset="0"/>
                          </a:rPr>
                        </m:ctrlPr>
                      </m:sSubPr>
                      <m:e>
                        <m:acc>
                          <m:accPr>
                            <m:chr m:val="̂"/>
                            <m:ctrlPr>
                              <a:rPr lang="ar-AE" i="1">
                                <a:latin typeface="Cambria Math" panose="02040503050406030204" pitchFamily="18" charset="0"/>
                              </a:rPr>
                            </m:ctrlPr>
                          </m:accPr>
                          <m:e>
                            <m:r>
                              <a:rPr lang="ar-AE" i="1">
                                <a:latin typeface="Cambria Math" panose="02040503050406030204" pitchFamily="18" charset="0"/>
                              </a:rPr>
                              <m:t>𝑥</m:t>
                            </m:r>
                          </m:e>
                        </m:acc>
                      </m:e>
                      <m:sub>
                        <m:r>
                          <a:rPr lang="ar-AE">
                            <a:latin typeface="Cambria Math" panose="02040503050406030204" pitchFamily="18" charset="0"/>
                          </a:rPr>
                          <m:t>1</m:t>
                        </m:r>
                      </m:sub>
                    </m:sSub>
                    <m:r>
                      <a:rPr lang="ar-AE">
                        <a:latin typeface="Cambria Math" panose="02040503050406030204" pitchFamily="18" charset="0"/>
                      </a:rPr>
                      <m:t>=</m:t>
                    </m:r>
                    <m:r>
                      <a:rPr lang="ar-AE" i="1">
                        <a:latin typeface="Cambria Math" panose="02040503050406030204" pitchFamily="18" charset="0"/>
                      </a:rPr>
                      <m:t>𝜎</m:t>
                    </m:r>
                    <m:d>
                      <m:dPr>
                        <m:ctrlPr>
                          <a:rPr lang="ar-AE" i="1">
                            <a:latin typeface="Cambria Math" panose="02040503050406030204" pitchFamily="18" charset="0"/>
                          </a:rPr>
                        </m:ctrlPr>
                      </m:dP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384</m:t>
                        </m:r>
                      </m:e>
                    </m:d>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595</m:t>
                    </m:r>
                  </m:oMath>
                </a14:m>
                <a:endParaRPr lang="ar-AE" dirty="0"/>
              </a:p>
              <a:p>
                <a:pPr marL="0" indent="0">
                  <a:lnSpc>
                    <a:spcPct val="120000"/>
                  </a:lnSpc>
                  <a:spcBef>
                    <a:spcPts val="0"/>
                  </a:spcBef>
                  <a:spcAft>
                    <a:spcPts val="0"/>
                  </a:spcAft>
                  <a:buNone/>
                </a:pPr>
                <a:r>
                  <a:rPr lang="en-IN" b="1" dirty="0"/>
                  <a:t>Output neuron 2</a:t>
                </a:r>
              </a:p>
              <a:p>
                <a:pPr>
                  <a:lnSpc>
                    <a:spcPct val="120000"/>
                  </a:lnSpc>
                  <a:spcBef>
                    <a:spcPts val="0"/>
                  </a:spcBef>
                  <a:spcAft>
                    <a:spcPts val="0"/>
                  </a:spcAft>
                </a:pP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𝑧</m:t>
                        </m:r>
                      </m:e>
                      <m:sub>
                        <m:r>
                          <a:rPr lang="ar-AE">
                            <a:latin typeface="Cambria Math" panose="02040503050406030204" pitchFamily="18" charset="0"/>
                          </a:rPr>
                          <m:t>2</m:t>
                        </m:r>
                      </m:sub>
                    </m:sSub>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3</m:t>
                    </m:r>
                    <m:d>
                      <m:dPr>
                        <m:ctrlPr>
                          <a:rPr lang="ar-AE" i="1">
                            <a:latin typeface="Cambria Math" panose="02040503050406030204" pitchFamily="18" charset="0"/>
                          </a:rPr>
                        </m:ctrlPr>
                      </m:dP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668</m:t>
                        </m:r>
                      </m:e>
                    </m:d>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05</m:t>
                    </m:r>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150</m:t>
                    </m:r>
                  </m:oMath>
                </a14:m>
                <a:endParaRPr lang="ar-AE" dirty="0"/>
              </a:p>
              <a:p>
                <a:pPr>
                  <a:lnSpc>
                    <a:spcPct val="120000"/>
                  </a:lnSpc>
                  <a:spcBef>
                    <a:spcPts val="0"/>
                  </a:spcBef>
                  <a:spcAft>
                    <a:spcPts val="0"/>
                  </a:spcAft>
                </a:pPr>
                <a14:m>
                  <m:oMath xmlns:m="http://schemas.openxmlformats.org/officeDocument/2006/math">
                    <m:sSub>
                      <m:sSubPr>
                        <m:ctrlPr>
                          <a:rPr lang="ar-AE" i="1">
                            <a:latin typeface="Cambria Math" panose="02040503050406030204" pitchFamily="18" charset="0"/>
                          </a:rPr>
                        </m:ctrlPr>
                      </m:sSubPr>
                      <m:e>
                        <m:acc>
                          <m:accPr>
                            <m:chr m:val="̂"/>
                            <m:ctrlPr>
                              <a:rPr lang="ar-AE" i="1">
                                <a:latin typeface="Cambria Math" panose="02040503050406030204" pitchFamily="18" charset="0"/>
                              </a:rPr>
                            </m:ctrlPr>
                          </m:accPr>
                          <m:e>
                            <m:r>
                              <a:rPr lang="ar-AE" i="1">
                                <a:latin typeface="Cambria Math" panose="02040503050406030204" pitchFamily="18" charset="0"/>
                              </a:rPr>
                              <m:t>𝑥</m:t>
                            </m:r>
                          </m:e>
                        </m:acc>
                      </m:e>
                      <m:sub>
                        <m:r>
                          <a:rPr lang="ar-AE">
                            <a:latin typeface="Cambria Math" panose="02040503050406030204" pitchFamily="18" charset="0"/>
                          </a:rPr>
                          <m:t>2</m:t>
                        </m:r>
                      </m:sub>
                    </m:sSub>
                    <m:r>
                      <a:rPr lang="ar-AE">
                        <a:latin typeface="Cambria Math" panose="02040503050406030204" pitchFamily="18" charset="0"/>
                      </a:rPr>
                      <m:t>=</m:t>
                    </m:r>
                    <m:r>
                      <a:rPr lang="ar-AE" i="1">
                        <a:latin typeface="Cambria Math" panose="02040503050406030204" pitchFamily="18" charset="0"/>
                      </a:rPr>
                      <m:t>𝜎</m:t>
                    </m:r>
                    <m:d>
                      <m:dPr>
                        <m:ctrlPr>
                          <a:rPr lang="ar-AE" i="1">
                            <a:latin typeface="Cambria Math" panose="02040503050406030204" pitchFamily="18" charset="0"/>
                          </a:rPr>
                        </m:ctrlPr>
                      </m:dPr>
                      <m:e>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150</m:t>
                        </m:r>
                      </m:e>
                    </m:d>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463</m:t>
                    </m:r>
                  </m:oMath>
                </a14:m>
                <a:endParaRPr lang="ar-AE" dirty="0"/>
              </a:p>
            </p:txBody>
          </p:sp>
        </mc:Choice>
        <mc:Fallback xmlns="">
          <p:sp>
            <p:nvSpPr>
              <p:cNvPr id="3" name="Content Placeholder 2">
                <a:extLst>
                  <a:ext uri="{FF2B5EF4-FFF2-40B4-BE49-F238E27FC236}">
                    <a16:creationId xmlns:a16="http://schemas.microsoft.com/office/drawing/2014/main" id="{FC6520C1-DB54-DFA5-875A-C11DC4B95837}"/>
                  </a:ext>
                </a:extLst>
              </p:cNvPr>
              <p:cNvSpPr>
                <a:spLocks noGrp="1" noRot="1" noChangeAspect="1" noMove="1" noResize="1" noEditPoints="1" noAdjustHandles="1" noChangeArrowheads="1" noChangeShapeType="1" noTextEdit="1"/>
              </p:cNvSpPr>
              <p:nvPr>
                <p:ph idx="1"/>
              </p:nvPr>
            </p:nvSpPr>
            <p:spPr>
              <a:xfrm>
                <a:off x="558800" y="1432560"/>
                <a:ext cx="5222558" cy="4551470"/>
              </a:xfrm>
              <a:blipFill>
                <a:blip r:embed="rId2"/>
                <a:stretch>
                  <a:fillRect l="-3271" t="-937"/>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 name="Content Placeholder 2">
                <a:extLst>
                  <a:ext uri="{FF2B5EF4-FFF2-40B4-BE49-F238E27FC236}">
                    <a16:creationId xmlns:a16="http://schemas.microsoft.com/office/drawing/2014/main" id="{DA9D51AC-085C-98B9-7EEA-81B7105F9CDD}"/>
                  </a:ext>
                </a:extLst>
              </p:cNvPr>
              <p:cNvSpPr txBox="1">
                <a:spLocks/>
              </p:cNvSpPr>
              <p:nvPr/>
            </p:nvSpPr>
            <p:spPr>
              <a:xfrm>
                <a:off x="6552882" y="1766426"/>
                <a:ext cx="5222558" cy="4217604"/>
              </a:xfrm>
              <a:prstGeom prst="rect">
                <a:avLst/>
              </a:prstGeom>
            </p:spPr>
            <p:txBody>
              <a:bodyPr vert="horz" lIns="0" tIns="45720" rIns="0" bIns="45720" rtlCol="0">
                <a:normAutofit lnSpcReduction="10000"/>
              </a:bodyPr>
              <a:lstStyle>
                <a:lvl1pPr marL="361950" indent="-361950" algn="l" defTabSz="914400" rtl="0" eaLnBrk="1" latinLnBrk="0" hangingPunct="1">
                  <a:lnSpc>
                    <a:spcPct val="90000"/>
                  </a:lnSpc>
                  <a:spcBef>
                    <a:spcPts val="1200"/>
                  </a:spcBef>
                  <a:spcAft>
                    <a:spcPts val="200"/>
                  </a:spcAft>
                  <a:buClr>
                    <a:schemeClr val="accent1"/>
                  </a:buClr>
                  <a:buSzPct val="100000"/>
                  <a:buFont typeface="Arial" panose="020B0604020202020204" pitchFamily="34" charset="0"/>
                  <a:buChar char="•"/>
                  <a:defRPr sz="2400" kern="1200">
                    <a:solidFill>
                      <a:schemeClr val="tx1"/>
                    </a:solidFill>
                    <a:latin typeface="+mn-lt"/>
                    <a:ea typeface="+mn-ea"/>
                    <a:cs typeface="+mn-cs"/>
                  </a:defRPr>
                </a:lvl1pPr>
                <a:lvl2pPr marL="542925" indent="-3429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2400" kern="1200">
                    <a:solidFill>
                      <a:schemeClr val="tx1"/>
                    </a:solidFill>
                    <a:latin typeface="+mn-lt"/>
                    <a:ea typeface="+mn-ea"/>
                    <a:cs typeface="+mn-cs"/>
                  </a:defRPr>
                </a:lvl2pPr>
                <a:lvl3pPr marL="714375" indent="-330200" algn="l" defTabSz="914400" rtl="0" eaLnBrk="1" latinLnBrk="0" hangingPunct="1">
                  <a:lnSpc>
                    <a:spcPct val="90000"/>
                  </a:lnSpc>
                  <a:spcBef>
                    <a:spcPts val="200"/>
                  </a:spcBef>
                  <a:spcAft>
                    <a:spcPts val="400"/>
                  </a:spcAft>
                  <a:buClr>
                    <a:schemeClr val="accent1"/>
                  </a:buClr>
                  <a:buFont typeface="Arial" panose="020B0604020202020204" pitchFamily="34" charset="0"/>
                  <a:buChar char="•"/>
                  <a:tabLst>
                    <a:tab pos="714375" algn="l"/>
                  </a:tabLst>
                  <a:defRPr sz="2400" kern="1200">
                    <a:solidFill>
                      <a:schemeClr val="tx1"/>
                    </a:solidFill>
                    <a:latin typeface="+mn-lt"/>
                    <a:ea typeface="+mn-ea"/>
                    <a:cs typeface="+mn-cs"/>
                  </a:defRPr>
                </a:lvl3pPr>
                <a:lvl4pPr marL="895350" indent="-2667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2400" kern="1200">
                    <a:solidFill>
                      <a:schemeClr val="tx1"/>
                    </a:solidFill>
                    <a:latin typeface="+mn-lt"/>
                    <a:ea typeface="+mn-ea"/>
                    <a:cs typeface="+mn-cs"/>
                  </a:defRPr>
                </a:lvl4pPr>
                <a:lvl5pPr marL="1162050" indent="-352425"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2400" kern="1200">
                    <a:solidFill>
                      <a:schemeClr val="tx1"/>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nSpc>
                    <a:spcPct val="120000"/>
                  </a:lnSpc>
                  <a:spcBef>
                    <a:spcPts val="0"/>
                  </a:spcBef>
                  <a:spcAft>
                    <a:spcPts val="0"/>
                  </a:spcAft>
                </a:pPr>
                <a:r>
                  <a:rPr lang="en-IN" b="1" dirty="0"/>
                  <a:t>Reconstruction</a:t>
                </a:r>
              </a:p>
              <a:p>
                <a:pPr>
                  <a:lnSpc>
                    <a:spcPct val="120000"/>
                  </a:lnSpc>
                  <a:spcBef>
                    <a:spcPts val="0"/>
                  </a:spcBef>
                  <a:spcAft>
                    <a:spcPts val="0"/>
                  </a:spcAft>
                </a:pPr>
                <a14:m>
                  <m:oMath xmlns:m="http://schemas.openxmlformats.org/officeDocument/2006/math">
                    <m:acc>
                      <m:accPr>
                        <m:chr m:val="̂"/>
                        <m:ctrlPr>
                          <a:rPr lang="ar-AE" i="1">
                            <a:latin typeface="Cambria Math" panose="02040503050406030204" pitchFamily="18" charset="0"/>
                          </a:rPr>
                        </m:ctrlPr>
                      </m:accPr>
                      <m:e>
                        <m:r>
                          <a:rPr lang="ar-AE" i="1">
                            <a:latin typeface="Cambria Math" panose="02040503050406030204" pitchFamily="18" charset="0"/>
                          </a:rPr>
                          <m:t>𝑥</m:t>
                        </m:r>
                      </m:e>
                    </m:acc>
                    <m:r>
                      <a:rPr lang="ar-AE">
                        <a:latin typeface="Cambria Math" panose="02040503050406030204" pitchFamily="18" charset="0"/>
                      </a:rPr>
                      <m:t>=</m:t>
                    </m:r>
                    <m:d>
                      <m:dPr>
                        <m:begChr m:val="["/>
                        <m:endChr m:val="]"/>
                        <m:sepChr m:val=","/>
                        <m:ctrlPr>
                          <a:rPr lang="ar-AE" i="1">
                            <a:latin typeface="Cambria Math" panose="02040503050406030204" pitchFamily="18" charset="0"/>
                          </a:rPr>
                        </m:ctrlPr>
                      </m:dP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595</m:t>
                        </m:r>
                      </m:e>
                      <m:e>
                        <m:r>
                          <m:rPr>
                            <m:nor/>
                          </m:rPr>
                          <a:rPr lang="ar-AE" i="1"/>
                          <m:t>  </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463</m:t>
                        </m:r>
                      </m:e>
                    </m:d>
                  </m:oMath>
                </a14:m>
                <a:endParaRPr lang="ar-AE" dirty="0"/>
              </a:p>
              <a:p>
                <a:pPr marL="0" indent="0">
                  <a:lnSpc>
                    <a:spcPct val="120000"/>
                  </a:lnSpc>
                  <a:spcBef>
                    <a:spcPts val="0"/>
                  </a:spcBef>
                  <a:spcAft>
                    <a:spcPts val="0"/>
                  </a:spcAft>
                  <a:buNone/>
                </a:pPr>
                <a:endParaRPr lang="ar-AE" dirty="0"/>
              </a:p>
              <a:p>
                <a:pPr>
                  <a:lnSpc>
                    <a:spcPct val="120000"/>
                  </a:lnSpc>
                  <a:spcBef>
                    <a:spcPts val="0"/>
                  </a:spcBef>
                  <a:spcAft>
                    <a:spcPts val="0"/>
                  </a:spcAft>
                </a:pPr>
                <a:r>
                  <a:rPr lang="en-IN" b="1" dirty="0"/>
                  <a:t> STEP 3: Reconstruction Loss</a:t>
                </a:r>
              </a:p>
              <a:p>
                <a:pPr>
                  <a:lnSpc>
                    <a:spcPct val="120000"/>
                  </a:lnSpc>
                  <a:spcBef>
                    <a:spcPts val="0"/>
                  </a:spcBef>
                  <a:spcAft>
                    <a:spcPts val="0"/>
                  </a:spcAft>
                </a:pP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𝐿</m:t>
                        </m:r>
                      </m:e>
                      <m:sub>
                        <m:r>
                          <a:rPr lang="ar-AE" i="1">
                            <a:latin typeface="Cambria Math" panose="02040503050406030204" pitchFamily="18" charset="0"/>
                          </a:rPr>
                          <m:t>𝑟𝑒𝑐</m:t>
                        </m:r>
                      </m:sub>
                    </m:sSub>
                    <m:r>
                      <a:rPr lang="ar-AE">
                        <a:latin typeface="Cambria Math" panose="02040503050406030204" pitchFamily="18" charset="0"/>
                      </a:rPr>
                      <m:t>=</m:t>
                    </m:r>
                    <m:d>
                      <m:dPr>
                        <m:endChr m:val=""/>
                        <m:ctrlPr>
                          <a:rPr lang="ar-AE" i="1">
                            <a:latin typeface="Cambria Math" panose="02040503050406030204" pitchFamily="18" charset="0"/>
                          </a:rPr>
                        </m:ctrlPr>
                      </m:dPr>
                      <m:e>
                        <m:r>
                          <a:rPr lang="ar-AE">
                            <a:latin typeface="Cambria Math" panose="02040503050406030204" pitchFamily="18" charset="0"/>
                          </a:rPr>
                          <m:t>1</m:t>
                        </m:r>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595</m:t>
                        </m:r>
                        <m:sSup>
                          <m:sSupPr>
                            <m:ctrlPr>
                              <a:rPr lang="ar-AE" i="1">
                                <a:latin typeface="Cambria Math" panose="02040503050406030204" pitchFamily="18" charset="0"/>
                              </a:rPr>
                            </m:ctrlPr>
                          </m:sSupPr>
                          <m:e>
                            <m:d>
                              <m:dPr>
                                <m:begChr m:val=""/>
                                <m:endChr m:val=""/>
                                <m:ctrlPr>
                                  <a:rPr lang="ar-AE" i="1">
                                    <a:latin typeface="Cambria Math" panose="02040503050406030204" pitchFamily="18" charset="0"/>
                                  </a:rPr>
                                </m:ctrlPr>
                              </m:dPr>
                              <m:e>
                                <m:r>
                                  <a:rPr lang="ar-AE">
                                    <a:latin typeface="Cambria Math" panose="02040503050406030204" pitchFamily="18" charset="0"/>
                                  </a:rPr>
                                  <m:t>)</m:t>
                                </m:r>
                              </m:e>
                            </m:d>
                          </m:e>
                          <m:sup>
                            <m:r>
                              <a:rPr lang="ar-AE">
                                <a:latin typeface="Cambria Math" panose="02040503050406030204" pitchFamily="18" charset="0"/>
                              </a:rPr>
                              <m:t>2</m:t>
                            </m:r>
                          </m:sup>
                        </m:sSup>
                        <m:r>
                          <a:rPr lang="ar-AE">
                            <a:latin typeface="Cambria Math" panose="02040503050406030204" pitchFamily="18" charset="0"/>
                          </a:rPr>
                          <m:t>+</m:t>
                        </m:r>
                        <m:d>
                          <m:dPr>
                            <m:endChr m:val=""/>
                            <m:ctrlPr>
                              <a:rPr lang="ar-AE" i="1">
                                <a:latin typeface="Cambria Math" panose="02040503050406030204" pitchFamily="18" charset="0"/>
                              </a:rPr>
                            </m:ctrlPr>
                          </m:dP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463</m:t>
                            </m:r>
                            <m:sSup>
                              <m:sSupPr>
                                <m:ctrlPr>
                                  <a:rPr lang="ar-AE" i="1">
                                    <a:latin typeface="Cambria Math" panose="02040503050406030204" pitchFamily="18" charset="0"/>
                                  </a:rPr>
                                </m:ctrlPr>
                              </m:sSupPr>
                              <m:e>
                                <m:d>
                                  <m:dPr>
                                    <m:begChr m:val=""/>
                                    <m:endChr m:val=""/>
                                    <m:ctrlPr>
                                      <a:rPr lang="ar-AE" i="1">
                                        <a:latin typeface="Cambria Math" panose="02040503050406030204" pitchFamily="18" charset="0"/>
                                      </a:rPr>
                                    </m:ctrlPr>
                                  </m:dPr>
                                  <m:e>
                                    <m:r>
                                      <a:rPr lang="ar-AE">
                                        <a:latin typeface="Cambria Math" panose="02040503050406030204" pitchFamily="18" charset="0"/>
                                      </a:rPr>
                                      <m:t>)</m:t>
                                    </m:r>
                                  </m:e>
                                </m:d>
                              </m:e>
                              <m:sup>
                                <m:r>
                                  <a:rPr lang="ar-AE">
                                    <a:latin typeface="Cambria Math" panose="02040503050406030204" pitchFamily="18" charset="0"/>
                                  </a:rPr>
                                  <m:t>2</m:t>
                                </m:r>
                              </m:sup>
                            </m:sSup>
                          </m:e>
                        </m:d>
                      </m:e>
                    </m:d>
                  </m:oMath>
                </a14:m>
                <a:endParaRPr lang="ar-AE" dirty="0"/>
              </a:p>
              <a:p>
                <a:pPr>
                  <a:lnSpc>
                    <a:spcPct val="120000"/>
                  </a:lnSpc>
                  <a:spcBef>
                    <a:spcPts val="0"/>
                  </a:spcBef>
                  <a:spcAft>
                    <a:spcPts val="0"/>
                  </a:spcAft>
                </a:pPr>
                <a14:m>
                  <m:oMath xmlns:m="http://schemas.openxmlformats.org/officeDocument/2006/math">
                    <m:r>
                      <a:rPr lang="ar-AE">
                        <a:latin typeface="Cambria Math" panose="02040503050406030204" pitchFamily="18" charset="0"/>
                      </a:rPr>
                      <m:t>=</m:t>
                    </m:r>
                    <m:sSup>
                      <m:sSupPr>
                        <m:ctrlPr>
                          <a:rPr lang="ar-AE" i="1">
                            <a:latin typeface="Cambria Math" panose="02040503050406030204" pitchFamily="18" charset="0"/>
                          </a:rPr>
                        </m:ctrlPr>
                      </m:sSupP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405</m:t>
                        </m:r>
                      </m:e>
                      <m:sup>
                        <m:r>
                          <a:rPr lang="ar-AE">
                            <a:latin typeface="Cambria Math" panose="02040503050406030204" pitchFamily="18" charset="0"/>
                          </a:rPr>
                          <m:t>2</m:t>
                        </m:r>
                      </m:sup>
                    </m:sSup>
                    <m:r>
                      <a:rPr lang="ar-AE">
                        <a:latin typeface="Cambria Math" panose="02040503050406030204" pitchFamily="18" charset="0"/>
                      </a:rPr>
                      <m:t>+</m:t>
                    </m:r>
                    <m:d>
                      <m:dPr>
                        <m:endChr m:val=""/>
                        <m:ctrlPr>
                          <a:rPr lang="ar-AE" i="1">
                            <a:latin typeface="Cambria Math" panose="02040503050406030204" pitchFamily="18" charset="0"/>
                          </a:rPr>
                        </m:ctrlPr>
                      </m:dPr>
                      <m:e>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463</m:t>
                        </m:r>
                        <m:sSup>
                          <m:sSupPr>
                            <m:ctrlPr>
                              <a:rPr lang="ar-AE" i="1">
                                <a:latin typeface="Cambria Math" panose="02040503050406030204" pitchFamily="18" charset="0"/>
                              </a:rPr>
                            </m:ctrlPr>
                          </m:sSupPr>
                          <m:e>
                            <m:d>
                              <m:dPr>
                                <m:begChr m:val=""/>
                                <m:endChr m:val=""/>
                                <m:ctrlPr>
                                  <a:rPr lang="ar-AE" i="1">
                                    <a:latin typeface="Cambria Math" panose="02040503050406030204" pitchFamily="18" charset="0"/>
                                  </a:rPr>
                                </m:ctrlPr>
                              </m:dPr>
                              <m:e>
                                <m:r>
                                  <a:rPr lang="ar-AE">
                                    <a:latin typeface="Cambria Math" panose="02040503050406030204" pitchFamily="18" charset="0"/>
                                  </a:rPr>
                                  <m:t>)</m:t>
                                </m:r>
                              </m:e>
                            </m:d>
                          </m:e>
                          <m:sup>
                            <m:r>
                              <a:rPr lang="ar-AE">
                                <a:latin typeface="Cambria Math" panose="02040503050406030204" pitchFamily="18" charset="0"/>
                              </a:rPr>
                              <m:t>2</m:t>
                            </m:r>
                          </m:sup>
                        </m:sSup>
                      </m:e>
                    </m:d>
                  </m:oMath>
                </a14:m>
                <a:endParaRPr lang="ar-AE" dirty="0"/>
              </a:p>
              <a:p>
                <a:pPr>
                  <a:lnSpc>
                    <a:spcPct val="120000"/>
                  </a:lnSpc>
                  <a:spcBef>
                    <a:spcPts val="0"/>
                  </a:spcBef>
                  <a:spcAft>
                    <a:spcPts val="0"/>
                  </a:spcAft>
                </a:pPr>
                <a14:m>
                  <m:oMath xmlns:m="http://schemas.openxmlformats.org/officeDocument/2006/math">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164</m:t>
                    </m:r>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214</m:t>
                    </m:r>
                  </m:oMath>
                </a14:m>
                <a:endParaRPr lang="ar-AE" dirty="0"/>
              </a:p>
              <a:p>
                <a:pPr>
                  <a:lnSpc>
                    <a:spcPct val="120000"/>
                  </a:lnSpc>
                  <a:spcBef>
                    <a:spcPts val="0"/>
                  </a:spcBef>
                  <a:spcAft>
                    <a:spcPts val="0"/>
                  </a:spcAft>
                </a:pPr>
                <a14:m>
                  <m:oMath xmlns:m="http://schemas.openxmlformats.org/officeDocument/2006/math">
                    <m:borderBox>
                      <m:borderBoxPr>
                        <m:ctrlPr>
                          <a:rPr lang="ar-AE" i="1">
                            <a:latin typeface="Cambria Math" panose="02040503050406030204" pitchFamily="18" charset="0"/>
                          </a:rPr>
                        </m:ctrlPr>
                      </m:borderBoxPr>
                      <m:e>
                        <m:sSub>
                          <m:sSubPr>
                            <m:ctrlPr>
                              <a:rPr lang="ar-AE" i="1">
                                <a:latin typeface="Cambria Math" panose="02040503050406030204" pitchFamily="18" charset="0"/>
                              </a:rPr>
                            </m:ctrlPr>
                          </m:sSubPr>
                          <m:e>
                            <m:r>
                              <a:rPr lang="ar-AE" i="1">
                                <a:latin typeface="Cambria Math" panose="02040503050406030204" pitchFamily="18" charset="0"/>
                              </a:rPr>
                              <m:t>𝐿</m:t>
                            </m:r>
                          </m:e>
                          <m:sub>
                            <m:r>
                              <a:rPr lang="ar-AE" i="1">
                                <a:latin typeface="Cambria Math" panose="02040503050406030204" pitchFamily="18" charset="0"/>
                              </a:rPr>
                              <m:t>𝑟𝑒𝑐</m:t>
                            </m:r>
                          </m:sub>
                        </m:sSub>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378</m:t>
                        </m:r>
                      </m:e>
                    </m:borderBox>
                  </m:oMath>
                </a14:m>
                <a:endParaRPr lang="ar-AE" dirty="0"/>
              </a:p>
              <a:p>
                <a:pPr>
                  <a:lnSpc>
                    <a:spcPct val="120000"/>
                  </a:lnSpc>
                  <a:spcBef>
                    <a:spcPts val="0"/>
                  </a:spcBef>
                  <a:spcAft>
                    <a:spcPts val="0"/>
                  </a:spcAft>
                </a:pPr>
                <a:endParaRPr lang="en-IN" dirty="0"/>
              </a:p>
            </p:txBody>
          </p:sp>
        </mc:Choice>
        <mc:Fallback xmlns="">
          <p:sp>
            <p:nvSpPr>
              <p:cNvPr id="4" name="Content Placeholder 2">
                <a:extLst>
                  <a:ext uri="{FF2B5EF4-FFF2-40B4-BE49-F238E27FC236}">
                    <a16:creationId xmlns:a16="http://schemas.microsoft.com/office/drawing/2014/main" id="{DA9D51AC-085C-98B9-7EEA-81B7105F9CDD}"/>
                  </a:ext>
                </a:extLst>
              </p:cNvPr>
              <p:cNvSpPr txBox="1">
                <a:spLocks noRot="1" noChangeAspect="1" noMove="1" noResize="1" noEditPoints="1" noAdjustHandles="1" noChangeArrowheads="1" noChangeShapeType="1" noTextEdit="1"/>
              </p:cNvSpPr>
              <p:nvPr/>
            </p:nvSpPr>
            <p:spPr>
              <a:xfrm>
                <a:off x="6552882" y="1766426"/>
                <a:ext cx="5222558" cy="4217604"/>
              </a:xfrm>
              <a:prstGeom prst="rect">
                <a:avLst/>
              </a:prstGeom>
              <a:blipFill>
                <a:blip r:embed="rId3"/>
                <a:stretch>
                  <a:fillRect l="-3384" t="-723"/>
                </a:stretch>
              </a:blipFill>
            </p:spPr>
            <p:txBody>
              <a:bodyPr/>
              <a:lstStyle/>
              <a:p>
                <a:r>
                  <a:rPr lang="en-IN">
                    <a:noFill/>
                  </a:rPr>
                  <a:t> </a:t>
                </a:r>
              </a:p>
            </p:txBody>
          </p:sp>
        </mc:Fallback>
      </mc:AlternateContent>
    </p:spTree>
    <p:extLst>
      <p:ext uri="{BB962C8B-B14F-4D97-AF65-F5344CB8AC3E}">
        <p14:creationId xmlns:p14="http://schemas.microsoft.com/office/powerpoint/2010/main" val="394035149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ADA8F0-8158-1B69-ECC9-D8293FA136C9}"/>
              </a:ext>
            </a:extLst>
          </p:cNvPr>
          <p:cNvSpPr>
            <a:spLocks noGrp="1"/>
          </p:cNvSpPr>
          <p:nvPr>
            <p:ph type="title"/>
          </p:nvPr>
        </p:nvSpPr>
        <p:spPr/>
        <p:txBody>
          <a:bodyPr>
            <a:normAutofit fontScale="90000"/>
          </a:bodyPr>
          <a:lstStyle/>
          <a:p>
            <a:endParaRPr lang="en-IN"/>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7D2B65A-3CDC-C80A-182B-9DF48D1C606C}"/>
                  </a:ext>
                </a:extLst>
              </p:cNvPr>
              <p:cNvSpPr>
                <a:spLocks noGrp="1"/>
              </p:cNvSpPr>
              <p:nvPr>
                <p:ph idx="1"/>
              </p:nvPr>
            </p:nvSpPr>
            <p:spPr>
              <a:xfrm>
                <a:off x="812801" y="1402080"/>
                <a:ext cx="4206240" cy="4724190"/>
              </a:xfrm>
            </p:spPr>
            <p:txBody>
              <a:bodyPr>
                <a:normAutofit fontScale="92500" lnSpcReduction="20000"/>
              </a:bodyPr>
              <a:lstStyle/>
              <a:p>
                <a:pPr>
                  <a:lnSpc>
                    <a:spcPct val="120000"/>
                  </a:lnSpc>
                  <a:spcBef>
                    <a:spcPts val="0"/>
                  </a:spcBef>
                  <a:spcAft>
                    <a:spcPts val="0"/>
                  </a:spcAft>
                </a:pPr>
                <a:r>
                  <a:rPr lang="en-IN" b="1" dirty="0"/>
                  <a:t>STEP 4: Adversarial Training</a:t>
                </a:r>
              </a:p>
              <a:p>
                <a:pPr>
                  <a:lnSpc>
                    <a:spcPct val="120000"/>
                  </a:lnSpc>
                  <a:spcBef>
                    <a:spcPts val="0"/>
                  </a:spcBef>
                  <a:spcAft>
                    <a:spcPts val="0"/>
                  </a:spcAft>
                </a:pPr>
                <a:r>
                  <a:rPr lang="en-IN" dirty="0"/>
                  <a:t>The discriminator receives:</a:t>
                </a:r>
              </a:p>
              <a:p>
                <a:pPr>
                  <a:lnSpc>
                    <a:spcPct val="120000"/>
                  </a:lnSpc>
                  <a:spcBef>
                    <a:spcPts val="0"/>
                  </a:spcBef>
                  <a:spcAft>
                    <a:spcPts val="0"/>
                  </a:spcAft>
                </a:pPr>
                <a:r>
                  <a:rPr lang="en-IN" b="1" dirty="0"/>
                  <a:t> real latent sample from Gaussian</a:t>
                </a:r>
              </a:p>
              <a:p>
                <a:pPr>
                  <a:lnSpc>
                    <a:spcPct val="120000"/>
                  </a:lnSpc>
                  <a:spcBef>
                    <a:spcPts val="0"/>
                  </a:spcBef>
                  <a:spcAft>
                    <a:spcPts val="0"/>
                  </a:spcAft>
                </a:pPr>
                <a:r>
                  <a:rPr lang="en-IN" dirty="0"/>
                  <a:t>Assume:</a:t>
                </a:r>
              </a:p>
              <a:p>
                <a:pPr>
                  <a:lnSpc>
                    <a:spcPct val="120000"/>
                  </a:lnSpc>
                  <a:spcBef>
                    <a:spcPts val="0"/>
                  </a:spcBef>
                  <a:spcAft>
                    <a:spcPts val="0"/>
                  </a:spcAft>
                </a:pP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𝑧</m:t>
                        </m:r>
                      </m:e>
                      <m:sub>
                        <m:r>
                          <a:rPr lang="ar-AE" i="1">
                            <a:latin typeface="Cambria Math" panose="02040503050406030204" pitchFamily="18" charset="0"/>
                          </a:rPr>
                          <m:t>𝑟𝑒𝑎𝑙</m:t>
                        </m:r>
                      </m:sub>
                    </m:sSub>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2</m:t>
                    </m:r>
                  </m:oMath>
                </a14:m>
                <a:endParaRPr lang="ar-AE" dirty="0"/>
              </a:p>
              <a:p>
                <a:pPr>
                  <a:lnSpc>
                    <a:spcPct val="120000"/>
                  </a:lnSpc>
                  <a:spcBef>
                    <a:spcPts val="0"/>
                  </a:spcBef>
                  <a:spcAft>
                    <a:spcPts val="0"/>
                  </a:spcAft>
                </a:pPr>
                <a:r>
                  <a:rPr lang="en-US" b="1" dirty="0"/>
                  <a:t>Fake </a:t>
                </a:r>
                <a:r>
                  <a:rPr lang="en-IN" b="1" dirty="0"/>
                  <a:t>latent from encoder</a:t>
                </a:r>
              </a:p>
              <a:p>
                <a:pPr>
                  <a:lnSpc>
                    <a:spcPct val="120000"/>
                  </a:lnSpc>
                  <a:spcBef>
                    <a:spcPts val="0"/>
                  </a:spcBef>
                  <a:spcAft>
                    <a:spcPts val="0"/>
                  </a:spcAft>
                </a:pP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𝑧</m:t>
                        </m:r>
                      </m:e>
                      <m:sub>
                        <m:r>
                          <a:rPr lang="ar-AE" i="1">
                            <a:latin typeface="Cambria Math" panose="02040503050406030204" pitchFamily="18" charset="0"/>
                          </a:rPr>
                          <m:t>𝑓𝑎𝑘𝑒</m:t>
                        </m:r>
                      </m:sub>
                    </m:sSub>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668</m:t>
                    </m:r>
                  </m:oMath>
                </a14:m>
                <a:endParaRPr lang="ar-AE" dirty="0"/>
              </a:p>
              <a:p>
                <a:pPr>
                  <a:lnSpc>
                    <a:spcPct val="120000"/>
                  </a:lnSpc>
                  <a:spcBef>
                    <a:spcPts val="0"/>
                  </a:spcBef>
                  <a:spcAft>
                    <a:spcPts val="0"/>
                  </a:spcAft>
                </a:pPr>
                <a:r>
                  <a:rPr lang="en-IN" b="1" dirty="0"/>
                  <a:t>Discriminator model</a:t>
                </a:r>
              </a:p>
              <a:p>
                <a:pPr>
                  <a:lnSpc>
                    <a:spcPct val="120000"/>
                  </a:lnSpc>
                  <a:spcBef>
                    <a:spcPts val="0"/>
                  </a:spcBef>
                  <a:spcAft>
                    <a:spcPts val="0"/>
                  </a:spcAft>
                </a:pPr>
                <a:r>
                  <a:rPr lang="en-IN" dirty="0"/>
                  <a:t>Simple logistic classifier:</a:t>
                </a:r>
              </a:p>
              <a:p>
                <a:pPr>
                  <a:lnSpc>
                    <a:spcPct val="120000"/>
                  </a:lnSpc>
                  <a:spcBef>
                    <a:spcPts val="0"/>
                  </a:spcBef>
                  <a:spcAft>
                    <a:spcPts val="0"/>
                  </a:spcAft>
                </a:pPr>
                <a14:m>
                  <m:oMath xmlns:m="http://schemas.openxmlformats.org/officeDocument/2006/math">
                    <m:r>
                      <a:rPr lang="en-IN" i="1">
                        <a:latin typeface="Cambria Math" panose="02040503050406030204" pitchFamily="18" charset="0"/>
                      </a:rPr>
                      <m:t>𝐷</m:t>
                    </m:r>
                    <m:d>
                      <m:dPr>
                        <m:ctrlPr>
                          <a:rPr lang="ar-AE" i="1">
                            <a:latin typeface="Cambria Math" panose="02040503050406030204" pitchFamily="18" charset="0"/>
                          </a:rPr>
                        </m:ctrlPr>
                      </m:dPr>
                      <m:e>
                        <m:r>
                          <a:rPr lang="ar-AE" i="1">
                            <a:latin typeface="Cambria Math" panose="02040503050406030204" pitchFamily="18" charset="0"/>
                          </a:rPr>
                          <m:t>𝑧</m:t>
                        </m:r>
                      </m:e>
                    </m:d>
                    <m:r>
                      <a:rPr lang="ar-AE">
                        <a:latin typeface="Cambria Math" panose="02040503050406030204" pitchFamily="18" charset="0"/>
                      </a:rPr>
                      <m:t>=</m:t>
                    </m:r>
                    <m:r>
                      <a:rPr lang="ar-AE" i="1">
                        <a:latin typeface="Cambria Math" panose="02040503050406030204" pitchFamily="18" charset="0"/>
                      </a:rPr>
                      <m:t>𝜎</m:t>
                    </m:r>
                    <m:d>
                      <m:dPr>
                        <m:ctrlPr>
                          <a:rPr lang="ar-AE" i="1">
                            <a:latin typeface="Cambria Math" panose="02040503050406030204" pitchFamily="18" charset="0"/>
                          </a:rPr>
                        </m:ctrlPr>
                      </m:dPr>
                      <m:e>
                        <m:r>
                          <a:rPr lang="ar-AE" i="1">
                            <a:latin typeface="Cambria Math" panose="02040503050406030204" pitchFamily="18" charset="0"/>
                          </a:rPr>
                          <m:t>𝑤𝑧</m:t>
                        </m:r>
                        <m:r>
                          <a:rPr lang="ar-AE">
                            <a:latin typeface="Cambria Math" panose="02040503050406030204" pitchFamily="18" charset="0"/>
                          </a:rPr>
                          <m:t>+</m:t>
                        </m:r>
                        <m:r>
                          <a:rPr lang="ar-AE" i="1">
                            <a:latin typeface="Cambria Math" panose="02040503050406030204" pitchFamily="18" charset="0"/>
                          </a:rPr>
                          <m:t>𝑏</m:t>
                        </m:r>
                      </m:e>
                    </m:d>
                  </m:oMath>
                </a14:m>
                <a:endParaRPr lang="ar-AE" dirty="0"/>
              </a:p>
              <a:p>
                <a:pPr>
                  <a:lnSpc>
                    <a:spcPct val="120000"/>
                  </a:lnSpc>
                  <a:spcBef>
                    <a:spcPts val="0"/>
                  </a:spcBef>
                  <a:spcAft>
                    <a:spcPts val="0"/>
                  </a:spcAft>
                </a:pPr>
                <a:r>
                  <a:rPr lang="en-IN" dirty="0"/>
                  <a:t>Assume:</a:t>
                </a:r>
              </a:p>
              <a:p>
                <a:pPr>
                  <a:lnSpc>
                    <a:spcPct val="120000"/>
                  </a:lnSpc>
                  <a:spcBef>
                    <a:spcPts val="0"/>
                  </a:spcBef>
                  <a:spcAft>
                    <a:spcPts val="0"/>
                  </a:spcAft>
                </a:pPr>
                <a14:m>
                  <m:oMath xmlns:m="http://schemas.openxmlformats.org/officeDocument/2006/math">
                    <m:r>
                      <a:rPr lang="en-IN" i="1">
                        <a:latin typeface="Cambria Math" panose="02040503050406030204" pitchFamily="18" charset="0"/>
                      </a:rPr>
                      <m:t>𝑤</m:t>
                    </m:r>
                    <m:r>
                      <a:rPr lang="en-IN">
                        <a:latin typeface="Cambria Math" panose="02040503050406030204" pitchFamily="18" charset="0"/>
                      </a:rPr>
                      <m:t>=</m:t>
                    </m:r>
                    <m:r>
                      <a:rPr lang="en-IN">
                        <a:latin typeface="Cambria Math" panose="02040503050406030204" pitchFamily="18" charset="0"/>
                      </a:rPr>
                      <m:t>2</m:t>
                    </m:r>
                    <m:r>
                      <a:rPr lang="en-IN">
                        <a:latin typeface="Cambria Math" panose="02040503050406030204" pitchFamily="18" charset="0"/>
                      </a:rPr>
                      <m:t>, </m:t>
                    </m:r>
                    <m:r>
                      <a:rPr lang="en-IN" i="1">
                        <a:latin typeface="Cambria Math" panose="02040503050406030204" pitchFamily="18" charset="0"/>
                      </a:rPr>
                      <m:t>𝑏</m:t>
                    </m:r>
                    <m:r>
                      <a:rPr lang="en-IN">
                        <a:latin typeface="Cambria Math" panose="02040503050406030204" pitchFamily="18" charset="0"/>
                      </a:rPr>
                      <m:t>=</m:t>
                    </m:r>
                    <m:r>
                      <a:rPr lang="en-IN">
                        <a:latin typeface="Cambria Math" panose="02040503050406030204" pitchFamily="18" charset="0"/>
                      </a:rPr>
                      <m:t>0</m:t>
                    </m:r>
                  </m:oMath>
                </a14:m>
                <a:endParaRPr lang="en-IN" dirty="0"/>
              </a:p>
            </p:txBody>
          </p:sp>
        </mc:Choice>
        <mc:Fallback xmlns="">
          <p:sp>
            <p:nvSpPr>
              <p:cNvPr id="3" name="Content Placeholder 2">
                <a:extLst>
                  <a:ext uri="{FF2B5EF4-FFF2-40B4-BE49-F238E27FC236}">
                    <a16:creationId xmlns:a16="http://schemas.microsoft.com/office/drawing/2014/main" id="{47D2B65A-3CDC-C80A-182B-9DF48D1C606C}"/>
                  </a:ext>
                </a:extLst>
              </p:cNvPr>
              <p:cNvSpPr>
                <a:spLocks noGrp="1" noRot="1" noChangeAspect="1" noMove="1" noResize="1" noEditPoints="1" noAdjustHandles="1" noChangeArrowheads="1" noChangeShapeType="1" noTextEdit="1"/>
              </p:cNvSpPr>
              <p:nvPr>
                <p:ph idx="1"/>
              </p:nvPr>
            </p:nvSpPr>
            <p:spPr>
              <a:xfrm>
                <a:off x="812801" y="1402080"/>
                <a:ext cx="4206240" cy="4724190"/>
              </a:xfrm>
              <a:blipFill>
                <a:blip r:embed="rId2"/>
                <a:stretch>
                  <a:fillRect l="-3768" t="-903" b="-2194"/>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 name="Content Placeholder 2">
                <a:extLst>
                  <a:ext uri="{FF2B5EF4-FFF2-40B4-BE49-F238E27FC236}">
                    <a16:creationId xmlns:a16="http://schemas.microsoft.com/office/drawing/2014/main" id="{AE1E2FC5-1222-2F86-DD93-00AEFE8BC8AE}"/>
                  </a:ext>
                </a:extLst>
              </p:cNvPr>
              <p:cNvSpPr txBox="1">
                <a:spLocks/>
              </p:cNvSpPr>
              <p:nvPr/>
            </p:nvSpPr>
            <p:spPr>
              <a:xfrm>
                <a:off x="6533196" y="1655373"/>
                <a:ext cx="4846003" cy="4217604"/>
              </a:xfrm>
              <a:prstGeom prst="rect">
                <a:avLst/>
              </a:prstGeom>
            </p:spPr>
            <p:txBody>
              <a:bodyPr vert="horz" lIns="0" tIns="45720" rIns="0" bIns="45720" rtlCol="0">
                <a:normAutofit lnSpcReduction="10000"/>
              </a:bodyPr>
              <a:lstStyle>
                <a:lvl1pPr marL="361950" indent="-361950" algn="l" defTabSz="914400" rtl="0" eaLnBrk="1" latinLnBrk="0" hangingPunct="1">
                  <a:lnSpc>
                    <a:spcPct val="90000"/>
                  </a:lnSpc>
                  <a:spcBef>
                    <a:spcPts val="1200"/>
                  </a:spcBef>
                  <a:spcAft>
                    <a:spcPts val="200"/>
                  </a:spcAft>
                  <a:buClr>
                    <a:schemeClr val="accent1"/>
                  </a:buClr>
                  <a:buSzPct val="100000"/>
                  <a:buFont typeface="Arial" panose="020B0604020202020204" pitchFamily="34" charset="0"/>
                  <a:buChar char="•"/>
                  <a:defRPr sz="2400" kern="1200">
                    <a:solidFill>
                      <a:schemeClr val="tx1"/>
                    </a:solidFill>
                    <a:latin typeface="+mn-lt"/>
                    <a:ea typeface="+mn-ea"/>
                    <a:cs typeface="+mn-cs"/>
                  </a:defRPr>
                </a:lvl1pPr>
                <a:lvl2pPr marL="542925" indent="-3429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2400" kern="1200">
                    <a:solidFill>
                      <a:schemeClr val="tx1"/>
                    </a:solidFill>
                    <a:latin typeface="+mn-lt"/>
                    <a:ea typeface="+mn-ea"/>
                    <a:cs typeface="+mn-cs"/>
                  </a:defRPr>
                </a:lvl2pPr>
                <a:lvl3pPr marL="714375" indent="-330200" algn="l" defTabSz="914400" rtl="0" eaLnBrk="1" latinLnBrk="0" hangingPunct="1">
                  <a:lnSpc>
                    <a:spcPct val="90000"/>
                  </a:lnSpc>
                  <a:spcBef>
                    <a:spcPts val="200"/>
                  </a:spcBef>
                  <a:spcAft>
                    <a:spcPts val="400"/>
                  </a:spcAft>
                  <a:buClr>
                    <a:schemeClr val="accent1"/>
                  </a:buClr>
                  <a:buFont typeface="Arial" panose="020B0604020202020204" pitchFamily="34" charset="0"/>
                  <a:buChar char="•"/>
                  <a:tabLst>
                    <a:tab pos="714375" algn="l"/>
                  </a:tabLst>
                  <a:defRPr sz="2400" kern="1200">
                    <a:solidFill>
                      <a:schemeClr val="tx1"/>
                    </a:solidFill>
                    <a:latin typeface="+mn-lt"/>
                    <a:ea typeface="+mn-ea"/>
                    <a:cs typeface="+mn-cs"/>
                  </a:defRPr>
                </a:lvl3pPr>
                <a:lvl4pPr marL="895350" indent="-2667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2400" kern="1200">
                    <a:solidFill>
                      <a:schemeClr val="tx1"/>
                    </a:solidFill>
                    <a:latin typeface="+mn-lt"/>
                    <a:ea typeface="+mn-ea"/>
                    <a:cs typeface="+mn-cs"/>
                  </a:defRPr>
                </a:lvl4pPr>
                <a:lvl5pPr marL="1162050" indent="-352425"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2400" kern="1200">
                    <a:solidFill>
                      <a:schemeClr val="tx1"/>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en-IN" b="1" dirty="0"/>
                  <a:t> Discriminator output for real sample</a:t>
                </a:r>
              </a:p>
              <a:p>
                <a14:m>
                  <m:oMath xmlns:m="http://schemas.openxmlformats.org/officeDocument/2006/math">
                    <m:r>
                      <a:rPr lang="en-IN" i="1">
                        <a:latin typeface="Cambria Math" panose="02040503050406030204" pitchFamily="18" charset="0"/>
                      </a:rPr>
                      <m:t>𝐷</m:t>
                    </m:r>
                    <m:d>
                      <m:dPr>
                        <m:ctrlPr>
                          <a:rPr lang="ar-AE" i="1">
                            <a:latin typeface="Cambria Math" panose="02040503050406030204" pitchFamily="18" charset="0"/>
                          </a:rPr>
                        </m:ctrlPr>
                      </m:dPr>
                      <m:e>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2</m:t>
                        </m:r>
                      </m:e>
                    </m:d>
                    <m:r>
                      <a:rPr lang="ar-AE">
                        <a:latin typeface="Cambria Math" panose="02040503050406030204" pitchFamily="18" charset="0"/>
                      </a:rPr>
                      <m:t>=</m:t>
                    </m:r>
                    <m:r>
                      <a:rPr lang="ar-AE" i="1">
                        <a:latin typeface="Cambria Math" panose="02040503050406030204" pitchFamily="18" charset="0"/>
                      </a:rPr>
                      <m:t>𝜎</m:t>
                    </m:r>
                    <m:d>
                      <m:dPr>
                        <m:ctrlPr>
                          <a:rPr lang="ar-AE" i="1">
                            <a:latin typeface="Cambria Math" panose="02040503050406030204" pitchFamily="18" charset="0"/>
                          </a:rPr>
                        </m:ctrlPr>
                      </m:dPr>
                      <m:e>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4</m:t>
                        </m:r>
                      </m:e>
                    </m:d>
                  </m:oMath>
                </a14:m>
                <a:endParaRPr lang="ar-AE" dirty="0"/>
              </a:p>
              <a:p>
                <a14:m>
                  <m:oMath xmlns:m="http://schemas.openxmlformats.org/officeDocument/2006/math">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401</m:t>
                    </m:r>
                  </m:oMath>
                </a14:m>
                <a:endParaRPr lang="ar-AE" dirty="0"/>
              </a:p>
              <a:p>
                <a:r>
                  <a:rPr lang="en-IN" b="1" dirty="0"/>
                  <a:t> Discriminator output for fake sample</a:t>
                </a:r>
              </a:p>
              <a:p>
                <a14:m>
                  <m:oMath xmlns:m="http://schemas.openxmlformats.org/officeDocument/2006/math">
                    <m:r>
                      <a:rPr lang="en-IN" i="1">
                        <a:latin typeface="Cambria Math" panose="02040503050406030204" pitchFamily="18" charset="0"/>
                      </a:rPr>
                      <m:t>𝐷</m:t>
                    </m:r>
                    <m:d>
                      <m:dPr>
                        <m:ctrlPr>
                          <a:rPr lang="ar-AE" i="1">
                            <a:latin typeface="Cambria Math" panose="02040503050406030204" pitchFamily="18" charset="0"/>
                          </a:rPr>
                        </m:ctrlPr>
                      </m:dP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668</m:t>
                        </m:r>
                      </m:e>
                    </m:d>
                    <m:r>
                      <a:rPr lang="ar-AE">
                        <a:latin typeface="Cambria Math" panose="02040503050406030204" pitchFamily="18" charset="0"/>
                      </a:rPr>
                      <m:t>=</m:t>
                    </m:r>
                    <m:r>
                      <a:rPr lang="ar-AE" i="1">
                        <a:latin typeface="Cambria Math" panose="02040503050406030204" pitchFamily="18" charset="0"/>
                      </a:rPr>
                      <m:t>𝜎</m:t>
                    </m:r>
                    <m:d>
                      <m:dPr>
                        <m:ctrlPr>
                          <a:rPr lang="ar-AE" i="1">
                            <a:latin typeface="Cambria Math" panose="02040503050406030204" pitchFamily="18" charset="0"/>
                          </a:rPr>
                        </m:ctrlPr>
                      </m:dPr>
                      <m:e>
                        <m:r>
                          <a:rPr lang="ar-AE">
                            <a:latin typeface="Cambria Math" panose="02040503050406030204" pitchFamily="18" charset="0"/>
                          </a:rPr>
                          <m:t>1</m:t>
                        </m:r>
                        <m:r>
                          <a:rPr lang="ar-AE">
                            <a:latin typeface="Cambria Math" panose="02040503050406030204" pitchFamily="18" charset="0"/>
                          </a:rPr>
                          <m:t>.</m:t>
                        </m:r>
                        <m:r>
                          <a:rPr lang="ar-AE">
                            <a:latin typeface="Cambria Math" panose="02040503050406030204" pitchFamily="18" charset="0"/>
                          </a:rPr>
                          <m:t>336</m:t>
                        </m:r>
                      </m:e>
                    </m:d>
                  </m:oMath>
                </a14:m>
                <a:endParaRPr lang="ar-AE" dirty="0"/>
              </a:p>
              <a:p>
                <a14:m>
                  <m:oMath xmlns:m="http://schemas.openxmlformats.org/officeDocument/2006/math">
                    <m:sSup>
                      <m:sSupPr>
                        <m:ctrlPr>
                          <a:rPr lang="ar-AE" i="1">
                            <a:latin typeface="Cambria Math" panose="02040503050406030204" pitchFamily="18" charset="0"/>
                          </a:rPr>
                        </m:ctrlPr>
                      </m:sSupPr>
                      <m:e>
                        <m:r>
                          <a:rPr lang="ar-AE" i="1">
                            <a:latin typeface="Cambria Math" panose="02040503050406030204" pitchFamily="18" charset="0"/>
                          </a:rPr>
                          <m:t>𝑒</m:t>
                        </m:r>
                      </m:e>
                      <m:sup>
                        <m:r>
                          <a:rPr lang="ar-AE">
                            <a:latin typeface="Cambria Math" panose="02040503050406030204" pitchFamily="18" charset="0"/>
                          </a:rPr>
                          <m:t>−</m:t>
                        </m:r>
                        <m:r>
                          <a:rPr lang="ar-AE">
                            <a:latin typeface="Cambria Math" panose="02040503050406030204" pitchFamily="18" charset="0"/>
                          </a:rPr>
                          <m:t>1</m:t>
                        </m:r>
                        <m:r>
                          <a:rPr lang="ar-AE">
                            <a:latin typeface="Cambria Math" panose="02040503050406030204" pitchFamily="18" charset="0"/>
                          </a:rPr>
                          <m:t>.</m:t>
                        </m:r>
                        <m:r>
                          <a:rPr lang="ar-AE">
                            <a:latin typeface="Cambria Math" panose="02040503050406030204" pitchFamily="18" charset="0"/>
                          </a:rPr>
                          <m:t>336</m:t>
                        </m:r>
                      </m:sup>
                    </m:sSup>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263</m:t>
                    </m:r>
                  </m:oMath>
                </a14:m>
                <a:endParaRPr lang="ar-AE" dirty="0"/>
              </a:p>
              <a:p>
                <a14:m>
                  <m:oMath xmlns:m="http://schemas.openxmlformats.org/officeDocument/2006/math">
                    <m:r>
                      <a:rPr lang="ar-AE" i="1">
                        <a:latin typeface="Cambria Math" panose="02040503050406030204" pitchFamily="18" charset="0"/>
                      </a:rPr>
                      <m:t>𝐷</m:t>
                    </m:r>
                    <m:r>
                      <a:rPr lang="ar-AE">
                        <a:latin typeface="Cambria Math" panose="02040503050406030204" pitchFamily="18" charset="0"/>
                      </a:rPr>
                      <m:t>=</m:t>
                    </m:r>
                    <m:f>
                      <m:fPr>
                        <m:ctrlPr>
                          <a:rPr lang="ar-AE" i="1">
                            <a:latin typeface="Cambria Math" panose="02040503050406030204" pitchFamily="18" charset="0"/>
                          </a:rPr>
                        </m:ctrlPr>
                      </m:fPr>
                      <m:num>
                        <m:r>
                          <a:rPr lang="ar-AE">
                            <a:latin typeface="Cambria Math" panose="02040503050406030204" pitchFamily="18" charset="0"/>
                          </a:rPr>
                          <m:t>1</m:t>
                        </m:r>
                      </m:num>
                      <m:den>
                        <m:r>
                          <a:rPr lang="ar-AE">
                            <a:latin typeface="Cambria Math" panose="02040503050406030204" pitchFamily="18" charset="0"/>
                          </a:rPr>
                          <m:t>1</m:t>
                        </m:r>
                        <m:r>
                          <a:rPr lang="ar-AE">
                            <a:latin typeface="Cambria Math" panose="02040503050406030204" pitchFamily="18" charset="0"/>
                          </a:rPr>
                          <m:t>.</m:t>
                        </m:r>
                        <m:r>
                          <a:rPr lang="ar-AE">
                            <a:latin typeface="Cambria Math" panose="02040503050406030204" pitchFamily="18" charset="0"/>
                          </a:rPr>
                          <m:t>263</m:t>
                        </m:r>
                      </m:den>
                    </m:f>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792</m:t>
                    </m:r>
                  </m:oMath>
                </a14:m>
                <a:endParaRPr lang="ar-AE" dirty="0"/>
              </a:p>
              <a:p>
                <a:endParaRPr lang="en-IN" dirty="0"/>
              </a:p>
            </p:txBody>
          </p:sp>
        </mc:Choice>
        <mc:Fallback xmlns="">
          <p:sp>
            <p:nvSpPr>
              <p:cNvPr id="4" name="Content Placeholder 2">
                <a:extLst>
                  <a:ext uri="{FF2B5EF4-FFF2-40B4-BE49-F238E27FC236}">
                    <a16:creationId xmlns:a16="http://schemas.microsoft.com/office/drawing/2014/main" id="{AE1E2FC5-1222-2F86-DD93-00AEFE8BC8AE}"/>
                  </a:ext>
                </a:extLst>
              </p:cNvPr>
              <p:cNvSpPr txBox="1">
                <a:spLocks noRot="1" noChangeAspect="1" noMove="1" noResize="1" noEditPoints="1" noAdjustHandles="1" noChangeArrowheads="1" noChangeShapeType="1" noTextEdit="1"/>
              </p:cNvSpPr>
              <p:nvPr/>
            </p:nvSpPr>
            <p:spPr>
              <a:xfrm>
                <a:off x="6533196" y="1655373"/>
                <a:ext cx="4846003" cy="4217604"/>
              </a:xfrm>
              <a:prstGeom prst="rect">
                <a:avLst/>
              </a:prstGeom>
              <a:blipFill>
                <a:blip r:embed="rId3"/>
                <a:stretch>
                  <a:fillRect l="-3648" t="-2750"/>
                </a:stretch>
              </a:blipFill>
            </p:spPr>
            <p:txBody>
              <a:bodyPr/>
              <a:lstStyle/>
              <a:p>
                <a:r>
                  <a:rPr lang="en-IN">
                    <a:noFill/>
                  </a:rPr>
                  <a:t> </a:t>
                </a:r>
              </a:p>
            </p:txBody>
          </p:sp>
        </mc:Fallback>
      </mc:AlternateContent>
    </p:spTree>
    <p:extLst>
      <p:ext uri="{BB962C8B-B14F-4D97-AF65-F5344CB8AC3E}">
        <p14:creationId xmlns:p14="http://schemas.microsoft.com/office/powerpoint/2010/main" val="156916505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6788E7-0EBD-D235-5F45-D89493021161}"/>
              </a:ext>
            </a:extLst>
          </p:cNvPr>
          <p:cNvSpPr>
            <a:spLocks noGrp="1"/>
          </p:cNvSpPr>
          <p:nvPr>
            <p:ph type="title"/>
          </p:nvPr>
        </p:nvSpPr>
        <p:spPr/>
        <p:txBody>
          <a:bodyPr>
            <a:normAutofit fontScale="90000"/>
          </a:bodyPr>
          <a:lstStyle/>
          <a:p>
            <a:endParaRPr lang="en-IN"/>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DEDBC66-0C2B-FB9D-60EF-4545F3725177}"/>
                  </a:ext>
                </a:extLst>
              </p:cNvPr>
              <p:cNvSpPr>
                <a:spLocks noGrp="1"/>
              </p:cNvSpPr>
              <p:nvPr>
                <p:ph idx="1"/>
              </p:nvPr>
            </p:nvSpPr>
            <p:spPr>
              <a:xfrm>
                <a:off x="304800" y="1341120"/>
                <a:ext cx="6451600" cy="4785150"/>
              </a:xfrm>
            </p:spPr>
            <p:txBody>
              <a:bodyPr>
                <a:normAutofit/>
              </a:bodyPr>
              <a:lstStyle/>
              <a:p>
                <a:pPr>
                  <a:lnSpc>
                    <a:spcPct val="120000"/>
                  </a:lnSpc>
                  <a:spcBef>
                    <a:spcPts val="0"/>
                  </a:spcBef>
                  <a:spcAft>
                    <a:spcPts val="0"/>
                  </a:spcAft>
                </a:pPr>
                <a:r>
                  <a:rPr lang="en-IN" b="1" dirty="0"/>
                  <a:t>STEP 5: Discriminator Loss</a:t>
                </a:r>
              </a:p>
              <a:p>
                <a:pPr>
                  <a:lnSpc>
                    <a:spcPct val="120000"/>
                  </a:lnSpc>
                  <a:spcBef>
                    <a:spcPts val="0"/>
                  </a:spcBef>
                  <a:spcAft>
                    <a:spcPts val="0"/>
                  </a:spcAft>
                </a:pP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𝐿</m:t>
                        </m:r>
                      </m:e>
                      <m:sub>
                        <m:r>
                          <a:rPr lang="ar-AE" i="1">
                            <a:latin typeface="Cambria Math" panose="02040503050406030204" pitchFamily="18" charset="0"/>
                          </a:rPr>
                          <m:t>𝐷</m:t>
                        </m:r>
                      </m:sub>
                    </m:sSub>
                    <m:r>
                      <a:rPr lang="ar-AE">
                        <a:latin typeface="Cambria Math" panose="02040503050406030204" pitchFamily="18" charset="0"/>
                      </a:rPr>
                      <m:t>=−</m:t>
                    </m:r>
                    <m:d>
                      <m:dPr>
                        <m:begChr m:val="["/>
                        <m:endChr m:val="]"/>
                        <m:ctrlPr>
                          <a:rPr lang="ar-AE" i="1">
                            <a:latin typeface="Cambria Math" panose="02040503050406030204" pitchFamily="18" charset="0"/>
                          </a:rPr>
                        </m:ctrlPr>
                      </m:dPr>
                      <m:e>
                        <m:func>
                          <m:funcPr>
                            <m:ctrlPr>
                              <a:rPr lang="ar-AE" i="1">
                                <a:latin typeface="Cambria Math" panose="02040503050406030204" pitchFamily="18" charset="0"/>
                              </a:rPr>
                            </m:ctrlPr>
                          </m:funcPr>
                          <m:fName>
                            <m:r>
                              <m:rPr>
                                <m:sty m:val="p"/>
                              </m:rPr>
                              <a:rPr lang="en-IN">
                                <a:latin typeface="Cambria Math" panose="02040503050406030204" pitchFamily="18" charset="0"/>
                              </a:rPr>
                              <m:t>log</m:t>
                            </m:r>
                          </m:fName>
                          <m:e>
                            <m:r>
                              <a:rPr lang="ar-AE" i="1">
                                <a:latin typeface="Cambria Math" panose="02040503050406030204" pitchFamily="18" charset="0"/>
                              </a:rPr>
                              <m:t>𝐷</m:t>
                            </m:r>
                          </m:e>
                        </m:func>
                        <m:d>
                          <m:dPr>
                            <m:ctrlPr>
                              <a:rPr lang="ar-AE" i="1">
                                <a:latin typeface="Cambria Math" panose="02040503050406030204" pitchFamily="18" charset="0"/>
                              </a:rPr>
                            </m:ctrlPr>
                          </m:dPr>
                          <m:e>
                            <m:sSub>
                              <m:sSubPr>
                                <m:ctrlPr>
                                  <a:rPr lang="ar-AE" i="1">
                                    <a:latin typeface="Cambria Math" panose="02040503050406030204" pitchFamily="18" charset="0"/>
                                  </a:rPr>
                                </m:ctrlPr>
                              </m:sSubPr>
                              <m:e>
                                <m:r>
                                  <a:rPr lang="ar-AE" i="1">
                                    <a:latin typeface="Cambria Math" panose="02040503050406030204" pitchFamily="18" charset="0"/>
                                  </a:rPr>
                                  <m:t>𝑧</m:t>
                                </m:r>
                              </m:e>
                              <m:sub>
                                <m:r>
                                  <a:rPr lang="ar-AE" i="1">
                                    <a:latin typeface="Cambria Math" panose="02040503050406030204" pitchFamily="18" charset="0"/>
                                  </a:rPr>
                                  <m:t>𝑟𝑒𝑎𝑙</m:t>
                                </m:r>
                              </m:sub>
                            </m:sSub>
                          </m:e>
                        </m:d>
                        <m:r>
                          <a:rPr lang="ar-AE">
                            <a:latin typeface="Cambria Math" panose="02040503050406030204" pitchFamily="18" charset="0"/>
                          </a:rPr>
                          <m:t>+</m:t>
                        </m:r>
                        <m:r>
                          <m:rPr>
                            <m:sty m:val="p"/>
                          </m:rPr>
                          <a:rPr lang="en-IN">
                            <a:latin typeface="Cambria Math" panose="02040503050406030204" pitchFamily="18" charset="0"/>
                          </a:rPr>
                          <m:t>log</m:t>
                        </m:r>
                        <m:r>
                          <a:rPr lang="en-IN">
                            <a:latin typeface="Cambria Math" panose="02040503050406030204" pitchFamily="18" charset="0"/>
                          </a:rPr>
                          <m:t>⁡</m:t>
                        </m:r>
                        <m:d>
                          <m:dPr>
                            <m:ctrlPr>
                              <a:rPr lang="ar-AE" i="1">
                                <a:latin typeface="Cambria Math" panose="02040503050406030204" pitchFamily="18" charset="0"/>
                              </a:rPr>
                            </m:ctrlPr>
                          </m:dPr>
                          <m:e>
                            <m:r>
                              <a:rPr lang="ar-AE">
                                <a:latin typeface="Cambria Math" panose="02040503050406030204" pitchFamily="18" charset="0"/>
                              </a:rPr>
                              <m:t>1</m:t>
                            </m:r>
                            <m:r>
                              <a:rPr lang="ar-AE">
                                <a:latin typeface="Cambria Math" panose="02040503050406030204" pitchFamily="18" charset="0"/>
                              </a:rPr>
                              <m:t>−</m:t>
                            </m:r>
                            <m:r>
                              <a:rPr lang="ar-AE" i="1">
                                <a:latin typeface="Cambria Math" panose="02040503050406030204" pitchFamily="18" charset="0"/>
                              </a:rPr>
                              <m:t>𝐷</m:t>
                            </m:r>
                            <m:d>
                              <m:dPr>
                                <m:ctrlPr>
                                  <a:rPr lang="ar-AE" i="1">
                                    <a:latin typeface="Cambria Math" panose="02040503050406030204" pitchFamily="18" charset="0"/>
                                  </a:rPr>
                                </m:ctrlPr>
                              </m:dPr>
                              <m:e>
                                <m:sSub>
                                  <m:sSubPr>
                                    <m:ctrlPr>
                                      <a:rPr lang="ar-AE" i="1">
                                        <a:latin typeface="Cambria Math" panose="02040503050406030204" pitchFamily="18" charset="0"/>
                                      </a:rPr>
                                    </m:ctrlPr>
                                  </m:sSubPr>
                                  <m:e>
                                    <m:r>
                                      <a:rPr lang="ar-AE" i="1">
                                        <a:latin typeface="Cambria Math" panose="02040503050406030204" pitchFamily="18" charset="0"/>
                                      </a:rPr>
                                      <m:t>𝑧</m:t>
                                    </m:r>
                                  </m:e>
                                  <m:sub>
                                    <m:r>
                                      <a:rPr lang="ar-AE" i="1">
                                        <a:latin typeface="Cambria Math" panose="02040503050406030204" pitchFamily="18" charset="0"/>
                                      </a:rPr>
                                      <m:t>𝑓𝑎𝑘𝑒</m:t>
                                    </m:r>
                                  </m:sub>
                                </m:sSub>
                              </m:e>
                            </m:d>
                          </m:e>
                        </m:d>
                      </m:e>
                    </m:d>
                  </m:oMath>
                </a14:m>
                <a:endParaRPr lang="ar-AE" dirty="0"/>
              </a:p>
              <a:p>
                <a:pPr>
                  <a:lnSpc>
                    <a:spcPct val="120000"/>
                  </a:lnSpc>
                  <a:spcBef>
                    <a:spcPts val="0"/>
                  </a:spcBef>
                  <a:spcAft>
                    <a:spcPts val="0"/>
                  </a:spcAft>
                </a:pPr>
                <a14:m>
                  <m:oMath xmlns:m="http://schemas.openxmlformats.org/officeDocument/2006/math">
                    <m:r>
                      <a:rPr lang="ar-AE">
                        <a:latin typeface="Cambria Math" panose="02040503050406030204" pitchFamily="18" charset="0"/>
                      </a:rPr>
                      <m:t>=−</m:t>
                    </m:r>
                    <m:d>
                      <m:dPr>
                        <m:begChr m:val="["/>
                        <m:endChr m:val="]"/>
                        <m:ctrlPr>
                          <a:rPr lang="ar-AE" i="1">
                            <a:latin typeface="Cambria Math" panose="02040503050406030204" pitchFamily="18" charset="0"/>
                          </a:rPr>
                        </m:ctrlPr>
                      </m:dPr>
                      <m:e>
                        <m:r>
                          <m:rPr>
                            <m:sty m:val="p"/>
                          </m:rPr>
                          <a:rPr lang="en-IN">
                            <a:latin typeface="Cambria Math" panose="02040503050406030204" pitchFamily="18" charset="0"/>
                          </a:rPr>
                          <m:t>log</m:t>
                        </m:r>
                        <m:r>
                          <a:rPr lang="en-IN">
                            <a:latin typeface="Cambria Math" panose="02040503050406030204" pitchFamily="18" charset="0"/>
                          </a:rPr>
                          <m:t>⁡</m:t>
                        </m:r>
                        <m:d>
                          <m:dPr>
                            <m:ctrlPr>
                              <a:rPr lang="ar-AE" i="1">
                                <a:latin typeface="Cambria Math" panose="02040503050406030204" pitchFamily="18" charset="0"/>
                              </a:rPr>
                            </m:ctrlPr>
                          </m:dP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401</m:t>
                            </m:r>
                          </m:e>
                        </m:d>
                        <m:r>
                          <a:rPr lang="ar-AE">
                            <a:latin typeface="Cambria Math" panose="02040503050406030204" pitchFamily="18" charset="0"/>
                          </a:rPr>
                          <m:t>+</m:t>
                        </m:r>
                        <m:r>
                          <m:rPr>
                            <m:sty m:val="p"/>
                          </m:rPr>
                          <a:rPr lang="en-IN">
                            <a:latin typeface="Cambria Math" panose="02040503050406030204" pitchFamily="18" charset="0"/>
                          </a:rPr>
                          <m:t>log</m:t>
                        </m:r>
                        <m:r>
                          <a:rPr lang="en-IN">
                            <a:latin typeface="Cambria Math" panose="02040503050406030204" pitchFamily="18" charset="0"/>
                          </a:rPr>
                          <m:t>⁡</m:t>
                        </m:r>
                        <m:d>
                          <m:dPr>
                            <m:ctrlPr>
                              <a:rPr lang="ar-AE" i="1">
                                <a:latin typeface="Cambria Math" panose="02040503050406030204" pitchFamily="18" charset="0"/>
                              </a:rPr>
                            </m:ctrlPr>
                          </m:dPr>
                          <m:e>
                            <m:r>
                              <a:rPr lang="ar-AE">
                                <a:latin typeface="Cambria Math" panose="02040503050406030204" pitchFamily="18" charset="0"/>
                              </a:rPr>
                              <m:t>1</m:t>
                            </m:r>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792</m:t>
                            </m:r>
                          </m:e>
                        </m:d>
                      </m:e>
                    </m:d>
                  </m:oMath>
                </a14:m>
                <a:endParaRPr lang="ar-AE" dirty="0"/>
              </a:p>
              <a:p>
                <a:pPr>
                  <a:lnSpc>
                    <a:spcPct val="120000"/>
                  </a:lnSpc>
                  <a:spcBef>
                    <a:spcPts val="0"/>
                  </a:spcBef>
                  <a:spcAft>
                    <a:spcPts val="0"/>
                  </a:spcAft>
                </a:pPr>
                <a14:m>
                  <m:oMath xmlns:m="http://schemas.openxmlformats.org/officeDocument/2006/math">
                    <m:r>
                      <a:rPr lang="ar-AE">
                        <a:latin typeface="Cambria Math" panose="02040503050406030204" pitchFamily="18" charset="0"/>
                      </a:rPr>
                      <m:t>=−</m:t>
                    </m:r>
                    <m:d>
                      <m:dPr>
                        <m:begChr m:val="["/>
                        <m:endChr m:val="]"/>
                        <m:ctrlPr>
                          <a:rPr lang="ar-AE" i="1">
                            <a:latin typeface="Cambria Math" panose="02040503050406030204" pitchFamily="18" charset="0"/>
                          </a:rPr>
                        </m:ctrlPr>
                      </m:dPr>
                      <m:e>
                        <m:r>
                          <m:rPr>
                            <m:sty m:val="p"/>
                          </m:rPr>
                          <a:rPr lang="en-IN">
                            <a:latin typeface="Cambria Math" panose="02040503050406030204" pitchFamily="18" charset="0"/>
                          </a:rPr>
                          <m:t>log</m:t>
                        </m:r>
                        <m:r>
                          <a:rPr lang="en-IN">
                            <a:latin typeface="Cambria Math" panose="02040503050406030204" pitchFamily="18" charset="0"/>
                          </a:rPr>
                          <m:t>⁡</m:t>
                        </m:r>
                        <m:d>
                          <m:dPr>
                            <m:ctrlPr>
                              <a:rPr lang="ar-AE" i="1">
                                <a:latin typeface="Cambria Math" panose="02040503050406030204" pitchFamily="18" charset="0"/>
                              </a:rPr>
                            </m:ctrlPr>
                          </m:dP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401</m:t>
                            </m:r>
                          </m:e>
                        </m:d>
                        <m:r>
                          <a:rPr lang="ar-AE">
                            <a:latin typeface="Cambria Math" panose="02040503050406030204" pitchFamily="18" charset="0"/>
                          </a:rPr>
                          <m:t>+</m:t>
                        </m:r>
                        <m:r>
                          <m:rPr>
                            <m:sty m:val="p"/>
                          </m:rPr>
                          <a:rPr lang="en-IN">
                            <a:latin typeface="Cambria Math" panose="02040503050406030204" pitchFamily="18" charset="0"/>
                          </a:rPr>
                          <m:t>log</m:t>
                        </m:r>
                        <m:r>
                          <a:rPr lang="en-IN">
                            <a:latin typeface="Cambria Math" panose="02040503050406030204" pitchFamily="18" charset="0"/>
                          </a:rPr>
                          <m:t>⁡</m:t>
                        </m:r>
                        <m:d>
                          <m:dPr>
                            <m:ctrlPr>
                              <a:rPr lang="ar-AE" i="1">
                                <a:latin typeface="Cambria Math" panose="02040503050406030204" pitchFamily="18" charset="0"/>
                              </a:rPr>
                            </m:ctrlPr>
                          </m:dP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208</m:t>
                            </m:r>
                          </m:e>
                        </m:d>
                      </m:e>
                    </m:d>
                  </m:oMath>
                </a14:m>
                <a:endParaRPr lang="ar-AE" dirty="0"/>
              </a:p>
              <a:p>
                <a:pPr>
                  <a:lnSpc>
                    <a:spcPct val="120000"/>
                  </a:lnSpc>
                  <a:spcBef>
                    <a:spcPts val="0"/>
                  </a:spcBef>
                  <a:spcAft>
                    <a:spcPts val="0"/>
                  </a:spcAft>
                </a:pPr>
                <a14:m>
                  <m:oMath xmlns:m="http://schemas.openxmlformats.org/officeDocument/2006/math">
                    <m:r>
                      <m:rPr>
                        <m:sty m:val="p"/>
                      </m:rPr>
                      <a:rPr lang="en-IN">
                        <a:latin typeface="Cambria Math" panose="02040503050406030204" pitchFamily="18" charset="0"/>
                      </a:rPr>
                      <m:t>log</m:t>
                    </m:r>
                    <m:r>
                      <a:rPr lang="en-IN">
                        <a:latin typeface="Cambria Math" panose="02040503050406030204" pitchFamily="18" charset="0"/>
                      </a:rPr>
                      <m:t>⁡</m:t>
                    </m:r>
                    <m:d>
                      <m:dPr>
                        <m:ctrlPr>
                          <a:rPr lang="ar-AE" i="1">
                            <a:latin typeface="Cambria Math" panose="02040503050406030204" pitchFamily="18" charset="0"/>
                          </a:rPr>
                        </m:ctrlPr>
                      </m:dP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401</m:t>
                        </m:r>
                      </m:e>
                    </m:d>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915</m:t>
                    </m:r>
                  </m:oMath>
                </a14:m>
                <a:endParaRPr lang="ar-AE" dirty="0"/>
              </a:p>
              <a:p>
                <a:pPr>
                  <a:lnSpc>
                    <a:spcPct val="120000"/>
                  </a:lnSpc>
                  <a:spcBef>
                    <a:spcPts val="0"/>
                  </a:spcBef>
                  <a:spcAft>
                    <a:spcPts val="0"/>
                  </a:spcAft>
                </a:pPr>
                <a14:m>
                  <m:oMath xmlns:m="http://schemas.openxmlformats.org/officeDocument/2006/math">
                    <m:r>
                      <m:rPr>
                        <m:sty m:val="p"/>
                      </m:rPr>
                      <a:rPr lang="en-IN">
                        <a:latin typeface="Cambria Math" panose="02040503050406030204" pitchFamily="18" charset="0"/>
                      </a:rPr>
                      <m:t>log</m:t>
                    </m:r>
                    <m:r>
                      <a:rPr lang="en-IN">
                        <a:latin typeface="Cambria Math" panose="02040503050406030204" pitchFamily="18" charset="0"/>
                      </a:rPr>
                      <m:t>⁡</m:t>
                    </m:r>
                    <m:d>
                      <m:dPr>
                        <m:ctrlPr>
                          <a:rPr lang="ar-AE" i="1">
                            <a:latin typeface="Cambria Math" panose="02040503050406030204" pitchFamily="18" charset="0"/>
                          </a:rPr>
                        </m:ctrlPr>
                      </m:dP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208</m:t>
                        </m:r>
                      </m:e>
                    </m:d>
                    <m:r>
                      <a:rPr lang="ar-AE">
                        <a:latin typeface="Cambria Math" panose="02040503050406030204" pitchFamily="18" charset="0"/>
                      </a:rPr>
                      <m:t>=−</m:t>
                    </m:r>
                    <m:r>
                      <a:rPr lang="ar-AE">
                        <a:latin typeface="Cambria Math" panose="02040503050406030204" pitchFamily="18" charset="0"/>
                      </a:rPr>
                      <m:t>1</m:t>
                    </m:r>
                    <m:r>
                      <a:rPr lang="ar-AE">
                        <a:latin typeface="Cambria Math" panose="02040503050406030204" pitchFamily="18" charset="0"/>
                      </a:rPr>
                      <m:t>.</m:t>
                    </m:r>
                    <m:r>
                      <a:rPr lang="ar-AE">
                        <a:latin typeface="Cambria Math" panose="02040503050406030204" pitchFamily="18" charset="0"/>
                      </a:rPr>
                      <m:t>571</m:t>
                    </m:r>
                  </m:oMath>
                </a14:m>
                <a:endParaRPr lang="ar-AE" dirty="0"/>
              </a:p>
              <a:p>
                <a:pPr>
                  <a:lnSpc>
                    <a:spcPct val="120000"/>
                  </a:lnSpc>
                  <a:spcBef>
                    <a:spcPts val="0"/>
                  </a:spcBef>
                  <a:spcAft>
                    <a:spcPts val="0"/>
                  </a:spcAft>
                </a:pP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𝐿</m:t>
                        </m:r>
                      </m:e>
                      <m:sub>
                        <m:r>
                          <a:rPr lang="ar-AE" i="1">
                            <a:latin typeface="Cambria Math" panose="02040503050406030204" pitchFamily="18" charset="0"/>
                          </a:rPr>
                          <m:t>𝐷</m:t>
                        </m:r>
                      </m:sub>
                    </m:sSub>
                    <m:r>
                      <a:rPr lang="ar-AE">
                        <a:latin typeface="Cambria Math" panose="02040503050406030204" pitchFamily="18" charset="0"/>
                      </a:rPr>
                      <m:t>=−</m:t>
                    </m:r>
                    <m:d>
                      <m:dPr>
                        <m:ctrlPr>
                          <a:rPr lang="ar-AE" i="1">
                            <a:latin typeface="Cambria Math" panose="02040503050406030204" pitchFamily="18" charset="0"/>
                          </a:rPr>
                        </m:ctrlPr>
                      </m:dPr>
                      <m:e>
                        <m:r>
                          <a:rPr lang="ar-AE">
                            <a:latin typeface="Cambria Math" panose="02040503050406030204" pitchFamily="18" charset="0"/>
                          </a:rPr>
                          <m:t>−</m:t>
                        </m:r>
                        <m:r>
                          <a:rPr lang="ar-AE">
                            <a:latin typeface="Cambria Math" panose="02040503050406030204" pitchFamily="18" charset="0"/>
                          </a:rPr>
                          <m:t>2</m:t>
                        </m:r>
                        <m:r>
                          <a:rPr lang="ar-AE">
                            <a:latin typeface="Cambria Math" panose="02040503050406030204" pitchFamily="18" charset="0"/>
                          </a:rPr>
                          <m:t>.</m:t>
                        </m:r>
                        <m:r>
                          <a:rPr lang="ar-AE">
                            <a:latin typeface="Cambria Math" panose="02040503050406030204" pitchFamily="18" charset="0"/>
                          </a:rPr>
                          <m:t>486</m:t>
                        </m:r>
                      </m:e>
                    </m:d>
                  </m:oMath>
                </a14:m>
                <a:endParaRPr lang="ar-AE" dirty="0"/>
              </a:p>
              <a:p>
                <a:pPr>
                  <a:lnSpc>
                    <a:spcPct val="120000"/>
                  </a:lnSpc>
                  <a:spcBef>
                    <a:spcPts val="0"/>
                  </a:spcBef>
                  <a:spcAft>
                    <a:spcPts val="0"/>
                  </a:spcAft>
                </a:pPr>
                <a14:m>
                  <m:oMath xmlns:m="http://schemas.openxmlformats.org/officeDocument/2006/math">
                    <m:borderBox>
                      <m:borderBoxPr>
                        <m:ctrlPr>
                          <a:rPr lang="ar-AE" i="1">
                            <a:latin typeface="Cambria Math" panose="02040503050406030204" pitchFamily="18" charset="0"/>
                          </a:rPr>
                        </m:ctrlPr>
                      </m:borderBoxPr>
                      <m:e>
                        <m:sSub>
                          <m:sSubPr>
                            <m:ctrlPr>
                              <a:rPr lang="ar-AE" i="1">
                                <a:latin typeface="Cambria Math" panose="02040503050406030204" pitchFamily="18" charset="0"/>
                              </a:rPr>
                            </m:ctrlPr>
                          </m:sSubPr>
                          <m:e>
                            <m:r>
                              <a:rPr lang="ar-AE" i="1">
                                <a:latin typeface="Cambria Math" panose="02040503050406030204" pitchFamily="18" charset="0"/>
                              </a:rPr>
                              <m:t>𝐿</m:t>
                            </m:r>
                          </m:e>
                          <m:sub>
                            <m:r>
                              <a:rPr lang="ar-AE" i="1">
                                <a:latin typeface="Cambria Math" panose="02040503050406030204" pitchFamily="18" charset="0"/>
                              </a:rPr>
                              <m:t>𝐷</m:t>
                            </m:r>
                          </m:sub>
                        </m:sSub>
                        <m:r>
                          <a:rPr lang="ar-AE">
                            <a:latin typeface="Cambria Math" panose="02040503050406030204" pitchFamily="18" charset="0"/>
                          </a:rPr>
                          <m:t>=</m:t>
                        </m:r>
                        <m:r>
                          <a:rPr lang="ar-AE">
                            <a:latin typeface="Cambria Math" panose="02040503050406030204" pitchFamily="18" charset="0"/>
                          </a:rPr>
                          <m:t>2</m:t>
                        </m:r>
                        <m:r>
                          <a:rPr lang="ar-AE">
                            <a:latin typeface="Cambria Math" panose="02040503050406030204" pitchFamily="18" charset="0"/>
                          </a:rPr>
                          <m:t>.</m:t>
                        </m:r>
                        <m:r>
                          <a:rPr lang="ar-AE">
                            <a:latin typeface="Cambria Math" panose="02040503050406030204" pitchFamily="18" charset="0"/>
                          </a:rPr>
                          <m:t>486</m:t>
                        </m:r>
                      </m:e>
                    </m:borderBox>
                  </m:oMath>
                </a14:m>
                <a:br>
                  <a:rPr lang="ar-AE" dirty="0"/>
                </a:br>
                <a:endParaRPr lang="ar-AE" dirty="0"/>
              </a:p>
              <a:p>
                <a:pPr>
                  <a:lnSpc>
                    <a:spcPct val="120000"/>
                  </a:lnSpc>
                  <a:spcBef>
                    <a:spcPts val="0"/>
                  </a:spcBef>
                  <a:spcAft>
                    <a:spcPts val="0"/>
                  </a:spcAft>
                </a:pPr>
                <a:endParaRPr lang="en-IN" dirty="0"/>
              </a:p>
            </p:txBody>
          </p:sp>
        </mc:Choice>
        <mc:Fallback xmlns="">
          <p:sp>
            <p:nvSpPr>
              <p:cNvPr id="3" name="Content Placeholder 2">
                <a:extLst>
                  <a:ext uri="{FF2B5EF4-FFF2-40B4-BE49-F238E27FC236}">
                    <a16:creationId xmlns:a16="http://schemas.microsoft.com/office/drawing/2014/main" id="{CDEDBC66-0C2B-FB9D-60EF-4545F3725177}"/>
                  </a:ext>
                </a:extLst>
              </p:cNvPr>
              <p:cNvSpPr>
                <a:spLocks noGrp="1" noRot="1" noChangeAspect="1" noMove="1" noResize="1" noEditPoints="1" noAdjustHandles="1" noChangeArrowheads="1" noChangeShapeType="1" noTextEdit="1"/>
              </p:cNvSpPr>
              <p:nvPr>
                <p:ph idx="1"/>
              </p:nvPr>
            </p:nvSpPr>
            <p:spPr>
              <a:xfrm>
                <a:off x="304800" y="1341120"/>
                <a:ext cx="6451600" cy="4785150"/>
              </a:xfrm>
              <a:blipFill>
                <a:blip r:embed="rId2"/>
                <a:stretch>
                  <a:fillRect l="-2647" t="-127"/>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 name="Content Placeholder 2">
                <a:extLst>
                  <a:ext uri="{FF2B5EF4-FFF2-40B4-BE49-F238E27FC236}">
                    <a16:creationId xmlns:a16="http://schemas.microsoft.com/office/drawing/2014/main" id="{B969BE27-E54B-ABE0-FA0B-9FCE7862A17F}"/>
                  </a:ext>
                </a:extLst>
              </p:cNvPr>
              <p:cNvSpPr txBox="1">
                <a:spLocks/>
              </p:cNvSpPr>
              <p:nvPr/>
            </p:nvSpPr>
            <p:spPr>
              <a:xfrm>
                <a:off x="7447280" y="1341120"/>
                <a:ext cx="4165600" cy="4785150"/>
              </a:xfrm>
              <a:prstGeom prst="rect">
                <a:avLst/>
              </a:prstGeom>
            </p:spPr>
            <p:txBody>
              <a:bodyPr vert="horz" lIns="0" tIns="45720" rIns="0" bIns="45720" rtlCol="0">
                <a:normAutofit fontScale="85000" lnSpcReduction="20000"/>
              </a:bodyPr>
              <a:lstStyle>
                <a:lvl1pPr marL="361950" indent="-361950" algn="l" defTabSz="914400" rtl="0" eaLnBrk="1" latinLnBrk="0" hangingPunct="1">
                  <a:lnSpc>
                    <a:spcPct val="90000"/>
                  </a:lnSpc>
                  <a:spcBef>
                    <a:spcPts val="1200"/>
                  </a:spcBef>
                  <a:spcAft>
                    <a:spcPts val="200"/>
                  </a:spcAft>
                  <a:buClr>
                    <a:schemeClr val="accent1"/>
                  </a:buClr>
                  <a:buSzPct val="100000"/>
                  <a:buFont typeface="Arial" panose="020B0604020202020204" pitchFamily="34" charset="0"/>
                  <a:buChar char="•"/>
                  <a:defRPr sz="2400" kern="1200">
                    <a:solidFill>
                      <a:schemeClr val="tx1"/>
                    </a:solidFill>
                    <a:latin typeface="+mn-lt"/>
                    <a:ea typeface="+mn-ea"/>
                    <a:cs typeface="+mn-cs"/>
                  </a:defRPr>
                </a:lvl1pPr>
                <a:lvl2pPr marL="542925" indent="-3429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2400" kern="1200">
                    <a:solidFill>
                      <a:schemeClr val="tx1"/>
                    </a:solidFill>
                    <a:latin typeface="+mn-lt"/>
                    <a:ea typeface="+mn-ea"/>
                    <a:cs typeface="+mn-cs"/>
                  </a:defRPr>
                </a:lvl2pPr>
                <a:lvl3pPr marL="714375" indent="-330200" algn="l" defTabSz="914400" rtl="0" eaLnBrk="1" latinLnBrk="0" hangingPunct="1">
                  <a:lnSpc>
                    <a:spcPct val="90000"/>
                  </a:lnSpc>
                  <a:spcBef>
                    <a:spcPts val="200"/>
                  </a:spcBef>
                  <a:spcAft>
                    <a:spcPts val="400"/>
                  </a:spcAft>
                  <a:buClr>
                    <a:schemeClr val="accent1"/>
                  </a:buClr>
                  <a:buFont typeface="Arial" panose="020B0604020202020204" pitchFamily="34" charset="0"/>
                  <a:buChar char="•"/>
                  <a:tabLst>
                    <a:tab pos="714375" algn="l"/>
                  </a:tabLst>
                  <a:defRPr sz="2400" kern="1200">
                    <a:solidFill>
                      <a:schemeClr val="tx1"/>
                    </a:solidFill>
                    <a:latin typeface="+mn-lt"/>
                    <a:ea typeface="+mn-ea"/>
                    <a:cs typeface="+mn-cs"/>
                  </a:defRPr>
                </a:lvl3pPr>
                <a:lvl4pPr marL="895350" indent="-2667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2400" kern="1200">
                    <a:solidFill>
                      <a:schemeClr val="tx1"/>
                    </a:solidFill>
                    <a:latin typeface="+mn-lt"/>
                    <a:ea typeface="+mn-ea"/>
                    <a:cs typeface="+mn-cs"/>
                  </a:defRPr>
                </a:lvl4pPr>
                <a:lvl5pPr marL="1162050" indent="-352425"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2400" kern="1200">
                    <a:solidFill>
                      <a:schemeClr val="tx1"/>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nSpc>
                    <a:spcPct val="120000"/>
                  </a:lnSpc>
                  <a:spcBef>
                    <a:spcPts val="0"/>
                  </a:spcBef>
                  <a:spcAft>
                    <a:spcPts val="0"/>
                  </a:spcAft>
                </a:pPr>
                <a:r>
                  <a:rPr lang="en-IN" b="1" dirty="0"/>
                  <a:t> STEP 6: Encoder Adversarial Loss</a:t>
                </a:r>
              </a:p>
              <a:p>
                <a:pPr>
                  <a:lnSpc>
                    <a:spcPct val="120000"/>
                  </a:lnSpc>
                  <a:spcBef>
                    <a:spcPts val="0"/>
                  </a:spcBef>
                  <a:spcAft>
                    <a:spcPts val="0"/>
                  </a:spcAft>
                </a:pPr>
                <a:r>
                  <a:rPr lang="en-IN" dirty="0"/>
                  <a:t>Encoder wants discriminator to believe fake is real.</a:t>
                </a:r>
              </a:p>
              <a:p>
                <a:pPr>
                  <a:lnSpc>
                    <a:spcPct val="120000"/>
                  </a:lnSpc>
                  <a:spcBef>
                    <a:spcPts val="0"/>
                  </a:spcBef>
                  <a:spcAft>
                    <a:spcPts val="0"/>
                  </a:spcAft>
                </a:pP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𝐿</m:t>
                        </m:r>
                      </m:e>
                      <m:sub>
                        <m:r>
                          <a:rPr lang="ar-AE" i="1">
                            <a:latin typeface="Cambria Math" panose="02040503050406030204" pitchFamily="18" charset="0"/>
                          </a:rPr>
                          <m:t>𝑎𝑑𝑣</m:t>
                        </m:r>
                      </m:sub>
                    </m:sSub>
                    <m:r>
                      <a:rPr lang="ar-AE">
                        <a:latin typeface="Cambria Math" panose="02040503050406030204" pitchFamily="18" charset="0"/>
                      </a:rPr>
                      <m:t>=−</m:t>
                    </m:r>
                    <m:r>
                      <m:rPr>
                        <m:sty m:val="p"/>
                      </m:rPr>
                      <a:rPr lang="en-IN">
                        <a:latin typeface="Cambria Math" panose="02040503050406030204" pitchFamily="18" charset="0"/>
                      </a:rPr>
                      <m:t>log</m:t>
                    </m:r>
                    <m:r>
                      <a:rPr lang="en-IN">
                        <a:latin typeface="Cambria Math" panose="02040503050406030204" pitchFamily="18" charset="0"/>
                      </a:rPr>
                      <m:t>⁡</m:t>
                    </m:r>
                    <m:d>
                      <m:dPr>
                        <m:ctrlPr>
                          <a:rPr lang="ar-AE" i="1">
                            <a:latin typeface="Cambria Math" panose="02040503050406030204" pitchFamily="18" charset="0"/>
                          </a:rPr>
                        </m:ctrlPr>
                      </m:dPr>
                      <m:e>
                        <m:r>
                          <a:rPr lang="ar-AE" i="1">
                            <a:latin typeface="Cambria Math" panose="02040503050406030204" pitchFamily="18" charset="0"/>
                          </a:rPr>
                          <m:t>𝐷</m:t>
                        </m:r>
                        <m:d>
                          <m:dPr>
                            <m:ctrlPr>
                              <a:rPr lang="ar-AE" i="1">
                                <a:latin typeface="Cambria Math" panose="02040503050406030204" pitchFamily="18" charset="0"/>
                              </a:rPr>
                            </m:ctrlPr>
                          </m:dPr>
                          <m:e>
                            <m:sSub>
                              <m:sSubPr>
                                <m:ctrlPr>
                                  <a:rPr lang="ar-AE" i="1">
                                    <a:latin typeface="Cambria Math" panose="02040503050406030204" pitchFamily="18" charset="0"/>
                                  </a:rPr>
                                </m:ctrlPr>
                              </m:sSubPr>
                              <m:e>
                                <m:r>
                                  <a:rPr lang="ar-AE" i="1">
                                    <a:latin typeface="Cambria Math" panose="02040503050406030204" pitchFamily="18" charset="0"/>
                                  </a:rPr>
                                  <m:t>𝑧</m:t>
                                </m:r>
                              </m:e>
                              <m:sub>
                                <m:r>
                                  <a:rPr lang="ar-AE" i="1">
                                    <a:latin typeface="Cambria Math" panose="02040503050406030204" pitchFamily="18" charset="0"/>
                                  </a:rPr>
                                  <m:t>𝑓𝑎𝑘𝑒</m:t>
                                </m:r>
                              </m:sub>
                            </m:sSub>
                          </m:e>
                        </m:d>
                      </m:e>
                    </m:d>
                  </m:oMath>
                </a14:m>
                <a:endParaRPr lang="ar-AE" dirty="0"/>
              </a:p>
              <a:p>
                <a:pPr>
                  <a:lnSpc>
                    <a:spcPct val="120000"/>
                  </a:lnSpc>
                  <a:spcBef>
                    <a:spcPts val="0"/>
                  </a:spcBef>
                  <a:spcAft>
                    <a:spcPts val="0"/>
                  </a:spcAft>
                </a:pPr>
                <a14:m>
                  <m:oMath xmlns:m="http://schemas.openxmlformats.org/officeDocument/2006/math">
                    <m:r>
                      <a:rPr lang="ar-AE">
                        <a:latin typeface="Cambria Math" panose="02040503050406030204" pitchFamily="18" charset="0"/>
                      </a:rPr>
                      <m:t>=−</m:t>
                    </m:r>
                    <m:r>
                      <m:rPr>
                        <m:sty m:val="p"/>
                      </m:rPr>
                      <a:rPr lang="en-IN">
                        <a:latin typeface="Cambria Math" panose="02040503050406030204" pitchFamily="18" charset="0"/>
                      </a:rPr>
                      <m:t>log</m:t>
                    </m:r>
                    <m:r>
                      <a:rPr lang="en-IN">
                        <a:latin typeface="Cambria Math" panose="02040503050406030204" pitchFamily="18" charset="0"/>
                      </a:rPr>
                      <m:t>⁡</m:t>
                    </m:r>
                    <m:d>
                      <m:dPr>
                        <m:ctrlPr>
                          <a:rPr lang="ar-AE" i="1">
                            <a:latin typeface="Cambria Math" panose="02040503050406030204" pitchFamily="18" charset="0"/>
                          </a:rPr>
                        </m:ctrlPr>
                      </m:dP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792</m:t>
                        </m:r>
                      </m:e>
                    </m:d>
                  </m:oMath>
                </a14:m>
                <a:endParaRPr lang="ar-AE" dirty="0"/>
              </a:p>
              <a:p>
                <a:pPr>
                  <a:lnSpc>
                    <a:spcPct val="120000"/>
                  </a:lnSpc>
                  <a:spcBef>
                    <a:spcPts val="0"/>
                  </a:spcBef>
                  <a:spcAft>
                    <a:spcPts val="0"/>
                  </a:spcAft>
                </a:pPr>
                <a14:m>
                  <m:oMath xmlns:m="http://schemas.openxmlformats.org/officeDocument/2006/math">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233</m:t>
                    </m:r>
                  </m:oMath>
                </a14:m>
                <a:endParaRPr lang="ar-AE" dirty="0"/>
              </a:p>
              <a:p>
                <a:pPr marL="0" indent="0">
                  <a:lnSpc>
                    <a:spcPct val="120000"/>
                  </a:lnSpc>
                  <a:spcBef>
                    <a:spcPts val="0"/>
                  </a:spcBef>
                  <a:spcAft>
                    <a:spcPts val="0"/>
                  </a:spcAft>
                  <a:buNone/>
                </a:pPr>
                <a:endParaRPr lang="ar-AE" dirty="0"/>
              </a:p>
              <a:p>
                <a:pPr>
                  <a:lnSpc>
                    <a:spcPct val="120000"/>
                  </a:lnSpc>
                  <a:spcBef>
                    <a:spcPts val="0"/>
                  </a:spcBef>
                  <a:spcAft>
                    <a:spcPts val="0"/>
                  </a:spcAft>
                </a:pPr>
                <a:r>
                  <a:rPr lang="en-IN" b="1" dirty="0"/>
                  <a:t> STEP 7: Total AAE Loss</a:t>
                </a:r>
              </a:p>
              <a:p>
                <a:pPr>
                  <a:lnSpc>
                    <a:spcPct val="120000"/>
                  </a:lnSpc>
                  <a:spcBef>
                    <a:spcPts val="0"/>
                  </a:spcBef>
                  <a:spcAft>
                    <a:spcPts val="0"/>
                  </a:spcAft>
                </a:pPr>
                <a:r>
                  <a:rPr lang="en-IN" dirty="0"/>
                  <a:t>Assume weight:</a:t>
                </a:r>
              </a:p>
              <a:p>
                <a:pPr>
                  <a:lnSpc>
                    <a:spcPct val="120000"/>
                  </a:lnSpc>
                  <a:spcBef>
                    <a:spcPts val="0"/>
                  </a:spcBef>
                  <a:spcAft>
                    <a:spcPts val="0"/>
                  </a:spcAft>
                </a:pPr>
                <a14:m>
                  <m:oMath xmlns:m="http://schemas.openxmlformats.org/officeDocument/2006/math">
                    <m:r>
                      <a:rPr lang="en-IN" i="1">
                        <a:latin typeface="Cambria Math" panose="02040503050406030204" pitchFamily="18" charset="0"/>
                      </a:rPr>
                      <m:t>𝜆</m:t>
                    </m:r>
                    <m:r>
                      <a:rPr lang="en-IN">
                        <a:latin typeface="Cambria Math" panose="02040503050406030204" pitchFamily="18" charset="0"/>
                      </a:rPr>
                      <m:t>=</m:t>
                    </m:r>
                    <m:r>
                      <a:rPr lang="en-IN">
                        <a:latin typeface="Cambria Math" panose="02040503050406030204" pitchFamily="18" charset="0"/>
                      </a:rPr>
                      <m:t>1</m:t>
                    </m:r>
                  </m:oMath>
                </a14:m>
                <a:endParaRPr lang="en-IN" dirty="0"/>
              </a:p>
              <a:p>
                <a:pPr>
                  <a:lnSpc>
                    <a:spcPct val="120000"/>
                  </a:lnSpc>
                  <a:spcBef>
                    <a:spcPts val="0"/>
                  </a:spcBef>
                  <a:spcAft>
                    <a:spcPts val="0"/>
                  </a:spcAft>
                </a:pP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𝐿</m:t>
                        </m:r>
                      </m:e>
                      <m:sub>
                        <m:r>
                          <a:rPr lang="ar-AE" i="1">
                            <a:latin typeface="Cambria Math" panose="02040503050406030204" pitchFamily="18" charset="0"/>
                          </a:rPr>
                          <m:t>𝑡𝑜𝑡𝑎𝑙</m:t>
                        </m:r>
                      </m:sub>
                    </m:sSub>
                    <m:r>
                      <a:rPr lang="ar-AE">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𝐿</m:t>
                        </m:r>
                      </m:e>
                      <m:sub>
                        <m:r>
                          <a:rPr lang="ar-AE" i="1">
                            <a:latin typeface="Cambria Math" panose="02040503050406030204" pitchFamily="18" charset="0"/>
                          </a:rPr>
                          <m:t>𝑟𝑒𝑐</m:t>
                        </m:r>
                      </m:sub>
                    </m:sSub>
                    <m:r>
                      <a:rPr lang="ar-AE">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𝐿</m:t>
                        </m:r>
                      </m:e>
                      <m:sub>
                        <m:r>
                          <a:rPr lang="ar-AE" i="1">
                            <a:latin typeface="Cambria Math" panose="02040503050406030204" pitchFamily="18" charset="0"/>
                          </a:rPr>
                          <m:t>𝑎𝑑𝑣</m:t>
                        </m:r>
                      </m:sub>
                    </m:sSub>
                  </m:oMath>
                </a14:m>
                <a:endParaRPr lang="ar-AE" dirty="0"/>
              </a:p>
              <a:p>
                <a:pPr>
                  <a:lnSpc>
                    <a:spcPct val="120000"/>
                  </a:lnSpc>
                  <a:spcBef>
                    <a:spcPts val="0"/>
                  </a:spcBef>
                  <a:spcAft>
                    <a:spcPts val="0"/>
                  </a:spcAft>
                </a:pPr>
                <a14:m>
                  <m:oMath xmlns:m="http://schemas.openxmlformats.org/officeDocument/2006/math">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378</m:t>
                    </m:r>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233</m:t>
                    </m:r>
                  </m:oMath>
                </a14:m>
                <a:endParaRPr lang="ar-AE" dirty="0"/>
              </a:p>
              <a:p>
                <a:pPr>
                  <a:lnSpc>
                    <a:spcPct val="120000"/>
                  </a:lnSpc>
                  <a:spcBef>
                    <a:spcPts val="0"/>
                  </a:spcBef>
                  <a:spcAft>
                    <a:spcPts val="0"/>
                  </a:spcAft>
                </a:pPr>
                <a14:m>
                  <m:oMath xmlns:m="http://schemas.openxmlformats.org/officeDocument/2006/math">
                    <m:borderBox>
                      <m:borderBoxPr>
                        <m:ctrlPr>
                          <a:rPr lang="ar-AE" i="1">
                            <a:latin typeface="Cambria Math" panose="02040503050406030204" pitchFamily="18" charset="0"/>
                          </a:rPr>
                        </m:ctrlPr>
                      </m:borderBoxPr>
                      <m:e>
                        <m:sSub>
                          <m:sSubPr>
                            <m:ctrlPr>
                              <a:rPr lang="ar-AE" i="1">
                                <a:latin typeface="Cambria Math" panose="02040503050406030204" pitchFamily="18" charset="0"/>
                              </a:rPr>
                            </m:ctrlPr>
                          </m:sSubPr>
                          <m:e>
                            <m:r>
                              <a:rPr lang="ar-AE" i="1">
                                <a:latin typeface="Cambria Math" panose="02040503050406030204" pitchFamily="18" charset="0"/>
                              </a:rPr>
                              <m:t>𝐿</m:t>
                            </m:r>
                          </m:e>
                          <m:sub>
                            <m:r>
                              <a:rPr lang="ar-AE" i="1">
                                <a:latin typeface="Cambria Math" panose="02040503050406030204" pitchFamily="18" charset="0"/>
                              </a:rPr>
                              <m:t>𝑡𝑜𝑡𝑎𝑙</m:t>
                            </m:r>
                          </m:sub>
                        </m:sSub>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611</m:t>
                        </m:r>
                      </m:e>
                    </m:borderBox>
                  </m:oMath>
                </a14:m>
                <a:endParaRPr lang="ar-AE" dirty="0"/>
              </a:p>
              <a:p>
                <a:pPr>
                  <a:lnSpc>
                    <a:spcPct val="120000"/>
                  </a:lnSpc>
                  <a:spcBef>
                    <a:spcPts val="0"/>
                  </a:spcBef>
                  <a:spcAft>
                    <a:spcPts val="0"/>
                  </a:spcAft>
                </a:pPr>
                <a:endParaRPr lang="en-IN" dirty="0"/>
              </a:p>
            </p:txBody>
          </p:sp>
        </mc:Choice>
        <mc:Fallback xmlns="">
          <p:sp>
            <p:nvSpPr>
              <p:cNvPr id="4" name="Content Placeholder 2">
                <a:extLst>
                  <a:ext uri="{FF2B5EF4-FFF2-40B4-BE49-F238E27FC236}">
                    <a16:creationId xmlns:a16="http://schemas.microsoft.com/office/drawing/2014/main" id="{B969BE27-E54B-ABE0-FA0B-9FCE7862A17F}"/>
                  </a:ext>
                </a:extLst>
              </p:cNvPr>
              <p:cNvSpPr txBox="1">
                <a:spLocks noRot="1" noChangeAspect="1" noMove="1" noResize="1" noEditPoints="1" noAdjustHandles="1" noChangeArrowheads="1" noChangeShapeType="1" noTextEdit="1"/>
              </p:cNvSpPr>
              <p:nvPr/>
            </p:nvSpPr>
            <p:spPr>
              <a:xfrm>
                <a:off x="7447280" y="1341120"/>
                <a:ext cx="4165600" cy="4785150"/>
              </a:xfrm>
              <a:prstGeom prst="rect">
                <a:avLst/>
              </a:prstGeom>
              <a:blipFill>
                <a:blip r:embed="rId3"/>
                <a:stretch>
                  <a:fillRect l="-3514" t="-637" b="-255"/>
                </a:stretch>
              </a:blipFill>
            </p:spPr>
            <p:txBody>
              <a:bodyPr/>
              <a:lstStyle/>
              <a:p>
                <a:r>
                  <a:rPr lang="en-IN">
                    <a:noFill/>
                  </a:rPr>
                  <a:t> </a:t>
                </a:r>
              </a:p>
            </p:txBody>
          </p:sp>
        </mc:Fallback>
      </mc:AlternateContent>
    </p:spTree>
    <p:extLst>
      <p:ext uri="{BB962C8B-B14F-4D97-AF65-F5344CB8AC3E}">
        <p14:creationId xmlns:p14="http://schemas.microsoft.com/office/powerpoint/2010/main" val="82928921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D72649-82B2-A91B-EBA2-EAB04BDD2A95}"/>
              </a:ext>
            </a:extLst>
          </p:cNvPr>
          <p:cNvSpPr>
            <a:spLocks noGrp="1"/>
          </p:cNvSpPr>
          <p:nvPr>
            <p:ph type="title"/>
          </p:nvPr>
        </p:nvSpPr>
        <p:spPr/>
        <p:txBody>
          <a:bodyPr>
            <a:normAutofit fontScale="90000"/>
          </a:bodyPr>
          <a:lstStyle/>
          <a:p>
            <a:endParaRPr lang="en-IN"/>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696C981-1B11-0655-781B-AE836C41E532}"/>
                  </a:ext>
                </a:extLst>
              </p:cNvPr>
              <p:cNvSpPr>
                <a:spLocks noGrp="1"/>
              </p:cNvSpPr>
              <p:nvPr>
                <p:ph idx="1"/>
              </p:nvPr>
            </p:nvSpPr>
            <p:spPr>
              <a:xfrm>
                <a:off x="1240154" y="1381760"/>
                <a:ext cx="10058400" cy="4460240"/>
              </a:xfrm>
            </p:spPr>
            <p:txBody>
              <a:bodyPr>
                <a:noAutofit/>
              </a:bodyPr>
              <a:lstStyle/>
              <a:p>
                <a:pPr marL="0" indent="0">
                  <a:lnSpc>
                    <a:spcPct val="120000"/>
                  </a:lnSpc>
                  <a:spcBef>
                    <a:spcPts val="0"/>
                  </a:spcBef>
                  <a:spcAft>
                    <a:spcPts val="0"/>
                  </a:spcAft>
                  <a:buNone/>
                </a:pPr>
                <a:r>
                  <a:rPr lang="en-IN" sz="3200" b="1" dirty="0"/>
                  <a:t>Final Results</a:t>
                </a:r>
              </a:p>
              <a:p>
                <a:pPr>
                  <a:lnSpc>
                    <a:spcPct val="120000"/>
                  </a:lnSpc>
                  <a:spcBef>
                    <a:spcPts val="0"/>
                  </a:spcBef>
                  <a:spcAft>
                    <a:spcPts val="0"/>
                  </a:spcAft>
                </a:pPr>
                <a:r>
                  <a:rPr lang="en-IN" sz="3200" b="1" dirty="0"/>
                  <a:t>Latent code </a:t>
                </a:r>
                <a14:m>
                  <m:oMath xmlns:m="http://schemas.openxmlformats.org/officeDocument/2006/math">
                    <m:r>
                      <a:rPr lang="en-US" sz="3200" b="1" i="0" smtClean="0">
                        <a:latin typeface="Cambria Math" panose="02040503050406030204" pitchFamily="18" charset="0"/>
                      </a:rPr>
                      <m:t> </m:t>
                    </m:r>
                    <m:r>
                      <a:rPr lang="en-IN" sz="3200" i="1">
                        <a:latin typeface="Cambria Math" panose="02040503050406030204" pitchFamily="18" charset="0"/>
                      </a:rPr>
                      <m:t>𝑧</m:t>
                    </m:r>
                    <m:r>
                      <a:rPr lang="en-IN" sz="3200">
                        <a:latin typeface="Cambria Math" panose="02040503050406030204" pitchFamily="18" charset="0"/>
                      </a:rPr>
                      <m:t>=</m:t>
                    </m:r>
                    <m:r>
                      <a:rPr lang="en-IN" sz="3200">
                        <a:latin typeface="Cambria Math" panose="02040503050406030204" pitchFamily="18" charset="0"/>
                      </a:rPr>
                      <m:t>0</m:t>
                    </m:r>
                    <m:r>
                      <a:rPr lang="en-IN" sz="3200">
                        <a:latin typeface="Cambria Math" panose="02040503050406030204" pitchFamily="18" charset="0"/>
                      </a:rPr>
                      <m:t>.</m:t>
                    </m:r>
                    <m:r>
                      <a:rPr lang="en-IN" sz="3200">
                        <a:latin typeface="Cambria Math" panose="02040503050406030204" pitchFamily="18" charset="0"/>
                      </a:rPr>
                      <m:t>668</m:t>
                    </m:r>
                  </m:oMath>
                </a14:m>
                <a:endParaRPr lang="en-IN" sz="3200" dirty="0"/>
              </a:p>
              <a:p>
                <a:pPr>
                  <a:lnSpc>
                    <a:spcPct val="120000"/>
                  </a:lnSpc>
                  <a:spcBef>
                    <a:spcPts val="0"/>
                  </a:spcBef>
                  <a:spcAft>
                    <a:spcPts val="0"/>
                  </a:spcAft>
                </a:pPr>
                <a:r>
                  <a:rPr lang="en-IN" sz="3200" b="1" dirty="0"/>
                  <a:t>Reconstruction </a:t>
                </a:r>
                <a14:m>
                  <m:oMath xmlns:m="http://schemas.openxmlformats.org/officeDocument/2006/math">
                    <m:d>
                      <m:dPr>
                        <m:begChr m:val="["/>
                        <m:endChr m:val="]"/>
                        <m:sepChr m:val=","/>
                        <m:ctrlPr>
                          <a:rPr lang="ar-AE" sz="3200" i="1">
                            <a:latin typeface="Cambria Math" panose="02040503050406030204" pitchFamily="18" charset="0"/>
                          </a:rPr>
                        </m:ctrlPr>
                      </m:dPr>
                      <m:e>
                        <m:r>
                          <a:rPr lang="ar-AE" sz="3200">
                            <a:latin typeface="Cambria Math" panose="02040503050406030204" pitchFamily="18" charset="0"/>
                          </a:rPr>
                          <m:t>0</m:t>
                        </m:r>
                        <m:r>
                          <a:rPr lang="ar-AE" sz="3200">
                            <a:latin typeface="Cambria Math" panose="02040503050406030204" pitchFamily="18" charset="0"/>
                          </a:rPr>
                          <m:t>.</m:t>
                        </m:r>
                        <m:r>
                          <a:rPr lang="ar-AE" sz="3200">
                            <a:latin typeface="Cambria Math" panose="02040503050406030204" pitchFamily="18" charset="0"/>
                          </a:rPr>
                          <m:t>595</m:t>
                        </m:r>
                      </m:e>
                      <m:e>
                        <m:r>
                          <m:rPr>
                            <m:nor/>
                          </m:rPr>
                          <a:rPr lang="ar-AE" sz="3200" i="1"/>
                          <m:t>  </m:t>
                        </m:r>
                        <m:r>
                          <a:rPr lang="ar-AE" sz="3200">
                            <a:latin typeface="Cambria Math" panose="02040503050406030204" pitchFamily="18" charset="0"/>
                          </a:rPr>
                          <m:t>0</m:t>
                        </m:r>
                        <m:r>
                          <a:rPr lang="ar-AE" sz="3200">
                            <a:latin typeface="Cambria Math" panose="02040503050406030204" pitchFamily="18" charset="0"/>
                          </a:rPr>
                          <m:t>.</m:t>
                        </m:r>
                        <m:r>
                          <a:rPr lang="ar-AE" sz="3200">
                            <a:latin typeface="Cambria Math" panose="02040503050406030204" pitchFamily="18" charset="0"/>
                          </a:rPr>
                          <m:t>463</m:t>
                        </m:r>
                      </m:e>
                    </m:d>
                  </m:oMath>
                </a14:m>
                <a:endParaRPr lang="ar-AE" sz="3200" b="0" dirty="0"/>
              </a:p>
              <a:p>
                <a:pPr>
                  <a:lnSpc>
                    <a:spcPct val="120000"/>
                  </a:lnSpc>
                  <a:spcBef>
                    <a:spcPts val="0"/>
                  </a:spcBef>
                  <a:spcAft>
                    <a:spcPts val="0"/>
                  </a:spcAft>
                </a:pPr>
                <a:r>
                  <a:rPr lang="en-IN" sz="3200" b="1" dirty="0"/>
                  <a:t>Reconstruction loss </a:t>
                </a:r>
                <a14:m>
                  <m:oMath xmlns:m="http://schemas.openxmlformats.org/officeDocument/2006/math">
                    <m:r>
                      <a:rPr lang="en-IN" sz="3200">
                        <a:latin typeface="Cambria Math" panose="02040503050406030204" pitchFamily="18" charset="0"/>
                      </a:rPr>
                      <m:t>0</m:t>
                    </m:r>
                    <m:r>
                      <a:rPr lang="en-IN" sz="3200">
                        <a:latin typeface="Cambria Math" panose="02040503050406030204" pitchFamily="18" charset="0"/>
                      </a:rPr>
                      <m:t>.</m:t>
                    </m:r>
                    <m:r>
                      <a:rPr lang="en-IN" sz="3200">
                        <a:latin typeface="Cambria Math" panose="02040503050406030204" pitchFamily="18" charset="0"/>
                      </a:rPr>
                      <m:t>378</m:t>
                    </m:r>
                  </m:oMath>
                </a14:m>
                <a:endParaRPr lang="en-IN" sz="3200" dirty="0"/>
              </a:p>
              <a:p>
                <a:pPr>
                  <a:lnSpc>
                    <a:spcPct val="120000"/>
                  </a:lnSpc>
                  <a:spcBef>
                    <a:spcPts val="0"/>
                  </a:spcBef>
                  <a:spcAft>
                    <a:spcPts val="0"/>
                  </a:spcAft>
                </a:pPr>
                <a:r>
                  <a:rPr lang="en-IN" sz="3200" b="1" dirty="0"/>
                  <a:t>Discriminator loss </a:t>
                </a:r>
                <a14:m>
                  <m:oMath xmlns:m="http://schemas.openxmlformats.org/officeDocument/2006/math">
                    <m:r>
                      <a:rPr lang="en-IN" sz="3200">
                        <a:latin typeface="Cambria Math" panose="02040503050406030204" pitchFamily="18" charset="0"/>
                      </a:rPr>
                      <m:t>2</m:t>
                    </m:r>
                    <m:r>
                      <a:rPr lang="en-IN" sz="3200">
                        <a:latin typeface="Cambria Math" panose="02040503050406030204" pitchFamily="18" charset="0"/>
                      </a:rPr>
                      <m:t>.</m:t>
                    </m:r>
                    <m:r>
                      <a:rPr lang="en-IN" sz="3200">
                        <a:latin typeface="Cambria Math" panose="02040503050406030204" pitchFamily="18" charset="0"/>
                      </a:rPr>
                      <m:t>486</m:t>
                    </m:r>
                  </m:oMath>
                </a14:m>
                <a:endParaRPr lang="en-IN" sz="3200" dirty="0"/>
              </a:p>
              <a:p>
                <a:pPr>
                  <a:lnSpc>
                    <a:spcPct val="120000"/>
                  </a:lnSpc>
                  <a:spcBef>
                    <a:spcPts val="0"/>
                  </a:spcBef>
                  <a:spcAft>
                    <a:spcPts val="0"/>
                  </a:spcAft>
                </a:pPr>
                <a:r>
                  <a:rPr lang="en-IN" sz="3200" b="1" dirty="0"/>
                  <a:t>Encoder adversarial loss </a:t>
                </a:r>
                <a14:m>
                  <m:oMath xmlns:m="http://schemas.openxmlformats.org/officeDocument/2006/math">
                    <m:r>
                      <a:rPr lang="en-IN" sz="3200">
                        <a:latin typeface="Cambria Math" panose="02040503050406030204" pitchFamily="18" charset="0"/>
                      </a:rPr>
                      <m:t>0</m:t>
                    </m:r>
                    <m:r>
                      <a:rPr lang="en-IN" sz="3200">
                        <a:latin typeface="Cambria Math" panose="02040503050406030204" pitchFamily="18" charset="0"/>
                      </a:rPr>
                      <m:t>.</m:t>
                    </m:r>
                    <m:r>
                      <a:rPr lang="en-IN" sz="3200">
                        <a:latin typeface="Cambria Math" panose="02040503050406030204" pitchFamily="18" charset="0"/>
                      </a:rPr>
                      <m:t>233</m:t>
                    </m:r>
                  </m:oMath>
                </a14:m>
                <a:endParaRPr lang="en-IN" sz="3200" dirty="0"/>
              </a:p>
              <a:p>
                <a:pPr>
                  <a:lnSpc>
                    <a:spcPct val="120000"/>
                  </a:lnSpc>
                  <a:spcBef>
                    <a:spcPts val="0"/>
                  </a:spcBef>
                  <a:spcAft>
                    <a:spcPts val="0"/>
                  </a:spcAft>
                </a:pPr>
                <a:r>
                  <a:rPr lang="en-IN" sz="3200" b="1" dirty="0"/>
                  <a:t>Total loss  </a:t>
                </a:r>
                <a14:m>
                  <m:oMath xmlns:m="http://schemas.openxmlformats.org/officeDocument/2006/math">
                    <m:borderBox>
                      <m:borderBoxPr>
                        <m:ctrlPr>
                          <a:rPr lang="ar-AE" sz="3200" i="1">
                            <a:latin typeface="Cambria Math" panose="02040503050406030204" pitchFamily="18" charset="0"/>
                          </a:rPr>
                        </m:ctrlPr>
                      </m:borderBoxPr>
                      <m:e>
                        <m:r>
                          <a:rPr lang="ar-AE" sz="3200">
                            <a:latin typeface="Cambria Math" panose="02040503050406030204" pitchFamily="18" charset="0"/>
                          </a:rPr>
                          <m:t>0</m:t>
                        </m:r>
                        <m:r>
                          <a:rPr lang="ar-AE" sz="3200">
                            <a:latin typeface="Cambria Math" panose="02040503050406030204" pitchFamily="18" charset="0"/>
                          </a:rPr>
                          <m:t>.</m:t>
                        </m:r>
                        <m:r>
                          <a:rPr lang="ar-AE" sz="3200">
                            <a:latin typeface="Cambria Math" panose="02040503050406030204" pitchFamily="18" charset="0"/>
                          </a:rPr>
                          <m:t>611</m:t>
                        </m:r>
                      </m:e>
                    </m:borderBox>
                  </m:oMath>
                </a14:m>
                <a:endParaRPr lang="ar-AE" sz="3200" dirty="0"/>
              </a:p>
            </p:txBody>
          </p:sp>
        </mc:Choice>
        <mc:Fallback xmlns="">
          <p:sp>
            <p:nvSpPr>
              <p:cNvPr id="3" name="Content Placeholder 2">
                <a:extLst>
                  <a:ext uri="{FF2B5EF4-FFF2-40B4-BE49-F238E27FC236}">
                    <a16:creationId xmlns:a16="http://schemas.microsoft.com/office/drawing/2014/main" id="{6696C981-1B11-0655-781B-AE836C41E532}"/>
                  </a:ext>
                </a:extLst>
              </p:cNvPr>
              <p:cNvSpPr>
                <a:spLocks noGrp="1" noRot="1" noChangeAspect="1" noMove="1" noResize="1" noEditPoints="1" noAdjustHandles="1" noChangeArrowheads="1" noChangeShapeType="1" noTextEdit="1"/>
              </p:cNvSpPr>
              <p:nvPr>
                <p:ph idx="1"/>
              </p:nvPr>
            </p:nvSpPr>
            <p:spPr>
              <a:xfrm>
                <a:off x="1240154" y="1381760"/>
                <a:ext cx="10058400" cy="4460240"/>
              </a:xfrm>
              <a:blipFill>
                <a:blip r:embed="rId2"/>
                <a:stretch>
                  <a:fillRect l="-2424" t="-410"/>
                </a:stretch>
              </a:blipFill>
            </p:spPr>
            <p:txBody>
              <a:bodyPr/>
              <a:lstStyle/>
              <a:p>
                <a:r>
                  <a:rPr lang="en-IN">
                    <a:noFill/>
                  </a:rPr>
                  <a:t> </a:t>
                </a:r>
              </a:p>
            </p:txBody>
          </p:sp>
        </mc:Fallback>
      </mc:AlternateContent>
    </p:spTree>
    <p:extLst>
      <p:ext uri="{BB962C8B-B14F-4D97-AF65-F5344CB8AC3E}">
        <p14:creationId xmlns:p14="http://schemas.microsoft.com/office/powerpoint/2010/main" val="216575256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0AB7DE-70CB-B548-4F08-3AD7798F74DA}"/>
              </a:ext>
            </a:extLst>
          </p:cNvPr>
          <p:cNvSpPr>
            <a:spLocks noGrp="1"/>
          </p:cNvSpPr>
          <p:nvPr>
            <p:ph type="title"/>
          </p:nvPr>
        </p:nvSpPr>
        <p:spPr/>
        <p:txBody>
          <a:bodyPr>
            <a:normAutofit fontScale="90000"/>
          </a:bodyPr>
          <a:lstStyle/>
          <a:p>
            <a:r>
              <a:rPr lang="en-IN" dirty="0"/>
              <a:t>Variational Autoencoders (VAEs)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2D70689-AD8F-CD21-4E73-5F3EC835D525}"/>
                  </a:ext>
                </a:extLst>
              </p:cNvPr>
              <p:cNvSpPr>
                <a:spLocks noGrp="1"/>
              </p:cNvSpPr>
              <p:nvPr>
                <p:ph idx="1"/>
              </p:nvPr>
            </p:nvSpPr>
            <p:spPr>
              <a:xfrm>
                <a:off x="1025842" y="1320198"/>
                <a:ext cx="10058400" cy="4217604"/>
              </a:xfrm>
            </p:spPr>
            <p:txBody>
              <a:bodyPr/>
              <a:lstStyle/>
              <a:p>
                <a:r>
                  <a:rPr lang="en-IN" b="1" dirty="0"/>
                  <a:t>Description</a:t>
                </a:r>
                <a:r>
                  <a:rPr lang="en-IN" dirty="0"/>
                  <a:t>: Probabilistic extension for generative </a:t>
                </a:r>
                <a:r>
                  <a:rPr lang="en-IN" dirty="0" err="1"/>
                  <a:t>modeling</a:t>
                </a:r>
                <a:r>
                  <a:rPr lang="en-IN" dirty="0"/>
                  <a:t>, where the latent space is a distribution rather than a fixed vector, enabling sampling and interpolation.</a:t>
                </a:r>
              </a:p>
              <a:p>
                <a:r>
                  <a:rPr lang="en-IN" b="1" dirty="0"/>
                  <a:t>Architecture and How It Works</a:t>
                </a:r>
                <a:r>
                  <a:rPr lang="en-IN" dirty="0"/>
                  <a:t>: Encoder outputs parameters of a distribution (e.g., mean </a:t>
                </a:r>
                <a14:m>
                  <m:oMath xmlns:m="http://schemas.openxmlformats.org/officeDocument/2006/math">
                    <m:r>
                      <a:rPr lang="en-IN" i="1">
                        <a:latin typeface="Cambria Math" panose="02040503050406030204" pitchFamily="18" charset="0"/>
                      </a:rPr>
                      <m:t>𝜇</m:t>
                    </m:r>
                  </m:oMath>
                </a14:m>
                <a:r>
                  <a:rPr lang="en-IN" dirty="0"/>
                  <a:t>and variance </a:t>
                </a:r>
                <a14:m>
                  <m:oMath xmlns:m="http://schemas.openxmlformats.org/officeDocument/2006/math">
                    <m:sSup>
                      <m:sSupPr>
                        <m:ctrlPr>
                          <a:rPr lang="ar-AE" i="1">
                            <a:latin typeface="Cambria Math" panose="02040503050406030204" pitchFamily="18" charset="0"/>
                          </a:rPr>
                        </m:ctrlPr>
                      </m:sSupPr>
                      <m:e>
                        <m:r>
                          <a:rPr lang="ar-AE" i="1">
                            <a:latin typeface="Cambria Math" panose="02040503050406030204" pitchFamily="18" charset="0"/>
                          </a:rPr>
                          <m:t>𝜎</m:t>
                        </m:r>
                      </m:e>
                      <m:sup>
                        <m:r>
                          <a:rPr lang="ar-AE">
                            <a:latin typeface="Cambria Math" panose="02040503050406030204" pitchFamily="18" charset="0"/>
                          </a:rPr>
                          <m:t>2</m:t>
                        </m:r>
                      </m:sup>
                    </m:sSup>
                  </m:oMath>
                </a14:m>
                <a:r>
                  <a:rPr lang="en-IN" dirty="0"/>
                  <a:t>for Gaussian). Sample </a:t>
                </a:r>
                <a14:m>
                  <m:oMath xmlns:m="http://schemas.openxmlformats.org/officeDocument/2006/math">
                    <m:r>
                      <a:rPr lang="en-IN" i="1">
                        <a:latin typeface="Cambria Math" panose="02040503050406030204" pitchFamily="18" charset="0"/>
                      </a:rPr>
                      <m:t>𝑧</m:t>
                    </m:r>
                    <m:r>
                      <a:rPr lang="en-IN">
                        <a:latin typeface="Cambria Math" panose="02040503050406030204" pitchFamily="18" charset="0"/>
                      </a:rPr>
                      <m:t>∼</m:t>
                    </m:r>
                    <m:r>
                      <a:rPr lang="en-IN">
                        <a:latin typeface="Cambria Math" panose="02040503050406030204" pitchFamily="18" charset="0"/>
                      </a:rPr>
                      <m:t>𝒩</m:t>
                    </m:r>
                    <m:d>
                      <m:dPr>
                        <m:sepChr m:val=","/>
                        <m:ctrlPr>
                          <a:rPr lang="ar-AE" i="1">
                            <a:latin typeface="Cambria Math" panose="02040503050406030204" pitchFamily="18" charset="0"/>
                          </a:rPr>
                        </m:ctrlPr>
                      </m:dPr>
                      <m:e>
                        <m:r>
                          <a:rPr lang="ar-AE" i="1">
                            <a:latin typeface="Cambria Math" panose="02040503050406030204" pitchFamily="18" charset="0"/>
                          </a:rPr>
                          <m:t>𝜇</m:t>
                        </m:r>
                      </m:e>
                      <m:e>
                        <m:sSup>
                          <m:sSupPr>
                            <m:ctrlPr>
                              <a:rPr lang="ar-AE" i="1">
                                <a:latin typeface="Cambria Math" panose="02040503050406030204" pitchFamily="18" charset="0"/>
                              </a:rPr>
                            </m:ctrlPr>
                          </m:sSupPr>
                          <m:e>
                            <m:r>
                              <a:rPr lang="ar-AE" i="1">
                                <a:latin typeface="Cambria Math" panose="02040503050406030204" pitchFamily="18" charset="0"/>
                              </a:rPr>
                              <m:t>𝜎</m:t>
                            </m:r>
                          </m:e>
                          <m:sup>
                            <m:r>
                              <a:rPr lang="ar-AE">
                                <a:latin typeface="Cambria Math" panose="02040503050406030204" pitchFamily="18" charset="0"/>
                              </a:rPr>
                              <m:t>2</m:t>
                            </m:r>
                          </m:sup>
                        </m:sSup>
                      </m:e>
                    </m:d>
                  </m:oMath>
                </a14:m>
                <a:r>
                  <a:rPr lang="en-IN" dirty="0"/>
                  <a:t>using reparameterization trick (</a:t>
                </a:r>
                <a14:m>
                  <m:oMath xmlns:m="http://schemas.openxmlformats.org/officeDocument/2006/math">
                    <m:r>
                      <a:rPr lang="en-IN" i="1">
                        <a:latin typeface="Cambria Math" panose="02040503050406030204" pitchFamily="18" charset="0"/>
                      </a:rPr>
                      <m:t>𝑧</m:t>
                    </m:r>
                    <m:r>
                      <a:rPr lang="en-IN">
                        <a:latin typeface="Cambria Math" panose="02040503050406030204" pitchFamily="18" charset="0"/>
                      </a:rPr>
                      <m:t>=</m:t>
                    </m:r>
                    <m:r>
                      <a:rPr lang="en-IN" i="1">
                        <a:latin typeface="Cambria Math" panose="02040503050406030204" pitchFamily="18" charset="0"/>
                      </a:rPr>
                      <m:t>𝜇</m:t>
                    </m:r>
                    <m:r>
                      <a:rPr lang="en-IN">
                        <a:latin typeface="Cambria Math" panose="02040503050406030204" pitchFamily="18" charset="0"/>
                      </a:rPr>
                      <m:t>+</m:t>
                    </m:r>
                    <m:r>
                      <a:rPr lang="en-IN" i="1">
                        <a:latin typeface="Cambria Math" panose="02040503050406030204" pitchFamily="18" charset="0"/>
                      </a:rPr>
                      <m:t>𝜎</m:t>
                    </m:r>
                    <m:r>
                      <a:rPr lang="en-IN">
                        <a:latin typeface="Cambria Math" panose="02040503050406030204" pitchFamily="18" charset="0"/>
                      </a:rPr>
                      <m:t>⊙</m:t>
                    </m:r>
                    <m:r>
                      <a:rPr lang="en-IN" i="1">
                        <a:latin typeface="Cambria Math" panose="02040503050406030204" pitchFamily="18" charset="0"/>
                      </a:rPr>
                      <m:t>𝜖</m:t>
                    </m:r>
                  </m:oMath>
                </a14:m>
                <a:r>
                  <a:rPr lang="en-IN" dirty="0"/>
                  <a:t>, </a:t>
                </a:r>
                <a14:m>
                  <m:oMath xmlns:m="http://schemas.openxmlformats.org/officeDocument/2006/math">
                    <m:r>
                      <a:rPr lang="en-IN" i="1">
                        <a:latin typeface="Cambria Math" panose="02040503050406030204" pitchFamily="18" charset="0"/>
                      </a:rPr>
                      <m:t>𝜖</m:t>
                    </m:r>
                    <m:r>
                      <a:rPr lang="en-IN">
                        <a:latin typeface="Cambria Math" panose="02040503050406030204" pitchFamily="18" charset="0"/>
                      </a:rPr>
                      <m:t>∼</m:t>
                    </m:r>
                    <m:r>
                      <a:rPr lang="en-IN">
                        <a:latin typeface="Cambria Math" panose="02040503050406030204" pitchFamily="18" charset="0"/>
                      </a:rPr>
                      <m:t>𝒩</m:t>
                    </m:r>
                    <m:d>
                      <m:dPr>
                        <m:sepChr m:val=","/>
                        <m:ctrlPr>
                          <a:rPr lang="ar-AE" i="1">
                            <a:latin typeface="Cambria Math" panose="02040503050406030204" pitchFamily="18" charset="0"/>
                          </a:rPr>
                        </m:ctrlPr>
                      </m:dPr>
                      <m:e>
                        <m:r>
                          <a:rPr lang="ar-AE">
                            <a:latin typeface="Cambria Math" panose="02040503050406030204" pitchFamily="18" charset="0"/>
                          </a:rPr>
                          <m:t>0</m:t>
                        </m:r>
                      </m:e>
                      <m:e>
                        <m:r>
                          <a:rPr lang="ar-AE">
                            <a:latin typeface="Cambria Math" panose="02040503050406030204" pitchFamily="18" charset="0"/>
                          </a:rPr>
                          <m:t>1</m:t>
                        </m:r>
                      </m:e>
                    </m:d>
                  </m:oMath>
                </a14:m>
                <a:r>
                  <a:rPr lang="ar-AE" dirty="0"/>
                  <a:t>) </a:t>
                </a:r>
                <a:r>
                  <a:rPr lang="en-IN" dirty="0"/>
                  <a:t>for backpropagation. Decoder generates from </a:t>
                </a:r>
                <a14:m>
                  <m:oMath xmlns:m="http://schemas.openxmlformats.org/officeDocument/2006/math">
                    <m:r>
                      <a:rPr lang="en-IN" i="1">
                        <a:latin typeface="Cambria Math" panose="02040503050406030204" pitchFamily="18" charset="0"/>
                      </a:rPr>
                      <m:t>𝑧</m:t>
                    </m:r>
                  </m:oMath>
                </a14:m>
                <a:r>
                  <a:rPr lang="en-IN" dirty="0"/>
                  <a:t>.</a:t>
                </a:r>
              </a:p>
              <a:p>
                <a:pPr lvl="1"/>
                <a:r>
                  <a:rPr lang="en-IN" dirty="0"/>
                  <a:t>Loss: Evidence Lower Bound (ELBO):</a:t>
                </a:r>
              </a:p>
              <a:p>
                <a:endParaRPr lang="en-IN" dirty="0"/>
              </a:p>
            </p:txBody>
          </p:sp>
        </mc:Choice>
        <mc:Fallback xmlns="">
          <p:sp>
            <p:nvSpPr>
              <p:cNvPr id="3" name="Content Placeholder 2">
                <a:extLst>
                  <a:ext uri="{FF2B5EF4-FFF2-40B4-BE49-F238E27FC236}">
                    <a16:creationId xmlns:a16="http://schemas.microsoft.com/office/drawing/2014/main" id="{02D70689-AD8F-CD21-4E73-5F3EC835D525}"/>
                  </a:ext>
                </a:extLst>
              </p:cNvPr>
              <p:cNvSpPr>
                <a:spLocks noGrp="1" noRot="1" noChangeAspect="1" noMove="1" noResize="1" noEditPoints="1" noAdjustHandles="1" noChangeArrowheads="1" noChangeShapeType="1" noTextEdit="1"/>
              </p:cNvSpPr>
              <p:nvPr>
                <p:ph idx="1"/>
              </p:nvPr>
            </p:nvSpPr>
            <p:spPr>
              <a:xfrm>
                <a:off x="1025842" y="1320198"/>
                <a:ext cx="10058400" cy="4217604"/>
              </a:xfrm>
              <a:blipFill>
                <a:blip r:embed="rId2"/>
                <a:stretch>
                  <a:fillRect l="-1697" t="-2026" r="-1697"/>
                </a:stretch>
              </a:blipFill>
            </p:spPr>
            <p:txBody>
              <a:bodyPr/>
              <a:lstStyle/>
              <a:p>
                <a:r>
                  <a:rPr lang="en-IN">
                    <a:noFill/>
                  </a:rPr>
                  <a:t> </a:t>
                </a:r>
              </a:p>
            </p:txBody>
          </p:sp>
        </mc:Fallback>
      </mc:AlternateContent>
      <p:pic>
        <p:nvPicPr>
          <p:cNvPr id="5" name="Picture 4">
            <a:extLst>
              <a:ext uri="{FF2B5EF4-FFF2-40B4-BE49-F238E27FC236}">
                <a16:creationId xmlns:a16="http://schemas.microsoft.com/office/drawing/2014/main" id="{CD420FFD-37A6-9817-6C32-464FE62D2B07}"/>
              </a:ext>
            </a:extLst>
          </p:cNvPr>
          <p:cNvPicPr>
            <a:picLocks noChangeAspect="1"/>
          </p:cNvPicPr>
          <p:nvPr/>
        </p:nvPicPr>
        <p:blipFill>
          <a:blip r:embed="rId3"/>
          <a:stretch>
            <a:fillRect/>
          </a:stretch>
        </p:blipFill>
        <p:spPr>
          <a:xfrm>
            <a:off x="1384609" y="4521200"/>
            <a:ext cx="7663619" cy="1016602"/>
          </a:xfrm>
          <a:prstGeom prst="rect">
            <a:avLst/>
          </a:prstGeom>
        </p:spPr>
      </p:pic>
    </p:spTree>
    <p:extLst>
      <p:ext uri="{BB962C8B-B14F-4D97-AF65-F5344CB8AC3E}">
        <p14:creationId xmlns:p14="http://schemas.microsoft.com/office/powerpoint/2010/main" val="163757659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B4D57D-FFA8-2EF0-F912-7E5DB3EEA275}"/>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FC44DB6A-69F2-2135-9E98-8D7FFA39F4B8}"/>
              </a:ext>
            </a:extLst>
          </p:cNvPr>
          <p:cNvSpPr>
            <a:spLocks noGrp="1"/>
          </p:cNvSpPr>
          <p:nvPr>
            <p:ph idx="1"/>
          </p:nvPr>
        </p:nvSpPr>
        <p:spPr>
          <a:xfrm>
            <a:off x="1025842" y="1381760"/>
            <a:ext cx="10201275" cy="4714030"/>
          </a:xfrm>
        </p:spPr>
        <p:txBody>
          <a:bodyPr>
            <a:normAutofit/>
          </a:bodyPr>
          <a:lstStyle/>
          <a:p>
            <a:r>
              <a:rPr lang="en-US" dirty="0"/>
              <a:t>where first term is reconstruction, second regularizes to a prior (e.g., standard Gaussian).To derive ELBO: Start from</a:t>
            </a:r>
          </a:p>
          <a:p>
            <a:endParaRPr lang="en-US" dirty="0"/>
          </a:p>
          <a:p>
            <a:r>
              <a:rPr lang="en-IN" dirty="0"/>
              <a:t>approximate by maximizing the bound.</a:t>
            </a:r>
          </a:p>
          <a:p>
            <a:r>
              <a:rPr lang="en-IN" b="1" dirty="0"/>
              <a:t>Advantages: </a:t>
            </a:r>
            <a:r>
              <a:rPr lang="en-IN" dirty="0"/>
              <a:t>Generative capabilities (sample new data); smooth, continuous latent space for interpolation.</a:t>
            </a:r>
          </a:p>
          <a:p>
            <a:r>
              <a:rPr lang="en-IN" b="1" dirty="0"/>
              <a:t>Limitations: </a:t>
            </a:r>
            <a:r>
              <a:rPr lang="en-IN" dirty="0"/>
              <a:t>Reconstructions can be blurry due to averaging in the loss; assumes simple priors (e.g., Gaussian), limiting complex distributions.</a:t>
            </a:r>
          </a:p>
          <a:p>
            <a:r>
              <a:rPr lang="en-IN" b="1" dirty="0"/>
              <a:t>Applications: </a:t>
            </a:r>
            <a:r>
              <a:rPr lang="en-IN" dirty="0"/>
              <a:t>Image generation (e.g., faces in </a:t>
            </a:r>
            <a:r>
              <a:rPr lang="en-IN" dirty="0" err="1"/>
              <a:t>CelebA</a:t>
            </a:r>
            <a:r>
              <a:rPr lang="en-IN" dirty="0"/>
              <a:t> dataset); anomaly detection (low likelihood flags outliers); drug discovery (generating molecular structures).</a:t>
            </a:r>
          </a:p>
        </p:txBody>
      </p:sp>
      <p:pic>
        <p:nvPicPr>
          <p:cNvPr id="9" name="Picture 8">
            <a:extLst>
              <a:ext uri="{FF2B5EF4-FFF2-40B4-BE49-F238E27FC236}">
                <a16:creationId xmlns:a16="http://schemas.microsoft.com/office/drawing/2014/main" id="{E4DDEE68-2967-4E2B-A103-33E2E6F266A3}"/>
              </a:ext>
            </a:extLst>
          </p:cNvPr>
          <p:cNvPicPr>
            <a:picLocks noChangeAspect="1"/>
          </p:cNvPicPr>
          <p:nvPr/>
        </p:nvPicPr>
        <p:blipFill>
          <a:blip r:embed="rId2"/>
          <a:stretch>
            <a:fillRect/>
          </a:stretch>
        </p:blipFill>
        <p:spPr>
          <a:xfrm>
            <a:off x="3297794" y="2153921"/>
            <a:ext cx="6699132" cy="449606"/>
          </a:xfrm>
          <a:prstGeom prst="rect">
            <a:avLst/>
          </a:prstGeom>
        </p:spPr>
      </p:pic>
    </p:spTree>
    <p:extLst>
      <p:ext uri="{BB962C8B-B14F-4D97-AF65-F5344CB8AC3E}">
        <p14:creationId xmlns:p14="http://schemas.microsoft.com/office/powerpoint/2010/main" val="339942838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C676D-B5D1-BF44-0F78-198C09AD70A0}"/>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9FB49B77-9019-9EA6-7193-50962ADEBEA6}"/>
              </a:ext>
            </a:extLst>
          </p:cNvPr>
          <p:cNvSpPr>
            <a:spLocks noGrp="1"/>
          </p:cNvSpPr>
          <p:nvPr>
            <p:ph idx="1"/>
          </p:nvPr>
        </p:nvSpPr>
        <p:spPr>
          <a:xfrm>
            <a:off x="964564" y="1522586"/>
            <a:ext cx="10058400" cy="4217604"/>
          </a:xfrm>
        </p:spPr>
        <p:txBody>
          <a:bodyPr/>
          <a:lstStyle/>
          <a:p>
            <a:r>
              <a:rPr lang="en-US" dirty="0"/>
              <a:t>A </a:t>
            </a:r>
            <a:r>
              <a:rPr lang="en-US" b="1" dirty="0"/>
              <a:t>Variational Autoencoder (VAE)</a:t>
            </a:r>
            <a:r>
              <a:rPr lang="en-US" dirty="0"/>
              <a:t> is a </a:t>
            </a:r>
            <a:r>
              <a:rPr lang="en-US" b="1" dirty="0"/>
              <a:t>probabilistic generative model</a:t>
            </a:r>
            <a:r>
              <a:rPr lang="en-US" dirty="0"/>
              <a:t> that learns how data is distributed and can generate new samples similar to the training data.</a:t>
            </a:r>
          </a:p>
          <a:p>
            <a:r>
              <a:rPr lang="en-US" dirty="0"/>
              <a:t> Unlike traditional autoencoders that learn a fixed latent vector, VAEs learn a </a:t>
            </a:r>
            <a:r>
              <a:rPr lang="en-US" b="1" dirty="0"/>
              <a:t>distribution</a:t>
            </a:r>
            <a:r>
              <a:rPr lang="en-US" dirty="0"/>
              <a:t>.</a:t>
            </a:r>
          </a:p>
          <a:p>
            <a:endParaRPr lang="en-IN" dirty="0"/>
          </a:p>
        </p:txBody>
      </p:sp>
    </p:spTree>
    <p:extLst>
      <p:ext uri="{BB962C8B-B14F-4D97-AF65-F5344CB8AC3E}">
        <p14:creationId xmlns:p14="http://schemas.microsoft.com/office/powerpoint/2010/main" val="308658142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AB1039-45EC-99CF-A68D-269444950161}"/>
              </a:ext>
            </a:extLst>
          </p:cNvPr>
          <p:cNvSpPr>
            <a:spLocks noGrp="1"/>
          </p:cNvSpPr>
          <p:nvPr>
            <p:ph type="title"/>
          </p:nvPr>
        </p:nvSpPr>
        <p:spPr/>
        <p:txBody>
          <a:bodyPr>
            <a:normAutofit fontScale="90000"/>
          </a:bodyPr>
          <a:lstStyle/>
          <a:p>
            <a:endParaRPr lang="en-IN"/>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6BD47E0-3CF3-1302-C1C5-6E70C71DAE75}"/>
                  </a:ext>
                </a:extLst>
              </p:cNvPr>
              <p:cNvSpPr>
                <a:spLocks noGrp="1"/>
              </p:cNvSpPr>
              <p:nvPr>
                <p:ph idx="1"/>
              </p:nvPr>
            </p:nvSpPr>
            <p:spPr>
              <a:xfrm>
                <a:off x="1168717" y="1452880"/>
                <a:ext cx="10058400" cy="4673390"/>
              </a:xfrm>
            </p:spPr>
            <p:txBody>
              <a:bodyPr/>
              <a:lstStyle/>
              <a:p>
                <a:r>
                  <a:rPr lang="en-IN" b="1" dirty="0"/>
                  <a:t>Key Idea</a:t>
                </a:r>
              </a:p>
              <a:p>
                <a:r>
                  <a:rPr lang="en-IN" dirty="0"/>
                  <a:t>Instead of encoding input into a single point:</a:t>
                </a:r>
              </a:p>
              <a:p>
                <a14:m>
                  <m:oMath xmlns:m="http://schemas.openxmlformats.org/officeDocument/2006/math">
                    <m:r>
                      <a:rPr lang="en-IN" i="1">
                        <a:latin typeface="Cambria Math" panose="02040503050406030204" pitchFamily="18" charset="0"/>
                      </a:rPr>
                      <m:t>𝑥</m:t>
                    </m:r>
                    <m:r>
                      <a:rPr lang="en-IN">
                        <a:latin typeface="Cambria Math" panose="02040503050406030204" pitchFamily="18" charset="0"/>
                      </a:rPr>
                      <m:t>→</m:t>
                    </m:r>
                    <m:r>
                      <a:rPr lang="en-IN" i="1">
                        <a:latin typeface="Cambria Math" panose="02040503050406030204" pitchFamily="18" charset="0"/>
                      </a:rPr>
                      <m:t>𝑧</m:t>
                    </m:r>
                  </m:oMath>
                </a14:m>
                <a:endParaRPr lang="en-IN" dirty="0"/>
              </a:p>
              <a:p>
                <a:r>
                  <a:rPr lang="en-IN" dirty="0"/>
                  <a:t>VAE encodes input into a distribution:</a:t>
                </a:r>
              </a:p>
              <a:p>
                <a14:m>
                  <m:oMath xmlns:m="http://schemas.openxmlformats.org/officeDocument/2006/math">
                    <m:r>
                      <a:rPr lang="en-IN" i="1">
                        <a:latin typeface="Cambria Math" panose="02040503050406030204" pitchFamily="18" charset="0"/>
                      </a:rPr>
                      <m:t>𝑥</m:t>
                    </m:r>
                    <m:r>
                      <a:rPr lang="en-IN">
                        <a:latin typeface="Cambria Math" panose="02040503050406030204" pitchFamily="18" charset="0"/>
                      </a:rPr>
                      <m:t>→</m:t>
                    </m:r>
                    <m:d>
                      <m:dPr>
                        <m:sepChr m:val=","/>
                        <m:ctrlPr>
                          <a:rPr lang="ar-AE" i="1">
                            <a:latin typeface="Cambria Math" panose="02040503050406030204" pitchFamily="18" charset="0"/>
                          </a:rPr>
                        </m:ctrlPr>
                      </m:dPr>
                      <m:e>
                        <m:r>
                          <a:rPr lang="ar-AE" i="1">
                            <a:latin typeface="Cambria Math" panose="02040503050406030204" pitchFamily="18" charset="0"/>
                          </a:rPr>
                          <m:t>𝜇</m:t>
                        </m:r>
                      </m:e>
                      <m:e>
                        <m:r>
                          <a:rPr lang="ar-AE" i="1">
                            <a:latin typeface="Cambria Math" panose="02040503050406030204" pitchFamily="18" charset="0"/>
                          </a:rPr>
                          <m:t>𝜎</m:t>
                        </m:r>
                      </m:e>
                    </m:d>
                  </m:oMath>
                </a14:m>
                <a:endParaRPr lang="ar-AE" dirty="0"/>
              </a:p>
              <a:p>
                <a:r>
                  <a:rPr lang="en-IN" dirty="0"/>
                  <a:t>Then samples:</a:t>
                </a:r>
              </a:p>
              <a:p>
                <a14:m>
                  <m:oMath xmlns:m="http://schemas.openxmlformats.org/officeDocument/2006/math">
                    <m:r>
                      <a:rPr lang="en-IN" i="1">
                        <a:latin typeface="Cambria Math" panose="02040503050406030204" pitchFamily="18" charset="0"/>
                      </a:rPr>
                      <m:t>𝑧</m:t>
                    </m:r>
                    <m:r>
                      <a:rPr lang="en-IN">
                        <a:latin typeface="Cambria Math" panose="02040503050406030204" pitchFamily="18" charset="0"/>
                      </a:rPr>
                      <m:t>=</m:t>
                    </m:r>
                    <m:r>
                      <a:rPr lang="en-IN" i="1">
                        <a:latin typeface="Cambria Math" panose="02040503050406030204" pitchFamily="18" charset="0"/>
                      </a:rPr>
                      <m:t>𝜇</m:t>
                    </m:r>
                    <m:r>
                      <a:rPr lang="en-IN">
                        <a:latin typeface="Cambria Math" panose="02040503050406030204" pitchFamily="18" charset="0"/>
                      </a:rPr>
                      <m:t>+</m:t>
                    </m:r>
                    <m:r>
                      <a:rPr lang="en-IN" i="1">
                        <a:latin typeface="Cambria Math" panose="02040503050406030204" pitchFamily="18" charset="0"/>
                      </a:rPr>
                      <m:t>𝜎𝜖</m:t>
                    </m:r>
                    <m:r>
                      <a:rPr lang="en-IN">
                        <a:latin typeface="Cambria Math" panose="02040503050406030204" pitchFamily="18" charset="0"/>
                      </a:rPr>
                      <m:t>, </m:t>
                    </m:r>
                    <m:r>
                      <a:rPr lang="en-IN" i="1">
                        <a:latin typeface="Cambria Math" panose="02040503050406030204" pitchFamily="18" charset="0"/>
                      </a:rPr>
                      <m:t>𝜖</m:t>
                    </m:r>
                    <m:r>
                      <a:rPr lang="en-IN">
                        <a:latin typeface="Cambria Math" panose="02040503050406030204" pitchFamily="18" charset="0"/>
                      </a:rPr>
                      <m:t>∼</m:t>
                    </m:r>
                    <m:r>
                      <a:rPr lang="en-IN" i="1">
                        <a:latin typeface="Cambria Math" panose="02040503050406030204" pitchFamily="18" charset="0"/>
                      </a:rPr>
                      <m:t>𝑁</m:t>
                    </m:r>
                    <m:d>
                      <m:dPr>
                        <m:sepChr m:val=","/>
                        <m:ctrlPr>
                          <a:rPr lang="ar-AE" i="1">
                            <a:latin typeface="Cambria Math" panose="02040503050406030204" pitchFamily="18" charset="0"/>
                          </a:rPr>
                        </m:ctrlPr>
                      </m:dPr>
                      <m:e>
                        <m:r>
                          <a:rPr lang="ar-AE">
                            <a:latin typeface="Cambria Math" panose="02040503050406030204" pitchFamily="18" charset="0"/>
                          </a:rPr>
                          <m:t>0</m:t>
                        </m:r>
                      </m:e>
                      <m:e>
                        <m:r>
                          <a:rPr lang="ar-AE">
                            <a:latin typeface="Cambria Math" panose="02040503050406030204" pitchFamily="18" charset="0"/>
                          </a:rPr>
                          <m:t>1</m:t>
                        </m:r>
                      </m:e>
                    </m:d>
                  </m:oMath>
                </a14:m>
                <a:endParaRPr lang="ar-AE" dirty="0"/>
              </a:p>
              <a:p>
                <a:r>
                  <a:rPr lang="en-IN" dirty="0"/>
                  <a:t>This is called the </a:t>
                </a:r>
                <a:r>
                  <a:rPr lang="en-IN" b="1" dirty="0"/>
                  <a:t>reparameterization trick</a:t>
                </a:r>
                <a:r>
                  <a:rPr lang="en-IN" dirty="0"/>
                  <a:t>.</a:t>
                </a:r>
              </a:p>
              <a:p>
                <a:endParaRPr lang="en-IN" dirty="0"/>
              </a:p>
            </p:txBody>
          </p:sp>
        </mc:Choice>
        <mc:Fallback xmlns="">
          <p:sp>
            <p:nvSpPr>
              <p:cNvPr id="3" name="Content Placeholder 2">
                <a:extLst>
                  <a:ext uri="{FF2B5EF4-FFF2-40B4-BE49-F238E27FC236}">
                    <a16:creationId xmlns:a16="http://schemas.microsoft.com/office/drawing/2014/main" id="{76BD47E0-3CF3-1302-C1C5-6E70C71DAE75}"/>
                  </a:ext>
                </a:extLst>
              </p:cNvPr>
              <p:cNvSpPr>
                <a:spLocks noGrp="1" noRot="1" noChangeAspect="1" noMove="1" noResize="1" noEditPoints="1" noAdjustHandles="1" noChangeArrowheads="1" noChangeShapeType="1" noTextEdit="1"/>
              </p:cNvSpPr>
              <p:nvPr>
                <p:ph idx="1"/>
              </p:nvPr>
            </p:nvSpPr>
            <p:spPr>
              <a:xfrm>
                <a:off x="1168717" y="1452880"/>
                <a:ext cx="10058400" cy="4673390"/>
              </a:xfrm>
              <a:blipFill>
                <a:blip r:embed="rId2"/>
                <a:stretch>
                  <a:fillRect l="-1758" t="-1825"/>
                </a:stretch>
              </a:blipFill>
            </p:spPr>
            <p:txBody>
              <a:bodyPr/>
              <a:lstStyle/>
              <a:p>
                <a:r>
                  <a:rPr lang="en-IN">
                    <a:noFill/>
                  </a:rPr>
                  <a:t> </a:t>
                </a:r>
              </a:p>
            </p:txBody>
          </p:sp>
        </mc:Fallback>
      </mc:AlternateContent>
    </p:spTree>
    <p:extLst>
      <p:ext uri="{BB962C8B-B14F-4D97-AF65-F5344CB8AC3E}">
        <p14:creationId xmlns:p14="http://schemas.microsoft.com/office/powerpoint/2010/main" val="175045586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43D1CA-5756-3444-C5D7-CBA1EF35A7CE}"/>
              </a:ext>
            </a:extLst>
          </p:cNvPr>
          <p:cNvSpPr>
            <a:spLocks noGrp="1"/>
          </p:cNvSpPr>
          <p:nvPr>
            <p:ph type="title"/>
          </p:nvPr>
        </p:nvSpPr>
        <p:spPr/>
        <p:txBody>
          <a:bodyPr>
            <a:normAutofit fontScale="90000"/>
          </a:bodyPr>
          <a:lstStyle/>
          <a:p>
            <a:endParaRPr lang="en-IN"/>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EC6E8A9-BDB6-3D32-03CA-D007EF393B4F}"/>
                  </a:ext>
                </a:extLst>
              </p:cNvPr>
              <p:cNvSpPr>
                <a:spLocks noGrp="1"/>
              </p:cNvSpPr>
              <p:nvPr>
                <p:ph idx="1"/>
              </p:nvPr>
            </p:nvSpPr>
            <p:spPr/>
            <p:txBody>
              <a:bodyPr/>
              <a:lstStyle/>
              <a:p>
                <a:r>
                  <a:rPr lang="en-IN" b="1" dirty="0"/>
                  <a:t>Architecture</a:t>
                </a:r>
              </a:p>
              <a:p>
                <a:r>
                  <a:rPr lang="en-IN" b="1" dirty="0"/>
                  <a:t>Encoder outputs:</a:t>
                </a:r>
              </a:p>
              <a:p>
                <a:r>
                  <a:rPr lang="en-IN" dirty="0"/>
                  <a:t>Mean vector </a:t>
                </a:r>
                <a14:m>
                  <m:oMath xmlns:m="http://schemas.openxmlformats.org/officeDocument/2006/math">
                    <m:r>
                      <a:rPr lang="en-IN" i="1">
                        <a:latin typeface="Cambria Math" panose="02040503050406030204" pitchFamily="18" charset="0"/>
                      </a:rPr>
                      <m:t>𝜇</m:t>
                    </m:r>
                  </m:oMath>
                </a14:m>
                <a:endParaRPr lang="en-IN" dirty="0"/>
              </a:p>
              <a:p>
                <a:r>
                  <a:rPr lang="en-IN" dirty="0"/>
                  <a:t>Standard deviation </a:t>
                </a:r>
                <a14:m>
                  <m:oMath xmlns:m="http://schemas.openxmlformats.org/officeDocument/2006/math">
                    <m:r>
                      <a:rPr lang="en-IN" i="1">
                        <a:latin typeface="Cambria Math" panose="02040503050406030204" pitchFamily="18" charset="0"/>
                      </a:rPr>
                      <m:t>𝜎</m:t>
                    </m:r>
                  </m:oMath>
                </a14:m>
                <a:endParaRPr lang="en-IN" dirty="0"/>
              </a:p>
              <a:p>
                <a:r>
                  <a:rPr lang="en-IN" b="1" dirty="0"/>
                  <a:t>Sampling layer</a:t>
                </a:r>
              </a:p>
              <a:p>
                <a14:m>
                  <m:oMath xmlns:m="http://schemas.openxmlformats.org/officeDocument/2006/math">
                    <m:r>
                      <a:rPr lang="en-IN" i="1">
                        <a:latin typeface="Cambria Math" panose="02040503050406030204" pitchFamily="18" charset="0"/>
                      </a:rPr>
                      <m:t>𝑧</m:t>
                    </m:r>
                    <m:r>
                      <a:rPr lang="en-IN">
                        <a:latin typeface="Cambria Math" panose="02040503050406030204" pitchFamily="18" charset="0"/>
                      </a:rPr>
                      <m:t>=</m:t>
                    </m:r>
                    <m:r>
                      <a:rPr lang="en-IN" i="1">
                        <a:latin typeface="Cambria Math" panose="02040503050406030204" pitchFamily="18" charset="0"/>
                      </a:rPr>
                      <m:t>𝜇</m:t>
                    </m:r>
                    <m:r>
                      <a:rPr lang="en-IN">
                        <a:latin typeface="Cambria Math" panose="02040503050406030204" pitchFamily="18" charset="0"/>
                      </a:rPr>
                      <m:t>+</m:t>
                    </m:r>
                    <m:r>
                      <a:rPr lang="en-IN" i="1">
                        <a:latin typeface="Cambria Math" panose="02040503050406030204" pitchFamily="18" charset="0"/>
                      </a:rPr>
                      <m:t>𝜎𝜖</m:t>
                    </m:r>
                  </m:oMath>
                </a14:m>
                <a:endParaRPr lang="en-IN" dirty="0"/>
              </a:p>
              <a:p>
                <a:r>
                  <a:rPr lang="en-IN" b="1" dirty="0"/>
                  <a:t>Decoder reconstructs input</a:t>
                </a:r>
              </a:p>
            </p:txBody>
          </p:sp>
        </mc:Choice>
        <mc:Fallback xmlns="">
          <p:sp>
            <p:nvSpPr>
              <p:cNvPr id="3" name="Content Placeholder 2">
                <a:extLst>
                  <a:ext uri="{FF2B5EF4-FFF2-40B4-BE49-F238E27FC236}">
                    <a16:creationId xmlns:a16="http://schemas.microsoft.com/office/drawing/2014/main" id="{8EC6E8A9-BDB6-3D32-03CA-D007EF393B4F}"/>
                  </a:ext>
                </a:extLst>
              </p:cNvPr>
              <p:cNvSpPr>
                <a:spLocks noGrp="1" noRot="1" noChangeAspect="1" noMove="1" noResize="1" noEditPoints="1" noAdjustHandles="1" noChangeArrowheads="1" noChangeShapeType="1" noTextEdit="1"/>
              </p:cNvSpPr>
              <p:nvPr>
                <p:ph idx="1"/>
              </p:nvPr>
            </p:nvSpPr>
            <p:spPr>
              <a:blipFill>
                <a:blip r:embed="rId2"/>
                <a:stretch>
                  <a:fillRect l="-1758" t="-2023"/>
                </a:stretch>
              </a:blipFill>
            </p:spPr>
            <p:txBody>
              <a:bodyPr/>
              <a:lstStyle/>
              <a:p>
                <a:r>
                  <a:rPr lang="en-IN">
                    <a:noFill/>
                  </a:rPr>
                  <a:t> </a:t>
                </a:r>
              </a:p>
            </p:txBody>
          </p:sp>
        </mc:Fallback>
      </mc:AlternateContent>
    </p:spTree>
    <p:extLst>
      <p:ext uri="{BB962C8B-B14F-4D97-AF65-F5344CB8AC3E}">
        <p14:creationId xmlns:p14="http://schemas.microsoft.com/office/powerpoint/2010/main" val="83229163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3B272D-8B54-90C8-727E-683648DE5CA1}"/>
              </a:ext>
            </a:extLst>
          </p:cNvPr>
          <p:cNvSpPr>
            <a:spLocks noGrp="1"/>
          </p:cNvSpPr>
          <p:nvPr>
            <p:ph type="title"/>
          </p:nvPr>
        </p:nvSpPr>
        <p:spPr/>
        <p:txBody>
          <a:bodyPr>
            <a:normAutofit fontScale="90000"/>
          </a:bodyPr>
          <a:lstStyle/>
          <a:p>
            <a:endParaRPr lang="en-IN"/>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B4989D6-A39B-D90B-6092-AE81F66DB8B0}"/>
                  </a:ext>
                </a:extLst>
              </p:cNvPr>
              <p:cNvSpPr>
                <a:spLocks noGrp="1"/>
              </p:cNvSpPr>
              <p:nvPr>
                <p:ph idx="1"/>
              </p:nvPr>
            </p:nvSpPr>
            <p:spPr>
              <a:xfrm>
                <a:off x="863600" y="1422400"/>
                <a:ext cx="10363517" cy="4703870"/>
              </a:xfrm>
            </p:spPr>
            <p:txBody>
              <a:bodyPr>
                <a:normAutofit fontScale="92500" lnSpcReduction="10000"/>
              </a:bodyPr>
              <a:lstStyle/>
              <a:p>
                <a:r>
                  <a:rPr lang="en-IN" b="1" dirty="0"/>
                  <a:t>Loss Function (Core of VAE)</a:t>
                </a:r>
              </a:p>
              <a:p>
                <a:r>
                  <a:rPr lang="en-IN" dirty="0"/>
                  <a:t>VAE loss has </a:t>
                </a:r>
                <a:r>
                  <a:rPr lang="en-IN" b="1" dirty="0"/>
                  <a:t>two components</a:t>
                </a:r>
                <a:r>
                  <a:rPr lang="en-IN" dirty="0"/>
                  <a:t>:</a:t>
                </a:r>
              </a:p>
              <a:p>
                <a:r>
                  <a:rPr lang="en-IN" b="1" dirty="0"/>
                  <a:t> 1. Reconstruction Loss</a:t>
                </a:r>
              </a:p>
              <a:p>
                <a:r>
                  <a:rPr lang="en-IN" dirty="0"/>
                  <a:t>Measures reconstruction accuracy.</a:t>
                </a:r>
              </a:p>
              <a:p>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𝐿</m:t>
                        </m:r>
                      </m:e>
                      <m:sub>
                        <m:r>
                          <a:rPr lang="ar-AE" i="1">
                            <a:latin typeface="Cambria Math" panose="02040503050406030204" pitchFamily="18" charset="0"/>
                          </a:rPr>
                          <m:t>𝑟𝑒𝑐</m:t>
                        </m:r>
                      </m:sub>
                    </m:sSub>
                    <m:r>
                      <a:rPr lang="ar-AE">
                        <a:latin typeface="Cambria Math" panose="02040503050406030204" pitchFamily="18" charset="0"/>
                      </a:rPr>
                      <m:t>=∣∣</m:t>
                    </m:r>
                    <m:r>
                      <a:rPr lang="ar-AE" i="1">
                        <a:latin typeface="Cambria Math" panose="02040503050406030204" pitchFamily="18" charset="0"/>
                      </a:rPr>
                      <m:t>𝑥</m:t>
                    </m:r>
                    <m:r>
                      <a:rPr lang="ar-AE">
                        <a:latin typeface="Cambria Math" panose="02040503050406030204" pitchFamily="18" charset="0"/>
                      </a:rPr>
                      <m:t>−</m:t>
                    </m:r>
                    <m:acc>
                      <m:accPr>
                        <m:chr m:val="̂"/>
                        <m:ctrlPr>
                          <a:rPr lang="ar-AE" i="1">
                            <a:latin typeface="Cambria Math" panose="02040503050406030204" pitchFamily="18" charset="0"/>
                          </a:rPr>
                        </m:ctrlPr>
                      </m:accPr>
                      <m:e>
                        <m:r>
                          <a:rPr lang="ar-AE" i="1">
                            <a:latin typeface="Cambria Math" panose="02040503050406030204" pitchFamily="18" charset="0"/>
                          </a:rPr>
                          <m:t>𝑥</m:t>
                        </m:r>
                      </m:e>
                    </m:acc>
                    <m:r>
                      <a:rPr lang="ar-AE">
                        <a:latin typeface="Cambria Math" panose="02040503050406030204" pitchFamily="18" charset="0"/>
                      </a:rPr>
                      <m:t>∣</m:t>
                    </m:r>
                    <m:sSup>
                      <m:sSupPr>
                        <m:ctrlPr>
                          <a:rPr lang="ar-AE" i="1">
                            <a:latin typeface="Cambria Math" panose="02040503050406030204" pitchFamily="18" charset="0"/>
                          </a:rPr>
                        </m:ctrlPr>
                      </m:sSupPr>
                      <m:e>
                        <m:r>
                          <a:rPr lang="ar-AE">
                            <a:latin typeface="Cambria Math" panose="02040503050406030204" pitchFamily="18" charset="0"/>
                          </a:rPr>
                          <m:t>∣</m:t>
                        </m:r>
                      </m:e>
                      <m:sup>
                        <m:r>
                          <a:rPr lang="ar-AE">
                            <a:latin typeface="Cambria Math" panose="02040503050406030204" pitchFamily="18" charset="0"/>
                          </a:rPr>
                          <m:t>2</m:t>
                        </m:r>
                      </m:sup>
                    </m:sSup>
                  </m:oMath>
                </a14:m>
                <a:endParaRPr lang="ar-AE" dirty="0"/>
              </a:p>
              <a:p>
                <a:r>
                  <a:rPr lang="en-IN" b="1" dirty="0"/>
                  <a:t>2. KL Divergence Loss</a:t>
                </a:r>
              </a:p>
              <a:p>
                <a:r>
                  <a:rPr lang="en-IN" dirty="0"/>
                  <a:t>Ensures latent distribution matches standard normal.</a:t>
                </a:r>
              </a:p>
              <a:p>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𝐿</m:t>
                        </m:r>
                      </m:e>
                      <m:sub>
                        <m:r>
                          <a:rPr lang="ar-AE" i="1">
                            <a:latin typeface="Cambria Math" panose="02040503050406030204" pitchFamily="18" charset="0"/>
                          </a:rPr>
                          <m:t>𝐾𝐿</m:t>
                        </m:r>
                      </m:sub>
                    </m:sSub>
                    <m:r>
                      <a:rPr lang="ar-AE">
                        <a:latin typeface="Cambria Math" panose="02040503050406030204" pitchFamily="18" charset="0"/>
                      </a:rPr>
                      <m:t>=</m:t>
                    </m:r>
                    <m:f>
                      <m:fPr>
                        <m:ctrlPr>
                          <a:rPr lang="ar-AE" i="1">
                            <a:latin typeface="Cambria Math" panose="02040503050406030204" pitchFamily="18" charset="0"/>
                          </a:rPr>
                        </m:ctrlPr>
                      </m:fPr>
                      <m:num>
                        <m:r>
                          <a:rPr lang="ar-AE">
                            <a:latin typeface="Cambria Math" panose="02040503050406030204" pitchFamily="18" charset="0"/>
                          </a:rPr>
                          <m:t>1</m:t>
                        </m:r>
                      </m:num>
                      <m:den>
                        <m:r>
                          <a:rPr lang="ar-AE">
                            <a:latin typeface="Cambria Math" panose="02040503050406030204" pitchFamily="18" charset="0"/>
                          </a:rPr>
                          <m:t>2</m:t>
                        </m:r>
                      </m:den>
                    </m:f>
                    <m:nary>
                      <m:naryPr>
                        <m:chr m:val="∑"/>
                        <m:grow m:val="on"/>
                        <m:subHide m:val="on"/>
                        <m:supHide m:val="on"/>
                        <m:ctrlPr>
                          <a:rPr lang="ar-AE" i="1">
                            <a:latin typeface="Cambria Math" panose="02040503050406030204" pitchFamily="18" charset="0"/>
                          </a:rPr>
                        </m:ctrlPr>
                      </m:naryPr>
                      <m:sub/>
                      <m:sup/>
                      <m:e>
                        <m:r>
                          <a:rPr lang="ar-AE">
                            <a:latin typeface="Cambria Math" panose="02040503050406030204" pitchFamily="18" charset="0"/>
                          </a:rPr>
                          <m:t>(</m:t>
                        </m:r>
                      </m:e>
                    </m:nary>
                    <m:d>
                      <m:dPr>
                        <m:begChr m:val=""/>
                        <m:ctrlPr>
                          <a:rPr lang="ar-AE" i="1">
                            <a:latin typeface="Cambria Math" panose="02040503050406030204" pitchFamily="18" charset="0"/>
                          </a:rPr>
                        </m:ctrlPr>
                      </m:dPr>
                      <m:e>
                        <m:sSup>
                          <m:sSupPr>
                            <m:ctrlPr>
                              <a:rPr lang="ar-AE" i="1">
                                <a:latin typeface="Cambria Math" panose="02040503050406030204" pitchFamily="18" charset="0"/>
                              </a:rPr>
                            </m:ctrlPr>
                          </m:sSupPr>
                          <m:e>
                            <m:r>
                              <a:rPr lang="ar-AE" i="1">
                                <a:latin typeface="Cambria Math" panose="02040503050406030204" pitchFamily="18" charset="0"/>
                              </a:rPr>
                              <m:t>𝜇</m:t>
                            </m:r>
                          </m:e>
                          <m:sup>
                            <m:r>
                              <a:rPr lang="ar-AE">
                                <a:latin typeface="Cambria Math" panose="02040503050406030204" pitchFamily="18" charset="0"/>
                              </a:rPr>
                              <m:t>2</m:t>
                            </m:r>
                          </m:sup>
                        </m:sSup>
                        <m:r>
                          <a:rPr lang="ar-AE">
                            <a:latin typeface="Cambria Math" panose="02040503050406030204" pitchFamily="18" charset="0"/>
                          </a:rPr>
                          <m:t>+</m:t>
                        </m:r>
                        <m:sSup>
                          <m:sSupPr>
                            <m:ctrlPr>
                              <a:rPr lang="ar-AE" i="1">
                                <a:latin typeface="Cambria Math" panose="02040503050406030204" pitchFamily="18" charset="0"/>
                              </a:rPr>
                            </m:ctrlPr>
                          </m:sSupPr>
                          <m:e>
                            <m:r>
                              <a:rPr lang="ar-AE" i="1">
                                <a:latin typeface="Cambria Math" panose="02040503050406030204" pitchFamily="18" charset="0"/>
                              </a:rPr>
                              <m:t>𝜎</m:t>
                            </m:r>
                          </m:e>
                          <m:sup>
                            <m:r>
                              <a:rPr lang="ar-AE">
                                <a:latin typeface="Cambria Math" panose="02040503050406030204" pitchFamily="18" charset="0"/>
                              </a:rPr>
                              <m:t>2</m:t>
                            </m:r>
                          </m:sup>
                        </m:sSup>
                        <m:r>
                          <a:rPr lang="ar-AE">
                            <a:latin typeface="Cambria Math" panose="02040503050406030204" pitchFamily="18" charset="0"/>
                          </a:rPr>
                          <m:t>−</m:t>
                        </m:r>
                        <m:func>
                          <m:funcPr>
                            <m:ctrlPr>
                              <a:rPr lang="ar-AE" i="1">
                                <a:latin typeface="Cambria Math" panose="02040503050406030204" pitchFamily="18" charset="0"/>
                              </a:rPr>
                            </m:ctrlPr>
                          </m:funcPr>
                          <m:fName>
                            <m:r>
                              <m:rPr>
                                <m:sty m:val="p"/>
                              </m:rPr>
                              <a:rPr lang="en-IN">
                                <a:latin typeface="Cambria Math" panose="02040503050406030204" pitchFamily="18" charset="0"/>
                              </a:rPr>
                              <m:t>ln</m:t>
                            </m:r>
                          </m:fName>
                          <m:e>
                            <m:sSup>
                              <m:sSupPr>
                                <m:ctrlPr>
                                  <a:rPr lang="ar-AE" i="1">
                                    <a:latin typeface="Cambria Math" panose="02040503050406030204" pitchFamily="18" charset="0"/>
                                  </a:rPr>
                                </m:ctrlPr>
                              </m:sSupPr>
                              <m:e>
                                <m:r>
                                  <a:rPr lang="ar-AE" i="1">
                                    <a:latin typeface="Cambria Math" panose="02040503050406030204" pitchFamily="18" charset="0"/>
                                  </a:rPr>
                                  <m:t>𝜎</m:t>
                                </m:r>
                              </m:e>
                              <m:sup>
                                <m:r>
                                  <a:rPr lang="ar-AE">
                                    <a:latin typeface="Cambria Math" panose="02040503050406030204" pitchFamily="18" charset="0"/>
                                  </a:rPr>
                                  <m:t>2</m:t>
                                </m:r>
                              </m:sup>
                            </m:sSup>
                          </m:e>
                        </m:func>
                        <m:r>
                          <a:rPr lang="ar-AE">
                            <a:latin typeface="Cambria Math" panose="02040503050406030204" pitchFamily="18" charset="0"/>
                          </a:rPr>
                          <m:t>−</m:t>
                        </m:r>
                        <m:r>
                          <a:rPr lang="ar-AE">
                            <a:latin typeface="Cambria Math" panose="02040503050406030204" pitchFamily="18" charset="0"/>
                          </a:rPr>
                          <m:t>1</m:t>
                        </m:r>
                      </m:e>
                    </m:d>
                  </m:oMath>
                </a14:m>
                <a:endParaRPr lang="ar-AE" dirty="0"/>
              </a:p>
              <a:p>
                <a:r>
                  <a:rPr lang="en-IN" b="1" dirty="0"/>
                  <a:t> Total Loss</a:t>
                </a:r>
              </a:p>
              <a:p>
                <a14:m>
                  <m:oMath xmlns:m="http://schemas.openxmlformats.org/officeDocument/2006/math">
                    <m:r>
                      <a:rPr lang="en-IN" i="1">
                        <a:latin typeface="Cambria Math" panose="02040503050406030204" pitchFamily="18" charset="0"/>
                      </a:rPr>
                      <m:t>𝐿</m:t>
                    </m:r>
                    <m:r>
                      <a:rPr lang="en-IN">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𝐿</m:t>
                        </m:r>
                      </m:e>
                      <m:sub>
                        <m:r>
                          <a:rPr lang="ar-AE" i="1">
                            <a:latin typeface="Cambria Math" panose="02040503050406030204" pitchFamily="18" charset="0"/>
                          </a:rPr>
                          <m:t>𝑟𝑒𝑐</m:t>
                        </m:r>
                      </m:sub>
                    </m:sSub>
                    <m:r>
                      <a:rPr lang="ar-AE">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𝐿</m:t>
                        </m:r>
                      </m:e>
                      <m:sub>
                        <m:r>
                          <a:rPr lang="ar-AE" i="1">
                            <a:latin typeface="Cambria Math" panose="02040503050406030204" pitchFamily="18" charset="0"/>
                          </a:rPr>
                          <m:t>𝐾𝐿</m:t>
                        </m:r>
                      </m:sub>
                    </m:sSub>
                  </m:oMath>
                </a14:m>
                <a:endParaRPr lang="ar-AE" dirty="0"/>
              </a:p>
              <a:p>
                <a:endParaRPr lang="en-IN" dirty="0"/>
              </a:p>
            </p:txBody>
          </p:sp>
        </mc:Choice>
        <mc:Fallback xmlns="">
          <p:sp>
            <p:nvSpPr>
              <p:cNvPr id="3" name="Content Placeholder 2">
                <a:extLst>
                  <a:ext uri="{FF2B5EF4-FFF2-40B4-BE49-F238E27FC236}">
                    <a16:creationId xmlns:a16="http://schemas.microsoft.com/office/drawing/2014/main" id="{CB4989D6-A39B-D90B-6092-AE81F66DB8B0}"/>
                  </a:ext>
                </a:extLst>
              </p:cNvPr>
              <p:cNvSpPr>
                <a:spLocks noGrp="1" noRot="1" noChangeAspect="1" noMove="1" noResize="1" noEditPoints="1" noAdjustHandles="1" noChangeArrowheads="1" noChangeShapeType="1" noTextEdit="1"/>
              </p:cNvSpPr>
              <p:nvPr>
                <p:ph idx="1"/>
              </p:nvPr>
            </p:nvSpPr>
            <p:spPr>
              <a:xfrm>
                <a:off x="863600" y="1422400"/>
                <a:ext cx="10363517" cy="4703870"/>
              </a:xfrm>
              <a:blipFill>
                <a:blip r:embed="rId2"/>
                <a:stretch>
                  <a:fillRect l="-1588" t="-2073" b="-389"/>
                </a:stretch>
              </a:blipFill>
            </p:spPr>
            <p:txBody>
              <a:bodyPr/>
              <a:lstStyle/>
              <a:p>
                <a:r>
                  <a:rPr lang="en-IN">
                    <a:noFill/>
                  </a:rPr>
                  <a:t> </a:t>
                </a:r>
              </a:p>
            </p:txBody>
          </p:sp>
        </mc:Fallback>
      </mc:AlternateContent>
    </p:spTree>
    <p:extLst>
      <p:ext uri="{BB962C8B-B14F-4D97-AF65-F5344CB8AC3E}">
        <p14:creationId xmlns:p14="http://schemas.microsoft.com/office/powerpoint/2010/main" val="319568476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AEDC52-3C8A-852F-D639-65B2B5177C35}"/>
              </a:ext>
            </a:extLst>
          </p:cNvPr>
          <p:cNvSpPr>
            <a:spLocks noGrp="1"/>
          </p:cNvSpPr>
          <p:nvPr>
            <p:ph type="title"/>
          </p:nvPr>
        </p:nvSpPr>
        <p:spPr/>
        <p:txBody>
          <a:bodyPr>
            <a:normAutofit fontScale="90000"/>
          </a:bodyPr>
          <a:lstStyle/>
          <a:p>
            <a:endParaRPr lang="en-IN"/>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6AD6BF2-5741-52CC-4E99-7BF1968BF6E1}"/>
                  </a:ext>
                </a:extLst>
              </p:cNvPr>
              <p:cNvSpPr>
                <a:spLocks noGrp="1"/>
              </p:cNvSpPr>
              <p:nvPr>
                <p:ph idx="1"/>
              </p:nvPr>
            </p:nvSpPr>
            <p:spPr>
              <a:xfrm>
                <a:off x="934720" y="1259840"/>
                <a:ext cx="5079999" cy="4866430"/>
              </a:xfrm>
            </p:spPr>
            <p:txBody>
              <a:bodyPr>
                <a:noAutofit/>
              </a:bodyPr>
              <a:lstStyle/>
              <a:p>
                <a:pPr>
                  <a:lnSpc>
                    <a:spcPct val="120000"/>
                  </a:lnSpc>
                  <a:spcBef>
                    <a:spcPts val="0"/>
                  </a:spcBef>
                  <a:spcAft>
                    <a:spcPts val="0"/>
                  </a:spcAft>
                </a:pPr>
                <a:r>
                  <a:rPr lang="en-IN" sz="2000" b="1" dirty="0"/>
                  <a:t>Input</a:t>
                </a:r>
              </a:p>
              <a:p>
                <a:pPr>
                  <a:lnSpc>
                    <a:spcPct val="120000"/>
                  </a:lnSpc>
                  <a:spcBef>
                    <a:spcPts val="0"/>
                  </a:spcBef>
                  <a:spcAft>
                    <a:spcPts val="0"/>
                  </a:spcAft>
                </a:pPr>
                <a14:m>
                  <m:oMath xmlns:m="http://schemas.openxmlformats.org/officeDocument/2006/math">
                    <m:r>
                      <a:rPr lang="en-IN" sz="2000" i="1">
                        <a:latin typeface="Cambria Math" panose="02040503050406030204" pitchFamily="18" charset="0"/>
                      </a:rPr>
                      <m:t>𝑥</m:t>
                    </m:r>
                    <m:r>
                      <a:rPr lang="en-IN" sz="2000">
                        <a:latin typeface="Cambria Math" panose="02040503050406030204" pitchFamily="18" charset="0"/>
                      </a:rPr>
                      <m:t>=</m:t>
                    </m:r>
                    <m:d>
                      <m:dPr>
                        <m:begChr m:val="["/>
                        <m:endChr m:val="]"/>
                        <m:sepChr m:val=","/>
                        <m:ctrlPr>
                          <a:rPr lang="ar-AE" sz="2000" i="1">
                            <a:latin typeface="Cambria Math" panose="02040503050406030204" pitchFamily="18" charset="0"/>
                          </a:rPr>
                        </m:ctrlPr>
                      </m:dPr>
                      <m:e>
                        <m:r>
                          <a:rPr lang="ar-AE" sz="2000">
                            <a:latin typeface="Cambria Math" panose="02040503050406030204" pitchFamily="18" charset="0"/>
                          </a:rPr>
                          <m:t>1</m:t>
                        </m:r>
                      </m:e>
                      <m:e>
                        <m:r>
                          <m:rPr>
                            <m:nor/>
                          </m:rPr>
                          <a:rPr lang="ar-AE" sz="2000" i="1"/>
                          <m:t>  </m:t>
                        </m:r>
                        <m:r>
                          <a:rPr lang="ar-AE" sz="2000">
                            <a:latin typeface="Cambria Math" panose="02040503050406030204" pitchFamily="18" charset="0"/>
                          </a:rPr>
                          <m:t>0</m:t>
                        </m:r>
                      </m:e>
                    </m:d>
                  </m:oMath>
                </a14:m>
                <a:endParaRPr lang="ar-AE" sz="2000" b="0" dirty="0"/>
              </a:p>
              <a:p>
                <a:pPr>
                  <a:lnSpc>
                    <a:spcPct val="120000"/>
                  </a:lnSpc>
                  <a:spcBef>
                    <a:spcPts val="0"/>
                  </a:spcBef>
                  <a:spcAft>
                    <a:spcPts val="0"/>
                  </a:spcAft>
                </a:pPr>
                <a:r>
                  <a:rPr lang="en-IN" sz="2000" dirty="0"/>
                  <a:t>Latent dimension = 1</a:t>
                </a:r>
              </a:p>
              <a:p>
                <a:pPr>
                  <a:lnSpc>
                    <a:spcPct val="120000"/>
                  </a:lnSpc>
                  <a:spcBef>
                    <a:spcPts val="0"/>
                  </a:spcBef>
                  <a:spcAft>
                    <a:spcPts val="0"/>
                  </a:spcAft>
                </a:pPr>
                <a:r>
                  <a:rPr lang="en-IN" sz="2000" b="1" dirty="0"/>
                  <a:t> STEP 1: Encoder Outputs </a:t>
                </a:r>
                <a:r>
                  <a:rPr lang="el-GR" sz="2000" b="1" dirty="0"/>
                  <a:t>μ </a:t>
                </a:r>
                <a:r>
                  <a:rPr lang="en-IN" sz="2000" b="1" dirty="0"/>
                  <a:t>and </a:t>
                </a:r>
                <a:r>
                  <a:rPr lang="el-GR" sz="2000" b="1" dirty="0"/>
                  <a:t>σ</a:t>
                </a:r>
              </a:p>
              <a:p>
                <a:pPr>
                  <a:lnSpc>
                    <a:spcPct val="120000"/>
                  </a:lnSpc>
                  <a:spcBef>
                    <a:spcPts val="0"/>
                  </a:spcBef>
                  <a:spcAft>
                    <a:spcPts val="0"/>
                  </a:spcAft>
                </a:pPr>
                <a:r>
                  <a:rPr lang="en-IN" sz="2000" dirty="0"/>
                  <a:t>Assume network produces:</a:t>
                </a:r>
              </a:p>
              <a:p>
                <a:pPr>
                  <a:lnSpc>
                    <a:spcPct val="120000"/>
                  </a:lnSpc>
                  <a:spcBef>
                    <a:spcPts val="0"/>
                  </a:spcBef>
                  <a:spcAft>
                    <a:spcPts val="0"/>
                  </a:spcAft>
                </a:pPr>
                <a14:m>
                  <m:oMath xmlns:m="http://schemas.openxmlformats.org/officeDocument/2006/math">
                    <m:r>
                      <a:rPr lang="en-IN" sz="2000" i="1">
                        <a:latin typeface="Cambria Math" panose="02040503050406030204" pitchFamily="18" charset="0"/>
                      </a:rPr>
                      <m:t>𝜇</m:t>
                    </m:r>
                    <m:r>
                      <a:rPr lang="en-IN" sz="2000">
                        <a:latin typeface="Cambria Math" panose="02040503050406030204" pitchFamily="18" charset="0"/>
                      </a:rPr>
                      <m:t>=</m:t>
                    </m:r>
                    <m:r>
                      <a:rPr lang="en-IN" sz="2000">
                        <a:latin typeface="Cambria Math" panose="02040503050406030204" pitchFamily="18" charset="0"/>
                      </a:rPr>
                      <m:t>0</m:t>
                    </m:r>
                    <m:r>
                      <a:rPr lang="en-IN" sz="2000">
                        <a:latin typeface="Cambria Math" panose="02040503050406030204" pitchFamily="18" charset="0"/>
                      </a:rPr>
                      <m:t>.</m:t>
                    </m:r>
                    <m:r>
                      <a:rPr lang="en-IN" sz="2000">
                        <a:latin typeface="Cambria Math" panose="02040503050406030204" pitchFamily="18" charset="0"/>
                      </a:rPr>
                      <m:t>6</m:t>
                    </m:r>
                  </m:oMath>
                </a14:m>
                <a:endParaRPr lang="en-IN" sz="2000" dirty="0"/>
              </a:p>
              <a:p>
                <a:pPr>
                  <a:lnSpc>
                    <a:spcPct val="120000"/>
                  </a:lnSpc>
                  <a:spcBef>
                    <a:spcPts val="0"/>
                  </a:spcBef>
                  <a:spcAft>
                    <a:spcPts val="0"/>
                  </a:spcAft>
                </a:pPr>
                <a14:m>
                  <m:oMath xmlns:m="http://schemas.openxmlformats.org/officeDocument/2006/math">
                    <m:r>
                      <a:rPr lang="en-IN" sz="2000" i="1">
                        <a:latin typeface="Cambria Math" panose="02040503050406030204" pitchFamily="18" charset="0"/>
                      </a:rPr>
                      <m:t>𝜎</m:t>
                    </m:r>
                    <m:r>
                      <a:rPr lang="en-IN" sz="2000">
                        <a:latin typeface="Cambria Math" panose="02040503050406030204" pitchFamily="18" charset="0"/>
                      </a:rPr>
                      <m:t>=</m:t>
                    </m:r>
                    <m:r>
                      <a:rPr lang="en-IN" sz="2000">
                        <a:latin typeface="Cambria Math" panose="02040503050406030204" pitchFamily="18" charset="0"/>
                      </a:rPr>
                      <m:t>0</m:t>
                    </m:r>
                    <m:r>
                      <a:rPr lang="en-IN" sz="2000">
                        <a:latin typeface="Cambria Math" panose="02040503050406030204" pitchFamily="18" charset="0"/>
                      </a:rPr>
                      <m:t>.</m:t>
                    </m:r>
                    <m:r>
                      <a:rPr lang="en-IN" sz="2000">
                        <a:latin typeface="Cambria Math" panose="02040503050406030204" pitchFamily="18" charset="0"/>
                      </a:rPr>
                      <m:t>8</m:t>
                    </m:r>
                  </m:oMath>
                </a14:m>
                <a:endParaRPr lang="en-IN" sz="2000" dirty="0"/>
              </a:p>
              <a:p>
                <a:pPr>
                  <a:lnSpc>
                    <a:spcPct val="120000"/>
                  </a:lnSpc>
                  <a:spcBef>
                    <a:spcPts val="0"/>
                  </a:spcBef>
                  <a:spcAft>
                    <a:spcPts val="0"/>
                  </a:spcAft>
                </a:pPr>
                <a:r>
                  <a:rPr lang="en-IN" sz="2000" b="1" dirty="0"/>
                  <a:t> STEP 2: Sampling (Reparameterization Trick)</a:t>
                </a:r>
              </a:p>
              <a:p>
                <a:pPr>
                  <a:lnSpc>
                    <a:spcPct val="120000"/>
                  </a:lnSpc>
                  <a:spcBef>
                    <a:spcPts val="0"/>
                  </a:spcBef>
                  <a:spcAft>
                    <a:spcPts val="0"/>
                  </a:spcAft>
                </a:pPr>
                <a:r>
                  <a:rPr lang="en-IN" sz="2000" dirty="0"/>
                  <a:t>Sample:</a:t>
                </a:r>
              </a:p>
              <a:p>
                <a:pPr>
                  <a:lnSpc>
                    <a:spcPct val="120000"/>
                  </a:lnSpc>
                  <a:spcBef>
                    <a:spcPts val="0"/>
                  </a:spcBef>
                  <a:spcAft>
                    <a:spcPts val="0"/>
                  </a:spcAft>
                </a:pPr>
                <a14:m>
                  <m:oMath xmlns:m="http://schemas.openxmlformats.org/officeDocument/2006/math">
                    <m:r>
                      <a:rPr lang="en-IN" sz="2000" i="1">
                        <a:latin typeface="Cambria Math" panose="02040503050406030204" pitchFamily="18" charset="0"/>
                      </a:rPr>
                      <m:t>𝜖</m:t>
                    </m:r>
                    <m:r>
                      <a:rPr lang="en-IN" sz="2000">
                        <a:latin typeface="Cambria Math" panose="02040503050406030204" pitchFamily="18" charset="0"/>
                      </a:rPr>
                      <m:t>∼</m:t>
                    </m:r>
                    <m:r>
                      <a:rPr lang="en-IN" sz="2000" i="1">
                        <a:latin typeface="Cambria Math" panose="02040503050406030204" pitchFamily="18" charset="0"/>
                      </a:rPr>
                      <m:t>𝑁</m:t>
                    </m:r>
                    <m:d>
                      <m:dPr>
                        <m:sepChr m:val=","/>
                        <m:ctrlPr>
                          <a:rPr lang="ar-AE" sz="2000" i="1">
                            <a:latin typeface="Cambria Math" panose="02040503050406030204" pitchFamily="18" charset="0"/>
                          </a:rPr>
                        </m:ctrlPr>
                      </m:dPr>
                      <m:e>
                        <m:r>
                          <a:rPr lang="ar-AE" sz="2000">
                            <a:latin typeface="Cambria Math" panose="02040503050406030204" pitchFamily="18" charset="0"/>
                          </a:rPr>
                          <m:t>0</m:t>
                        </m:r>
                      </m:e>
                      <m:e>
                        <m:r>
                          <a:rPr lang="ar-AE" sz="2000">
                            <a:latin typeface="Cambria Math" panose="02040503050406030204" pitchFamily="18" charset="0"/>
                          </a:rPr>
                          <m:t>1</m:t>
                        </m:r>
                      </m:e>
                    </m:d>
                  </m:oMath>
                </a14:m>
                <a:endParaRPr lang="ar-AE" sz="2000" dirty="0"/>
              </a:p>
              <a:p>
                <a:pPr>
                  <a:lnSpc>
                    <a:spcPct val="120000"/>
                  </a:lnSpc>
                  <a:spcBef>
                    <a:spcPts val="0"/>
                  </a:spcBef>
                  <a:spcAft>
                    <a:spcPts val="0"/>
                  </a:spcAft>
                </a:pPr>
                <a:r>
                  <a:rPr lang="en-IN" sz="2000" dirty="0"/>
                  <a:t>Assume:</a:t>
                </a:r>
              </a:p>
              <a:p>
                <a:pPr>
                  <a:lnSpc>
                    <a:spcPct val="120000"/>
                  </a:lnSpc>
                  <a:spcBef>
                    <a:spcPts val="0"/>
                  </a:spcBef>
                  <a:spcAft>
                    <a:spcPts val="0"/>
                  </a:spcAft>
                </a:pPr>
                <a14:m>
                  <m:oMath xmlns:m="http://schemas.openxmlformats.org/officeDocument/2006/math">
                    <m:r>
                      <a:rPr lang="en-IN" sz="2000" i="1">
                        <a:latin typeface="Cambria Math" panose="02040503050406030204" pitchFamily="18" charset="0"/>
                      </a:rPr>
                      <m:t>𝜖</m:t>
                    </m:r>
                    <m:r>
                      <a:rPr lang="en-IN" sz="2000">
                        <a:latin typeface="Cambria Math" panose="02040503050406030204" pitchFamily="18" charset="0"/>
                      </a:rPr>
                      <m:t>=</m:t>
                    </m:r>
                    <m:r>
                      <a:rPr lang="en-IN" sz="2000">
                        <a:latin typeface="Cambria Math" panose="02040503050406030204" pitchFamily="18" charset="0"/>
                      </a:rPr>
                      <m:t>0</m:t>
                    </m:r>
                    <m:r>
                      <a:rPr lang="en-IN" sz="2000">
                        <a:latin typeface="Cambria Math" panose="02040503050406030204" pitchFamily="18" charset="0"/>
                      </a:rPr>
                      <m:t>.</m:t>
                    </m:r>
                    <m:r>
                      <a:rPr lang="en-IN" sz="2000">
                        <a:latin typeface="Cambria Math" panose="02040503050406030204" pitchFamily="18" charset="0"/>
                      </a:rPr>
                      <m:t>5</m:t>
                    </m:r>
                  </m:oMath>
                </a14:m>
                <a:endParaRPr lang="en-IN" sz="2000" dirty="0"/>
              </a:p>
              <a:p>
                <a:pPr>
                  <a:lnSpc>
                    <a:spcPct val="120000"/>
                  </a:lnSpc>
                  <a:spcBef>
                    <a:spcPts val="0"/>
                  </a:spcBef>
                  <a:spcAft>
                    <a:spcPts val="0"/>
                  </a:spcAft>
                </a:pPr>
                <a:endParaRPr lang="en-IN" sz="2000" dirty="0"/>
              </a:p>
            </p:txBody>
          </p:sp>
        </mc:Choice>
        <mc:Fallback xmlns="">
          <p:sp>
            <p:nvSpPr>
              <p:cNvPr id="3" name="Content Placeholder 2">
                <a:extLst>
                  <a:ext uri="{FF2B5EF4-FFF2-40B4-BE49-F238E27FC236}">
                    <a16:creationId xmlns:a16="http://schemas.microsoft.com/office/drawing/2014/main" id="{96AD6BF2-5741-52CC-4E99-7BF1968BF6E1}"/>
                  </a:ext>
                </a:extLst>
              </p:cNvPr>
              <p:cNvSpPr>
                <a:spLocks noGrp="1" noRot="1" noChangeAspect="1" noMove="1" noResize="1" noEditPoints="1" noAdjustHandles="1" noChangeArrowheads="1" noChangeShapeType="1" noTextEdit="1"/>
              </p:cNvSpPr>
              <p:nvPr>
                <p:ph idx="1"/>
              </p:nvPr>
            </p:nvSpPr>
            <p:spPr>
              <a:xfrm>
                <a:off x="934720" y="1259840"/>
                <a:ext cx="5079999" cy="4866430"/>
              </a:xfrm>
              <a:blipFill>
                <a:blip r:embed="rId2"/>
                <a:stretch>
                  <a:fillRect l="-2878" r="-263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 name="Content Placeholder 2">
                <a:extLst>
                  <a:ext uri="{FF2B5EF4-FFF2-40B4-BE49-F238E27FC236}">
                    <a16:creationId xmlns:a16="http://schemas.microsoft.com/office/drawing/2014/main" id="{036DDC89-ABC8-DCB2-5DBB-84F7ED09B590}"/>
                  </a:ext>
                </a:extLst>
              </p:cNvPr>
              <p:cNvSpPr txBox="1">
                <a:spLocks/>
              </p:cNvSpPr>
              <p:nvPr/>
            </p:nvSpPr>
            <p:spPr>
              <a:xfrm>
                <a:off x="6685281" y="1351280"/>
                <a:ext cx="4307840" cy="4866430"/>
              </a:xfrm>
              <a:prstGeom prst="rect">
                <a:avLst/>
              </a:prstGeom>
            </p:spPr>
            <p:txBody>
              <a:bodyPr vert="horz" lIns="0" tIns="45720" rIns="0" bIns="45720" rtlCol="0">
                <a:noAutofit/>
              </a:bodyPr>
              <a:lstStyle>
                <a:lvl1pPr marL="361950" indent="-361950" algn="l" defTabSz="914400" rtl="0" eaLnBrk="1" latinLnBrk="0" hangingPunct="1">
                  <a:lnSpc>
                    <a:spcPct val="90000"/>
                  </a:lnSpc>
                  <a:spcBef>
                    <a:spcPts val="1200"/>
                  </a:spcBef>
                  <a:spcAft>
                    <a:spcPts val="200"/>
                  </a:spcAft>
                  <a:buClr>
                    <a:schemeClr val="accent1"/>
                  </a:buClr>
                  <a:buSzPct val="100000"/>
                  <a:buFont typeface="Arial" panose="020B0604020202020204" pitchFamily="34" charset="0"/>
                  <a:buChar char="•"/>
                  <a:defRPr sz="2400" kern="1200">
                    <a:solidFill>
                      <a:schemeClr val="tx1"/>
                    </a:solidFill>
                    <a:latin typeface="+mn-lt"/>
                    <a:ea typeface="+mn-ea"/>
                    <a:cs typeface="+mn-cs"/>
                  </a:defRPr>
                </a:lvl1pPr>
                <a:lvl2pPr marL="542925" indent="-3429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2400" kern="1200">
                    <a:solidFill>
                      <a:schemeClr val="tx1"/>
                    </a:solidFill>
                    <a:latin typeface="+mn-lt"/>
                    <a:ea typeface="+mn-ea"/>
                    <a:cs typeface="+mn-cs"/>
                  </a:defRPr>
                </a:lvl2pPr>
                <a:lvl3pPr marL="714375" indent="-330200" algn="l" defTabSz="914400" rtl="0" eaLnBrk="1" latinLnBrk="0" hangingPunct="1">
                  <a:lnSpc>
                    <a:spcPct val="90000"/>
                  </a:lnSpc>
                  <a:spcBef>
                    <a:spcPts val="200"/>
                  </a:spcBef>
                  <a:spcAft>
                    <a:spcPts val="400"/>
                  </a:spcAft>
                  <a:buClr>
                    <a:schemeClr val="accent1"/>
                  </a:buClr>
                  <a:buFont typeface="Arial" panose="020B0604020202020204" pitchFamily="34" charset="0"/>
                  <a:buChar char="•"/>
                  <a:tabLst>
                    <a:tab pos="714375" algn="l"/>
                  </a:tabLst>
                  <a:defRPr sz="2400" kern="1200">
                    <a:solidFill>
                      <a:schemeClr val="tx1"/>
                    </a:solidFill>
                    <a:latin typeface="+mn-lt"/>
                    <a:ea typeface="+mn-ea"/>
                    <a:cs typeface="+mn-cs"/>
                  </a:defRPr>
                </a:lvl3pPr>
                <a:lvl4pPr marL="895350" indent="-2667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2400" kern="1200">
                    <a:solidFill>
                      <a:schemeClr val="tx1"/>
                    </a:solidFill>
                    <a:latin typeface="+mn-lt"/>
                    <a:ea typeface="+mn-ea"/>
                    <a:cs typeface="+mn-cs"/>
                  </a:defRPr>
                </a:lvl4pPr>
                <a:lvl5pPr marL="1162050" indent="-352425"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2400" kern="1200">
                    <a:solidFill>
                      <a:schemeClr val="tx1"/>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nSpc>
                    <a:spcPct val="120000"/>
                  </a:lnSpc>
                  <a:spcBef>
                    <a:spcPts val="0"/>
                  </a:spcBef>
                  <a:spcAft>
                    <a:spcPts val="0"/>
                  </a:spcAft>
                </a:pPr>
                <a:r>
                  <a:rPr lang="en-IN" sz="2000" b="1" dirty="0"/>
                  <a:t>Compute latent variable</a:t>
                </a:r>
              </a:p>
              <a:p>
                <a:pPr>
                  <a:lnSpc>
                    <a:spcPct val="120000"/>
                  </a:lnSpc>
                  <a:spcBef>
                    <a:spcPts val="0"/>
                  </a:spcBef>
                  <a:spcAft>
                    <a:spcPts val="0"/>
                  </a:spcAft>
                </a:pPr>
                <a14:m>
                  <m:oMath xmlns:m="http://schemas.openxmlformats.org/officeDocument/2006/math">
                    <m:r>
                      <a:rPr lang="en-IN" sz="2000" i="1">
                        <a:latin typeface="Cambria Math" panose="02040503050406030204" pitchFamily="18" charset="0"/>
                      </a:rPr>
                      <m:t>𝑧</m:t>
                    </m:r>
                    <m:r>
                      <a:rPr lang="en-IN" sz="2000">
                        <a:latin typeface="Cambria Math" panose="02040503050406030204" pitchFamily="18" charset="0"/>
                      </a:rPr>
                      <m:t>=</m:t>
                    </m:r>
                    <m:r>
                      <a:rPr lang="en-IN" sz="2000" i="1">
                        <a:latin typeface="Cambria Math" panose="02040503050406030204" pitchFamily="18" charset="0"/>
                      </a:rPr>
                      <m:t>𝜇</m:t>
                    </m:r>
                    <m:r>
                      <a:rPr lang="en-IN" sz="2000">
                        <a:latin typeface="Cambria Math" panose="02040503050406030204" pitchFamily="18" charset="0"/>
                      </a:rPr>
                      <m:t>+</m:t>
                    </m:r>
                    <m:r>
                      <a:rPr lang="en-IN" sz="2000" i="1">
                        <a:latin typeface="Cambria Math" panose="02040503050406030204" pitchFamily="18" charset="0"/>
                      </a:rPr>
                      <m:t>𝜎𝜖</m:t>
                    </m:r>
                  </m:oMath>
                </a14:m>
                <a:endParaRPr lang="en-IN" sz="2000" dirty="0"/>
              </a:p>
              <a:p>
                <a:pPr>
                  <a:lnSpc>
                    <a:spcPct val="120000"/>
                  </a:lnSpc>
                  <a:spcBef>
                    <a:spcPts val="0"/>
                  </a:spcBef>
                  <a:spcAft>
                    <a:spcPts val="0"/>
                  </a:spcAft>
                </a:pPr>
                <a14:m>
                  <m:oMath xmlns:m="http://schemas.openxmlformats.org/officeDocument/2006/math">
                    <m:r>
                      <a:rPr lang="en-IN" sz="2000" i="1">
                        <a:latin typeface="Cambria Math" panose="02040503050406030204" pitchFamily="18" charset="0"/>
                      </a:rPr>
                      <m:t>𝑧</m:t>
                    </m:r>
                    <m:r>
                      <a:rPr lang="en-IN" sz="2000">
                        <a:latin typeface="Cambria Math" panose="02040503050406030204" pitchFamily="18" charset="0"/>
                      </a:rPr>
                      <m:t>=</m:t>
                    </m:r>
                    <m:r>
                      <a:rPr lang="en-IN" sz="2000">
                        <a:latin typeface="Cambria Math" panose="02040503050406030204" pitchFamily="18" charset="0"/>
                      </a:rPr>
                      <m:t>0</m:t>
                    </m:r>
                    <m:r>
                      <a:rPr lang="en-IN" sz="2000">
                        <a:latin typeface="Cambria Math" panose="02040503050406030204" pitchFamily="18" charset="0"/>
                      </a:rPr>
                      <m:t>.</m:t>
                    </m:r>
                    <m:r>
                      <a:rPr lang="en-IN" sz="2000">
                        <a:latin typeface="Cambria Math" panose="02040503050406030204" pitchFamily="18" charset="0"/>
                      </a:rPr>
                      <m:t>6</m:t>
                    </m:r>
                    <m:r>
                      <a:rPr lang="en-IN" sz="2000">
                        <a:latin typeface="Cambria Math" panose="02040503050406030204" pitchFamily="18" charset="0"/>
                      </a:rPr>
                      <m:t>+</m:t>
                    </m:r>
                    <m:r>
                      <a:rPr lang="en-IN" sz="2000">
                        <a:latin typeface="Cambria Math" panose="02040503050406030204" pitchFamily="18" charset="0"/>
                      </a:rPr>
                      <m:t>0</m:t>
                    </m:r>
                    <m:r>
                      <a:rPr lang="en-IN" sz="2000">
                        <a:latin typeface="Cambria Math" panose="02040503050406030204" pitchFamily="18" charset="0"/>
                      </a:rPr>
                      <m:t>.</m:t>
                    </m:r>
                    <m:r>
                      <a:rPr lang="en-IN" sz="2000">
                        <a:latin typeface="Cambria Math" panose="02040503050406030204" pitchFamily="18" charset="0"/>
                      </a:rPr>
                      <m:t>8</m:t>
                    </m:r>
                    <m:d>
                      <m:dPr>
                        <m:ctrlPr>
                          <a:rPr lang="ar-AE" sz="2000" i="1">
                            <a:latin typeface="Cambria Math" panose="02040503050406030204" pitchFamily="18" charset="0"/>
                          </a:rPr>
                        </m:ctrlPr>
                      </m:dPr>
                      <m:e>
                        <m:r>
                          <a:rPr lang="ar-AE" sz="2000">
                            <a:latin typeface="Cambria Math" panose="02040503050406030204" pitchFamily="18" charset="0"/>
                          </a:rPr>
                          <m:t>0</m:t>
                        </m:r>
                        <m:r>
                          <a:rPr lang="ar-AE" sz="2000">
                            <a:latin typeface="Cambria Math" panose="02040503050406030204" pitchFamily="18" charset="0"/>
                          </a:rPr>
                          <m:t>.</m:t>
                        </m:r>
                        <m:r>
                          <a:rPr lang="ar-AE" sz="2000">
                            <a:latin typeface="Cambria Math" panose="02040503050406030204" pitchFamily="18" charset="0"/>
                          </a:rPr>
                          <m:t>5</m:t>
                        </m:r>
                      </m:e>
                    </m:d>
                  </m:oMath>
                </a14:m>
                <a:endParaRPr lang="ar-AE" sz="2000" dirty="0"/>
              </a:p>
              <a:p>
                <a:pPr>
                  <a:lnSpc>
                    <a:spcPct val="120000"/>
                  </a:lnSpc>
                  <a:spcBef>
                    <a:spcPts val="0"/>
                  </a:spcBef>
                  <a:spcAft>
                    <a:spcPts val="0"/>
                  </a:spcAft>
                </a:pPr>
                <a14:m>
                  <m:oMath xmlns:m="http://schemas.openxmlformats.org/officeDocument/2006/math">
                    <m:r>
                      <a:rPr lang="ar-AE" sz="2000" i="1">
                        <a:latin typeface="Cambria Math" panose="02040503050406030204" pitchFamily="18" charset="0"/>
                      </a:rPr>
                      <m:t>𝑧</m:t>
                    </m:r>
                    <m:r>
                      <a:rPr lang="ar-AE" sz="2000">
                        <a:latin typeface="Cambria Math" panose="02040503050406030204" pitchFamily="18" charset="0"/>
                      </a:rPr>
                      <m:t>=</m:t>
                    </m:r>
                    <m:r>
                      <a:rPr lang="ar-AE" sz="2000">
                        <a:latin typeface="Cambria Math" panose="02040503050406030204" pitchFamily="18" charset="0"/>
                      </a:rPr>
                      <m:t>0</m:t>
                    </m:r>
                    <m:r>
                      <a:rPr lang="ar-AE" sz="2000">
                        <a:latin typeface="Cambria Math" panose="02040503050406030204" pitchFamily="18" charset="0"/>
                      </a:rPr>
                      <m:t>.</m:t>
                    </m:r>
                    <m:r>
                      <a:rPr lang="ar-AE" sz="2000">
                        <a:latin typeface="Cambria Math" panose="02040503050406030204" pitchFamily="18" charset="0"/>
                      </a:rPr>
                      <m:t>6</m:t>
                    </m:r>
                    <m:r>
                      <a:rPr lang="ar-AE" sz="2000">
                        <a:latin typeface="Cambria Math" panose="02040503050406030204" pitchFamily="18" charset="0"/>
                      </a:rPr>
                      <m:t>+</m:t>
                    </m:r>
                    <m:r>
                      <a:rPr lang="ar-AE" sz="2000">
                        <a:latin typeface="Cambria Math" panose="02040503050406030204" pitchFamily="18" charset="0"/>
                      </a:rPr>
                      <m:t>0</m:t>
                    </m:r>
                    <m:r>
                      <a:rPr lang="ar-AE" sz="2000">
                        <a:latin typeface="Cambria Math" panose="02040503050406030204" pitchFamily="18" charset="0"/>
                      </a:rPr>
                      <m:t>.</m:t>
                    </m:r>
                    <m:r>
                      <a:rPr lang="ar-AE" sz="2000">
                        <a:latin typeface="Cambria Math" panose="02040503050406030204" pitchFamily="18" charset="0"/>
                      </a:rPr>
                      <m:t>4</m:t>
                    </m:r>
                    <m:r>
                      <a:rPr lang="ar-AE" sz="2000">
                        <a:latin typeface="Cambria Math" panose="02040503050406030204" pitchFamily="18" charset="0"/>
                      </a:rPr>
                      <m:t>=</m:t>
                    </m:r>
                    <m:r>
                      <a:rPr lang="ar-AE" sz="2000">
                        <a:latin typeface="Cambria Math" panose="02040503050406030204" pitchFamily="18" charset="0"/>
                      </a:rPr>
                      <m:t>1</m:t>
                    </m:r>
                    <m:r>
                      <a:rPr lang="ar-AE" sz="2000">
                        <a:latin typeface="Cambria Math" panose="02040503050406030204" pitchFamily="18" charset="0"/>
                      </a:rPr>
                      <m:t>.</m:t>
                    </m:r>
                    <m:r>
                      <a:rPr lang="ar-AE" sz="2000">
                        <a:latin typeface="Cambria Math" panose="02040503050406030204" pitchFamily="18" charset="0"/>
                      </a:rPr>
                      <m:t>0</m:t>
                    </m:r>
                  </m:oMath>
                </a14:m>
                <a:endParaRPr lang="ar-AE" sz="2000" dirty="0"/>
              </a:p>
              <a:p>
                <a:pPr>
                  <a:lnSpc>
                    <a:spcPct val="120000"/>
                  </a:lnSpc>
                  <a:spcBef>
                    <a:spcPts val="0"/>
                  </a:spcBef>
                  <a:spcAft>
                    <a:spcPts val="0"/>
                  </a:spcAft>
                </a:pPr>
                <a:endParaRPr lang="ar-AE" sz="2000" dirty="0"/>
              </a:p>
              <a:p>
                <a:pPr>
                  <a:lnSpc>
                    <a:spcPct val="120000"/>
                  </a:lnSpc>
                  <a:spcBef>
                    <a:spcPts val="0"/>
                  </a:spcBef>
                  <a:spcAft>
                    <a:spcPts val="0"/>
                  </a:spcAft>
                </a:pPr>
                <a:r>
                  <a:rPr lang="en-IN" sz="2000" b="1" dirty="0"/>
                  <a:t>Sampled latent vector</a:t>
                </a:r>
              </a:p>
              <a:p>
                <a:pPr>
                  <a:lnSpc>
                    <a:spcPct val="120000"/>
                  </a:lnSpc>
                  <a:spcBef>
                    <a:spcPts val="0"/>
                  </a:spcBef>
                  <a:spcAft>
                    <a:spcPts val="0"/>
                  </a:spcAft>
                </a:pPr>
                <a14:m>
                  <m:oMath xmlns:m="http://schemas.openxmlformats.org/officeDocument/2006/math">
                    <m:r>
                      <a:rPr lang="en-IN" sz="2000" i="1">
                        <a:latin typeface="Cambria Math" panose="02040503050406030204" pitchFamily="18" charset="0"/>
                      </a:rPr>
                      <m:t>𝑧</m:t>
                    </m:r>
                    <m:r>
                      <a:rPr lang="en-IN" sz="2000">
                        <a:latin typeface="Cambria Math" panose="02040503050406030204" pitchFamily="18" charset="0"/>
                      </a:rPr>
                      <m:t>=</m:t>
                    </m:r>
                    <m:r>
                      <a:rPr lang="en-IN" sz="2000">
                        <a:latin typeface="Cambria Math" panose="02040503050406030204" pitchFamily="18" charset="0"/>
                      </a:rPr>
                      <m:t>1</m:t>
                    </m:r>
                    <m:r>
                      <a:rPr lang="en-IN" sz="2000">
                        <a:latin typeface="Cambria Math" panose="02040503050406030204" pitchFamily="18" charset="0"/>
                      </a:rPr>
                      <m:t>.</m:t>
                    </m:r>
                    <m:r>
                      <a:rPr lang="en-IN" sz="2000">
                        <a:latin typeface="Cambria Math" panose="02040503050406030204" pitchFamily="18" charset="0"/>
                      </a:rPr>
                      <m:t>0</m:t>
                    </m:r>
                  </m:oMath>
                </a14:m>
                <a:endParaRPr lang="en-IN" sz="2000" dirty="0"/>
              </a:p>
            </p:txBody>
          </p:sp>
        </mc:Choice>
        <mc:Fallback xmlns="">
          <p:sp>
            <p:nvSpPr>
              <p:cNvPr id="4" name="Content Placeholder 2">
                <a:extLst>
                  <a:ext uri="{FF2B5EF4-FFF2-40B4-BE49-F238E27FC236}">
                    <a16:creationId xmlns:a16="http://schemas.microsoft.com/office/drawing/2014/main" id="{036DDC89-ABC8-DCB2-5DBB-84F7ED09B590}"/>
                  </a:ext>
                </a:extLst>
              </p:cNvPr>
              <p:cNvSpPr txBox="1">
                <a:spLocks noRot="1" noChangeAspect="1" noMove="1" noResize="1" noEditPoints="1" noAdjustHandles="1" noChangeArrowheads="1" noChangeShapeType="1" noTextEdit="1"/>
              </p:cNvSpPr>
              <p:nvPr/>
            </p:nvSpPr>
            <p:spPr>
              <a:xfrm>
                <a:off x="6685281" y="1351280"/>
                <a:ext cx="4307840" cy="4866430"/>
              </a:xfrm>
              <a:prstGeom prst="rect">
                <a:avLst/>
              </a:prstGeom>
              <a:blipFill>
                <a:blip r:embed="rId3"/>
                <a:stretch>
                  <a:fillRect l="-3399"/>
                </a:stretch>
              </a:blipFill>
            </p:spPr>
            <p:txBody>
              <a:bodyPr/>
              <a:lstStyle/>
              <a:p>
                <a:r>
                  <a:rPr lang="en-IN">
                    <a:noFill/>
                  </a:rPr>
                  <a:t> </a:t>
                </a:r>
              </a:p>
            </p:txBody>
          </p:sp>
        </mc:Fallback>
      </mc:AlternateContent>
    </p:spTree>
    <p:extLst>
      <p:ext uri="{BB962C8B-B14F-4D97-AF65-F5344CB8AC3E}">
        <p14:creationId xmlns:p14="http://schemas.microsoft.com/office/powerpoint/2010/main" val="301506508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58E11F-DCC1-DD86-EB1C-6518E5637DF8}"/>
              </a:ext>
            </a:extLst>
          </p:cNvPr>
          <p:cNvSpPr>
            <a:spLocks noGrp="1"/>
          </p:cNvSpPr>
          <p:nvPr>
            <p:ph type="title"/>
          </p:nvPr>
        </p:nvSpPr>
        <p:spPr/>
        <p:txBody>
          <a:bodyPr>
            <a:normAutofit fontScale="90000"/>
          </a:bodyPr>
          <a:lstStyle/>
          <a:p>
            <a:endParaRPr lang="en-IN"/>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F614D07-F982-06F2-2220-A16FED92AA83}"/>
                  </a:ext>
                </a:extLst>
              </p:cNvPr>
              <p:cNvSpPr>
                <a:spLocks noGrp="1"/>
              </p:cNvSpPr>
              <p:nvPr>
                <p:ph idx="1"/>
              </p:nvPr>
            </p:nvSpPr>
            <p:spPr>
              <a:xfrm>
                <a:off x="538481" y="1432560"/>
                <a:ext cx="3830320" cy="4693710"/>
              </a:xfrm>
            </p:spPr>
            <p:txBody>
              <a:bodyPr>
                <a:normAutofit fontScale="85000" lnSpcReduction="10000"/>
              </a:bodyPr>
              <a:lstStyle/>
              <a:p>
                <a:pPr>
                  <a:lnSpc>
                    <a:spcPct val="120000"/>
                  </a:lnSpc>
                  <a:spcBef>
                    <a:spcPts val="0"/>
                  </a:spcBef>
                  <a:spcAft>
                    <a:spcPts val="0"/>
                  </a:spcAft>
                </a:pPr>
                <a:r>
                  <a:rPr lang="en-IN" b="1" dirty="0"/>
                  <a:t>STEP 3: Decoder Reconstruction</a:t>
                </a:r>
              </a:p>
              <a:p>
                <a:pPr>
                  <a:lnSpc>
                    <a:spcPct val="120000"/>
                  </a:lnSpc>
                  <a:spcBef>
                    <a:spcPts val="0"/>
                  </a:spcBef>
                  <a:spcAft>
                    <a:spcPts val="0"/>
                  </a:spcAft>
                </a:pPr>
                <a:r>
                  <a:rPr lang="en-IN" dirty="0"/>
                  <a:t>Decoder weights:</a:t>
                </a:r>
              </a:p>
              <a:p>
                <a:pPr>
                  <a:lnSpc>
                    <a:spcPct val="120000"/>
                  </a:lnSpc>
                  <a:spcBef>
                    <a:spcPts val="0"/>
                  </a:spcBef>
                  <a:spcAft>
                    <a:spcPts val="0"/>
                  </a:spcAft>
                </a:pPr>
                <a14:m>
                  <m:oMath xmlns:m="http://schemas.openxmlformats.org/officeDocument/2006/math">
                    <m:sSup>
                      <m:sSupPr>
                        <m:ctrlPr>
                          <a:rPr lang="ar-AE" i="1">
                            <a:latin typeface="Cambria Math" panose="02040503050406030204" pitchFamily="18" charset="0"/>
                          </a:rPr>
                        </m:ctrlPr>
                      </m:sSupPr>
                      <m:e>
                        <m:r>
                          <a:rPr lang="ar-AE" i="1">
                            <a:latin typeface="Cambria Math" panose="02040503050406030204" pitchFamily="18" charset="0"/>
                          </a:rPr>
                          <m:t>𝑊</m:t>
                        </m:r>
                      </m:e>
                      <m:sup>
                        <m:r>
                          <a:rPr lang="ar-AE">
                            <a:latin typeface="Cambria Math" panose="02040503050406030204" pitchFamily="18" charset="0"/>
                          </a:rPr>
                          <m:t>′</m:t>
                        </m:r>
                      </m:sup>
                    </m:sSup>
                    <m:r>
                      <a:rPr lang="ar-AE">
                        <a:latin typeface="Cambria Math" panose="02040503050406030204" pitchFamily="18" charset="0"/>
                      </a:rPr>
                      <m:t>=</m:t>
                    </m:r>
                    <m:d>
                      <m:dPr>
                        <m:begChr m:val="["/>
                        <m:endChr m:val="]"/>
                        <m:ctrlPr>
                          <a:rPr lang="ar-AE" i="1">
                            <a:latin typeface="Cambria Math" panose="02040503050406030204" pitchFamily="18" charset="0"/>
                          </a:rPr>
                        </m:ctrlPr>
                      </m:dPr>
                      <m:e>
                        <m:m>
                          <m:mPr>
                            <m:plcHide m:val="on"/>
                            <m:mcs>
                              <m:mc>
                                <m:mcPr>
                                  <m:count m:val="1"/>
                                  <m:mcJc m:val="center"/>
                                </m:mcPr>
                              </m:mc>
                            </m:mcs>
                            <m:ctrlPr>
                              <a:rPr lang="ar-AE" i="1">
                                <a:latin typeface="Cambria Math" panose="02040503050406030204" pitchFamily="18" charset="0"/>
                              </a:rPr>
                            </m:ctrlPr>
                          </m:mPr>
                          <m:m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7</m:t>
                              </m:r>
                            </m:e>
                          </m:mr>
                          <m:mr>
                            <m:e>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5</m:t>
                              </m:r>
                            </m:e>
                          </m:mr>
                        </m:m>
                      </m:e>
                    </m:d>
                  </m:oMath>
                </a14:m>
                <a:endParaRPr lang="ar-AE" dirty="0"/>
              </a:p>
              <a:p>
                <a:pPr>
                  <a:lnSpc>
                    <a:spcPct val="120000"/>
                  </a:lnSpc>
                  <a:spcBef>
                    <a:spcPts val="0"/>
                  </a:spcBef>
                  <a:spcAft>
                    <a:spcPts val="0"/>
                  </a:spcAft>
                </a:pPr>
                <a:r>
                  <a:rPr lang="en-IN" dirty="0"/>
                  <a:t>Bias:</a:t>
                </a:r>
              </a:p>
              <a:p>
                <a:pPr>
                  <a:lnSpc>
                    <a:spcPct val="120000"/>
                  </a:lnSpc>
                  <a:spcBef>
                    <a:spcPts val="0"/>
                  </a:spcBef>
                  <a:spcAft>
                    <a:spcPts val="0"/>
                  </a:spcAft>
                </a:pPr>
                <a14:m>
                  <m:oMath xmlns:m="http://schemas.openxmlformats.org/officeDocument/2006/math">
                    <m:sSup>
                      <m:sSupPr>
                        <m:ctrlPr>
                          <a:rPr lang="ar-AE" i="1">
                            <a:latin typeface="Cambria Math" panose="02040503050406030204" pitchFamily="18" charset="0"/>
                          </a:rPr>
                        </m:ctrlPr>
                      </m:sSupPr>
                      <m:e>
                        <m:r>
                          <a:rPr lang="ar-AE" i="1">
                            <a:latin typeface="Cambria Math" panose="02040503050406030204" pitchFamily="18" charset="0"/>
                          </a:rPr>
                          <m:t>𝑏</m:t>
                        </m:r>
                      </m:e>
                      <m:sup>
                        <m:r>
                          <a:rPr lang="ar-AE">
                            <a:latin typeface="Cambria Math" panose="02040503050406030204" pitchFamily="18" charset="0"/>
                          </a:rPr>
                          <m:t>′</m:t>
                        </m:r>
                      </m:sup>
                    </m:sSup>
                    <m:r>
                      <a:rPr lang="ar-AE">
                        <a:latin typeface="Cambria Math" panose="02040503050406030204" pitchFamily="18" charset="0"/>
                      </a:rPr>
                      <m:t>=</m:t>
                    </m:r>
                    <m:d>
                      <m:dPr>
                        <m:begChr m:val="["/>
                        <m:endChr m:val="]"/>
                        <m:sepChr m:val=","/>
                        <m:ctrlPr>
                          <a:rPr lang="ar-AE" i="1">
                            <a:latin typeface="Cambria Math" panose="02040503050406030204" pitchFamily="18" charset="0"/>
                          </a:rPr>
                        </m:ctrlPr>
                      </m:dP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1</m:t>
                        </m:r>
                      </m:e>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1</m:t>
                        </m:r>
                      </m:e>
                    </m:d>
                  </m:oMath>
                </a14:m>
                <a:endParaRPr lang="ar-AE" dirty="0"/>
              </a:p>
              <a:p>
                <a:pPr>
                  <a:lnSpc>
                    <a:spcPct val="120000"/>
                  </a:lnSpc>
                  <a:spcBef>
                    <a:spcPts val="0"/>
                  </a:spcBef>
                  <a:spcAft>
                    <a:spcPts val="0"/>
                  </a:spcAft>
                </a:pPr>
                <a:r>
                  <a:rPr lang="en-IN" dirty="0"/>
                  <a:t>Activation: sigmoid</a:t>
                </a:r>
              </a:p>
              <a:p>
                <a:pPr>
                  <a:lnSpc>
                    <a:spcPct val="120000"/>
                  </a:lnSpc>
                  <a:spcBef>
                    <a:spcPts val="0"/>
                  </a:spcBef>
                  <a:spcAft>
                    <a:spcPts val="0"/>
                  </a:spcAft>
                </a:pPr>
                <a:br>
                  <a:rPr lang="en-IN" dirty="0"/>
                </a:br>
                <a:r>
                  <a:rPr lang="en-IN" b="1" dirty="0"/>
                  <a:t>Output neuron 1</a:t>
                </a:r>
              </a:p>
              <a:p>
                <a:pPr>
                  <a:lnSpc>
                    <a:spcPct val="120000"/>
                  </a:lnSpc>
                  <a:spcBef>
                    <a:spcPts val="0"/>
                  </a:spcBef>
                  <a:spcAft>
                    <a:spcPts val="0"/>
                  </a:spcAft>
                </a:pP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𝑧</m:t>
                        </m:r>
                      </m:e>
                      <m:sub>
                        <m:r>
                          <a:rPr lang="ar-AE">
                            <a:latin typeface="Cambria Math" panose="02040503050406030204" pitchFamily="18" charset="0"/>
                          </a:rPr>
                          <m:t>1</m:t>
                        </m:r>
                      </m:sub>
                    </m:sSub>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7</m:t>
                    </m:r>
                    <m:d>
                      <m:dPr>
                        <m:ctrlPr>
                          <a:rPr lang="ar-AE" i="1">
                            <a:latin typeface="Cambria Math" panose="02040503050406030204" pitchFamily="18" charset="0"/>
                          </a:rPr>
                        </m:ctrlPr>
                      </m:dPr>
                      <m:e>
                        <m:r>
                          <a:rPr lang="ar-AE">
                            <a:latin typeface="Cambria Math" panose="02040503050406030204" pitchFamily="18" charset="0"/>
                          </a:rPr>
                          <m:t>1</m:t>
                        </m:r>
                        <m:r>
                          <a:rPr lang="ar-AE">
                            <a:latin typeface="Cambria Math" panose="02040503050406030204" pitchFamily="18" charset="0"/>
                          </a:rPr>
                          <m:t>.</m:t>
                        </m:r>
                        <m:r>
                          <a:rPr lang="ar-AE">
                            <a:latin typeface="Cambria Math" panose="02040503050406030204" pitchFamily="18" charset="0"/>
                          </a:rPr>
                          <m:t>0</m:t>
                        </m:r>
                      </m:e>
                    </m:d>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1</m:t>
                    </m:r>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8</m:t>
                    </m:r>
                  </m:oMath>
                </a14:m>
                <a:endParaRPr lang="ar-AE" dirty="0"/>
              </a:p>
              <a:p>
                <a:pPr>
                  <a:lnSpc>
                    <a:spcPct val="120000"/>
                  </a:lnSpc>
                  <a:spcBef>
                    <a:spcPts val="0"/>
                  </a:spcBef>
                  <a:spcAft>
                    <a:spcPts val="0"/>
                  </a:spcAft>
                </a:pPr>
                <a14:m>
                  <m:oMath xmlns:m="http://schemas.openxmlformats.org/officeDocument/2006/math">
                    <m:sSub>
                      <m:sSubPr>
                        <m:ctrlPr>
                          <a:rPr lang="ar-AE" i="1">
                            <a:latin typeface="Cambria Math" panose="02040503050406030204" pitchFamily="18" charset="0"/>
                          </a:rPr>
                        </m:ctrlPr>
                      </m:sSubPr>
                      <m:e>
                        <m:acc>
                          <m:accPr>
                            <m:chr m:val="̂"/>
                            <m:ctrlPr>
                              <a:rPr lang="ar-AE" i="1">
                                <a:latin typeface="Cambria Math" panose="02040503050406030204" pitchFamily="18" charset="0"/>
                              </a:rPr>
                            </m:ctrlPr>
                          </m:accPr>
                          <m:e>
                            <m:r>
                              <a:rPr lang="ar-AE" i="1">
                                <a:latin typeface="Cambria Math" panose="02040503050406030204" pitchFamily="18" charset="0"/>
                              </a:rPr>
                              <m:t>𝑥</m:t>
                            </m:r>
                          </m:e>
                        </m:acc>
                      </m:e>
                      <m:sub>
                        <m:r>
                          <a:rPr lang="ar-AE">
                            <a:latin typeface="Cambria Math" panose="02040503050406030204" pitchFamily="18" charset="0"/>
                          </a:rPr>
                          <m:t>1</m:t>
                        </m:r>
                      </m:sub>
                    </m:sSub>
                    <m:r>
                      <a:rPr lang="ar-AE">
                        <a:latin typeface="Cambria Math" panose="02040503050406030204" pitchFamily="18" charset="0"/>
                      </a:rPr>
                      <m:t>=</m:t>
                    </m:r>
                    <m:r>
                      <a:rPr lang="ar-AE" i="1">
                        <a:latin typeface="Cambria Math" panose="02040503050406030204" pitchFamily="18" charset="0"/>
                      </a:rPr>
                      <m:t>𝜎</m:t>
                    </m:r>
                    <m:d>
                      <m:dPr>
                        <m:ctrlPr>
                          <a:rPr lang="ar-AE" i="1">
                            <a:latin typeface="Cambria Math" panose="02040503050406030204" pitchFamily="18" charset="0"/>
                          </a:rPr>
                        </m:ctrlPr>
                      </m:dP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8</m:t>
                        </m:r>
                      </m:e>
                    </m:d>
                  </m:oMath>
                </a14:m>
                <a:endParaRPr lang="ar-AE" dirty="0"/>
              </a:p>
              <a:p>
                <a:pPr>
                  <a:lnSpc>
                    <a:spcPct val="120000"/>
                  </a:lnSpc>
                  <a:spcBef>
                    <a:spcPts val="0"/>
                  </a:spcBef>
                  <a:spcAft>
                    <a:spcPts val="0"/>
                  </a:spcAft>
                </a:pPr>
                <a14:m>
                  <m:oMath xmlns:m="http://schemas.openxmlformats.org/officeDocument/2006/math">
                    <m:r>
                      <a:rPr lang="ar-AE">
                        <a:latin typeface="Cambria Math" panose="02040503050406030204" pitchFamily="18" charset="0"/>
                      </a:rPr>
                      <m:t>=</m:t>
                    </m:r>
                    <m:f>
                      <m:fPr>
                        <m:ctrlPr>
                          <a:rPr lang="ar-AE" i="1">
                            <a:latin typeface="Cambria Math" panose="02040503050406030204" pitchFamily="18" charset="0"/>
                          </a:rPr>
                        </m:ctrlPr>
                      </m:fPr>
                      <m:num>
                        <m:r>
                          <a:rPr lang="ar-AE">
                            <a:latin typeface="Cambria Math" panose="02040503050406030204" pitchFamily="18" charset="0"/>
                          </a:rPr>
                          <m:t>1</m:t>
                        </m:r>
                      </m:num>
                      <m:den>
                        <m:r>
                          <a:rPr lang="ar-AE">
                            <a:latin typeface="Cambria Math" panose="02040503050406030204" pitchFamily="18" charset="0"/>
                          </a:rPr>
                          <m:t>1</m:t>
                        </m:r>
                        <m:r>
                          <a:rPr lang="ar-AE">
                            <a:latin typeface="Cambria Math" panose="02040503050406030204" pitchFamily="18" charset="0"/>
                          </a:rPr>
                          <m:t>+</m:t>
                        </m:r>
                        <m:sSup>
                          <m:sSupPr>
                            <m:ctrlPr>
                              <a:rPr lang="ar-AE" i="1">
                                <a:latin typeface="Cambria Math" panose="02040503050406030204" pitchFamily="18" charset="0"/>
                              </a:rPr>
                            </m:ctrlPr>
                          </m:sSupPr>
                          <m:e>
                            <m:r>
                              <a:rPr lang="ar-AE" i="1">
                                <a:latin typeface="Cambria Math" panose="02040503050406030204" pitchFamily="18" charset="0"/>
                              </a:rPr>
                              <m:t>𝑒</m:t>
                            </m:r>
                          </m:e>
                          <m:sup>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8</m:t>
                            </m:r>
                          </m:sup>
                        </m:sSup>
                      </m:den>
                    </m:f>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690</m:t>
                    </m:r>
                  </m:oMath>
                </a14:m>
                <a:endParaRPr lang="ar-AE" dirty="0"/>
              </a:p>
              <a:p>
                <a:pPr marL="0" indent="0">
                  <a:lnSpc>
                    <a:spcPct val="120000"/>
                  </a:lnSpc>
                  <a:spcBef>
                    <a:spcPts val="0"/>
                  </a:spcBef>
                  <a:spcAft>
                    <a:spcPts val="0"/>
                  </a:spcAft>
                  <a:buNone/>
                </a:pPr>
                <a:endParaRPr lang="en-IN" dirty="0"/>
              </a:p>
            </p:txBody>
          </p:sp>
        </mc:Choice>
        <mc:Fallback xmlns="">
          <p:sp>
            <p:nvSpPr>
              <p:cNvPr id="3" name="Content Placeholder 2">
                <a:extLst>
                  <a:ext uri="{FF2B5EF4-FFF2-40B4-BE49-F238E27FC236}">
                    <a16:creationId xmlns:a16="http://schemas.microsoft.com/office/drawing/2014/main" id="{DF614D07-F982-06F2-2220-A16FED92AA83}"/>
                  </a:ext>
                </a:extLst>
              </p:cNvPr>
              <p:cNvSpPr>
                <a:spLocks noGrp="1" noRot="1" noChangeAspect="1" noMove="1" noResize="1" noEditPoints="1" noAdjustHandles="1" noChangeArrowheads="1" noChangeShapeType="1" noTextEdit="1"/>
              </p:cNvSpPr>
              <p:nvPr>
                <p:ph idx="1"/>
              </p:nvPr>
            </p:nvSpPr>
            <p:spPr>
              <a:xfrm>
                <a:off x="538481" y="1432560"/>
                <a:ext cx="3830320" cy="4693710"/>
              </a:xfrm>
              <a:blipFill>
                <a:blip r:embed="rId2"/>
                <a:stretch>
                  <a:fillRect l="-3816" t="-390" r="-1272"/>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 name="Content Placeholder 2">
                <a:extLst>
                  <a:ext uri="{FF2B5EF4-FFF2-40B4-BE49-F238E27FC236}">
                    <a16:creationId xmlns:a16="http://schemas.microsoft.com/office/drawing/2014/main" id="{4B4B8544-1424-1323-2357-CB431E173069}"/>
                  </a:ext>
                </a:extLst>
              </p:cNvPr>
              <p:cNvSpPr txBox="1">
                <a:spLocks/>
              </p:cNvSpPr>
              <p:nvPr/>
            </p:nvSpPr>
            <p:spPr>
              <a:xfrm>
                <a:off x="6868477" y="1735946"/>
                <a:ext cx="3200083" cy="4217604"/>
              </a:xfrm>
              <a:prstGeom prst="rect">
                <a:avLst/>
              </a:prstGeom>
            </p:spPr>
            <p:txBody>
              <a:bodyPr vert="horz" lIns="0" tIns="45720" rIns="0" bIns="45720" rtlCol="0">
                <a:normAutofit/>
              </a:bodyPr>
              <a:lstStyle>
                <a:lvl1pPr marL="361950" indent="-361950" algn="l" defTabSz="914400" rtl="0" eaLnBrk="1" latinLnBrk="0" hangingPunct="1">
                  <a:lnSpc>
                    <a:spcPct val="90000"/>
                  </a:lnSpc>
                  <a:spcBef>
                    <a:spcPts val="1200"/>
                  </a:spcBef>
                  <a:spcAft>
                    <a:spcPts val="200"/>
                  </a:spcAft>
                  <a:buClr>
                    <a:schemeClr val="accent1"/>
                  </a:buClr>
                  <a:buSzPct val="100000"/>
                  <a:buFont typeface="Arial" panose="020B0604020202020204" pitchFamily="34" charset="0"/>
                  <a:buChar char="•"/>
                  <a:defRPr sz="2400" kern="1200">
                    <a:solidFill>
                      <a:schemeClr val="tx1"/>
                    </a:solidFill>
                    <a:latin typeface="+mn-lt"/>
                    <a:ea typeface="+mn-ea"/>
                    <a:cs typeface="+mn-cs"/>
                  </a:defRPr>
                </a:lvl1pPr>
                <a:lvl2pPr marL="542925" indent="-3429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2400" kern="1200">
                    <a:solidFill>
                      <a:schemeClr val="tx1"/>
                    </a:solidFill>
                    <a:latin typeface="+mn-lt"/>
                    <a:ea typeface="+mn-ea"/>
                    <a:cs typeface="+mn-cs"/>
                  </a:defRPr>
                </a:lvl2pPr>
                <a:lvl3pPr marL="714375" indent="-330200" algn="l" defTabSz="914400" rtl="0" eaLnBrk="1" latinLnBrk="0" hangingPunct="1">
                  <a:lnSpc>
                    <a:spcPct val="90000"/>
                  </a:lnSpc>
                  <a:spcBef>
                    <a:spcPts val="200"/>
                  </a:spcBef>
                  <a:spcAft>
                    <a:spcPts val="400"/>
                  </a:spcAft>
                  <a:buClr>
                    <a:schemeClr val="accent1"/>
                  </a:buClr>
                  <a:buFont typeface="Arial" panose="020B0604020202020204" pitchFamily="34" charset="0"/>
                  <a:buChar char="•"/>
                  <a:tabLst>
                    <a:tab pos="714375" algn="l"/>
                  </a:tabLst>
                  <a:defRPr sz="2400" kern="1200">
                    <a:solidFill>
                      <a:schemeClr val="tx1"/>
                    </a:solidFill>
                    <a:latin typeface="+mn-lt"/>
                    <a:ea typeface="+mn-ea"/>
                    <a:cs typeface="+mn-cs"/>
                  </a:defRPr>
                </a:lvl3pPr>
                <a:lvl4pPr marL="895350" indent="-2667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2400" kern="1200">
                    <a:solidFill>
                      <a:schemeClr val="tx1"/>
                    </a:solidFill>
                    <a:latin typeface="+mn-lt"/>
                    <a:ea typeface="+mn-ea"/>
                    <a:cs typeface="+mn-cs"/>
                  </a:defRPr>
                </a:lvl4pPr>
                <a:lvl5pPr marL="1162050" indent="-352425"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2400" kern="1200">
                    <a:solidFill>
                      <a:schemeClr val="tx1"/>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nSpc>
                    <a:spcPct val="120000"/>
                  </a:lnSpc>
                  <a:spcBef>
                    <a:spcPts val="0"/>
                  </a:spcBef>
                  <a:spcAft>
                    <a:spcPts val="0"/>
                  </a:spcAft>
                </a:pPr>
                <a:r>
                  <a:rPr lang="en-IN" b="1" dirty="0"/>
                  <a:t>Output neuron 2</a:t>
                </a:r>
              </a:p>
              <a:p>
                <a:pPr>
                  <a:lnSpc>
                    <a:spcPct val="120000"/>
                  </a:lnSpc>
                  <a:spcBef>
                    <a:spcPts val="0"/>
                  </a:spcBef>
                  <a:spcAft>
                    <a:spcPts val="0"/>
                  </a:spcAft>
                </a:pP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𝑧</m:t>
                        </m:r>
                      </m:e>
                      <m:sub>
                        <m:r>
                          <a:rPr lang="ar-AE">
                            <a:latin typeface="Cambria Math" panose="02040503050406030204" pitchFamily="18" charset="0"/>
                          </a:rPr>
                          <m:t>2</m:t>
                        </m:r>
                      </m:sub>
                    </m:sSub>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5</m:t>
                    </m:r>
                    <m:d>
                      <m:dPr>
                        <m:ctrlPr>
                          <a:rPr lang="ar-AE" i="1">
                            <a:latin typeface="Cambria Math" panose="02040503050406030204" pitchFamily="18" charset="0"/>
                          </a:rPr>
                        </m:ctrlPr>
                      </m:dPr>
                      <m:e>
                        <m:r>
                          <a:rPr lang="ar-AE">
                            <a:latin typeface="Cambria Math" panose="02040503050406030204" pitchFamily="18" charset="0"/>
                          </a:rPr>
                          <m:t>1</m:t>
                        </m:r>
                        <m:r>
                          <a:rPr lang="ar-AE">
                            <a:latin typeface="Cambria Math" panose="02040503050406030204" pitchFamily="18" charset="0"/>
                          </a:rPr>
                          <m:t>.</m:t>
                        </m:r>
                        <m:r>
                          <a:rPr lang="ar-AE">
                            <a:latin typeface="Cambria Math" panose="02040503050406030204" pitchFamily="18" charset="0"/>
                          </a:rPr>
                          <m:t>0</m:t>
                        </m:r>
                      </m:e>
                    </m:d>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1</m:t>
                    </m:r>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4</m:t>
                    </m:r>
                  </m:oMath>
                </a14:m>
                <a:endParaRPr lang="ar-AE" dirty="0"/>
              </a:p>
              <a:p>
                <a:pPr>
                  <a:lnSpc>
                    <a:spcPct val="120000"/>
                  </a:lnSpc>
                  <a:spcBef>
                    <a:spcPts val="0"/>
                  </a:spcBef>
                  <a:spcAft>
                    <a:spcPts val="0"/>
                  </a:spcAft>
                </a:pPr>
                <a14:m>
                  <m:oMath xmlns:m="http://schemas.openxmlformats.org/officeDocument/2006/math">
                    <m:sSub>
                      <m:sSubPr>
                        <m:ctrlPr>
                          <a:rPr lang="ar-AE" i="1">
                            <a:latin typeface="Cambria Math" panose="02040503050406030204" pitchFamily="18" charset="0"/>
                          </a:rPr>
                        </m:ctrlPr>
                      </m:sSubPr>
                      <m:e>
                        <m:acc>
                          <m:accPr>
                            <m:chr m:val="̂"/>
                            <m:ctrlPr>
                              <a:rPr lang="ar-AE" i="1">
                                <a:latin typeface="Cambria Math" panose="02040503050406030204" pitchFamily="18" charset="0"/>
                              </a:rPr>
                            </m:ctrlPr>
                          </m:accPr>
                          <m:e>
                            <m:r>
                              <a:rPr lang="ar-AE" i="1">
                                <a:latin typeface="Cambria Math" panose="02040503050406030204" pitchFamily="18" charset="0"/>
                              </a:rPr>
                              <m:t>𝑥</m:t>
                            </m:r>
                          </m:e>
                        </m:acc>
                      </m:e>
                      <m:sub>
                        <m:r>
                          <a:rPr lang="ar-AE">
                            <a:latin typeface="Cambria Math" panose="02040503050406030204" pitchFamily="18" charset="0"/>
                          </a:rPr>
                          <m:t>2</m:t>
                        </m:r>
                      </m:sub>
                    </m:sSub>
                    <m:r>
                      <a:rPr lang="ar-AE">
                        <a:latin typeface="Cambria Math" panose="02040503050406030204" pitchFamily="18" charset="0"/>
                      </a:rPr>
                      <m:t>=</m:t>
                    </m:r>
                    <m:r>
                      <a:rPr lang="ar-AE" i="1">
                        <a:latin typeface="Cambria Math" panose="02040503050406030204" pitchFamily="18" charset="0"/>
                      </a:rPr>
                      <m:t>𝜎</m:t>
                    </m:r>
                    <m:d>
                      <m:dPr>
                        <m:ctrlPr>
                          <a:rPr lang="ar-AE" i="1">
                            <a:latin typeface="Cambria Math" panose="02040503050406030204" pitchFamily="18" charset="0"/>
                          </a:rPr>
                        </m:ctrlPr>
                      </m:dPr>
                      <m:e>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4</m:t>
                        </m:r>
                      </m:e>
                    </m:d>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401</m:t>
                    </m:r>
                  </m:oMath>
                </a14:m>
                <a:endParaRPr lang="ar-AE" dirty="0"/>
              </a:p>
              <a:p>
                <a:pPr>
                  <a:lnSpc>
                    <a:spcPct val="120000"/>
                  </a:lnSpc>
                  <a:spcBef>
                    <a:spcPts val="0"/>
                  </a:spcBef>
                  <a:spcAft>
                    <a:spcPts val="0"/>
                  </a:spcAft>
                </a:pPr>
                <a:br>
                  <a:rPr lang="ar-AE" dirty="0"/>
                </a:br>
                <a:r>
                  <a:rPr lang="en-IN" b="1" dirty="0"/>
                  <a:t>Reconstruction</a:t>
                </a:r>
              </a:p>
              <a:p>
                <a:pPr>
                  <a:lnSpc>
                    <a:spcPct val="120000"/>
                  </a:lnSpc>
                  <a:spcBef>
                    <a:spcPts val="0"/>
                  </a:spcBef>
                  <a:spcAft>
                    <a:spcPts val="0"/>
                  </a:spcAft>
                </a:pPr>
                <a14:m>
                  <m:oMath xmlns:m="http://schemas.openxmlformats.org/officeDocument/2006/math">
                    <m:acc>
                      <m:accPr>
                        <m:chr m:val="̂"/>
                        <m:ctrlPr>
                          <a:rPr lang="ar-AE" i="1">
                            <a:latin typeface="Cambria Math" panose="02040503050406030204" pitchFamily="18" charset="0"/>
                          </a:rPr>
                        </m:ctrlPr>
                      </m:accPr>
                      <m:e>
                        <m:r>
                          <a:rPr lang="ar-AE" i="1">
                            <a:latin typeface="Cambria Math" panose="02040503050406030204" pitchFamily="18" charset="0"/>
                          </a:rPr>
                          <m:t>𝑥</m:t>
                        </m:r>
                      </m:e>
                    </m:acc>
                    <m:r>
                      <a:rPr lang="ar-AE">
                        <a:latin typeface="Cambria Math" panose="02040503050406030204" pitchFamily="18" charset="0"/>
                      </a:rPr>
                      <m:t>=</m:t>
                    </m:r>
                    <m:d>
                      <m:dPr>
                        <m:begChr m:val="["/>
                        <m:endChr m:val="]"/>
                        <m:sepChr m:val=","/>
                        <m:ctrlPr>
                          <a:rPr lang="ar-AE" i="1">
                            <a:latin typeface="Cambria Math" panose="02040503050406030204" pitchFamily="18" charset="0"/>
                          </a:rPr>
                        </m:ctrlPr>
                      </m:dP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690</m:t>
                        </m:r>
                      </m:e>
                      <m:e>
                        <m:r>
                          <m:rPr>
                            <m:nor/>
                          </m:rPr>
                          <a:rPr lang="ar-AE" i="1"/>
                          <m:t>  </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401</m:t>
                        </m:r>
                      </m:e>
                    </m:d>
                  </m:oMath>
                </a14:m>
                <a:endParaRPr lang="ar-AE" dirty="0"/>
              </a:p>
              <a:p>
                <a:pPr>
                  <a:lnSpc>
                    <a:spcPct val="120000"/>
                  </a:lnSpc>
                  <a:spcBef>
                    <a:spcPts val="0"/>
                  </a:spcBef>
                  <a:spcAft>
                    <a:spcPts val="0"/>
                  </a:spcAft>
                </a:pPr>
                <a:endParaRPr lang="en-IN" dirty="0"/>
              </a:p>
            </p:txBody>
          </p:sp>
        </mc:Choice>
        <mc:Fallback xmlns="">
          <p:sp>
            <p:nvSpPr>
              <p:cNvPr id="4" name="Content Placeholder 2">
                <a:extLst>
                  <a:ext uri="{FF2B5EF4-FFF2-40B4-BE49-F238E27FC236}">
                    <a16:creationId xmlns:a16="http://schemas.microsoft.com/office/drawing/2014/main" id="{4B4B8544-1424-1323-2357-CB431E173069}"/>
                  </a:ext>
                </a:extLst>
              </p:cNvPr>
              <p:cNvSpPr txBox="1">
                <a:spLocks noRot="1" noChangeAspect="1" noMove="1" noResize="1" noEditPoints="1" noAdjustHandles="1" noChangeArrowheads="1" noChangeShapeType="1" noTextEdit="1"/>
              </p:cNvSpPr>
              <p:nvPr/>
            </p:nvSpPr>
            <p:spPr>
              <a:xfrm>
                <a:off x="6868477" y="1735946"/>
                <a:ext cx="3200083" cy="4217604"/>
              </a:xfrm>
              <a:prstGeom prst="rect">
                <a:avLst/>
              </a:prstGeom>
              <a:blipFill>
                <a:blip r:embed="rId3"/>
                <a:stretch>
                  <a:fillRect l="-5524" t="-145"/>
                </a:stretch>
              </a:blipFill>
            </p:spPr>
            <p:txBody>
              <a:bodyPr/>
              <a:lstStyle/>
              <a:p>
                <a:r>
                  <a:rPr lang="en-IN">
                    <a:noFill/>
                  </a:rPr>
                  <a:t> </a:t>
                </a:r>
              </a:p>
            </p:txBody>
          </p:sp>
        </mc:Fallback>
      </mc:AlternateContent>
    </p:spTree>
    <p:extLst>
      <p:ext uri="{BB962C8B-B14F-4D97-AF65-F5344CB8AC3E}">
        <p14:creationId xmlns:p14="http://schemas.microsoft.com/office/powerpoint/2010/main" val="339422284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5E4586-3DEE-706A-AA16-180D9C8322B0}"/>
              </a:ext>
            </a:extLst>
          </p:cNvPr>
          <p:cNvSpPr>
            <a:spLocks noGrp="1"/>
          </p:cNvSpPr>
          <p:nvPr>
            <p:ph type="title"/>
          </p:nvPr>
        </p:nvSpPr>
        <p:spPr/>
        <p:txBody>
          <a:bodyPr>
            <a:normAutofit fontScale="90000"/>
          </a:bodyPr>
          <a:lstStyle/>
          <a:p>
            <a:endParaRPr lang="en-IN"/>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0791E06-369F-4820-814C-688B1D052EAF}"/>
                  </a:ext>
                </a:extLst>
              </p:cNvPr>
              <p:cNvSpPr>
                <a:spLocks noGrp="1"/>
              </p:cNvSpPr>
              <p:nvPr>
                <p:ph idx="1"/>
              </p:nvPr>
            </p:nvSpPr>
            <p:spPr/>
            <p:txBody>
              <a:bodyPr/>
              <a:lstStyle/>
              <a:p>
                <a:r>
                  <a:rPr lang="en-IN" b="1" dirty="0"/>
                  <a:t>STEP 4: Reconstruction Loss</a:t>
                </a:r>
              </a:p>
              <a:p>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𝐿</m:t>
                        </m:r>
                      </m:e>
                      <m:sub>
                        <m:r>
                          <a:rPr lang="ar-AE" i="1">
                            <a:latin typeface="Cambria Math" panose="02040503050406030204" pitchFamily="18" charset="0"/>
                          </a:rPr>
                          <m:t>𝑟𝑒𝑐</m:t>
                        </m:r>
                      </m:sub>
                    </m:sSub>
                    <m:r>
                      <a:rPr lang="ar-AE">
                        <a:latin typeface="Cambria Math" panose="02040503050406030204" pitchFamily="18" charset="0"/>
                      </a:rPr>
                      <m:t>=</m:t>
                    </m:r>
                    <m:d>
                      <m:dPr>
                        <m:endChr m:val=""/>
                        <m:ctrlPr>
                          <a:rPr lang="ar-AE" i="1">
                            <a:latin typeface="Cambria Math" panose="02040503050406030204" pitchFamily="18" charset="0"/>
                          </a:rPr>
                        </m:ctrlPr>
                      </m:dPr>
                      <m:e>
                        <m:r>
                          <a:rPr lang="ar-AE">
                            <a:latin typeface="Cambria Math" panose="02040503050406030204" pitchFamily="18" charset="0"/>
                          </a:rPr>
                          <m:t>1</m:t>
                        </m:r>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690</m:t>
                        </m:r>
                        <m:sSup>
                          <m:sSupPr>
                            <m:ctrlPr>
                              <a:rPr lang="ar-AE" i="1">
                                <a:latin typeface="Cambria Math" panose="02040503050406030204" pitchFamily="18" charset="0"/>
                              </a:rPr>
                            </m:ctrlPr>
                          </m:sSupPr>
                          <m:e>
                            <m:d>
                              <m:dPr>
                                <m:begChr m:val=""/>
                                <m:endChr m:val=""/>
                                <m:ctrlPr>
                                  <a:rPr lang="ar-AE" i="1">
                                    <a:latin typeface="Cambria Math" panose="02040503050406030204" pitchFamily="18" charset="0"/>
                                  </a:rPr>
                                </m:ctrlPr>
                              </m:dPr>
                              <m:e>
                                <m:r>
                                  <a:rPr lang="ar-AE">
                                    <a:latin typeface="Cambria Math" panose="02040503050406030204" pitchFamily="18" charset="0"/>
                                  </a:rPr>
                                  <m:t>)</m:t>
                                </m:r>
                              </m:e>
                            </m:d>
                          </m:e>
                          <m:sup>
                            <m:r>
                              <a:rPr lang="ar-AE">
                                <a:latin typeface="Cambria Math" panose="02040503050406030204" pitchFamily="18" charset="0"/>
                              </a:rPr>
                              <m:t>2</m:t>
                            </m:r>
                          </m:sup>
                        </m:sSup>
                        <m:r>
                          <a:rPr lang="ar-AE">
                            <a:latin typeface="Cambria Math" panose="02040503050406030204" pitchFamily="18" charset="0"/>
                          </a:rPr>
                          <m:t>+</m:t>
                        </m:r>
                        <m:d>
                          <m:dPr>
                            <m:endChr m:val=""/>
                            <m:ctrlPr>
                              <a:rPr lang="ar-AE" i="1">
                                <a:latin typeface="Cambria Math" panose="02040503050406030204" pitchFamily="18" charset="0"/>
                              </a:rPr>
                            </m:ctrlPr>
                          </m:dP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401</m:t>
                            </m:r>
                            <m:sSup>
                              <m:sSupPr>
                                <m:ctrlPr>
                                  <a:rPr lang="ar-AE" i="1">
                                    <a:latin typeface="Cambria Math" panose="02040503050406030204" pitchFamily="18" charset="0"/>
                                  </a:rPr>
                                </m:ctrlPr>
                              </m:sSupPr>
                              <m:e>
                                <m:d>
                                  <m:dPr>
                                    <m:begChr m:val=""/>
                                    <m:endChr m:val=""/>
                                    <m:ctrlPr>
                                      <a:rPr lang="ar-AE" i="1">
                                        <a:latin typeface="Cambria Math" panose="02040503050406030204" pitchFamily="18" charset="0"/>
                                      </a:rPr>
                                    </m:ctrlPr>
                                  </m:dPr>
                                  <m:e>
                                    <m:r>
                                      <a:rPr lang="ar-AE">
                                        <a:latin typeface="Cambria Math" panose="02040503050406030204" pitchFamily="18" charset="0"/>
                                      </a:rPr>
                                      <m:t>)</m:t>
                                    </m:r>
                                  </m:e>
                                </m:d>
                              </m:e>
                              <m:sup>
                                <m:r>
                                  <a:rPr lang="ar-AE">
                                    <a:latin typeface="Cambria Math" panose="02040503050406030204" pitchFamily="18" charset="0"/>
                                  </a:rPr>
                                  <m:t>2</m:t>
                                </m:r>
                              </m:sup>
                            </m:sSup>
                          </m:e>
                        </m:d>
                      </m:e>
                    </m:d>
                  </m:oMath>
                </a14:m>
                <a:endParaRPr lang="ar-AE" dirty="0"/>
              </a:p>
              <a:p>
                <a14:m>
                  <m:oMath xmlns:m="http://schemas.openxmlformats.org/officeDocument/2006/math">
                    <m:r>
                      <a:rPr lang="ar-AE">
                        <a:latin typeface="Cambria Math" panose="02040503050406030204" pitchFamily="18" charset="0"/>
                      </a:rPr>
                      <m:t>=</m:t>
                    </m:r>
                    <m:sSup>
                      <m:sSupPr>
                        <m:ctrlPr>
                          <a:rPr lang="ar-AE" i="1">
                            <a:latin typeface="Cambria Math" panose="02040503050406030204" pitchFamily="18" charset="0"/>
                          </a:rPr>
                        </m:ctrlPr>
                      </m:sSupP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310</m:t>
                        </m:r>
                      </m:e>
                      <m:sup>
                        <m:r>
                          <a:rPr lang="ar-AE">
                            <a:latin typeface="Cambria Math" panose="02040503050406030204" pitchFamily="18" charset="0"/>
                          </a:rPr>
                          <m:t>2</m:t>
                        </m:r>
                      </m:sup>
                    </m:sSup>
                    <m:r>
                      <a:rPr lang="ar-AE">
                        <a:latin typeface="Cambria Math" panose="02040503050406030204" pitchFamily="18" charset="0"/>
                      </a:rPr>
                      <m:t>+</m:t>
                    </m:r>
                    <m:sSup>
                      <m:sSupPr>
                        <m:ctrlPr>
                          <a:rPr lang="ar-AE" i="1">
                            <a:latin typeface="Cambria Math" panose="02040503050406030204" pitchFamily="18" charset="0"/>
                          </a:rPr>
                        </m:ctrlPr>
                      </m:sSupP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401</m:t>
                        </m:r>
                      </m:e>
                      <m:sup>
                        <m:r>
                          <a:rPr lang="ar-AE">
                            <a:latin typeface="Cambria Math" panose="02040503050406030204" pitchFamily="18" charset="0"/>
                          </a:rPr>
                          <m:t>2</m:t>
                        </m:r>
                      </m:sup>
                    </m:sSup>
                  </m:oMath>
                </a14:m>
                <a:endParaRPr lang="ar-AE" dirty="0"/>
              </a:p>
              <a:p>
                <a14:m>
                  <m:oMath xmlns:m="http://schemas.openxmlformats.org/officeDocument/2006/math">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096</m:t>
                    </m:r>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161</m:t>
                    </m:r>
                  </m:oMath>
                </a14:m>
                <a:endParaRPr lang="ar-AE" dirty="0"/>
              </a:p>
              <a:p>
                <a14:m>
                  <m:oMath xmlns:m="http://schemas.openxmlformats.org/officeDocument/2006/math">
                    <m:borderBox>
                      <m:borderBoxPr>
                        <m:ctrlPr>
                          <a:rPr lang="ar-AE" i="1">
                            <a:latin typeface="Cambria Math" panose="02040503050406030204" pitchFamily="18" charset="0"/>
                          </a:rPr>
                        </m:ctrlPr>
                      </m:borderBoxPr>
                      <m:e>
                        <m:sSub>
                          <m:sSubPr>
                            <m:ctrlPr>
                              <a:rPr lang="ar-AE" i="1">
                                <a:latin typeface="Cambria Math" panose="02040503050406030204" pitchFamily="18" charset="0"/>
                              </a:rPr>
                            </m:ctrlPr>
                          </m:sSubPr>
                          <m:e>
                            <m:r>
                              <a:rPr lang="ar-AE" i="1">
                                <a:latin typeface="Cambria Math" panose="02040503050406030204" pitchFamily="18" charset="0"/>
                              </a:rPr>
                              <m:t>𝐿</m:t>
                            </m:r>
                          </m:e>
                          <m:sub>
                            <m:r>
                              <a:rPr lang="ar-AE" i="1">
                                <a:latin typeface="Cambria Math" panose="02040503050406030204" pitchFamily="18" charset="0"/>
                              </a:rPr>
                              <m:t>𝑟𝑒𝑐</m:t>
                            </m:r>
                          </m:sub>
                        </m:sSub>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257</m:t>
                        </m:r>
                      </m:e>
                    </m:borderBox>
                  </m:oMath>
                </a14:m>
                <a:endParaRPr lang="ar-AE" dirty="0"/>
              </a:p>
              <a:p>
                <a:endParaRPr lang="en-IN" dirty="0"/>
              </a:p>
            </p:txBody>
          </p:sp>
        </mc:Choice>
        <mc:Fallback xmlns="">
          <p:sp>
            <p:nvSpPr>
              <p:cNvPr id="3" name="Content Placeholder 2">
                <a:extLst>
                  <a:ext uri="{FF2B5EF4-FFF2-40B4-BE49-F238E27FC236}">
                    <a16:creationId xmlns:a16="http://schemas.microsoft.com/office/drawing/2014/main" id="{C0791E06-369F-4820-814C-688B1D052EAF}"/>
                  </a:ext>
                </a:extLst>
              </p:cNvPr>
              <p:cNvSpPr>
                <a:spLocks noGrp="1" noRot="1" noChangeAspect="1" noMove="1" noResize="1" noEditPoints="1" noAdjustHandles="1" noChangeArrowheads="1" noChangeShapeType="1" noTextEdit="1"/>
              </p:cNvSpPr>
              <p:nvPr>
                <p:ph idx="1"/>
              </p:nvPr>
            </p:nvSpPr>
            <p:spPr>
              <a:blipFill>
                <a:blip r:embed="rId2"/>
                <a:stretch>
                  <a:fillRect l="-1758" t="-2023"/>
                </a:stretch>
              </a:blipFill>
            </p:spPr>
            <p:txBody>
              <a:bodyPr/>
              <a:lstStyle/>
              <a:p>
                <a:r>
                  <a:rPr lang="en-IN">
                    <a:noFill/>
                  </a:rPr>
                  <a:t> </a:t>
                </a:r>
              </a:p>
            </p:txBody>
          </p:sp>
        </mc:Fallback>
      </mc:AlternateContent>
    </p:spTree>
    <p:extLst>
      <p:ext uri="{BB962C8B-B14F-4D97-AF65-F5344CB8AC3E}">
        <p14:creationId xmlns:p14="http://schemas.microsoft.com/office/powerpoint/2010/main" val="75053798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D24E40-D7A2-BCE2-7E96-4A67F184DD93}"/>
              </a:ext>
            </a:extLst>
          </p:cNvPr>
          <p:cNvSpPr>
            <a:spLocks noGrp="1"/>
          </p:cNvSpPr>
          <p:nvPr>
            <p:ph type="title"/>
          </p:nvPr>
        </p:nvSpPr>
        <p:spPr/>
        <p:txBody>
          <a:bodyPr>
            <a:normAutofit fontScale="90000"/>
          </a:bodyPr>
          <a:lstStyle/>
          <a:p>
            <a:endParaRPr lang="en-IN"/>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F8E4821-A5C8-1202-C2C2-3791C8336EAE}"/>
                  </a:ext>
                </a:extLst>
              </p:cNvPr>
              <p:cNvSpPr>
                <a:spLocks noGrp="1"/>
              </p:cNvSpPr>
              <p:nvPr>
                <p:ph idx="1"/>
              </p:nvPr>
            </p:nvSpPr>
            <p:spPr>
              <a:xfrm>
                <a:off x="1097281" y="1625600"/>
                <a:ext cx="4185920" cy="4500670"/>
              </a:xfrm>
            </p:spPr>
            <p:txBody>
              <a:bodyPr>
                <a:normAutofit fontScale="85000" lnSpcReduction="20000"/>
              </a:bodyPr>
              <a:lstStyle/>
              <a:p>
                <a:r>
                  <a:rPr lang="en-IN" b="1" dirty="0"/>
                  <a:t>STEP 5: KL Divergence</a:t>
                </a:r>
              </a:p>
              <a:p>
                <a:r>
                  <a:rPr lang="en-IN" dirty="0"/>
                  <a:t>Formula:</a:t>
                </a:r>
              </a:p>
              <a:p>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𝐿</m:t>
                        </m:r>
                      </m:e>
                      <m:sub>
                        <m:r>
                          <a:rPr lang="ar-AE" i="1">
                            <a:latin typeface="Cambria Math" panose="02040503050406030204" pitchFamily="18" charset="0"/>
                          </a:rPr>
                          <m:t>𝐾𝐿</m:t>
                        </m:r>
                      </m:sub>
                    </m:sSub>
                    <m:r>
                      <a:rPr lang="ar-AE">
                        <a:latin typeface="Cambria Math" panose="02040503050406030204" pitchFamily="18" charset="0"/>
                      </a:rPr>
                      <m:t>=</m:t>
                    </m:r>
                    <m:f>
                      <m:fPr>
                        <m:ctrlPr>
                          <a:rPr lang="ar-AE" i="1">
                            <a:latin typeface="Cambria Math" panose="02040503050406030204" pitchFamily="18" charset="0"/>
                          </a:rPr>
                        </m:ctrlPr>
                      </m:fPr>
                      <m:num>
                        <m:r>
                          <a:rPr lang="ar-AE">
                            <a:latin typeface="Cambria Math" panose="02040503050406030204" pitchFamily="18" charset="0"/>
                          </a:rPr>
                          <m:t>1</m:t>
                        </m:r>
                      </m:num>
                      <m:den>
                        <m:r>
                          <a:rPr lang="ar-AE">
                            <a:latin typeface="Cambria Math" panose="02040503050406030204" pitchFamily="18" charset="0"/>
                          </a:rPr>
                          <m:t>2</m:t>
                        </m:r>
                      </m:den>
                    </m:f>
                    <m:d>
                      <m:dPr>
                        <m:ctrlPr>
                          <a:rPr lang="ar-AE" i="1">
                            <a:latin typeface="Cambria Math" panose="02040503050406030204" pitchFamily="18" charset="0"/>
                          </a:rPr>
                        </m:ctrlPr>
                      </m:dPr>
                      <m:e>
                        <m:sSup>
                          <m:sSupPr>
                            <m:ctrlPr>
                              <a:rPr lang="ar-AE" i="1">
                                <a:latin typeface="Cambria Math" panose="02040503050406030204" pitchFamily="18" charset="0"/>
                              </a:rPr>
                            </m:ctrlPr>
                          </m:sSupPr>
                          <m:e>
                            <m:r>
                              <a:rPr lang="ar-AE" i="1">
                                <a:latin typeface="Cambria Math" panose="02040503050406030204" pitchFamily="18" charset="0"/>
                              </a:rPr>
                              <m:t>𝜇</m:t>
                            </m:r>
                          </m:e>
                          <m:sup>
                            <m:r>
                              <a:rPr lang="ar-AE">
                                <a:latin typeface="Cambria Math" panose="02040503050406030204" pitchFamily="18" charset="0"/>
                              </a:rPr>
                              <m:t>2</m:t>
                            </m:r>
                          </m:sup>
                        </m:sSup>
                        <m:r>
                          <a:rPr lang="ar-AE">
                            <a:latin typeface="Cambria Math" panose="02040503050406030204" pitchFamily="18" charset="0"/>
                          </a:rPr>
                          <m:t>+</m:t>
                        </m:r>
                        <m:sSup>
                          <m:sSupPr>
                            <m:ctrlPr>
                              <a:rPr lang="ar-AE" i="1">
                                <a:latin typeface="Cambria Math" panose="02040503050406030204" pitchFamily="18" charset="0"/>
                              </a:rPr>
                            </m:ctrlPr>
                          </m:sSupPr>
                          <m:e>
                            <m:r>
                              <a:rPr lang="ar-AE" i="1">
                                <a:latin typeface="Cambria Math" panose="02040503050406030204" pitchFamily="18" charset="0"/>
                              </a:rPr>
                              <m:t>𝜎</m:t>
                            </m:r>
                          </m:e>
                          <m:sup>
                            <m:r>
                              <a:rPr lang="ar-AE">
                                <a:latin typeface="Cambria Math" panose="02040503050406030204" pitchFamily="18" charset="0"/>
                              </a:rPr>
                              <m:t>2</m:t>
                            </m:r>
                          </m:sup>
                        </m:sSup>
                        <m:r>
                          <a:rPr lang="ar-AE">
                            <a:latin typeface="Cambria Math" panose="02040503050406030204" pitchFamily="18" charset="0"/>
                          </a:rPr>
                          <m:t>−</m:t>
                        </m:r>
                        <m:func>
                          <m:funcPr>
                            <m:ctrlPr>
                              <a:rPr lang="ar-AE" i="1">
                                <a:latin typeface="Cambria Math" panose="02040503050406030204" pitchFamily="18" charset="0"/>
                              </a:rPr>
                            </m:ctrlPr>
                          </m:funcPr>
                          <m:fName>
                            <m:r>
                              <m:rPr>
                                <m:sty m:val="p"/>
                              </m:rPr>
                              <a:rPr lang="en-IN">
                                <a:latin typeface="Cambria Math" panose="02040503050406030204" pitchFamily="18" charset="0"/>
                              </a:rPr>
                              <m:t>ln</m:t>
                            </m:r>
                          </m:fName>
                          <m:e>
                            <m:sSup>
                              <m:sSupPr>
                                <m:ctrlPr>
                                  <a:rPr lang="ar-AE" i="1">
                                    <a:latin typeface="Cambria Math" panose="02040503050406030204" pitchFamily="18" charset="0"/>
                                  </a:rPr>
                                </m:ctrlPr>
                              </m:sSupPr>
                              <m:e>
                                <m:r>
                                  <a:rPr lang="ar-AE" i="1">
                                    <a:latin typeface="Cambria Math" panose="02040503050406030204" pitchFamily="18" charset="0"/>
                                  </a:rPr>
                                  <m:t>𝜎</m:t>
                                </m:r>
                              </m:e>
                              <m:sup>
                                <m:r>
                                  <a:rPr lang="ar-AE">
                                    <a:latin typeface="Cambria Math" panose="02040503050406030204" pitchFamily="18" charset="0"/>
                                  </a:rPr>
                                  <m:t>2</m:t>
                                </m:r>
                              </m:sup>
                            </m:sSup>
                          </m:e>
                        </m:func>
                        <m:r>
                          <a:rPr lang="ar-AE">
                            <a:latin typeface="Cambria Math" panose="02040503050406030204" pitchFamily="18" charset="0"/>
                          </a:rPr>
                          <m:t>−</m:t>
                        </m:r>
                        <m:r>
                          <a:rPr lang="ar-AE">
                            <a:latin typeface="Cambria Math" panose="02040503050406030204" pitchFamily="18" charset="0"/>
                          </a:rPr>
                          <m:t>1</m:t>
                        </m:r>
                      </m:e>
                    </m:d>
                  </m:oMath>
                </a14:m>
                <a:endParaRPr lang="ar-AE" dirty="0"/>
              </a:p>
              <a:p>
                <a:r>
                  <a:rPr lang="en-IN" dirty="0"/>
                  <a:t>Substitute:</a:t>
                </a:r>
              </a:p>
              <a:p>
                <a14:m>
                  <m:oMath xmlns:m="http://schemas.openxmlformats.org/officeDocument/2006/math">
                    <m:r>
                      <a:rPr lang="en-IN">
                        <a:latin typeface="Cambria Math" panose="02040503050406030204" pitchFamily="18" charset="0"/>
                      </a:rPr>
                      <m:t>=</m:t>
                    </m:r>
                    <m:f>
                      <m:fPr>
                        <m:ctrlPr>
                          <a:rPr lang="ar-AE" i="1">
                            <a:latin typeface="Cambria Math" panose="02040503050406030204" pitchFamily="18" charset="0"/>
                          </a:rPr>
                        </m:ctrlPr>
                      </m:fPr>
                      <m:num>
                        <m:r>
                          <a:rPr lang="ar-AE">
                            <a:latin typeface="Cambria Math" panose="02040503050406030204" pitchFamily="18" charset="0"/>
                          </a:rPr>
                          <m:t>1</m:t>
                        </m:r>
                      </m:num>
                      <m:den>
                        <m:r>
                          <a:rPr lang="ar-AE">
                            <a:latin typeface="Cambria Math" panose="02040503050406030204" pitchFamily="18" charset="0"/>
                          </a:rPr>
                          <m:t>2</m:t>
                        </m:r>
                      </m:den>
                    </m:f>
                    <m:d>
                      <m:dPr>
                        <m:ctrlPr>
                          <a:rPr lang="ar-AE" i="1">
                            <a:latin typeface="Cambria Math" panose="02040503050406030204" pitchFamily="18" charset="0"/>
                          </a:rPr>
                        </m:ctrlPr>
                      </m:dPr>
                      <m:e>
                        <m:sSup>
                          <m:sSupPr>
                            <m:ctrlPr>
                              <a:rPr lang="ar-AE" i="1">
                                <a:latin typeface="Cambria Math" panose="02040503050406030204" pitchFamily="18" charset="0"/>
                              </a:rPr>
                            </m:ctrlPr>
                          </m:sSupP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6</m:t>
                            </m:r>
                          </m:e>
                          <m:sup>
                            <m:r>
                              <a:rPr lang="ar-AE">
                                <a:latin typeface="Cambria Math" panose="02040503050406030204" pitchFamily="18" charset="0"/>
                              </a:rPr>
                              <m:t>2</m:t>
                            </m:r>
                          </m:sup>
                        </m:sSup>
                        <m:r>
                          <a:rPr lang="ar-AE">
                            <a:latin typeface="Cambria Math" panose="02040503050406030204" pitchFamily="18" charset="0"/>
                          </a:rPr>
                          <m:t>+</m:t>
                        </m:r>
                        <m:sSup>
                          <m:sSupPr>
                            <m:ctrlPr>
                              <a:rPr lang="ar-AE" i="1">
                                <a:latin typeface="Cambria Math" panose="02040503050406030204" pitchFamily="18" charset="0"/>
                              </a:rPr>
                            </m:ctrlPr>
                          </m:sSupP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8</m:t>
                            </m:r>
                          </m:e>
                          <m:sup>
                            <m:r>
                              <a:rPr lang="ar-AE">
                                <a:latin typeface="Cambria Math" panose="02040503050406030204" pitchFamily="18" charset="0"/>
                              </a:rPr>
                              <m:t>2</m:t>
                            </m:r>
                          </m:sup>
                        </m:sSup>
                        <m:r>
                          <a:rPr lang="ar-AE">
                            <a:latin typeface="Cambria Math" panose="02040503050406030204" pitchFamily="18" charset="0"/>
                          </a:rPr>
                          <m:t>−</m:t>
                        </m:r>
                        <m:r>
                          <m:rPr>
                            <m:sty m:val="p"/>
                          </m:rPr>
                          <a:rPr lang="en-IN">
                            <a:latin typeface="Cambria Math" panose="02040503050406030204" pitchFamily="18" charset="0"/>
                          </a:rPr>
                          <m:t>ln</m:t>
                        </m:r>
                        <m:r>
                          <a:rPr lang="en-IN">
                            <a:latin typeface="Cambria Math" panose="02040503050406030204" pitchFamily="18" charset="0"/>
                          </a:rPr>
                          <m:t>⁡</m:t>
                        </m:r>
                        <m:d>
                          <m:dPr>
                            <m:ctrlPr>
                              <a:rPr lang="ar-AE" i="1">
                                <a:latin typeface="Cambria Math" panose="02040503050406030204" pitchFamily="18" charset="0"/>
                              </a:rPr>
                            </m:ctrlPr>
                          </m:dPr>
                          <m:e>
                            <m:sSup>
                              <m:sSupPr>
                                <m:ctrlPr>
                                  <a:rPr lang="ar-AE" i="1">
                                    <a:latin typeface="Cambria Math" panose="02040503050406030204" pitchFamily="18" charset="0"/>
                                  </a:rPr>
                                </m:ctrlPr>
                              </m:sSupP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8</m:t>
                                </m:r>
                              </m:e>
                              <m:sup>
                                <m:r>
                                  <a:rPr lang="ar-AE">
                                    <a:latin typeface="Cambria Math" panose="02040503050406030204" pitchFamily="18" charset="0"/>
                                  </a:rPr>
                                  <m:t>2</m:t>
                                </m:r>
                              </m:sup>
                            </m:sSup>
                          </m:e>
                        </m:d>
                        <m:r>
                          <a:rPr lang="ar-AE">
                            <a:latin typeface="Cambria Math" panose="02040503050406030204" pitchFamily="18" charset="0"/>
                          </a:rPr>
                          <m:t>−</m:t>
                        </m:r>
                        <m:r>
                          <a:rPr lang="ar-AE">
                            <a:latin typeface="Cambria Math" panose="02040503050406030204" pitchFamily="18" charset="0"/>
                          </a:rPr>
                          <m:t>1</m:t>
                        </m:r>
                      </m:e>
                    </m:d>
                  </m:oMath>
                </a14:m>
                <a:endParaRPr lang="ar-AE" dirty="0"/>
              </a:p>
              <a:p>
                <a14:m>
                  <m:oMath xmlns:m="http://schemas.openxmlformats.org/officeDocument/2006/math">
                    <m:r>
                      <a:rPr lang="ar-AE">
                        <a:latin typeface="Cambria Math" panose="02040503050406030204" pitchFamily="18" charset="0"/>
                      </a:rPr>
                      <m:t>=</m:t>
                    </m:r>
                    <m:f>
                      <m:fPr>
                        <m:ctrlPr>
                          <a:rPr lang="ar-AE" i="1">
                            <a:latin typeface="Cambria Math" panose="02040503050406030204" pitchFamily="18" charset="0"/>
                          </a:rPr>
                        </m:ctrlPr>
                      </m:fPr>
                      <m:num>
                        <m:r>
                          <a:rPr lang="ar-AE">
                            <a:latin typeface="Cambria Math" panose="02040503050406030204" pitchFamily="18" charset="0"/>
                          </a:rPr>
                          <m:t>1</m:t>
                        </m:r>
                      </m:num>
                      <m:den>
                        <m:r>
                          <a:rPr lang="ar-AE">
                            <a:latin typeface="Cambria Math" panose="02040503050406030204" pitchFamily="18" charset="0"/>
                          </a:rPr>
                          <m:t>2</m:t>
                        </m:r>
                      </m:den>
                    </m:f>
                    <m:d>
                      <m:dPr>
                        <m:ctrlPr>
                          <a:rPr lang="ar-AE" i="1">
                            <a:latin typeface="Cambria Math" panose="02040503050406030204" pitchFamily="18" charset="0"/>
                          </a:rPr>
                        </m:ctrlPr>
                      </m:dP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36</m:t>
                        </m:r>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64</m:t>
                        </m:r>
                        <m:r>
                          <a:rPr lang="ar-AE">
                            <a:latin typeface="Cambria Math" panose="02040503050406030204" pitchFamily="18" charset="0"/>
                          </a:rPr>
                          <m:t>−</m:t>
                        </m:r>
                        <m:r>
                          <m:rPr>
                            <m:sty m:val="p"/>
                          </m:rPr>
                          <a:rPr lang="en-IN">
                            <a:latin typeface="Cambria Math" panose="02040503050406030204" pitchFamily="18" charset="0"/>
                          </a:rPr>
                          <m:t>ln</m:t>
                        </m:r>
                        <m:r>
                          <a:rPr lang="en-IN">
                            <a:latin typeface="Cambria Math" panose="02040503050406030204" pitchFamily="18" charset="0"/>
                          </a:rPr>
                          <m:t>⁡</m:t>
                        </m:r>
                        <m:d>
                          <m:dPr>
                            <m:ctrlPr>
                              <a:rPr lang="ar-AE" i="1">
                                <a:latin typeface="Cambria Math" panose="02040503050406030204" pitchFamily="18" charset="0"/>
                              </a:rPr>
                            </m:ctrlPr>
                          </m:dP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64</m:t>
                            </m:r>
                          </m:e>
                        </m:d>
                        <m:r>
                          <a:rPr lang="ar-AE">
                            <a:latin typeface="Cambria Math" panose="02040503050406030204" pitchFamily="18" charset="0"/>
                          </a:rPr>
                          <m:t>−</m:t>
                        </m:r>
                        <m:r>
                          <a:rPr lang="ar-AE">
                            <a:latin typeface="Cambria Math" panose="02040503050406030204" pitchFamily="18" charset="0"/>
                          </a:rPr>
                          <m:t>1</m:t>
                        </m:r>
                      </m:e>
                    </m:d>
                  </m:oMath>
                </a14:m>
                <a:endParaRPr lang="ar-AE" dirty="0"/>
              </a:p>
              <a:p>
                <a14:m>
                  <m:oMath xmlns:m="http://schemas.openxmlformats.org/officeDocument/2006/math">
                    <m:r>
                      <a:rPr lang="ar-AE">
                        <a:latin typeface="Cambria Math" panose="02040503050406030204" pitchFamily="18" charset="0"/>
                      </a:rPr>
                      <m:t>=</m:t>
                    </m:r>
                    <m:f>
                      <m:fPr>
                        <m:ctrlPr>
                          <a:rPr lang="ar-AE" i="1">
                            <a:latin typeface="Cambria Math" panose="02040503050406030204" pitchFamily="18" charset="0"/>
                          </a:rPr>
                        </m:ctrlPr>
                      </m:fPr>
                      <m:num>
                        <m:r>
                          <a:rPr lang="ar-AE">
                            <a:latin typeface="Cambria Math" panose="02040503050406030204" pitchFamily="18" charset="0"/>
                          </a:rPr>
                          <m:t>1</m:t>
                        </m:r>
                      </m:num>
                      <m:den>
                        <m:r>
                          <a:rPr lang="ar-AE">
                            <a:latin typeface="Cambria Math" panose="02040503050406030204" pitchFamily="18" charset="0"/>
                          </a:rPr>
                          <m:t>2</m:t>
                        </m:r>
                      </m:den>
                    </m:f>
                    <m:d>
                      <m:dPr>
                        <m:ctrlPr>
                          <a:rPr lang="ar-AE" i="1">
                            <a:latin typeface="Cambria Math" panose="02040503050406030204" pitchFamily="18" charset="0"/>
                          </a:rPr>
                        </m:ctrlPr>
                      </m:dPr>
                      <m:e>
                        <m:r>
                          <a:rPr lang="ar-AE">
                            <a:latin typeface="Cambria Math" panose="02040503050406030204" pitchFamily="18" charset="0"/>
                          </a:rPr>
                          <m:t>1</m:t>
                        </m:r>
                        <m:r>
                          <a:rPr lang="ar-AE">
                            <a:latin typeface="Cambria Math" panose="02040503050406030204" pitchFamily="18" charset="0"/>
                          </a:rPr>
                          <m:t>−</m:t>
                        </m:r>
                        <m:d>
                          <m:dPr>
                            <m:ctrlPr>
                              <a:rPr lang="ar-AE" i="1">
                                <a:latin typeface="Cambria Math" panose="02040503050406030204" pitchFamily="18" charset="0"/>
                              </a:rPr>
                            </m:ctrlPr>
                          </m:dPr>
                          <m:e>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446</m:t>
                            </m:r>
                          </m:e>
                        </m:d>
                        <m:r>
                          <a:rPr lang="ar-AE">
                            <a:latin typeface="Cambria Math" panose="02040503050406030204" pitchFamily="18" charset="0"/>
                          </a:rPr>
                          <m:t>−</m:t>
                        </m:r>
                        <m:r>
                          <a:rPr lang="ar-AE">
                            <a:latin typeface="Cambria Math" panose="02040503050406030204" pitchFamily="18" charset="0"/>
                          </a:rPr>
                          <m:t>1</m:t>
                        </m:r>
                      </m:e>
                    </m:d>
                  </m:oMath>
                </a14:m>
                <a:endParaRPr lang="ar-AE" dirty="0"/>
              </a:p>
              <a:p>
                <a14:m>
                  <m:oMath xmlns:m="http://schemas.openxmlformats.org/officeDocument/2006/math">
                    <m:r>
                      <a:rPr lang="ar-AE">
                        <a:latin typeface="Cambria Math" panose="02040503050406030204" pitchFamily="18" charset="0"/>
                      </a:rPr>
                      <m:t>=</m:t>
                    </m:r>
                    <m:f>
                      <m:fPr>
                        <m:ctrlPr>
                          <a:rPr lang="ar-AE" i="1">
                            <a:latin typeface="Cambria Math" panose="02040503050406030204" pitchFamily="18" charset="0"/>
                          </a:rPr>
                        </m:ctrlPr>
                      </m:fPr>
                      <m:num>
                        <m:r>
                          <a:rPr lang="ar-AE">
                            <a:latin typeface="Cambria Math" panose="02040503050406030204" pitchFamily="18" charset="0"/>
                          </a:rPr>
                          <m:t>1</m:t>
                        </m:r>
                      </m:num>
                      <m:den>
                        <m:r>
                          <a:rPr lang="ar-AE">
                            <a:latin typeface="Cambria Math" panose="02040503050406030204" pitchFamily="18" charset="0"/>
                          </a:rPr>
                          <m:t>2</m:t>
                        </m:r>
                      </m:den>
                    </m:f>
                    <m:d>
                      <m:dPr>
                        <m:ctrlPr>
                          <a:rPr lang="ar-AE" i="1">
                            <a:latin typeface="Cambria Math" panose="02040503050406030204" pitchFamily="18" charset="0"/>
                          </a:rPr>
                        </m:ctrlPr>
                      </m:dP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446</m:t>
                        </m:r>
                      </m:e>
                    </m:d>
                  </m:oMath>
                </a14:m>
                <a:endParaRPr lang="ar-AE" dirty="0"/>
              </a:p>
              <a:p>
                <a14:m>
                  <m:oMath xmlns:m="http://schemas.openxmlformats.org/officeDocument/2006/math">
                    <m:borderBox>
                      <m:borderBoxPr>
                        <m:ctrlPr>
                          <a:rPr lang="ar-AE" i="1">
                            <a:latin typeface="Cambria Math" panose="02040503050406030204" pitchFamily="18" charset="0"/>
                          </a:rPr>
                        </m:ctrlPr>
                      </m:borderBoxPr>
                      <m:e>
                        <m:sSub>
                          <m:sSubPr>
                            <m:ctrlPr>
                              <a:rPr lang="ar-AE" i="1">
                                <a:latin typeface="Cambria Math" panose="02040503050406030204" pitchFamily="18" charset="0"/>
                              </a:rPr>
                            </m:ctrlPr>
                          </m:sSubPr>
                          <m:e>
                            <m:r>
                              <a:rPr lang="ar-AE" i="1">
                                <a:latin typeface="Cambria Math" panose="02040503050406030204" pitchFamily="18" charset="0"/>
                              </a:rPr>
                              <m:t>𝐿</m:t>
                            </m:r>
                          </m:e>
                          <m:sub>
                            <m:r>
                              <a:rPr lang="ar-AE" i="1">
                                <a:latin typeface="Cambria Math" panose="02040503050406030204" pitchFamily="18" charset="0"/>
                              </a:rPr>
                              <m:t>𝐾𝐿</m:t>
                            </m:r>
                          </m:sub>
                        </m:sSub>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223</m:t>
                        </m:r>
                      </m:e>
                    </m:borderBox>
                  </m:oMath>
                </a14:m>
                <a:endParaRPr lang="ar-AE" dirty="0"/>
              </a:p>
              <a:p>
                <a:endParaRPr lang="en-IN" dirty="0"/>
              </a:p>
            </p:txBody>
          </p:sp>
        </mc:Choice>
        <mc:Fallback xmlns="">
          <p:sp>
            <p:nvSpPr>
              <p:cNvPr id="3" name="Content Placeholder 2">
                <a:extLst>
                  <a:ext uri="{FF2B5EF4-FFF2-40B4-BE49-F238E27FC236}">
                    <a16:creationId xmlns:a16="http://schemas.microsoft.com/office/drawing/2014/main" id="{8F8E4821-A5C8-1202-C2C2-3791C8336EAE}"/>
                  </a:ext>
                </a:extLst>
              </p:cNvPr>
              <p:cNvSpPr>
                <a:spLocks noGrp="1" noRot="1" noChangeAspect="1" noMove="1" noResize="1" noEditPoints="1" noAdjustHandles="1" noChangeArrowheads="1" noChangeShapeType="1" noTextEdit="1"/>
              </p:cNvSpPr>
              <p:nvPr>
                <p:ph idx="1"/>
              </p:nvPr>
            </p:nvSpPr>
            <p:spPr>
              <a:xfrm>
                <a:off x="1097281" y="1625600"/>
                <a:ext cx="4185920" cy="4500670"/>
              </a:xfrm>
              <a:blipFill>
                <a:blip r:embed="rId2"/>
                <a:stretch>
                  <a:fillRect l="-3493" t="-2575"/>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83E0D3DA-6245-39F6-2500-1E736175BEEF}"/>
                  </a:ext>
                </a:extLst>
              </p:cNvPr>
              <p:cNvSpPr txBox="1"/>
              <p:nvPr/>
            </p:nvSpPr>
            <p:spPr>
              <a:xfrm>
                <a:off x="6451600" y="2475057"/>
                <a:ext cx="4714240" cy="1237326"/>
              </a:xfrm>
              <a:prstGeom prst="rect">
                <a:avLst/>
              </a:prstGeom>
              <a:noFill/>
            </p:spPr>
            <p:txBody>
              <a:bodyPr wrap="square">
                <a:spAutoFit/>
              </a:bodyPr>
              <a:lstStyle/>
              <a:p>
                <a:pPr>
                  <a:buNone/>
                </a:pPr>
                <a:r>
                  <a:rPr lang="en-IN" b="1" dirty="0"/>
                  <a:t>STEP 6: Total VAE Loss</a:t>
                </a:r>
              </a:p>
              <a:p>
                <a:pPr>
                  <a:buNone/>
                </a:pPr>
                <a14:m>
                  <m:oMathPara xmlns:m="http://schemas.openxmlformats.org/officeDocument/2006/math">
                    <m:oMathParaPr>
                      <m:jc m:val="centerGroup"/>
                    </m:oMathParaPr>
                    <m:oMath xmlns:m="http://schemas.openxmlformats.org/officeDocument/2006/math">
                      <m:r>
                        <a:rPr lang="en-IN" i="1">
                          <a:latin typeface="Cambria Math" panose="02040503050406030204" pitchFamily="18" charset="0"/>
                        </a:rPr>
                        <m:t>𝐿</m:t>
                      </m:r>
                      <m:r>
                        <a:rPr lang="en-IN" i="0">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𝐿</m:t>
                          </m:r>
                        </m:e>
                        <m:sub>
                          <m:r>
                            <a:rPr lang="ar-AE" i="1">
                              <a:latin typeface="Cambria Math" panose="02040503050406030204" pitchFamily="18" charset="0"/>
                            </a:rPr>
                            <m:t>𝑟𝑒𝑐</m:t>
                          </m:r>
                        </m:sub>
                      </m:sSub>
                      <m:r>
                        <a:rPr lang="ar-AE" i="0">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𝐿</m:t>
                          </m:r>
                        </m:e>
                        <m:sub>
                          <m:r>
                            <a:rPr lang="ar-AE" i="1">
                              <a:latin typeface="Cambria Math" panose="02040503050406030204" pitchFamily="18" charset="0"/>
                            </a:rPr>
                            <m:t>𝐾𝐿</m:t>
                          </m:r>
                        </m:sub>
                      </m:sSub>
                    </m:oMath>
                  </m:oMathPara>
                </a14:m>
                <a:endParaRPr lang="ar-AE" dirty="0"/>
              </a:p>
              <a:p>
                <a:pPr>
                  <a:buNone/>
                </a:pPr>
                <a14:m>
                  <m:oMathPara xmlns:m="http://schemas.openxmlformats.org/officeDocument/2006/math">
                    <m:oMathParaPr>
                      <m:jc m:val="centerGroup"/>
                    </m:oMathParaPr>
                    <m:oMath xmlns:m="http://schemas.openxmlformats.org/officeDocument/2006/math">
                      <m:r>
                        <a:rPr lang="ar-AE" i="1">
                          <a:latin typeface="Cambria Math" panose="02040503050406030204" pitchFamily="18" charset="0"/>
                        </a:rPr>
                        <m:t>𝐿</m:t>
                      </m:r>
                      <m:r>
                        <a:rPr lang="ar-AE" i="0">
                          <a:latin typeface="Cambria Math" panose="02040503050406030204" pitchFamily="18" charset="0"/>
                        </a:rPr>
                        <m:t>=</m:t>
                      </m:r>
                      <m:r>
                        <a:rPr lang="ar-AE" i="0">
                          <a:latin typeface="Cambria Math" panose="02040503050406030204" pitchFamily="18" charset="0"/>
                        </a:rPr>
                        <m:t>0</m:t>
                      </m:r>
                      <m:r>
                        <a:rPr lang="ar-AE" i="0">
                          <a:latin typeface="Cambria Math" panose="02040503050406030204" pitchFamily="18" charset="0"/>
                        </a:rPr>
                        <m:t>.</m:t>
                      </m:r>
                      <m:r>
                        <a:rPr lang="ar-AE" i="0">
                          <a:latin typeface="Cambria Math" panose="02040503050406030204" pitchFamily="18" charset="0"/>
                        </a:rPr>
                        <m:t>257</m:t>
                      </m:r>
                      <m:r>
                        <a:rPr lang="ar-AE" i="0">
                          <a:latin typeface="Cambria Math" panose="02040503050406030204" pitchFamily="18" charset="0"/>
                        </a:rPr>
                        <m:t>+</m:t>
                      </m:r>
                      <m:r>
                        <a:rPr lang="ar-AE" i="0">
                          <a:latin typeface="Cambria Math" panose="02040503050406030204" pitchFamily="18" charset="0"/>
                        </a:rPr>
                        <m:t>0</m:t>
                      </m:r>
                      <m:r>
                        <a:rPr lang="ar-AE" i="0">
                          <a:latin typeface="Cambria Math" panose="02040503050406030204" pitchFamily="18" charset="0"/>
                        </a:rPr>
                        <m:t>.</m:t>
                      </m:r>
                      <m:r>
                        <a:rPr lang="ar-AE" i="0">
                          <a:latin typeface="Cambria Math" panose="02040503050406030204" pitchFamily="18" charset="0"/>
                        </a:rPr>
                        <m:t>223</m:t>
                      </m:r>
                    </m:oMath>
                  </m:oMathPara>
                </a14:m>
                <a:endParaRPr lang="ar-AE" dirty="0"/>
              </a:p>
              <a:p>
                <a:pPr>
                  <a:buNone/>
                </a:pPr>
                <a14:m>
                  <m:oMathPara xmlns:m="http://schemas.openxmlformats.org/officeDocument/2006/math">
                    <m:oMathParaPr>
                      <m:jc m:val="centerGroup"/>
                    </m:oMathParaPr>
                    <m:oMath xmlns:m="http://schemas.openxmlformats.org/officeDocument/2006/math">
                      <m:borderBox>
                        <m:borderBoxPr>
                          <m:ctrlPr>
                            <a:rPr lang="ar-AE" i="1">
                              <a:latin typeface="Cambria Math" panose="02040503050406030204" pitchFamily="18" charset="0"/>
                            </a:rPr>
                          </m:ctrlPr>
                        </m:borderBoxPr>
                        <m:e>
                          <m:r>
                            <a:rPr lang="ar-AE" i="1">
                              <a:latin typeface="Cambria Math" panose="02040503050406030204" pitchFamily="18" charset="0"/>
                            </a:rPr>
                            <m:t>𝐿</m:t>
                          </m:r>
                          <m:r>
                            <a:rPr lang="ar-AE" i="0">
                              <a:latin typeface="Cambria Math" panose="02040503050406030204" pitchFamily="18" charset="0"/>
                            </a:rPr>
                            <m:t>=</m:t>
                          </m:r>
                          <m:r>
                            <a:rPr lang="ar-AE" i="0">
                              <a:latin typeface="Cambria Math" panose="02040503050406030204" pitchFamily="18" charset="0"/>
                            </a:rPr>
                            <m:t>0</m:t>
                          </m:r>
                          <m:r>
                            <a:rPr lang="ar-AE" i="0">
                              <a:latin typeface="Cambria Math" panose="02040503050406030204" pitchFamily="18" charset="0"/>
                            </a:rPr>
                            <m:t>.</m:t>
                          </m:r>
                          <m:r>
                            <a:rPr lang="ar-AE" i="0">
                              <a:latin typeface="Cambria Math" panose="02040503050406030204" pitchFamily="18" charset="0"/>
                            </a:rPr>
                            <m:t>480</m:t>
                          </m:r>
                        </m:e>
                      </m:borderBox>
                    </m:oMath>
                  </m:oMathPara>
                </a14:m>
                <a:endParaRPr lang="ar-AE" dirty="0"/>
              </a:p>
            </p:txBody>
          </p:sp>
        </mc:Choice>
        <mc:Fallback xmlns="">
          <p:sp>
            <p:nvSpPr>
              <p:cNvPr id="5" name="TextBox 4">
                <a:extLst>
                  <a:ext uri="{FF2B5EF4-FFF2-40B4-BE49-F238E27FC236}">
                    <a16:creationId xmlns:a16="http://schemas.microsoft.com/office/drawing/2014/main" id="{83E0D3DA-6245-39F6-2500-1E736175BEEF}"/>
                  </a:ext>
                </a:extLst>
              </p:cNvPr>
              <p:cNvSpPr txBox="1">
                <a:spLocks noRot="1" noChangeAspect="1" noMove="1" noResize="1" noEditPoints="1" noAdjustHandles="1" noChangeArrowheads="1" noChangeShapeType="1" noTextEdit="1"/>
              </p:cNvSpPr>
              <p:nvPr/>
            </p:nvSpPr>
            <p:spPr>
              <a:xfrm>
                <a:off x="6451600" y="2475057"/>
                <a:ext cx="4714240" cy="1237326"/>
              </a:xfrm>
              <a:prstGeom prst="rect">
                <a:avLst/>
              </a:prstGeom>
              <a:blipFill>
                <a:blip r:embed="rId3"/>
                <a:stretch>
                  <a:fillRect l="-1034" t="-2463"/>
                </a:stretch>
              </a:blipFill>
            </p:spPr>
            <p:txBody>
              <a:bodyPr/>
              <a:lstStyle/>
              <a:p>
                <a:r>
                  <a:rPr lang="en-IN">
                    <a:noFill/>
                  </a:rPr>
                  <a:t> </a:t>
                </a:r>
              </a:p>
            </p:txBody>
          </p:sp>
        </mc:Fallback>
      </mc:AlternateContent>
    </p:spTree>
    <p:extLst>
      <p:ext uri="{BB962C8B-B14F-4D97-AF65-F5344CB8AC3E}">
        <p14:creationId xmlns:p14="http://schemas.microsoft.com/office/powerpoint/2010/main" val="385293482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8F9ED2-43F4-F734-5396-CEA9DBB78D60}"/>
              </a:ext>
            </a:extLst>
          </p:cNvPr>
          <p:cNvSpPr>
            <a:spLocks noGrp="1"/>
          </p:cNvSpPr>
          <p:nvPr>
            <p:ph type="title"/>
          </p:nvPr>
        </p:nvSpPr>
        <p:spPr/>
        <p:txBody>
          <a:bodyPr>
            <a:normAutofit fontScale="90000"/>
          </a:bodyPr>
          <a:lstStyle/>
          <a:p>
            <a:endParaRPr lang="en-IN"/>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FA5E591-0FBB-931E-A32E-4538339F3D7E}"/>
                  </a:ext>
                </a:extLst>
              </p:cNvPr>
              <p:cNvSpPr>
                <a:spLocks noGrp="1"/>
              </p:cNvSpPr>
              <p:nvPr>
                <p:ph idx="1"/>
              </p:nvPr>
            </p:nvSpPr>
            <p:spPr>
              <a:xfrm>
                <a:off x="1025842" y="1381760"/>
                <a:ext cx="10211435" cy="4714030"/>
              </a:xfrm>
            </p:spPr>
            <p:txBody>
              <a:bodyPr>
                <a:normAutofit fontScale="85000" lnSpcReduction="10000"/>
              </a:bodyPr>
              <a:lstStyle/>
              <a:p>
                <a:pPr>
                  <a:lnSpc>
                    <a:spcPct val="120000"/>
                  </a:lnSpc>
                  <a:spcBef>
                    <a:spcPts val="0"/>
                  </a:spcBef>
                  <a:spcAft>
                    <a:spcPts val="0"/>
                  </a:spcAft>
                </a:pPr>
                <a:r>
                  <a:rPr lang="en-IN" b="1" dirty="0"/>
                  <a:t>Final Results</a:t>
                </a:r>
              </a:p>
              <a:p>
                <a:pPr>
                  <a:lnSpc>
                    <a:spcPct val="120000"/>
                  </a:lnSpc>
                  <a:spcBef>
                    <a:spcPts val="0"/>
                  </a:spcBef>
                  <a:spcAft>
                    <a:spcPts val="0"/>
                  </a:spcAft>
                </a:pPr>
                <a:r>
                  <a:rPr lang="en-IN" b="1" dirty="0"/>
                  <a:t>Mean &amp; variance learned</a:t>
                </a:r>
              </a:p>
              <a:p>
                <a:pPr>
                  <a:lnSpc>
                    <a:spcPct val="120000"/>
                  </a:lnSpc>
                  <a:spcBef>
                    <a:spcPts val="0"/>
                  </a:spcBef>
                  <a:spcAft>
                    <a:spcPts val="0"/>
                  </a:spcAft>
                </a:pPr>
                <a14:m>
                  <m:oMath xmlns:m="http://schemas.openxmlformats.org/officeDocument/2006/math">
                    <m:r>
                      <a:rPr lang="en-IN" i="1">
                        <a:latin typeface="Cambria Math" panose="02040503050406030204" pitchFamily="18" charset="0"/>
                      </a:rPr>
                      <m:t>𝜇</m:t>
                    </m:r>
                    <m:r>
                      <a:rPr lang="en-IN">
                        <a:latin typeface="Cambria Math" panose="02040503050406030204" pitchFamily="18" charset="0"/>
                      </a:rPr>
                      <m:t>=</m:t>
                    </m:r>
                    <m:r>
                      <a:rPr lang="en-IN">
                        <a:latin typeface="Cambria Math" panose="02040503050406030204" pitchFamily="18" charset="0"/>
                      </a:rPr>
                      <m:t>0</m:t>
                    </m:r>
                    <m:r>
                      <a:rPr lang="en-IN">
                        <a:latin typeface="Cambria Math" panose="02040503050406030204" pitchFamily="18" charset="0"/>
                      </a:rPr>
                      <m:t>.</m:t>
                    </m:r>
                    <m:r>
                      <a:rPr lang="en-IN">
                        <a:latin typeface="Cambria Math" panose="02040503050406030204" pitchFamily="18" charset="0"/>
                      </a:rPr>
                      <m:t>6</m:t>
                    </m:r>
                    <m:r>
                      <a:rPr lang="en-IN">
                        <a:latin typeface="Cambria Math" panose="02040503050406030204" pitchFamily="18" charset="0"/>
                      </a:rPr>
                      <m:t>, </m:t>
                    </m:r>
                    <m:r>
                      <a:rPr lang="en-IN" i="1">
                        <a:latin typeface="Cambria Math" panose="02040503050406030204" pitchFamily="18" charset="0"/>
                      </a:rPr>
                      <m:t>𝜎</m:t>
                    </m:r>
                    <m:r>
                      <a:rPr lang="en-IN">
                        <a:latin typeface="Cambria Math" panose="02040503050406030204" pitchFamily="18" charset="0"/>
                      </a:rPr>
                      <m:t>=</m:t>
                    </m:r>
                    <m:r>
                      <a:rPr lang="en-IN">
                        <a:latin typeface="Cambria Math" panose="02040503050406030204" pitchFamily="18" charset="0"/>
                      </a:rPr>
                      <m:t>0</m:t>
                    </m:r>
                    <m:r>
                      <a:rPr lang="en-IN">
                        <a:latin typeface="Cambria Math" panose="02040503050406030204" pitchFamily="18" charset="0"/>
                      </a:rPr>
                      <m:t>.</m:t>
                    </m:r>
                    <m:r>
                      <a:rPr lang="en-IN">
                        <a:latin typeface="Cambria Math" panose="02040503050406030204" pitchFamily="18" charset="0"/>
                      </a:rPr>
                      <m:t>8</m:t>
                    </m:r>
                  </m:oMath>
                </a14:m>
                <a:endParaRPr lang="en-IN" dirty="0"/>
              </a:p>
              <a:p>
                <a:pPr>
                  <a:lnSpc>
                    <a:spcPct val="120000"/>
                  </a:lnSpc>
                  <a:spcBef>
                    <a:spcPts val="0"/>
                  </a:spcBef>
                  <a:spcAft>
                    <a:spcPts val="0"/>
                  </a:spcAft>
                </a:pPr>
                <a:r>
                  <a:rPr lang="en-IN" b="1" dirty="0"/>
                  <a:t>Sampled latent vector</a:t>
                </a:r>
              </a:p>
              <a:p>
                <a:pPr>
                  <a:lnSpc>
                    <a:spcPct val="120000"/>
                  </a:lnSpc>
                  <a:spcBef>
                    <a:spcPts val="0"/>
                  </a:spcBef>
                  <a:spcAft>
                    <a:spcPts val="0"/>
                  </a:spcAft>
                </a:pPr>
                <a14:m>
                  <m:oMath xmlns:m="http://schemas.openxmlformats.org/officeDocument/2006/math">
                    <m:r>
                      <a:rPr lang="en-IN" i="1">
                        <a:latin typeface="Cambria Math" panose="02040503050406030204" pitchFamily="18" charset="0"/>
                      </a:rPr>
                      <m:t>𝑧</m:t>
                    </m:r>
                    <m:r>
                      <a:rPr lang="en-IN">
                        <a:latin typeface="Cambria Math" panose="02040503050406030204" pitchFamily="18" charset="0"/>
                      </a:rPr>
                      <m:t>=</m:t>
                    </m:r>
                    <m:r>
                      <a:rPr lang="en-IN">
                        <a:latin typeface="Cambria Math" panose="02040503050406030204" pitchFamily="18" charset="0"/>
                      </a:rPr>
                      <m:t>1</m:t>
                    </m:r>
                    <m:r>
                      <a:rPr lang="en-IN">
                        <a:latin typeface="Cambria Math" panose="02040503050406030204" pitchFamily="18" charset="0"/>
                      </a:rPr>
                      <m:t>.</m:t>
                    </m:r>
                    <m:r>
                      <a:rPr lang="en-IN">
                        <a:latin typeface="Cambria Math" panose="02040503050406030204" pitchFamily="18" charset="0"/>
                      </a:rPr>
                      <m:t>0</m:t>
                    </m:r>
                  </m:oMath>
                </a14:m>
                <a:endParaRPr lang="en-IN" dirty="0"/>
              </a:p>
              <a:p>
                <a:pPr>
                  <a:lnSpc>
                    <a:spcPct val="120000"/>
                  </a:lnSpc>
                  <a:spcBef>
                    <a:spcPts val="0"/>
                  </a:spcBef>
                  <a:spcAft>
                    <a:spcPts val="0"/>
                  </a:spcAft>
                </a:pPr>
                <a:r>
                  <a:rPr lang="en-IN" b="1" dirty="0"/>
                  <a:t>Reconstruction</a:t>
                </a:r>
              </a:p>
              <a:p>
                <a:pPr>
                  <a:lnSpc>
                    <a:spcPct val="120000"/>
                  </a:lnSpc>
                  <a:spcBef>
                    <a:spcPts val="0"/>
                  </a:spcBef>
                  <a:spcAft>
                    <a:spcPts val="0"/>
                  </a:spcAft>
                </a:pPr>
                <a14:m>
                  <m:oMath xmlns:m="http://schemas.openxmlformats.org/officeDocument/2006/math">
                    <m:d>
                      <m:dPr>
                        <m:begChr m:val="["/>
                        <m:endChr m:val="]"/>
                        <m:sepChr m:val=","/>
                        <m:ctrlPr>
                          <a:rPr lang="ar-AE" i="1">
                            <a:latin typeface="Cambria Math" panose="02040503050406030204" pitchFamily="18" charset="0"/>
                          </a:rPr>
                        </m:ctrlPr>
                      </m:dP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690</m:t>
                        </m:r>
                      </m:e>
                      <m:e>
                        <m:r>
                          <m:rPr>
                            <m:nor/>
                          </m:rPr>
                          <a:rPr lang="ar-AE" i="1"/>
                          <m:t>  </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401</m:t>
                        </m:r>
                      </m:e>
                    </m:d>
                  </m:oMath>
                </a14:m>
                <a:endParaRPr lang="ar-AE" b="0" dirty="0"/>
              </a:p>
              <a:p>
                <a:pPr>
                  <a:lnSpc>
                    <a:spcPct val="120000"/>
                  </a:lnSpc>
                  <a:spcBef>
                    <a:spcPts val="0"/>
                  </a:spcBef>
                  <a:spcAft>
                    <a:spcPts val="0"/>
                  </a:spcAft>
                </a:pPr>
                <a:r>
                  <a:rPr lang="en-IN" b="1" dirty="0"/>
                  <a:t>Reconstruction loss</a:t>
                </a:r>
              </a:p>
              <a:p>
                <a:pPr>
                  <a:lnSpc>
                    <a:spcPct val="120000"/>
                  </a:lnSpc>
                  <a:spcBef>
                    <a:spcPts val="0"/>
                  </a:spcBef>
                  <a:spcAft>
                    <a:spcPts val="0"/>
                  </a:spcAft>
                </a:pPr>
                <a14:m>
                  <m:oMath xmlns:m="http://schemas.openxmlformats.org/officeDocument/2006/math">
                    <m:r>
                      <a:rPr lang="en-IN">
                        <a:latin typeface="Cambria Math" panose="02040503050406030204" pitchFamily="18" charset="0"/>
                      </a:rPr>
                      <m:t>0</m:t>
                    </m:r>
                    <m:r>
                      <a:rPr lang="en-IN">
                        <a:latin typeface="Cambria Math" panose="02040503050406030204" pitchFamily="18" charset="0"/>
                      </a:rPr>
                      <m:t>.</m:t>
                    </m:r>
                    <m:r>
                      <a:rPr lang="en-IN">
                        <a:latin typeface="Cambria Math" panose="02040503050406030204" pitchFamily="18" charset="0"/>
                      </a:rPr>
                      <m:t>257</m:t>
                    </m:r>
                  </m:oMath>
                </a14:m>
                <a:endParaRPr lang="en-IN" dirty="0"/>
              </a:p>
              <a:p>
                <a:pPr>
                  <a:lnSpc>
                    <a:spcPct val="120000"/>
                  </a:lnSpc>
                  <a:spcBef>
                    <a:spcPts val="0"/>
                  </a:spcBef>
                  <a:spcAft>
                    <a:spcPts val="0"/>
                  </a:spcAft>
                </a:pPr>
                <a:r>
                  <a:rPr lang="en-IN" b="1" dirty="0"/>
                  <a:t>KL divergence</a:t>
                </a:r>
              </a:p>
              <a:p>
                <a:pPr>
                  <a:lnSpc>
                    <a:spcPct val="120000"/>
                  </a:lnSpc>
                  <a:spcBef>
                    <a:spcPts val="0"/>
                  </a:spcBef>
                  <a:spcAft>
                    <a:spcPts val="0"/>
                  </a:spcAft>
                </a:pPr>
                <a14:m>
                  <m:oMath xmlns:m="http://schemas.openxmlformats.org/officeDocument/2006/math">
                    <m:r>
                      <a:rPr lang="en-IN">
                        <a:latin typeface="Cambria Math" panose="02040503050406030204" pitchFamily="18" charset="0"/>
                      </a:rPr>
                      <m:t>0</m:t>
                    </m:r>
                    <m:r>
                      <a:rPr lang="en-IN">
                        <a:latin typeface="Cambria Math" panose="02040503050406030204" pitchFamily="18" charset="0"/>
                      </a:rPr>
                      <m:t>.</m:t>
                    </m:r>
                    <m:r>
                      <a:rPr lang="en-IN">
                        <a:latin typeface="Cambria Math" panose="02040503050406030204" pitchFamily="18" charset="0"/>
                      </a:rPr>
                      <m:t>223</m:t>
                    </m:r>
                  </m:oMath>
                </a14:m>
                <a:endParaRPr lang="en-IN" dirty="0"/>
              </a:p>
              <a:p>
                <a:pPr>
                  <a:lnSpc>
                    <a:spcPct val="120000"/>
                  </a:lnSpc>
                  <a:spcBef>
                    <a:spcPts val="0"/>
                  </a:spcBef>
                  <a:spcAft>
                    <a:spcPts val="0"/>
                  </a:spcAft>
                </a:pPr>
                <a:r>
                  <a:rPr lang="en-IN" b="1" dirty="0"/>
                  <a:t>Total loss</a:t>
                </a:r>
              </a:p>
              <a:p>
                <a:pPr>
                  <a:lnSpc>
                    <a:spcPct val="120000"/>
                  </a:lnSpc>
                  <a:spcBef>
                    <a:spcPts val="0"/>
                  </a:spcBef>
                  <a:spcAft>
                    <a:spcPts val="0"/>
                  </a:spcAft>
                </a:pPr>
                <a14:m>
                  <m:oMath xmlns:m="http://schemas.openxmlformats.org/officeDocument/2006/math">
                    <m:borderBox>
                      <m:borderBoxPr>
                        <m:ctrlPr>
                          <a:rPr lang="ar-AE" i="1">
                            <a:latin typeface="Cambria Math" panose="02040503050406030204" pitchFamily="18" charset="0"/>
                          </a:rPr>
                        </m:ctrlPr>
                      </m:borderBoxP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480</m:t>
                        </m:r>
                      </m:e>
                    </m:borderBox>
                  </m:oMath>
                </a14:m>
                <a:endParaRPr lang="ar-AE" dirty="0"/>
              </a:p>
              <a:p>
                <a:pPr>
                  <a:lnSpc>
                    <a:spcPct val="120000"/>
                  </a:lnSpc>
                  <a:spcBef>
                    <a:spcPts val="0"/>
                  </a:spcBef>
                  <a:spcAft>
                    <a:spcPts val="0"/>
                  </a:spcAft>
                </a:pPr>
                <a:endParaRPr lang="en-IN" dirty="0"/>
              </a:p>
            </p:txBody>
          </p:sp>
        </mc:Choice>
        <mc:Fallback xmlns="">
          <p:sp>
            <p:nvSpPr>
              <p:cNvPr id="3" name="Content Placeholder 2">
                <a:extLst>
                  <a:ext uri="{FF2B5EF4-FFF2-40B4-BE49-F238E27FC236}">
                    <a16:creationId xmlns:a16="http://schemas.microsoft.com/office/drawing/2014/main" id="{FFA5E591-0FBB-931E-A32E-4538339F3D7E}"/>
                  </a:ext>
                </a:extLst>
              </p:cNvPr>
              <p:cNvSpPr>
                <a:spLocks noGrp="1" noRot="1" noChangeAspect="1" noMove="1" noResize="1" noEditPoints="1" noAdjustHandles="1" noChangeArrowheads="1" noChangeShapeType="1" noTextEdit="1"/>
              </p:cNvSpPr>
              <p:nvPr>
                <p:ph idx="1"/>
              </p:nvPr>
            </p:nvSpPr>
            <p:spPr>
              <a:xfrm>
                <a:off x="1025842" y="1381760"/>
                <a:ext cx="10211435" cy="4714030"/>
              </a:xfrm>
              <a:blipFill>
                <a:blip r:embed="rId2"/>
                <a:stretch>
                  <a:fillRect l="-1433" t="-517" b="-388"/>
                </a:stretch>
              </a:blipFill>
            </p:spPr>
            <p:txBody>
              <a:bodyPr/>
              <a:lstStyle/>
              <a:p>
                <a:r>
                  <a:rPr lang="en-IN">
                    <a:noFill/>
                  </a:rPr>
                  <a:t> </a:t>
                </a:r>
              </a:p>
            </p:txBody>
          </p:sp>
        </mc:Fallback>
      </mc:AlternateContent>
    </p:spTree>
    <p:extLst>
      <p:ext uri="{BB962C8B-B14F-4D97-AF65-F5344CB8AC3E}">
        <p14:creationId xmlns:p14="http://schemas.microsoft.com/office/powerpoint/2010/main" val="40971884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42EEDA-AB39-6923-CC05-1DEB9948409B}"/>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364FB181-B9C7-3FE1-0EE9-6E79A4315C46}"/>
              </a:ext>
            </a:extLst>
          </p:cNvPr>
          <p:cNvSpPr>
            <a:spLocks noGrp="1"/>
          </p:cNvSpPr>
          <p:nvPr>
            <p:ph idx="1"/>
          </p:nvPr>
        </p:nvSpPr>
        <p:spPr>
          <a:xfrm>
            <a:off x="1025842" y="1483360"/>
            <a:ext cx="10201275" cy="4642910"/>
          </a:xfrm>
        </p:spPr>
        <p:txBody>
          <a:bodyPr/>
          <a:lstStyle/>
          <a:p>
            <a:r>
              <a:rPr lang="en-IN" b="1" dirty="0"/>
              <a:t>Comparisons and Evolution</a:t>
            </a:r>
          </a:p>
          <a:p>
            <a:r>
              <a:rPr lang="en-IN" b="1" dirty="0"/>
              <a:t>Undercomplete vs. Overcomplete</a:t>
            </a:r>
            <a:r>
              <a:rPr lang="en-IN" dirty="0"/>
              <a:t>: Trade-off between compression and richness; sparse/denoising often build on these.</a:t>
            </a:r>
          </a:p>
          <a:p>
            <a:r>
              <a:rPr lang="en-IN" b="1" dirty="0"/>
              <a:t>Deterministic vs. Probabilistic</a:t>
            </a:r>
            <a:r>
              <a:rPr lang="en-IN" dirty="0"/>
              <a:t>: Basic types are deterministic; VAEs/AAEs add stochasticity for generation.</a:t>
            </a:r>
          </a:p>
          <a:p>
            <a:r>
              <a:rPr lang="en-IN" b="1" dirty="0"/>
              <a:t>Evolution</a:t>
            </a:r>
            <a:r>
              <a:rPr lang="en-IN" dirty="0"/>
              <a:t>: From simple compression (1980s) to generative (VAEs 2013, AAEs 2015); modern hybrids like VQ-VAE (vector-quantized) or beta-VAE (disentangled) address limitations.</a:t>
            </a:r>
          </a:p>
          <a:p>
            <a:r>
              <a:rPr lang="en-IN" b="1" dirty="0"/>
              <a:t>Choosing a Type</a:t>
            </a:r>
            <a:r>
              <a:rPr lang="en-IN" dirty="0"/>
              <a:t>: For compression, use undercomplete/CAE; for generation, VAE/AAE; for robustness, DAE/sparse.</a:t>
            </a:r>
          </a:p>
          <a:p>
            <a:endParaRPr lang="en-IN" dirty="0"/>
          </a:p>
        </p:txBody>
      </p:sp>
    </p:spTree>
    <p:extLst>
      <p:ext uri="{BB962C8B-B14F-4D97-AF65-F5344CB8AC3E}">
        <p14:creationId xmlns:p14="http://schemas.microsoft.com/office/powerpoint/2010/main" val="80741111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41B2EF-656E-A16A-F2E2-F71B246BB30B}"/>
              </a:ext>
            </a:extLst>
          </p:cNvPr>
          <p:cNvSpPr>
            <a:spLocks noGrp="1"/>
          </p:cNvSpPr>
          <p:nvPr>
            <p:ph type="title"/>
          </p:nvPr>
        </p:nvSpPr>
        <p:spPr/>
        <p:txBody>
          <a:bodyPr>
            <a:normAutofit fontScale="90000"/>
          </a:bodyPr>
          <a:lstStyle/>
          <a:p>
            <a:endParaRPr lang="en-IN"/>
          </a:p>
        </p:txBody>
      </p:sp>
      <p:graphicFrame>
        <p:nvGraphicFramePr>
          <p:cNvPr id="4" name="Content Placeholder 3">
            <a:extLst>
              <a:ext uri="{FF2B5EF4-FFF2-40B4-BE49-F238E27FC236}">
                <a16:creationId xmlns:a16="http://schemas.microsoft.com/office/drawing/2014/main" id="{883C76FB-E6A3-68C3-40E7-825C7B098E1E}"/>
              </a:ext>
            </a:extLst>
          </p:cNvPr>
          <p:cNvGraphicFramePr>
            <a:graphicFrameLocks noGrp="1"/>
          </p:cNvGraphicFramePr>
          <p:nvPr>
            <p:ph idx="1"/>
            <p:extLst>
              <p:ext uri="{D42A27DB-BD31-4B8C-83A1-F6EECF244321}">
                <p14:modId xmlns:p14="http://schemas.microsoft.com/office/powerpoint/2010/main" val="4159797031"/>
              </p:ext>
            </p:extLst>
          </p:nvPr>
        </p:nvGraphicFramePr>
        <p:xfrm>
          <a:off x="416560" y="1270000"/>
          <a:ext cx="11511279" cy="4774312"/>
        </p:xfrm>
        <a:graphic>
          <a:graphicData uri="http://schemas.openxmlformats.org/drawingml/2006/table">
            <a:tbl>
              <a:tblPr/>
              <a:tblGrid>
                <a:gridCol w="1981200">
                  <a:extLst>
                    <a:ext uri="{9D8B030D-6E8A-4147-A177-3AD203B41FA5}">
                      <a16:colId xmlns:a16="http://schemas.microsoft.com/office/drawing/2014/main" val="4127612180"/>
                    </a:ext>
                  </a:extLst>
                </a:gridCol>
                <a:gridCol w="3849039">
                  <a:extLst>
                    <a:ext uri="{9D8B030D-6E8A-4147-A177-3AD203B41FA5}">
                      <a16:colId xmlns:a16="http://schemas.microsoft.com/office/drawing/2014/main" val="2095166496"/>
                    </a:ext>
                  </a:extLst>
                </a:gridCol>
                <a:gridCol w="2840520">
                  <a:extLst>
                    <a:ext uri="{9D8B030D-6E8A-4147-A177-3AD203B41FA5}">
                      <a16:colId xmlns:a16="http://schemas.microsoft.com/office/drawing/2014/main" val="2952824519"/>
                    </a:ext>
                  </a:extLst>
                </a:gridCol>
                <a:gridCol w="2840520">
                  <a:extLst>
                    <a:ext uri="{9D8B030D-6E8A-4147-A177-3AD203B41FA5}">
                      <a16:colId xmlns:a16="http://schemas.microsoft.com/office/drawing/2014/main" val="2099641071"/>
                    </a:ext>
                  </a:extLst>
                </a:gridCol>
              </a:tblGrid>
              <a:tr h="673902">
                <a:tc>
                  <a:txBody>
                    <a:bodyPr/>
                    <a:lstStyle/>
                    <a:p>
                      <a:pPr>
                        <a:buNone/>
                      </a:pPr>
                      <a:r>
                        <a:rPr lang="en-IN" sz="2400" b="1"/>
                        <a:t>Type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b="1"/>
                        <a:t>Key Idea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b="1"/>
                        <a:t>Strength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b="1" dirty="0"/>
                        <a:t>Use Case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64222745"/>
                  </a:ext>
                </a:extLst>
              </a:tr>
              <a:tr h="673902">
                <a:tc>
                  <a:txBody>
                    <a:bodyPr/>
                    <a:lstStyle/>
                    <a:p>
                      <a:pPr>
                        <a:buNone/>
                      </a:pPr>
                      <a:r>
                        <a:rPr lang="en-IN" sz="2400"/>
                        <a:t>Vanilla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a:t>Basic reconstruction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a:t>Simple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a:t>Compression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38823640"/>
                  </a:ext>
                </a:extLst>
              </a:tr>
              <a:tr h="673902">
                <a:tc>
                  <a:txBody>
                    <a:bodyPr/>
                    <a:lstStyle/>
                    <a:p>
                      <a:pPr>
                        <a:buNone/>
                      </a:pPr>
                      <a:r>
                        <a:rPr lang="en-IN" sz="2400"/>
                        <a:t>Sparse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a:t>Few active neurons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a:t>Feature selection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a:t>Anomaly detection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59732509"/>
                  </a:ext>
                </a:extLst>
              </a:tr>
              <a:tr h="673902">
                <a:tc>
                  <a:txBody>
                    <a:bodyPr/>
                    <a:lstStyle/>
                    <a:p>
                      <a:pPr>
                        <a:buNone/>
                      </a:pPr>
                      <a:r>
                        <a:rPr lang="en-IN" sz="2400"/>
                        <a:t>Denoising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a:t>Remove noise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a:t>Robust learning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a:t>Image cleaning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31236133"/>
                  </a:ext>
                </a:extLst>
              </a:tr>
              <a:tr h="673902">
                <a:tc>
                  <a:txBody>
                    <a:bodyPr/>
                    <a:lstStyle/>
                    <a:p>
                      <a:pPr>
                        <a:buNone/>
                      </a:pPr>
                      <a:r>
                        <a:rPr lang="en-IN" sz="2400"/>
                        <a:t>Contractive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a:t>Robust to small changes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a:t>Stability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a:t>Signal processing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38418571"/>
                  </a:ext>
                </a:extLst>
              </a:tr>
              <a:tr h="730900">
                <a:tc>
                  <a:txBody>
                    <a:bodyPr/>
                    <a:lstStyle/>
                    <a:p>
                      <a:pPr>
                        <a:buNone/>
                      </a:pPr>
                      <a:r>
                        <a:rPr lang="en-IN" sz="2400"/>
                        <a:t>Variational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a:t>Probabilistic latent space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a:t>Data generation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a:t>AI creativity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08826687"/>
                  </a:ext>
                </a:extLst>
              </a:tr>
              <a:tr h="673902">
                <a:tc>
                  <a:txBody>
                    <a:bodyPr/>
                    <a:lstStyle/>
                    <a:p>
                      <a:pPr>
                        <a:buNone/>
                      </a:pPr>
                      <a:r>
                        <a:rPr lang="en-IN" sz="2400"/>
                        <a:t>Convolutional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a:t>Spatial features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a:t>Images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dirty="0"/>
                        <a:t>Vision tasks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91293190"/>
                  </a:ext>
                </a:extLst>
              </a:tr>
            </a:tbl>
          </a:graphicData>
        </a:graphic>
      </p:graphicFrame>
    </p:spTree>
    <p:extLst>
      <p:ext uri="{BB962C8B-B14F-4D97-AF65-F5344CB8AC3E}">
        <p14:creationId xmlns:p14="http://schemas.microsoft.com/office/powerpoint/2010/main" val="173601435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1D19A8-B40A-DACC-C584-4045A2F21378}"/>
              </a:ext>
            </a:extLst>
          </p:cNvPr>
          <p:cNvSpPr>
            <a:spLocks noGrp="1"/>
          </p:cNvSpPr>
          <p:nvPr>
            <p:ph type="title"/>
          </p:nvPr>
        </p:nvSpPr>
        <p:spPr/>
        <p:txBody>
          <a:bodyPr>
            <a:normAutofit fontScale="90000"/>
          </a:bodyPr>
          <a:lstStyle/>
          <a:p>
            <a:r>
              <a:rPr lang="en-IN" dirty="0"/>
              <a:t>Autoencoder use cases</a:t>
            </a:r>
          </a:p>
        </p:txBody>
      </p:sp>
      <p:sp>
        <p:nvSpPr>
          <p:cNvPr id="3" name="Content Placeholder 2">
            <a:extLst>
              <a:ext uri="{FF2B5EF4-FFF2-40B4-BE49-F238E27FC236}">
                <a16:creationId xmlns:a16="http://schemas.microsoft.com/office/drawing/2014/main" id="{DC360C96-1D38-D5AD-DD1A-279BFC7019E2}"/>
              </a:ext>
            </a:extLst>
          </p:cNvPr>
          <p:cNvSpPr>
            <a:spLocks noGrp="1"/>
          </p:cNvSpPr>
          <p:nvPr>
            <p:ph idx="1"/>
          </p:nvPr>
        </p:nvSpPr>
        <p:spPr/>
        <p:txBody>
          <a:bodyPr>
            <a:normAutofit fontScale="85000" lnSpcReduction="10000"/>
          </a:bodyPr>
          <a:lstStyle/>
          <a:p>
            <a:pPr fontAlgn="base"/>
            <a:r>
              <a:rPr lang="en-US" dirty="0"/>
              <a:t>Both generative and deterministic autoencoders have a wide variety of use cases across different fields and data types.</a:t>
            </a:r>
          </a:p>
          <a:p>
            <a:pPr fontAlgn="base"/>
            <a:r>
              <a:rPr lang="en-US" b="1" dirty="0"/>
              <a:t>Data compression: </a:t>
            </a:r>
            <a:r>
              <a:rPr lang="en-US" dirty="0"/>
              <a:t>Autoencoders naturally learn a compressed representation of input data.</a:t>
            </a:r>
          </a:p>
          <a:p>
            <a:pPr fontAlgn="base"/>
            <a:r>
              <a:rPr lang="en-US" b="1" dirty="0"/>
              <a:t>Dimensionality reduction: </a:t>
            </a:r>
            <a:r>
              <a:rPr lang="en-US" dirty="0"/>
              <a:t>The encodings learned by autoencoders can be used as input to larger, composite neural networks. Dimensionality reduction of complex data can extract features relevant to other tasks, as well as increase computational speed and efficiency.</a:t>
            </a:r>
          </a:p>
          <a:p>
            <a:pPr fontAlgn="base"/>
            <a:r>
              <a:rPr lang="en-US" b="1" dirty="0"/>
              <a:t>Anomaly detection and facial recognition: </a:t>
            </a:r>
            <a:r>
              <a:rPr lang="en-US" dirty="0"/>
              <a:t>Autoencoders can detect anomalies, fraud or other defects—and, conversely, confirm a genuine match—by determining the reconstruction loss of examined data relative to the “normal” or “genuine” example it’s compared against.</a:t>
            </a:r>
          </a:p>
          <a:p>
            <a:pPr fontAlgn="base"/>
            <a:r>
              <a:rPr lang="en-US" b="1" dirty="0"/>
              <a:t>Image denoising and audio denoising: </a:t>
            </a:r>
            <a:r>
              <a:rPr lang="en-US" dirty="0"/>
              <a:t>Denoising autoencoders can remove extraneous artifacts or corruption that does not match the latent space representation learned by the network.</a:t>
            </a:r>
          </a:p>
          <a:p>
            <a:endParaRPr lang="en-IN" dirty="0"/>
          </a:p>
        </p:txBody>
      </p:sp>
    </p:spTree>
    <p:extLst>
      <p:ext uri="{BB962C8B-B14F-4D97-AF65-F5344CB8AC3E}">
        <p14:creationId xmlns:p14="http://schemas.microsoft.com/office/powerpoint/2010/main" val="872509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A065C6-A818-8D9B-B3D5-06BF9C3F6B09}"/>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621893B1-9F08-9452-D498-BF16AC5D33F8}"/>
              </a:ext>
            </a:extLst>
          </p:cNvPr>
          <p:cNvSpPr>
            <a:spLocks noGrp="1"/>
          </p:cNvSpPr>
          <p:nvPr>
            <p:ph idx="1"/>
          </p:nvPr>
        </p:nvSpPr>
        <p:spPr>
          <a:xfrm>
            <a:off x="1025842" y="1584960"/>
            <a:ext cx="10201275" cy="4541310"/>
          </a:xfrm>
        </p:spPr>
        <p:txBody>
          <a:bodyPr/>
          <a:lstStyle/>
          <a:p>
            <a:pPr fontAlgn="base"/>
            <a:r>
              <a:rPr lang="en-US" b="1" dirty="0"/>
              <a:t>Image reconstruction: </a:t>
            </a:r>
            <a:r>
              <a:rPr lang="en-US" dirty="0"/>
              <a:t>Inverting techniques learned for denoising, autoencoders can fill in missing elements of an image. They can be similarly used to colorize images.</a:t>
            </a:r>
          </a:p>
          <a:p>
            <a:pPr fontAlgn="base"/>
            <a:r>
              <a:rPr lang="en-US" b="1" dirty="0"/>
              <a:t>Generative tasks: </a:t>
            </a:r>
            <a:r>
              <a:rPr lang="en-US" dirty="0"/>
              <a:t>VAEs and adversarial autoencoders (AAEs), which learn probabilistic distributions akin to those learned by VAEs but use an adversarial discriminator network (similar to </a:t>
            </a:r>
            <a:r>
              <a:rPr lang="en-US" dirty="0">
                <a:hlinkClick r:id="rId2">
                  <a:extLst>
                    <a:ext uri="{A12FA001-AC4F-418D-AE19-62706E023703}">
                      <ahyp:hlinkClr xmlns:ahyp="http://schemas.microsoft.com/office/drawing/2018/hyperlinkcolor" val="tx"/>
                    </a:ext>
                  </a:extLst>
                </a:hlinkClick>
              </a:rPr>
              <a:t>generative adversarial networks</a:t>
            </a:r>
            <a:r>
              <a:rPr lang="en-US" dirty="0"/>
              <a:t>) in place of KL divergence, have been used with great success for generative tasks. Prominent generative applications of autoencoders include OpenAI’s original Dall-E model for image generation</a:t>
            </a:r>
            <a:r>
              <a:rPr lang="en-US" baseline="30000" dirty="0"/>
              <a:t>6</a:t>
            </a:r>
            <a:r>
              <a:rPr lang="en-US" dirty="0"/>
              <a:t> and even the generation of molecular structures used for medications.</a:t>
            </a:r>
            <a:r>
              <a:rPr lang="en-US" baseline="30000" dirty="0"/>
              <a:t>7</a:t>
            </a:r>
            <a:endParaRPr lang="en-US" dirty="0"/>
          </a:p>
          <a:p>
            <a:endParaRPr lang="en-IN" dirty="0"/>
          </a:p>
        </p:txBody>
      </p:sp>
    </p:spTree>
    <p:extLst>
      <p:ext uri="{BB962C8B-B14F-4D97-AF65-F5344CB8AC3E}">
        <p14:creationId xmlns:p14="http://schemas.microsoft.com/office/powerpoint/2010/main" val="3731395817"/>
      </p:ext>
    </p:extLst>
  </p:cSld>
  <p:clrMapOvr>
    <a:masterClrMapping/>
  </p:clrMapOvr>
</p:sld>
</file>

<file path=ppt/theme/theme1.xml><?xml version="1.0" encoding="utf-8"?>
<a:theme xmlns:a="http://schemas.openxmlformats.org/drawingml/2006/main" name="Retrospect">
  <a:themeElements>
    <a:clrScheme name="Blue">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9D9A2368AF1418CA9A4BDBEB848A7" ma:contentTypeVersion="3" ma:contentTypeDescription="Create a new document." ma:contentTypeScope="" ma:versionID="ed4482c8128c479f1c7ed524388f5946">
  <xsd:schema xmlns:xsd="http://www.w3.org/2001/XMLSchema" xmlns:xs="http://www.w3.org/2001/XMLSchema" xmlns:p="http://schemas.microsoft.com/office/2006/metadata/properties" xmlns:ns2="ae805b06-2a12-48cc-9df9-71e0a5172f32" targetNamespace="http://schemas.microsoft.com/office/2006/metadata/properties" ma:root="true" ma:fieldsID="2b049cf2964ab8f6ee39770229980d91" ns2:_="">
    <xsd:import namespace="ae805b06-2a12-48cc-9df9-71e0a5172f32"/>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e805b06-2a12-48cc-9df9-71e0a5172f3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33F2E5C8-E3A8-4A2A-A55F-72ECA0BFF78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e805b06-2a12-48cc-9df9-71e0a5172f3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E0FA682E-A612-452E-880E-077C575C0239}">
  <ds:schemaRefs>
    <ds:schemaRef ds:uri="http://schemas.microsoft.com/sharepoint/v3/contenttype/forms"/>
  </ds:schemaRefs>
</ds:datastoreItem>
</file>

<file path=customXml/itemProps3.xml><?xml version="1.0" encoding="utf-8"?>
<ds:datastoreItem xmlns:ds="http://schemas.openxmlformats.org/officeDocument/2006/customXml" ds:itemID="{EEC05EC4-048C-40E8-9D7C-CBB7F2AED23F}">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Retrospect</Template>
  <TotalTime>9035</TotalTime>
  <Words>4307</Words>
  <Application>Microsoft Office PowerPoint</Application>
  <PresentationFormat>Widescreen</PresentationFormat>
  <Paragraphs>791</Paragraphs>
  <Slides>70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70</vt:i4>
      </vt:variant>
    </vt:vector>
  </HeadingPairs>
  <TitlesOfParts>
    <vt:vector size="75" baseType="lpstr">
      <vt:lpstr>Arial</vt:lpstr>
      <vt:lpstr>Calibri</vt:lpstr>
      <vt:lpstr>Calibri Light</vt:lpstr>
      <vt:lpstr>Cambria Math</vt:lpstr>
      <vt:lpstr>Retrospect</vt:lpstr>
      <vt:lpstr>Autoencoders- Variants</vt:lpstr>
      <vt:lpstr>Sparse Autoencoder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Denoising Autoencoder (DAE)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Contractive Autoencoders</vt:lpstr>
      <vt:lpstr>Contractive Autoencoder (CAE)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vt:lpstr>
      <vt:lpstr>Convolutional Autoencoders (CAEs)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Adversarial Autoencoders (AAEs)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Variational Autoencoders (VAEs)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Autoencoder use cases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Rajarajeshwari S</dc:creator>
  <cp:lastModifiedBy>Dheetchanya Mohan</cp:lastModifiedBy>
  <cp:revision>5</cp:revision>
  <dcterms:created xsi:type="dcterms:W3CDTF">2025-07-15T13:21:18Z</dcterms:created>
  <dcterms:modified xsi:type="dcterms:W3CDTF">2026-04-26T11:56:00Z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0x01010079F9D9A2368AF1418CA9A4BDBEB848A7</vt:lpwstr>
  </property>
</Properties>
</file>